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44"/>
  </p:handoutMasterIdLst>
  <p:sldIdLst>
    <p:sldId id="311" r:id="rId2"/>
    <p:sldId id="316" r:id="rId3"/>
    <p:sldId id="284" r:id="rId4"/>
    <p:sldId id="285" r:id="rId5"/>
    <p:sldId id="307" r:id="rId6"/>
    <p:sldId id="273" r:id="rId7"/>
    <p:sldId id="286" r:id="rId8"/>
    <p:sldId id="287" r:id="rId9"/>
    <p:sldId id="288" r:id="rId10"/>
    <p:sldId id="268" r:id="rId11"/>
    <p:sldId id="269" r:id="rId12"/>
    <p:sldId id="270" r:id="rId13"/>
    <p:sldId id="289" r:id="rId14"/>
    <p:sldId id="290" r:id="rId15"/>
    <p:sldId id="309" r:id="rId16"/>
    <p:sldId id="303" r:id="rId17"/>
    <p:sldId id="322" r:id="rId18"/>
    <p:sldId id="304" r:id="rId19"/>
    <p:sldId id="305" r:id="rId20"/>
    <p:sldId id="260" r:id="rId21"/>
    <p:sldId id="291" r:id="rId22"/>
    <p:sldId id="292" r:id="rId23"/>
    <p:sldId id="293" r:id="rId24"/>
    <p:sldId id="296" r:id="rId25"/>
    <p:sldId id="297" r:id="rId26"/>
    <p:sldId id="313" r:id="rId27"/>
    <p:sldId id="314" r:id="rId28"/>
    <p:sldId id="298" r:id="rId29"/>
    <p:sldId id="299" r:id="rId30"/>
    <p:sldId id="300" r:id="rId31"/>
    <p:sldId id="301" r:id="rId32"/>
    <p:sldId id="302" r:id="rId33"/>
    <p:sldId id="306" r:id="rId34"/>
    <p:sldId id="308" r:id="rId35"/>
    <p:sldId id="310" r:id="rId36"/>
    <p:sldId id="312" r:id="rId37"/>
    <p:sldId id="315" r:id="rId38"/>
    <p:sldId id="317" r:id="rId39"/>
    <p:sldId id="318" r:id="rId40"/>
    <p:sldId id="320" r:id="rId41"/>
    <p:sldId id="324" r:id="rId42"/>
    <p:sldId id="325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33"/>
    <a:srgbClr val="FFCC66"/>
    <a:srgbClr val="99FF99"/>
    <a:srgbClr val="33CC33"/>
    <a:srgbClr val="9966FF"/>
    <a:srgbClr val="336600"/>
    <a:srgbClr val="009900"/>
    <a:srgbClr val="6600CC"/>
    <a:srgbClr val="E25444"/>
    <a:srgbClr val="ED91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03" autoAdjust="0"/>
    <p:restoredTop sz="97386" autoAdjust="0"/>
  </p:normalViewPr>
  <p:slideViewPr>
    <p:cSldViewPr snapToGrid="0">
      <p:cViewPr varScale="1">
        <p:scale>
          <a:sx n="102" d="100"/>
          <a:sy n="102" d="100"/>
        </p:scale>
        <p:origin x="1008" y="31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8621814-E1BA-4DC3-86FD-BA8FB6872004}" type="doc">
      <dgm:prSet loTypeId="urn:microsoft.com/office/officeart/2005/8/layout/cycle3" loCatId="cycle" qsTypeId="urn:microsoft.com/office/officeart/2005/8/quickstyle/simple5" qsCatId="simple" csTypeId="urn:microsoft.com/office/officeart/2005/8/colors/accent0_2" csCatId="mainScheme" phldr="1"/>
      <dgm:spPr/>
      <dgm:t>
        <a:bodyPr/>
        <a:lstStyle/>
        <a:p>
          <a:endParaRPr lang="en-NZ"/>
        </a:p>
      </dgm:t>
    </dgm:pt>
    <dgm:pt modelId="{D4C74A64-12AD-4347-A859-99034A791764}">
      <dgm:prSet phldrT="[Text]"/>
      <dgm:spPr>
        <a:gradFill flip="none"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path path="circle">
            <a:fillToRect l="50000" t="50000" r="50000" b="50000"/>
          </a:path>
          <a:tileRect/>
        </a:gradFill>
        <a:ln w="19050">
          <a:solidFill>
            <a:srgbClr val="002060"/>
          </a:solidFill>
        </a:ln>
      </dgm:spPr>
      <dgm:t>
        <a:bodyPr/>
        <a:lstStyle/>
        <a:p>
          <a:r>
            <a:rPr lang="en-US" dirty="0"/>
            <a:t>load aggregate state (into mem)</a:t>
          </a:r>
          <a:endParaRPr lang="en-NZ" dirty="0"/>
        </a:p>
      </dgm:t>
    </dgm:pt>
    <dgm:pt modelId="{1BC80CE4-EFBF-4ADA-8434-8962ABB19C32}" type="parTrans" cxnId="{A66533A8-4725-4A61-BDF2-93825D8F843A}">
      <dgm:prSet/>
      <dgm:spPr/>
      <dgm:t>
        <a:bodyPr/>
        <a:lstStyle/>
        <a:p>
          <a:endParaRPr lang="en-NZ"/>
        </a:p>
      </dgm:t>
    </dgm:pt>
    <dgm:pt modelId="{B2703544-CB7D-4C80-9B62-A5199770F662}" type="sibTrans" cxnId="{A66533A8-4725-4A61-BDF2-93825D8F843A}">
      <dgm:prSet/>
      <dgm:spPr/>
      <dgm:t>
        <a:bodyPr/>
        <a:lstStyle/>
        <a:p>
          <a:endParaRPr lang="en-NZ"/>
        </a:p>
      </dgm:t>
    </dgm:pt>
    <dgm:pt modelId="{0BFC33A6-33A5-4DCC-B627-3224C6907E61}">
      <dgm:prSet/>
      <dgm:spPr/>
      <dgm:t>
        <a:bodyPr/>
        <a:lstStyle/>
        <a:p>
          <a:r>
            <a:rPr lang="en-US" dirty="0"/>
            <a:t>invoke use case (method call)</a:t>
          </a:r>
        </a:p>
      </dgm:t>
    </dgm:pt>
    <dgm:pt modelId="{EEB0230E-FF36-442B-B4FF-3B8735C64E0C}" type="parTrans" cxnId="{495CFF6A-624D-4280-849A-CA4E5F49C0D6}">
      <dgm:prSet/>
      <dgm:spPr/>
      <dgm:t>
        <a:bodyPr/>
        <a:lstStyle/>
        <a:p>
          <a:endParaRPr lang="en-NZ"/>
        </a:p>
      </dgm:t>
    </dgm:pt>
    <dgm:pt modelId="{9D04D4D0-1BA9-4D2E-BD77-09D096FAF009}" type="sibTrans" cxnId="{495CFF6A-624D-4280-849A-CA4E5F49C0D6}">
      <dgm:prSet/>
      <dgm:spPr/>
      <dgm:t>
        <a:bodyPr/>
        <a:lstStyle/>
        <a:p>
          <a:endParaRPr lang="en-NZ"/>
        </a:p>
      </dgm:t>
    </dgm:pt>
    <dgm:pt modelId="{7A268730-CF6E-4C88-A3E7-BB1478025CAF}">
      <dgm:prSet/>
      <dgm:spPr/>
      <dgm:t>
        <a:bodyPr/>
        <a:lstStyle/>
        <a:p>
          <a:r>
            <a:rPr lang="en-US" dirty="0"/>
            <a:t>validate</a:t>
          </a:r>
        </a:p>
        <a:p>
          <a:r>
            <a:rPr lang="en-US" dirty="0"/>
            <a:t>(method parameters)</a:t>
          </a:r>
        </a:p>
      </dgm:t>
    </dgm:pt>
    <dgm:pt modelId="{1ECC345A-1BDA-4F8F-BE24-6074E9FCE341}" type="parTrans" cxnId="{88BF93E7-E41A-4787-9444-4762AA154D76}">
      <dgm:prSet/>
      <dgm:spPr/>
      <dgm:t>
        <a:bodyPr/>
        <a:lstStyle/>
        <a:p>
          <a:endParaRPr lang="en-NZ"/>
        </a:p>
      </dgm:t>
    </dgm:pt>
    <dgm:pt modelId="{C13533B1-B983-49B8-A706-1CD64E994E19}" type="sibTrans" cxnId="{88BF93E7-E41A-4787-9444-4762AA154D76}">
      <dgm:prSet/>
      <dgm:spPr/>
      <dgm:t>
        <a:bodyPr/>
        <a:lstStyle/>
        <a:p>
          <a:endParaRPr lang="en-NZ"/>
        </a:p>
      </dgm:t>
    </dgm:pt>
    <dgm:pt modelId="{A41822C7-5438-4193-B013-FA71241612BD}">
      <dgm:prSet/>
      <dgm:spPr/>
      <dgm:t>
        <a:bodyPr/>
        <a:lstStyle/>
        <a:p>
          <a:r>
            <a:rPr lang="en-US" dirty="0"/>
            <a:t>raise event (</a:t>
          </a:r>
          <a:r>
            <a:rPr lang="en-US" dirty="0" err="1"/>
            <a:t>RaiseChangeEvent</a:t>
          </a:r>
          <a:r>
            <a:rPr lang="en-US" dirty="0"/>
            <a:t>)</a:t>
          </a:r>
        </a:p>
      </dgm:t>
    </dgm:pt>
    <dgm:pt modelId="{5B001A47-6610-46F7-B16A-999142F26427}" type="parTrans" cxnId="{722B131B-9166-4837-9591-983778A9463B}">
      <dgm:prSet/>
      <dgm:spPr/>
      <dgm:t>
        <a:bodyPr/>
        <a:lstStyle/>
        <a:p>
          <a:endParaRPr lang="en-NZ"/>
        </a:p>
      </dgm:t>
    </dgm:pt>
    <dgm:pt modelId="{D95AD364-B7A3-42F8-AB92-FC7D4D69E291}" type="sibTrans" cxnId="{722B131B-9166-4837-9591-983778A9463B}">
      <dgm:prSet/>
      <dgm:spPr/>
      <dgm:t>
        <a:bodyPr/>
        <a:lstStyle/>
        <a:p>
          <a:endParaRPr lang="en-NZ"/>
        </a:p>
      </dgm:t>
    </dgm:pt>
    <dgm:pt modelId="{6EA532B6-0506-4167-9612-5091DC8DBFD6}">
      <dgm:prSet/>
      <dgm:spPr/>
      <dgm:t>
        <a:bodyPr/>
        <a:lstStyle/>
        <a:p>
          <a:r>
            <a:rPr lang="en-US" dirty="0"/>
            <a:t>saves event to internal list</a:t>
          </a:r>
        </a:p>
      </dgm:t>
    </dgm:pt>
    <dgm:pt modelId="{AF57FB1A-06FF-4E77-9693-06392B50D955}" type="parTrans" cxnId="{F98ED47F-D6BD-4DFC-8257-F8DAACA96373}">
      <dgm:prSet/>
      <dgm:spPr/>
      <dgm:t>
        <a:bodyPr/>
        <a:lstStyle/>
        <a:p>
          <a:endParaRPr lang="en-NZ"/>
        </a:p>
      </dgm:t>
    </dgm:pt>
    <dgm:pt modelId="{ACAAB601-C4F5-410A-8A92-D473AC77815B}" type="sibTrans" cxnId="{F98ED47F-D6BD-4DFC-8257-F8DAACA96373}">
      <dgm:prSet/>
      <dgm:spPr/>
      <dgm:t>
        <a:bodyPr/>
        <a:lstStyle/>
        <a:p>
          <a:endParaRPr lang="en-NZ"/>
        </a:p>
      </dgm:t>
    </dgm:pt>
    <dgm:pt modelId="{712D70C1-568E-457D-82FA-978DBAD7E99C}">
      <dgm:prSet/>
      <dgm:spPr/>
      <dgm:t>
        <a:bodyPr/>
        <a:lstStyle/>
        <a:p>
          <a:r>
            <a:rPr lang="en-US" dirty="0"/>
            <a:t>consume event (</a:t>
          </a:r>
          <a:r>
            <a:rPr lang="en-US" dirty="0" err="1"/>
            <a:t>OnStateChanged</a:t>
          </a:r>
          <a:r>
            <a:rPr lang="en-US" dirty="0"/>
            <a:t>)</a:t>
          </a:r>
        </a:p>
      </dgm:t>
    </dgm:pt>
    <dgm:pt modelId="{B8E12CAE-41C3-443E-9147-8CB723848501}" type="parTrans" cxnId="{816E65FE-22E5-4CB4-AE5C-08B1A4AE5862}">
      <dgm:prSet/>
      <dgm:spPr/>
      <dgm:t>
        <a:bodyPr/>
        <a:lstStyle/>
        <a:p>
          <a:endParaRPr lang="en-NZ"/>
        </a:p>
      </dgm:t>
    </dgm:pt>
    <dgm:pt modelId="{19506C48-683F-4DC9-BFAD-CCC1B60BF4F1}" type="sibTrans" cxnId="{816E65FE-22E5-4CB4-AE5C-08B1A4AE5862}">
      <dgm:prSet/>
      <dgm:spPr/>
      <dgm:t>
        <a:bodyPr/>
        <a:lstStyle/>
        <a:p>
          <a:endParaRPr lang="en-NZ"/>
        </a:p>
      </dgm:t>
    </dgm:pt>
    <dgm:pt modelId="{C63F7586-7F4B-400D-AC29-3A0C851ADA18}">
      <dgm:prSet/>
      <dgm:spPr/>
      <dgm:t>
        <a:bodyPr/>
        <a:lstStyle/>
        <a:p>
          <a:r>
            <a:rPr lang="en-US" dirty="0"/>
            <a:t>set in-mem state</a:t>
          </a:r>
        </a:p>
        <a:p>
          <a:r>
            <a:rPr lang="en-US" dirty="0"/>
            <a:t>(property setters)</a:t>
          </a:r>
        </a:p>
      </dgm:t>
    </dgm:pt>
    <dgm:pt modelId="{D6C76355-35A8-4C30-A79A-713A58849ED0}" type="parTrans" cxnId="{A508DDED-56D3-4927-AC44-30B24854BB8D}">
      <dgm:prSet/>
      <dgm:spPr/>
      <dgm:t>
        <a:bodyPr/>
        <a:lstStyle/>
        <a:p>
          <a:endParaRPr lang="en-NZ"/>
        </a:p>
      </dgm:t>
    </dgm:pt>
    <dgm:pt modelId="{4120AF98-FA1F-45FD-B359-1A747447B5E5}" type="sibTrans" cxnId="{A508DDED-56D3-4927-AC44-30B24854BB8D}">
      <dgm:prSet/>
      <dgm:spPr/>
      <dgm:t>
        <a:bodyPr/>
        <a:lstStyle/>
        <a:p>
          <a:endParaRPr lang="en-NZ"/>
        </a:p>
      </dgm:t>
    </dgm:pt>
    <dgm:pt modelId="{92DFE6CD-8664-4829-840E-5AFE36C98D4F}">
      <dgm:prSet/>
      <dgm:spPr/>
      <dgm:t>
        <a:bodyPr/>
        <a:lstStyle/>
        <a:p>
          <a:r>
            <a:rPr lang="en-US" dirty="0"/>
            <a:t>validate invariants</a:t>
          </a:r>
        </a:p>
        <a:p>
          <a:r>
            <a:rPr lang="en-US" dirty="0"/>
            <a:t>(</a:t>
          </a:r>
          <a:r>
            <a:rPr lang="en-US" dirty="0" err="1"/>
            <a:t>EnsureInvariants</a:t>
          </a:r>
          <a:r>
            <a:rPr lang="en-US" dirty="0"/>
            <a:t>)</a:t>
          </a:r>
        </a:p>
      </dgm:t>
    </dgm:pt>
    <dgm:pt modelId="{2FD1B1FA-6630-4084-BAB7-08A4C95B4D19}" type="parTrans" cxnId="{927C1735-A1CD-4965-B1DC-3E3095145B50}">
      <dgm:prSet/>
      <dgm:spPr/>
      <dgm:t>
        <a:bodyPr/>
        <a:lstStyle/>
        <a:p>
          <a:endParaRPr lang="en-NZ"/>
        </a:p>
      </dgm:t>
    </dgm:pt>
    <dgm:pt modelId="{8719D0EB-A2C4-4304-9029-7F31D94C72F3}" type="sibTrans" cxnId="{927C1735-A1CD-4965-B1DC-3E3095145B50}">
      <dgm:prSet/>
      <dgm:spPr/>
      <dgm:t>
        <a:bodyPr/>
        <a:lstStyle/>
        <a:p>
          <a:endParaRPr lang="en-NZ"/>
        </a:p>
      </dgm:t>
    </dgm:pt>
    <dgm:pt modelId="{A2DB6BF4-7BBA-4252-AE69-3BD76CDCAFE1}" type="pres">
      <dgm:prSet presAssocID="{A8621814-E1BA-4DC3-86FD-BA8FB6872004}" presName="Name0" presStyleCnt="0">
        <dgm:presLayoutVars>
          <dgm:dir/>
          <dgm:resizeHandles val="exact"/>
        </dgm:presLayoutVars>
      </dgm:prSet>
      <dgm:spPr/>
    </dgm:pt>
    <dgm:pt modelId="{C14EBD50-C765-4F53-A313-14BFCF8D3BC7}" type="pres">
      <dgm:prSet presAssocID="{A8621814-E1BA-4DC3-86FD-BA8FB6872004}" presName="cycle" presStyleCnt="0"/>
      <dgm:spPr/>
    </dgm:pt>
    <dgm:pt modelId="{724BC137-58C1-4990-8E18-1F09929B922C}" type="pres">
      <dgm:prSet presAssocID="{D4C74A64-12AD-4347-A859-99034A791764}" presName="nodeFirstNode" presStyleLbl="node1" presStyleIdx="0" presStyleCnt="8">
        <dgm:presLayoutVars>
          <dgm:bulletEnabled val="1"/>
        </dgm:presLayoutVars>
      </dgm:prSet>
      <dgm:spPr/>
    </dgm:pt>
    <dgm:pt modelId="{C340FE4C-986E-4413-9F62-66592C7E1814}" type="pres">
      <dgm:prSet presAssocID="{B2703544-CB7D-4C80-9B62-A5199770F662}" presName="sibTransFirstNode" presStyleLbl="bgShp" presStyleIdx="0" presStyleCnt="1"/>
      <dgm:spPr/>
    </dgm:pt>
    <dgm:pt modelId="{C13AB510-CD57-4842-8D8C-3A8927BCFD17}" type="pres">
      <dgm:prSet presAssocID="{0BFC33A6-33A5-4DCC-B627-3224C6907E61}" presName="nodeFollowingNodes" presStyleLbl="node1" presStyleIdx="1" presStyleCnt="8">
        <dgm:presLayoutVars>
          <dgm:bulletEnabled val="1"/>
        </dgm:presLayoutVars>
      </dgm:prSet>
      <dgm:spPr/>
    </dgm:pt>
    <dgm:pt modelId="{0D21D4AB-5749-4079-BAB1-3FEC0A8FF4A5}" type="pres">
      <dgm:prSet presAssocID="{7A268730-CF6E-4C88-A3E7-BB1478025CAF}" presName="nodeFollowingNodes" presStyleLbl="node1" presStyleIdx="2" presStyleCnt="8">
        <dgm:presLayoutVars>
          <dgm:bulletEnabled val="1"/>
        </dgm:presLayoutVars>
      </dgm:prSet>
      <dgm:spPr/>
    </dgm:pt>
    <dgm:pt modelId="{7941B259-1B61-4ACF-90E9-9D53839BD113}" type="pres">
      <dgm:prSet presAssocID="{A41822C7-5438-4193-B013-FA71241612BD}" presName="nodeFollowingNodes" presStyleLbl="node1" presStyleIdx="3" presStyleCnt="8">
        <dgm:presLayoutVars>
          <dgm:bulletEnabled val="1"/>
        </dgm:presLayoutVars>
      </dgm:prSet>
      <dgm:spPr/>
    </dgm:pt>
    <dgm:pt modelId="{A15F9EE8-4659-47E0-A52E-0B93961498DF}" type="pres">
      <dgm:prSet presAssocID="{6EA532B6-0506-4167-9612-5091DC8DBFD6}" presName="nodeFollowingNodes" presStyleLbl="node1" presStyleIdx="4" presStyleCnt="8">
        <dgm:presLayoutVars>
          <dgm:bulletEnabled val="1"/>
        </dgm:presLayoutVars>
      </dgm:prSet>
      <dgm:spPr/>
    </dgm:pt>
    <dgm:pt modelId="{1B21BF4E-05DF-494A-A34C-98E43888D3E8}" type="pres">
      <dgm:prSet presAssocID="{712D70C1-568E-457D-82FA-978DBAD7E99C}" presName="nodeFollowingNodes" presStyleLbl="node1" presStyleIdx="5" presStyleCnt="8">
        <dgm:presLayoutVars>
          <dgm:bulletEnabled val="1"/>
        </dgm:presLayoutVars>
      </dgm:prSet>
      <dgm:spPr/>
    </dgm:pt>
    <dgm:pt modelId="{B99F653D-2E0F-47E1-A723-BB6EA8E8C3E3}" type="pres">
      <dgm:prSet presAssocID="{C63F7586-7F4B-400D-AC29-3A0C851ADA18}" presName="nodeFollowingNodes" presStyleLbl="node1" presStyleIdx="6" presStyleCnt="8">
        <dgm:presLayoutVars>
          <dgm:bulletEnabled val="1"/>
        </dgm:presLayoutVars>
      </dgm:prSet>
      <dgm:spPr/>
    </dgm:pt>
    <dgm:pt modelId="{1C465DA8-29B9-4559-B0B1-2149FD139FF5}" type="pres">
      <dgm:prSet presAssocID="{92DFE6CD-8664-4829-840E-5AFE36C98D4F}" presName="nodeFollowingNodes" presStyleLbl="node1" presStyleIdx="7" presStyleCnt="8">
        <dgm:presLayoutVars>
          <dgm:bulletEnabled val="1"/>
        </dgm:presLayoutVars>
      </dgm:prSet>
      <dgm:spPr/>
    </dgm:pt>
  </dgm:ptLst>
  <dgm:cxnLst>
    <dgm:cxn modelId="{87BA5813-2205-4FF4-AD26-51440A6C2DFB}" type="presOf" srcId="{6EA532B6-0506-4167-9612-5091DC8DBFD6}" destId="{A15F9EE8-4659-47E0-A52E-0B93961498DF}" srcOrd="0" destOrd="0" presId="urn:microsoft.com/office/officeart/2005/8/layout/cycle3"/>
    <dgm:cxn modelId="{722B131B-9166-4837-9591-983778A9463B}" srcId="{A8621814-E1BA-4DC3-86FD-BA8FB6872004}" destId="{A41822C7-5438-4193-B013-FA71241612BD}" srcOrd="3" destOrd="0" parTransId="{5B001A47-6610-46F7-B16A-999142F26427}" sibTransId="{D95AD364-B7A3-42F8-AB92-FC7D4D69E291}"/>
    <dgm:cxn modelId="{927C1735-A1CD-4965-B1DC-3E3095145B50}" srcId="{A8621814-E1BA-4DC3-86FD-BA8FB6872004}" destId="{92DFE6CD-8664-4829-840E-5AFE36C98D4F}" srcOrd="7" destOrd="0" parTransId="{2FD1B1FA-6630-4084-BAB7-08A4C95B4D19}" sibTransId="{8719D0EB-A2C4-4304-9029-7F31D94C72F3}"/>
    <dgm:cxn modelId="{99B7A564-CEC5-4CB0-8394-381C21D48EFA}" type="presOf" srcId="{A8621814-E1BA-4DC3-86FD-BA8FB6872004}" destId="{A2DB6BF4-7BBA-4252-AE69-3BD76CDCAFE1}" srcOrd="0" destOrd="0" presId="urn:microsoft.com/office/officeart/2005/8/layout/cycle3"/>
    <dgm:cxn modelId="{495CFF6A-624D-4280-849A-CA4E5F49C0D6}" srcId="{A8621814-E1BA-4DC3-86FD-BA8FB6872004}" destId="{0BFC33A6-33A5-4DCC-B627-3224C6907E61}" srcOrd="1" destOrd="0" parTransId="{EEB0230E-FF36-442B-B4FF-3B8735C64E0C}" sibTransId="{9D04D4D0-1BA9-4D2E-BD77-09D096FAF009}"/>
    <dgm:cxn modelId="{BEC9AE4B-F45C-4A99-8877-EEDC6576E67F}" type="presOf" srcId="{B2703544-CB7D-4C80-9B62-A5199770F662}" destId="{C340FE4C-986E-4413-9F62-66592C7E1814}" srcOrd="0" destOrd="0" presId="urn:microsoft.com/office/officeart/2005/8/layout/cycle3"/>
    <dgm:cxn modelId="{7C306676-4161-4BBD-9C07-5FA9DD6CEDEE}" type="presOf" srcId="{A41822C7-5438-4193-B013-FA71241612BD}" destId="{7941B259-1B61-4ACF-90E9-9D53839BD113}" srcOrd="0" destOrd="0" presId="urn:microsoft.com/office/officeart/2005/8/layout/cycle3"/>
    <dgm:cxn modelId="{F0CE9776-DD43-4D25-822C-CF9A2FDB1C22}" type="presOf" srcId="{C63F7586-7F4B-400D-AC29-3A0C851ADA18}" destId="{B99F653D-2E0F-47E1-A723-BB6EA8E8C3E3}" srcOrd="0" destOrd="0" presId="urn:microsoft.com/office/officeart/2005/8/layout/cycle3"/>
    <dgm:cxn modelId="{C3AD9B7D-A9CF-463F-BAE6-6E92105B02AD}" type="presOf" srcId="{0BFC33A6-33A5-4DCC-B627-3224C6907E61}" destId="{C13AB510-CD57-4842-8D8C-3A8927BCFD17}" srcOrd="0" destOrd="0" presId="urn:microsoft.com/office/officeart/2005/8/layout/cycle3"/>
    <dgm:cxn modelId="{F98ED47F-D6BD-4DFC-8257-F8DAACA96373}" srcId="{A8621814-E1BA-4DC3-86FD-BA8FB6872004}" destId="{6EA532B6-0506-4167-9612-5091DC8DBFD6}" srcOrd="4" destOrd="0" parTransId="{AF57FB1A-06FF-4E77-9693-06392B50D955}" sibTransId="{ACAAB601-C4F5-410A-8A92-D473AC77815B}"/>
    <dgm:cxn modelId="{C9309086-9EA6-4A11-9FA2-277AADA05AEE}" type="presOf" srcId="{7A268730-CF6E-4C88-A3E7-BB1478025CAF}" destId="{0D21D4AB-5749-4079-BAB1-3FEC0A8FF4A5}" srcOrd="0" destOrd="0" presId="urn:microsoft.com/office/officeart/2005/8/layout/cycle3"/>
    <dgm:cxn modelId="{A66533A8-4725-4A61-BDF2-93825D8F843A}" srcId="{A8621814-E1BA-4DC3-86FD-BA8FB6872004}" destId="{D4C74A64-12AD-4347-A859-99034A791764}" srcOrd="0" destOrd="0" parTransId="{1BC80CE4-EFBF-4ADA-8434-8962ABB19C32}" sibTransId="{B2703544-CB7D-4C80-9B62-A5199770F662}"/>
    <dgm:cxn modelId="{D46648D6-5A95-4273-B274-781D20A4B71A}" type="presOf" srcId="{D4C74A64-12AD-4347-A859-99034A791764}" destId="{724BC137-58C1-4990-8E18-1F09929B922C}" srcOrd="0" destOrd="0" presId="urn:microsoft.com/office/officeart/2005/8/layout/cycle3"/>
    <dgm:cxn modelId="{88BF93E7-E41A-4787-9444-4762AA154D76}" srcId="{A8621814-E1BA-4DC3-86FD-BA8FB6872004}" destId="{7A268730-CF6E-4C88-A3E7-BB1478025CAF}" srcOrd="2" destOrd="0" parTransId="{1ECC345A-1BDA-4F8F-BE24-6074E9FCE341}" sibTransId="{C13533B1-B983-49B8-A706-1CD64E994E19}"/>
    <dgm:cxn modelId="{8C0A75ED-12A7-44B7-98F2-A0D68505E9DA}" type="presOf" srcId="{92DFE6CD-8664-4829-840E-5AFE36C98D4F}" destId="{1C465DA8-29B9-4559-B0B1-2149FD139FF5}" srcOrd="0" destOrd="0" presId="urn:microsoft.com/office/officeart/2005/8/layout/cycle3"/>
    <dgm:cxn modelId="{A508DDED-56D3-4927-AC44-30B24854BB8D}" srcId="{A8621814-E1BA-4DC3-86FD-BA8FB6872004}" destId="{C63F7586-7F4B-400D-AC29-3A0C851ADA18}" srcOrd="6" destOrd="0" parTransId="{D6C76355-35A8-4C30-A79A-713A58849ED0}" sibTransId="{4120AF98-FA1F-45FD-B359-1A747447B5E5}"/>
    <dgm:cxn modelId="{9B10C1FA-2C06-4194-8AE9-3F73E9FFF046}" type="presOf" srcId="{712D70C1-568E-457D-82FA-978DBAD7E99C}" destId="{1B21BF4E-05DF-494A-A34C-98E43888D3E8}" srcOrd="0" destOrd="0" presId="urn:microsoft.com/office/officeart/2005/8/layout/cycle3"/>
    <dgm:cxn modelId="{816E65FE-22E5-4CB4-AE5C-08B1A4AE5862}" srcId="{A8621814-E1BA-4DC3-86FD-BA8FB6872004}" destId="{712D70C1-568E-457D-82FA-978DBAD7E99C}" srcOrd="5" destOrd="0" parTransId="{B8E12CAE-41C3-443E-9147-8CB723848501}" sibTransId="{19506C48-683F-4DC9-BFAD-CCC1B60BF4F1}"/>
    <dgm:cxn modelId="{0BEE6263-5ECA-4F55-A49C-C076ACC440CF}" type="presParOf" srcId="{A2DB6BF4-7BBA-4252-AE69-3BD76CDCAFE1}" destId="{C14EBD50-C765-4F53-A313-14BFCF8D3BC7}" srcOrd="0" destOrd="0" presId="urn:microsoft.com/office/officeart/2005/8/layout/cycle3"/>
    <dgm:cxn modelId="{7BD2C783-ED7D-4D70-90E3-500C5208C186}" type="presParOf" srcId="{C14EBD50-C765-4F53-A313-14BFCF8D3BC7}" destId="{724BC137-58C1-4990-8E18-1F09929B922C}" srcOrd="0" destOrd="0" presId="urn:microsoft.com/office/officeart/2005/8/layout/cycle3"/>
    <dgm:cxn modelId="{6DC3A705-01E2-4FE3-BE90-54AD68FF3906}" type="presParOf" srcId="{C14EBD50-C765-4F53-A313-14BFCF8D3BC7}" destId="{C340FE4C-986E-4413-9F62-66592C7E1814}" srcOrd="1" destOrd="0" presId="urn:microsoft.com/office/officeart/2005/8/layout/cycle3"/>
    <dgm:cxn modelId="{B9F27349-BF40-4C18-9152-16135EBBC3E6}" type="presParOf" srcId="{C14EBD50-C765-4F53-A313-14BFCF8D3BC7}" destId="{C13AB510-CD57-4842-8D8C-3A8927BCFD17}" srcOrd="2" destOrd="0" presId="urn:microsoft.com/office/officeart/2005/8/layout/cycle3"/>
    <dgm:cxn modelId="{DE7D1E7B-EC4E-4825-9273-494705F8631A}" type="presParOf" srcId="{C14EBD50-C765-4F53-A313-14BFCF8D3BC7}" destId="{0D21D4AB-5749-4079-BAB1-3FEC0A8FF4A5}" srcOrd="3" destOrd="0" presId="urn:microsoft.com/office/officeart/2005/8/layout/cycle3"/>
    <dgm:cxn modelId="{343F3D9D-FD7D-425D-9ACB-E675EF7A6837}" type="presParOf" srcId="{C14EBD50-C765-4F53-A313-14BFCF8D3BC7}" destId="{7941B259-1B61-4ACF-90E9-9D53839BD113}" srcOrd="4" destOrd="0" presId="urn:microsoft.com/office/officeart/2005/8/layout/cycle3"/>
    <dgm:cxn modelId="{AFED2531-85A2-485F-9DBF-AB2C92214F1C}" type="presParOf" srcId="{C14EBD50-C765-4F53-A313-14BFCF8D3BC7}" destId="{A15F9EE8-4659-47E0-A52E-0B93961498DF}" srcOrd="5" destOrd="0" presId="urn:microsoft.com/office/officeart/2005/8/layout/cycle3"/>
    <dgm:cxn modelId="{0972E110-36DA-467C-8964-EC6D8B5FBBDF}" type="presParOf" srcId="{C14EBD50-C765-4F53-A313-14BFCF8D3BC7}" destId="{1B21BF4E-05DF-494A-A34C-98E43888D3E8}" srcOrd="6" destOrd="0" presId="urn:microsoft.com/office/officeart/2005/8/layout/cycle3"/>
    <dgm:cxn modelId="{C48811C2-7317-4278-92F6-E2B738D25262}" type="presParOf" srcId="{C14EBD50-C765-4F53-A313-14BFCF8D3BC7}" destId="{B99F653D-2E0F-47E1-A723-BB6EA8E8C3E3}" srcOrd="7" destOrd="0" presId="urn:microsoft.com/office/officeart/2005/8/layout/cycle3"/>
    <dgm:cxn modelId="{D61E78A7-832D-4A46-ADE8-4DB7CA0CBC86}" type="presParOf" srcId="{C14EBD50-C765-4F53-A313-14BFCF8D3BC7}" destId="{1C465DA8-29B9-4559-B0B1-2149FD139FF5}" srcOrd="8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8621814-E1BA-4DC3-86FD-BA8FB6872004}" type="doc">
      <dgm:prSet loTypeId="urn:microsoft.com/office/officeart/2005/8/layout/cycle3" loCatId="cycle" qsTypeId="urn:microsoft.com/office/officeart/2005/8/quickstyle/simple5" qsCatId="simple" csTypeId="urn:microsoft.com/office/officeart/2005/8/colors/accent0_2" csCatId="mainScheme" phldr="1"/>
      <dgm:spPr/>
      <dgm:t>
        <a:bodyPr/>
        <a:lstStyle/>
        <a:p>
          <a:endParaRPr lang="en-NZ"/>
        </a:p>
      </dgm:t>
    </dgm:pt>
    <dgm:pt modelId="{D4C74A64-12AD-4347-A859-99034A791764}">
      <dgm:prSet phldrT="[Text]"/>
      <dgm:spPr>
        <a:ln w="12700">
          <a:solidFill>
            <a:srgbClr val="002060"/>
          </a:solidFill>
        </a:ln>
      </dgm:spPr>
      <dgm:t>
        <a:bodyPr/>
        <a:lstStyle/>
        <a:p>
          <a:r>
            <a:rPr lang="en-US" dirty="0"/>
            <a:t>load aggregate state (into mem)</a:t>
          </a:r>
          <a:endParaRPr lang="en-NZ" dirty="0"/>
        </a:p>
      </dgm:t>
    </dgm:pt>
    <dgm:pt modelId="{1BC80CE4-EFBF-4ADA-8434-8962ABB19C32}" type="parTrans" cxnId="{A66533A8-4725-4A61-BDF2-93825D8F843A}">
      <dgm:prSet/>
      <dgm:spPr/>
      <dgm:t>
        <a:bodyPr/>
        <a:lstStyle/>
        <a:p>
          <a:endParaRPr lang="en-NZ"/>
        </a:p>
      </dgm:t>
    </dgm:pt>
    <dgm:pt modelId="{B2703544-CB7D-4C80-9B62-A5199770F662}" type="sibTrans" cxnId="{A66533A8-4725-4A61-BDF2-93825D8F843A}">
      <dgm:prSet/>
      <dgm:spPr/>
      <dgm:t>
        <a:bodyPr/>
        <a:lstStyle/>
        <a:p>
          <a:endParaRPr lang="en-NZ"/>
        </a:p>
      </dgm:t>
    </dgm:pt>
    <dgm:pt modelId="{0BFC33A6-33A5-4DCC-B627-3224C6907E61}">
      <dgm:prSet/>
      <dgm:spPr/>
      <dgm:t>
        <a:bodyPr/>
        <a:lstStyle/>
        <a:p>
          <a:r>
            <a:rPr lang="en-US" dirty="0"/>
            <a:t>Root: invoke use case (method call)</a:t>
          </a:r>
        </a:p>
      </dgm:t>
    </dgm:pt>
    <dgm:pt modelId="{EEB0230E-FF36-442B-B4FF-3B8735C64E0C}" type="parTrans" cxnId="{495CFF6A-624D-4280-849A-CA4E5F49C0D6}">
      <dgm:prSet/>
      <dgm:spPr/>
      <dgm:t>
        <a:bodyPr/>
        <a:lstStyle/>
        <a:p>
          <a:endParaRPr lang="en-NZ"/>
        </a:p>
      </dgm:t>
    </dgm:pt>
    <dgm:pt modelId="{9D04D4D0-1BA9-4D2E-BD77-09D096FAF009}" type="sibTrans" cxnId="{495CFF6A-624D-4280-849A-CA4E5F49C0D6}">
      <dgm:prSet/>
      <dgm:spPr/>
      <dgm:t>
        <a:bodyPr/>
        <a:lstStyle/>
        <a:p>
          <a:endParaRPr lang="en-NZ"/>
        </a:p>
      </dgm:t>
    </dgm:pt>
    <dgm:pt modelId="{7A268730-CF6E-4C88-A3E7-BB1478025CAF}">
      <dgm:prSet/>
      <dgm:spPr/>
      <dgm:t>
        <a:bodyPr/>
        <a:lstStyle/>
        <a:p>
          <a:r>
            <a:rPr lang="en-US" dirty="0"/>
            <a:t>Root: validate</a:t>
          </a:r>
        </a:p>
        <a:p>
          <a:r>
            <a:rPr lang="en-US" dirty="0"/>
            <a:t>(method params)</a:t>
          </a:r>
        </a:p>
      </dgm:t>
    </dgm:pt>
    <dgm:pt modelId="{1ECC345A-1BDA-4F8F-BE24-6074E9FCE341}" type="parTrans" cxnId="{88BF93E7-E41A-4787-9444-4762AA154D76}">
      <dgm:prSet/>
      <dgm:spPr/>
      <dgm:t>
        <a:bodyPr/>
        <a:lstStyle/>
        <a:p>
          <a:endParaRPr lang="en-NZ"/>
        </a:p>
      </dgm:t>
    </dgm:pt>
    <dgm:pt modelId="{C13533B1-B983-49B8-A706-1CD64E994E19}" type="sibTrans" cxnId="{88BF93E7-E41A-4787-9444-4762AA154D76}">
      <dgm:prSet/>
      <dgm:spPr/>
      <dgm:t>
        <a:bodyPr/>
        <a:lstStyle/>
        <a:p>
          <a:endParaRPr lang="en-NZ"/>
        </a:p>
      </dgm:t>
    </dgm:pt>
    <dgm:pt modelId="{A41822C7-5438-4193-B013-FA71241612BD}">
      <dgm:prSet/>
      <dgm:spPr/>
      <dgm:t>
        <a:bodyPr/>
        <a:lstStyle/>
        <a:p>
          <a:r>
            <a:rPr lang="en-US" dirty="0"/>
            <a:t>Root: invoke method on entity instance</a:t>
          </a:r>
        </a:p>
      </dgm:t>
    </dgm:pt>
    <dgm:pt modelId="{5B001A47-6610-46F7-B16A-999142F26427}" type="parTrans" cxnId="{722B131B-9166-4837-9591-983778A9463B}">
      <dgm:prSet/>
      <dgm:spPr/>
      <dgm:t>
        <a:bodyPr/>
        <a:lstStyle/>
        <a:p>
          <a:endParaRPr lang="en-NZ"/>
        </a:p>
      </dgm:t>
    </dgm:pt>
    <dgm:pt modelId="{D95AD364-B7A3-42F8-AB92-FC7D4D69E291}" type="sibTrans" cxnId="{722B131B-9166-4837-9591-983778A9463B}">
      <dgm:prSet/>
      <dgm:spPr/>
      <dgm:t>
        <a:bodyPr/>
        <a:lstStyle/>
        <a:p>
          <a:endParaRPr lang="en-NZ"/>
        </a:p>
      </dgm:t>
    </dgm:pt>
    <dgm:pt modelId="{BCE2E462-B1AB-4B02-8D4C-47AC725784E3}">
      <dgm:prSet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US" dirty="0">
              <a:solidFill>
                <a:schemeClr val="bg1"/>
              </a:solidFill>
            </a:rPr>
            <a:t>Entity: validate (method params)</a:t>
          </a:r>
        </a:p>
      </dgm:t>
    </dgm:pt>
    <dgm:pt modelId="{38B4DF1A-45E9-4B2D-BD3C-76AB421CEE2C}" type="parTrans" cxnId="{051A131B-8BD8-45A8-A9C6-95117C9D470A}">
      <dgm:prSet/>
      <dgm:spPr/>
      <dgm:t>
        <a:bodyPr/>
        <a:lstStyle/>
        <a:p>
          <a:endParaRPr lang="en-NZ"/>
        </a:p>
      </dgm:t>
    </dgm:pt>
    <dgm:pt modelId="{16CAEF1D-91E1-4FAC-BF42-D86321C062B5}" type="sibTrans" cxnId="{051A131B-8BD8-45A8-A9C6-95117C9D470A}">
      <dgm:prSet/>
      <dgm:spPr/>
      <dgm:t>
        <a:bodyPr/>
        <a:lstStyle/>
        <a:p>
          <a:endParaRPr lang="en-NZ"/>
        </a:p>
      </dgm:t>
    </dgm:pt>
    <dgm:pt modelId="{52D9CF04-3CA7-4C5C-80E4-7CE26FA181BB}">
      <dgm:prSet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US" dirty="0">
              <a:solidFill>
                <a:schemeClr val="bg1"/>
              </a:solidFill>
            </a:rPr>
            <a:t>Entity: raise event  (</a:t>
          </a:r>
          <a:r>
            <a:rPr lang="en-US" dirty="0" err="1">
              <a:solidFill>
                <a:schemeClr val="bg1"/>
              </a:solidFill>
            </a:rPr>
            <a:t>RaiseChangeEvent</a:t>
          </a:r>
          <a:r>
            <a:rPr lang="en-US" dirty="0">
              <a:solidFill>
                <a:schemeClr val="bg1"/>
              </a:solidFill>
            </a:rPr>
            <a:t>)</a:t>
          </a:r>
        </a:p>
      </dgm:t>
    </dgm:pt>
    <dgm:pt modelId="{4D356BC8-B3B3-47E1-BFAD-6344802F645F}" type="parTrans" cxnId="{BB360F69-9BB7-4266-B0EC-8D4CD777DFFE}">
      <dgm:prSet/>
      <dgm:spPr/>
      <dgm:t>
        <a:bodyPr/>
        <a:lstStyle/>
        <a:p>
          <a:endParaRPr lang="en-NZ"/>
        </a:p>
      </dgm:t>
    </dgm:pt>
    <dgm:pt modelId="{03CA33DD-0916-4C19-9D61-4DA22BAFEF2F}" type="sibTrans" cxnId="{BB360F69-9BB7-4266-B0EC-8D4CD777DFFE}">
      <dgm:prSet/>
      <dgm:spPr/>
      <dgm:t>
        <a:bodyPr/>
        <a:lstStyle/>
        <a:p>
          <a:endParaRPr lang="en-NZ"/>
        </a:p>
      </dgm:t>
    </dgm:pt>
    <dgm:pt modelId="{E908D0D1-6FE6-465C-84FA-9762D1A8E148}">
      <dgm:prSet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US" dirty="0">
              <a:solidFill>
                <a:schemeClr val="bg1"/>
              </a:solidFill>
            </a:rPr>
            <a:t>Entity: consume event (</a:t>
          </a:r>
          <a:r>
            <a:rPr lang="en-US" dirty="0" err="1">
              <a:solidFill>
                <a:schemeClr val="bg1"/>
              </a:solidFill>
            </a:rPr>
            <a:t>OnStateChanged</a:t>
          </a:r>
          <a:r>
            <a:rPr lang="en-US" dirty="0">
              <a:solidFill>
                <a:schemeClr val="bg1"/>
              </a:solidFill>
            </a:rPr>
            <a:t>)</a:t>
          </a:r>
        </a:p>
      </dgm:t>
    </dgm:pt>
    <dgm:pt modelId="{0D9F797B-E674-4327-92A0-C92CEEAE1F17}" type="parTrans" cxnId="{622F4679-FD20-43DC-9FE0-EABA3A43ABFF}">
      <dgm:prSet/>
      <dgm:spPr/>
      <dgm:t>
        <a:bodyPr/>
        <a:lstStyle/>
        <a:p>
          <a:endParaRPr lang="en-NZ"/>
        </a:p>
      </dgm:t>
    </dgm:pt>
    <dgm:pt modelId="{5180A22C-0241-49D1-B6D6-D540E9163425}" type="sibTrans" cxnId="{622F4679-FD20-43DC-9FE0-EABA3A43ABFF}">
      <dgm:prSet/>
      <dgm:spPr/>
      <dgm:t>
        <a:bodyPr/>
        <a:lstStyle/>
        <a:p>
          <a:endParaRPr lang="en-NZ"/>
        </a:p>
      </dgm:t>
    </dgm:pt>
    <dgm:pt modelId="{9443102F-E1B5-4CCB-B55E-53AF366738D5}">
      <dgm:prSet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US" dirty="0">
              <a:solidFill>
                <a:schemeClr val="bg1"/>
              </a:solidFill>
            </a:rPr>
            <a:t>Entity: set state</a:t>
          </a:r>
        </a:p>
        <a:p>
          <a:r>
            <a:rPr lang="en-US" dirty="0">
              <a:solidFill>
                <a:schemeClr val="bg1"/>
              </a:solidFill>
            </a:rPr>
            <a:t>(property setters)</a:t>
          </a:r>
        </a:p>
      </dgm:t>
    </dgm:pt>
    <dgm:pt modelId="{D47689A9-CF06-420E-AD10-D56C9EC20926}" type="parTrans" cxnId="{3DA01A97-98A2-4E3B-80A7-FF7967358307}">
      <dgm:prSet/>
      <dgm:spPr/>
      <dgm:t>
        <a:bodyPr/>
        <a:lstStyle/>
        <a:p>
          <a:endParaRPr lang="en-NZ"/>
        </a:p>
      </dgm:t>
    </dgm:pt>
    <dgm:pt modelId="{B68AE0C7-16B4-4A58-A399-1EFE971F2D8A}" type="sibTrans" cxnId="{3DA01A97-98A2-4E3B-80A7-FF7967358307}">
      <dgm:prSet/>
      <dgm:spPr/>
      <dgm:t>
        <a:bodyPr/>
        <a:lstStyle/>
        <a:p>
          <a:endParaRPr lang="en-NZ"/>
        </a:p>
      </dgm:t>
    </dgm:pt>
    <dgm:pt modelId="{7D165A1D-55E2-43DF-962B-7F64180EE6E6}">
      <dgm:prSet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US" dirty="0">
              <a:solidFill>
                <a:schemeClr val="bg1"/>
              </a:solidFill>
            </a:rPr>
            <a:t>Entity: validate invariants</a:t>
          </a:r>
        </a:p>
        <a:p>
          <a:r>
            <a:rPr lang="en-US" dirty="0">
              <a:solidFill>
                <a:schemeClr val="bg1"/>
              </a:solidFill>
            </a:rPr>
            <a:t>(</a:t>
          </a:r>
          <a:r>
            <a:rPr lang="en-US" dirty="0" err="1">
              <a:solidFill>
                <a:schemeClr val="bg1"/>
              </a:solidFill>
            </a:rPr>
            <a:t>EnsureInvariants</a:t>
          </a:r>
          <a:r>
            <a:rPr lang="en-US" dirty="0">
              <a:solidFill>
                <a:schemeClr val="bg1"/>
              </a:solidFill>
            </a:rPr>
            <a:t>)</a:t>
          </a:r>
        </a:p>
      </dgm:t>
    </dgm:pt>
    <dgm:pt modelId="{5A097F59-DBB3-45CD-8362-10ACF4E935EE}" type="parTrans" cxnId="{FB7BF0A3-1BAA-4E89-A437-94E00BBB3DA1}">
      <dgm:prSet/>
      <dgm:spPr/>
      <dgm:t>
        <a:bodyPr/>
        <a:lstStyle/>
        <a:p>
          <a:endParaRPr lang="en-NZ"/>
        </a:p>
      </dgm:t>
    </dgm:pt>
    <dgm:pt modelId="{ADFF62C7-1033-412F-AFDF-6138B0EA43BC}" type="sibTrans" cxnId="{FB7BF0A3-1BAA-4E89-A437-94E00BBB3DA1}">
      <dgm:prSet/>
      <dgm:spPr/>
      <dgm:t>
        <a:bodyPr/>
        <a:lstStyle/>
        <a:p>
          <a:endParaRPr lang="en-NZ"/>
        </a:p>
      </dgm:t>
    </dgm:pt>
    <dgm:pt modelId="{B26724F4-AC45-473D-A492-2A55181B1AFB}">
      <dgm:prSet/>
      <dgm:spPr/>
      <dgm:t>
        <a:bodyPr/>
        <a:lstStyle/>
        <a:p>
          <a:r>
            <a:rPr lang="en-US" dirty="0"/>
            <a:t>Root: saves event to internal list</a:t>
          </a:r>
          <a:endParaRPr lang="en-US" dirty="0">
            <a:solidFill>
              <a:schemeClr val="bg1"/>
            </a:solidFill>
          </a:endParaRPr>
        </a:p>
      </dgm:t>
    </dgm:pt>
    <dgm:pt modelId="{A0399D92-9D4F-4722-984D-849BBE563E27}" type="parTrans" cxnId="{BD1A45EF-DBA0-4FC4-806C-904EFF3E2B6E}">
      <dgm:prSet/>
      <dgm:spPr/>
      <dgm:t>
        <a:bodyPr/>
        <a:lstStyle/>
        <a:p>
          <a:endParaRPr lang="en-NZ"/>
        </a:p>
      </dgm:t>
    </dgm:pt>
    <dgm:pt modelId="{E1DC87CE-0576-4A92-B7D6-978C1FFDD785}" type="sibTrans" cxnId="{BD1A45EF-DBA0-4FC4-806C-904EFF3E2B6E}">
      <dgm:prSet/>
      <dgm:spPr/>
      <dgm:t>
        <a:bodyPr/>
        <a:lstStyle/>
        <a:p>
          <a:endParaRPr lang="en-NZ"/>
        </a:p>
      </dgm:t>
    </dgm:pt>
    <dgm:pt modelId="{B62F2F5A-36F1-4D76-849E-FC6D64221DF9}">
      <dgm:prSet/>
      <dgm:spPr/>
      <dgm:t>
        <a:bodyPr/>
        <a:lstStyle/>
        <a:p>
          <a:r>
            <a:rPr lang="en-US" dirty="0"/>
            <a:t>Root: consume event (</a:t>
          </a:r>
          <a:r>
            <a:rPr lang="en-US" dirty="0" err="1"/>
            <a:t>OnStateChanged</a:t>
          </a:r>
          <a:r>
            <a:rPr lang="en-US" dirty="0"/>
            <a:t>)</a:t>
          </a:r>
        </a:p>
      </dgm:t>
    </dgm:pt>
    <dgm:pt modelId="{1E55C24E-33E8-4A02-AFD6-83C34FEDB88A}" type="parTrans" cxnId="{6FB6A134-02BF-4A7E-B6C7-518F63ADBD7B}">
      <dgm:prSet/>
      <dgm:spPr/>
      <dgm:t>
        <a:bodyPr/>
        <a:lstStyle/>
        <a:p>
          <a:endParaRPr lang="en-NZ"/>
        </a:p>
      </dgm:t>
    </dgm:pt>
    <dgm:pt modelId="{D5DEBA92-34EA-4236-9B31-92E51445CF8A}" type="sibTrans" cxnId="{6FB6A134-02BF-4A7E-B6C7-518F63ADBD7B}">
      <dgm:prSet/>
      <dgm:spPr/>
      <dgm:t>
        <a:bodyPr/>
        <a:lstStyle/>
        <a:p>
          <a:endParaRPr lang="en-NZ"/>
        </a:p>
      </dgm:t>
    </dgm:pt>
    <dgm:pt modelId="{2BECCA60-9B80-4A28-98A9-DD4D9DB9F3E5}">
      <dgm:prSet/>
      <dgm:spPr/>
      <dgm:t>
        <a:bodyPr/>
        <a:lstStyle/>
        <a:p>
          <a:r>
            <a:rPr lang="en-US" dirty="0"/>
            <a:t>Root: set in-mem state</a:t>
          </a:r>
        </a:p>
        <a:p>
          <a:r>
            <a:rPr lang="en-US" dirty="0"/>
            <a:t>(property setters)</a:t>
          </a:r>
        </a:p>
      </dgm:t>
    </dgm:pt>
    <dgm:pt modelId="{988E75CB-9EFF-4A69-9C74-F5A50106DFDB}" type="parTrans" cxnId="{CBCA401A-74D2-49A9-8403-16870527E44A}">
      <dgm:prSet/>
      <dgm:spPr/>
      <dgm:t>
        <a:bodyPr/>
        <a:lstStyle/>
        <a:p>
          <a:endParaRPr lang="en-NZ"/>
        </a:p>
      </dgm:t>
    </dgm:pt>
    <dgm:pt modelId="{16DDC99B-A4AF-4D86-94C4-BF8988C1E6C4}" type="sibTrans" cxnId="{CBCA401A-74D2-49A9-8403-16870527E44A}">
      <dgm:prSet/>
      <dgm:spPr/>
      <dgm:t>
        <a:bodyPr/>
        <a:lstStyle/>
        <a:p>
          <a:endParaRPr lang="en-NZ"/>
        </a:p>
      </dgm:t>
    </dgm:pt>
    <dgm:pt modelId="{9F92993B-D748-47CA-BEDF-0D719810DE38}">
      <dgm:prSet/>
      <dgm:spPr/>
      <dgm:t>
        <a:bodyPr/>
        <a:lstStyle/>
        <a:p>
          <a:r>
            <a:rPr lang="en-US" dirty="0"/>
            <a:t>Root: validate invariants</a:t>
          </a:r>
        </a:p>
        <a:p>
          <a:r>
            <a:rPr lang="en-US" dirty="0"/>
            <a:t>(</a:t>
          </a:r>
          <a:r>
            <a:rPr lang="en-US" dirty="0" err="1"/>
            <a:t>EnsureInvariants</a:t>
          </a:r>
          <a:r>
            <a:rPr lang="en-US" dirty="0"/>
            <a:t>)</a:t>
          </a:r>
          <a:endParaRPr lang="en-NZ" dirty="0"/>
        </a:p>
      </dgm:t>
    </dgm:pt>
    <dgm:pt modelId="{C8CA807D-C224-4EC7-A490-D13EECCC3F40}" type="parTrans" cxnId="{802001AA-DD85-4183-9D8B-ABAB41082FDA}">
      <dgm:prSet/>
      <dgm:spPr/>
      <dgm:t>
        <a:bodyPr/>
        <a:lstStyle/>
        <a:p>
          <a:endParaRPr lang="en-NZ"/>
        </a:p>
      </dgm:t>
    </dgm:pt>
    <dgm:pt modelId="{C36706D0-839D-4803-8A45-9CFDAF948D6F}" type="sibTrans" cxnId="{802001AA-DD85-4183-9D8B-ABAB41082FDA}">
      <dgm:prSet/>
      <dgm:spPr/>
      <dgm:t>
        <a:bodyPr/>
        <a:lstStyle/>
        <a:p>
          <a:endParaRPr lang="en-NZ"/>
        </a:p>
      </dgm:t>
    </dgm:pt>
    <dgm:pt modelId="{ABCD3914-20B0-4FB7-9293-90357DB7548F}">
      <dgm:prSet custT="1"/>
      <dgm:spPr>
        <a:solidFill>
          <a:srgbClr val="ED7D31">
            <a:lumMod val="75000"/>
          </a:srgb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30480" tIns="30480" rIns="30480" bIns="30480" numCol="1" spcCol="1270" anchor="ctr" anchorCtr="0"/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solidFill>
                <a:schemeClr val="bg1"/>
              </a:solidFill>
              <a:latin typeface="Calibri" panose="020F0502020204030204"/>
              <a:ea typeface="+mn-ea"/>
              <a:cs typeface="+mn-cs"/>
            </a:rPr>
            <a:t>Entity: raise event to root</a:t>
          </a:r>
        </a:p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solidFill>
                <a:schemeClr val="bg1"/>
              </a:solidFill>
              <a:latin typeface="Calibri" panose="020F0502020204030204"/>
              <a:ea typeface="+mn-ea"/>
              <a:cs typeface="+mn-cs"/>
            </a:rPr>
            <a:t>(</a:t>
          </a:r>
          <a:r>
            <a:rPr lang="en-NZ" sz="800" kern="1200" dirty="0" err="1">
              <a:solidFill>
                <a:schemeClr val="bg1"/>
              </a:solidFill>
            </a:rPr>
            <a:t>RootEventHandler</a:t>
          </a:r>
          <a:r>
            <a:rPr lang="en-US" sz="800" kern="1200" dirty="0">
              <a:solidFill>
                <a:schemeClr val="bg1"/>
              </a:solidFill>
              <a:latin typeface="Calibri" panose="020F0502020204030204"/>
              <a:ea typeface="+mn-ea"/>
              <a:cs typeface="+mn-cs"/>
            </a:rPr>
            <a:t>)</a:t>
          </a:r>
        </a:p>
      </dgm:t>
    </dgm:pt>
    <dgm:pt modelId="{017079CA-32A6-4E79-916D-9DDAF4E48E84}" type="parTrans" cxnId="{7F7E483F-7C7D-4FF9-8B12-6D2769B58CB8}">
      <dgm:prSet/>
      <dgm:spPr/>
      <dgm:t>
        <a:bodyPr/>
        <a:lstStyle/>
        <a:p>
          <a:endParaRPr lang="en-NZ"/>
        </a:p>
      </dgm:t>
    </dgm:pt>
    <dgm:pt modelId="{B8CDD205-09B3-4A22-8EE4-B28DF95B06BB}" type="sibTrans" cxnId="{7F7E483F-7C7D-4FF9-8B12-6D2769B58CB8}">
      <dgm:prSet/>
      <dgm:spPr/>
      <dgm:t>
        <a:bodyPr/>
        <a:lstStyle/>
        <a:p>
          <a:endParaRPr lang="en-NZ"/>
        </a:p>
      </dgm:t>
    </dgm:pt>
    <dgm:pt modelId="{A2DB6BF4-7BBA-4252-AE69-3BD76CDCAFE1}" type="pres">
      <dgm:prSet presAssocID="{A8621814-E1BA-4DC3-86FD-BA8FB6872004}" presName="Name0" presStyleCnt="0">
        <dgm:presLayoutVars>
          <dgm:dir/>
          <dgm:resizeHandles val="exact"/>
        </dgm:presLayoutVars>
      </dgm:prSet>
      <dgm:spPr/>
    </dgm:pt>
    <dgm:pt modelId="{C14EBD50-C765-4F53-A313-14BFCF8D3BC7}" type="pres">
      <dgm:prSet presAssocID="{A8621814-E1BA-4DC3-86FD-BA8FB6872004}" presName="cycle" presStyleCnt="0"/>
      <dgm:spPr/>
    </dgm:pt>
    <dgm:pt modelId="{724BC137-58C1-4990-8E18-1F09929B922C}" type="pres">
      <dgm:prSet presAssocID="{D4C74A64-12AD-4347-A859-99034A791764}" presName="nodeFirstNode" presStyleLbl="node1" presStyleIdx="0" presStyleCnt="14">
        <dgm:presLayoutVars>
          <dgm:bulletEnabled val="1"/>
        </dgm:presLayoutVars>
      </dgm:prSet>
      <dgm:spPr/>
    </dgm:pt>
    <dgm:pt modelId="{C340FE4C-986E-4413-9F62-66592C7E1814}" type="pres">
      <dgm:prSet presAssocID="{B2703544-CB7D-4C80-9B62-A5199770F662}" presName="sibTransFirstNode" presStyleLbl="bgShp" presStyleIdx="0" presStyleCnt="1"/>
      <dgm:spPr/>
    </dgm:pt>
    <dgm:pt modelId="{C13AB510-CD57-4842-8D8C-3A8927BCFD17}" type="pres">
      <dgm:prSet presAssocID="{0BFC33A6-33A5-4DCC-B627-3224C6907E61}" presName="nodeFollowingNodes" presStyleLbl="node1" presStyleIdx="1" presStyleCnt="14">
        <dgm:presLayoutVars>
          <dgm:bulletEnabled val="1"/>
        </dgm:presLayoutVars>
      </dgm:prSet>
      <dgm:spPr/>
    </dgm:pt>
    <dgm:pt modelId="{0D21D4AB-5749-4079-BAB1-3FEC0A8FF4A5}" type="pres">
      <dgm:prSet presAssocID="{7A268730-CF6E-4C88-A3E7-BB1478025CAF}" presName="nodeFollowingNodes" presStyleLbl="node1" presStyleIdx="2" presStyleCnt="14">
        <dgm:presLayoutVars>
          <dgm:bulletEnabled val="1"/>
        </dgm:presLayoutVars>
      </dgm:prSet>
      <dgm:spPr/>
    </dgm:pt>
    <dgm:pt modelId="{7941B259-1B61-4ACF-90E9-9D53839BD113}" type="pres">
      <dgm:prSet presAssocID="{A41822C7-5438-4193-B013-FA71241612BD}" presName="nodeFollowingNodes" presStyleLbl="node1" presStyleIdx="3" presStyleCnt="14">
        <dgm:presLayoutVars>
          <dgm:bulletEnabled val="1"/>
        </dgm:presLayoutVars>
      </dgm:prSet>
      <dgm:spPr/>
    </dgm:pt>
    <dgm:pt modelId="{0556685A-6C75-477E-AE73-9F3255045E5A}" type="pres">
      <dgm:prSet presAssocID="{BCE2E462-B1AB-4B02-8D4C-47AC725784E3}" presName="nodeFollowingNodes" presStyleLbl="node1" presStyleIdx="4" presStyleCnt="14">
        <dgm:presLayoutVars>
          <dgm:bulletEnabled val="1"/>
        </dgm:presLayoutVars>
      </dgm:prSet>
      <dgm:spPr/>
    </dgm:pt>
    <dgm:pt modelId="{3A2B894E-5EB9-484F-860A-8047693CCD42}" type="pres">
      <dgm:prSet presAssocID="{52D9CF04-3CA7-4C5C-80E4-7CE26FA181BB}" presName="nodeFollowingNodes" presStyleLbl="node1" presStyleIdx="5" presStyleCnt="14">
        <dgm:presLayoutVars>
          <dgm:bulletEnabled val="1"/>
        </dgm:presLayoutVars>
      </dgm:prSet>
      <dgm:spPr/>
    </dgm:pt>
    <dgm:pt modelId="{FEEB6ADF-F2FB-40D2-A580-08B37950D981}" type="pres">
      <dgm:prSet presAssocID="{E908D0D1-6FE6-465C-84FA-9762D1A8E148}" presName="nodeFollowingNodes" presStyleLbl="node1" presStyleIdx="6" presStyleCnt="14">
        <dgm:presLayoutVars>
          <dgm:bulletEnabled val="1"/>
        </dgm:presLayoutVars>
      </dgm:prSet>
      <dgm:spPr/>
    </dgm:pt>
    <dgm:pt modelId="{6C142C26-B240-4BAE-B63B-3959A590996C}" type="pres">
      <dgm:prSet presAssocID="{9443102F-E1B5-4CCB-B55E-53AF366738D5}" presName="nodeFollowingNodes" presStyleLbl="node1" presStyleIdx="7" presStyleCnt="14">
        <dgm:presLayoutVars>
          <dgm:bulletEnabled val="1"/>
        </dgm:presLayoutVars>
      </dgm:prSet>
      <dgm:spPr/>
    </dgm:pt>
    <dgm:pt modelId="{DAF74D6B-9003-4A21-BD33-C631EE170E90}" type="pres">
      <dgm:prSet presAssocID="{7D165A1D-55E2-43DF-962B-7F64180EE6E6}" presName="nodeFollowingNodes" presStyleLbl="node1" presStyleIdx="8" presStyleCnt="14">
        <dgm:presLayoutVars>
          <dgm:bulletEnabled val="1"/>
        </dgm:presLayoutVars>
      </dgm:prSet>
      <dgm:spPr/>
    </dgm:pt>
    <dgm:pt modelId="{B3160628-BC89-4144-99C0-5E22B9F4D92A}" type="pres">
      <dgm:prSet presAssocID="{ABCD3914-20B0-4FB7-9293-90357DB7548F}" presName="nodeFollowingNodes" presStyleLbl="node1" presStyleIdx="9" presStyleCnt="14">
        <dgm:presLayoutVars>
          <dgm:bulletEnabled val="1"/>
        </dgm:presLayoutVars>
      </dgm:prSet>
      <dgm:spPr>
        <a:xfrm>
          <a:off x="1642032" y="3991969"/>
          <a:ext cx="1000124" cy="500062"/>
        </a:xfrm>
        <a:prstGeom prst="roundRect">
          <a:avLst/>
        </a:prstGeom>
      </dgm:spPr>
    </dgm:pt>
    <dgm:pt modelId="{2ED9524D-238F-4A6A-9233-BDE3975EE17B}" type="pres">
      <dgm:prSet presAssocID="{B26724F4-AC45-473D-A492-2A55181B1AFB}" presName="nodeFollowingNodes" presStyleLbl="node1" presStyleIdx="10" presStyleCnt="14">
        <dgm:presLayoutVars>
          <dgm:bulletEnabled val="1"/>
        </dgm:presLayoutVars>
      </dgm:prSet>
      <dgm:spPr/>
    </dgm:pt>
    <dgm:pt modelId="{E872FEA2-99D3-48FA-88BB-FE4CAF2B8480}" type="pres">
      <dgm:prSet presAssocID="{B62F2F5A-36F1-4D76-849E-FC6D64221DF9}" presName="nodeFollowingNodes" presStyleLbl="node1" presStyleIdx="11" presStyleCnt="14">
        <dgm:presLayoutVars>
          <dgm:bulletEnabled val="1"/>
        </dgm:presLayoutVars>
      </dgm:prSet>
      <dgm:spPr/>
    </dgm:pt>
    <dgm:pt modelId="{5E3B5CB0-7D2E-4054-AAC2-22916CAE3FAA}" type="pres">
      <dgm:prSet presAssocID="{2BECCA60-9B80-4A28-98A9-DD4D9DB9F3E5}" presName="nodeFollowingNodes" presStyleLbl="node1" presStyleIdx="12" presStyleCnt="14">
        <dgm:presLayoutVars>
          <dgm:bulletEnabled val="1"/>
        </dgm:presLayoutVars>
      </dgm:prSet>
      <dgm:spPr/>
    </dgm:pt>
    <dgm:pt modelId="{320D74B6-8975-423B-A55A-942734FF26A2}" type="pres">
      <dgm:prSet presAssocID="{9F92993B-D748-47CA-BEDF-0D719810DE38}" presName="nodeFollowingNodes" presStyleLbl="node1" presStyleIdx="13" presStyleCnt="14">
        <dgm:presLayoutVars>
          <dgm:bulletEnabled val="1"/>
        </dgm:presLayoutVars>
      </dgm:prSet>
      <dgm:spPr/>
    </dgm:pt>
  </dgm:ptLst>
  <dgm:cxnLst>
    <dgm:cxn modelId="{4E967B02-C32C-4F1F-B35F-6D3D9330B3DA}" type="presOf" srcId="{B26724F4-AC45-473D-A492-2A55181B1AFB}" destId="{2ED9524D-238F-4A6A-9233-BDE3975EE17B}" srcOrd="0" destOrd="0" presId="urn:microsoft.com/office/officeart/2005/8/layout/cycle3"/>
    <dgm:cxn modelId="{8B96CD03-1BD1-484E-8A23-920059C51868}" type="presOf" srcId="{BCE2E462-B1AB-4B02-8D4C-47AC725784E3}" destId="{0556685A-6C75-477E-AE73-9F3255045E5A}" srcOrd="0" destOrd="0" presId="urn:microsoft.com/office/officeart/2005/8/layout/cycle3"/>
    <dgm:cxn modelId="{1DD83B05-20B8-4694-9044-E1293CCA0B24}" type="presOf" srcId="{9F92993B-D748-47CA-BEDF-0D719810DE38}" destId="{320D74B6-8975-423B-A55A-942734FF26A2}" srcOrd="0" destOrd="0" presId="urn:microsoft.com/office/officeart/2005/8/layout/cycle3"/>
    <dgm:cxn modelId="{E806FA0F-ACE6-435A-B562-9D85B1152CDF}" type="presOf" srcId="{B62F2F5A-36F1-4D76-849E-FC6D64221DF9}" destId="{E872FEA2-99D3-48FA-88BB-FE4CAF2B8480}" srcOrd="0" destOrd="0" presId="urn:microsoft.com/office/officeart/2005/8/layout/cycle3"/>
    <dgm:cxn modelId="{CBCA401A-74D2-49A9-8403-16870527E44A}" srcId="{A8621814-E1BA-4DC3-86FD-BA8FB6872004}" destId="{2BECCA60-9B80-4A28-98A9-DD4D9DB9F3E5}" srcOrd="12" destOrd="0" parTransId="{988E75CB-9EFF-4A69-9C74-F5A50106DFDB}" sibTransId="{16DDC99B-A4AF-4D86-94C4-BF8988C1E6C4}"/>
    <dgm:cxn modelId="{051A131B-8BD8-45A8-A9C6-95117C9D470A}" srcId="{A8621814-E1BA-4DC3-86FD-BA8FB6872004}" destId="{BCE2E462-B1AB-4B02-8D4C-47AC725784E3}" srcOrd="4" destOrd="0" parTransId="{38B4DF1A-45E9-4B2D-BD3C-76AB421CEE2C}" sibTransId="{16CAEF1D-91E1-4FAC-BF42-D86321C062B5}"/>
    <dgm:cxn modelId="{722B131B-9166-4837-9591-983778A9463B}" srcId="{A8621814-E1BA-4DC3-86FD-BA8FB6872004}" destId="{A41822C7-5438-4193-B013-FA71241612BD}" srcOrd="3" destOrd="0" parTransId="{5B001A47-6610-46F7-B16A-999142F26427}" sibTransId="{D95AD364-B7A3-42F8-AB92-FC7D4D69E291}"/>
    <dgm:cxn modelId="{91A63E22-6E51-4AE8-9CCC-76895CFA185C}" type="presOf" srcId="{2BECCA60-9B80-4A28-98A9-DD4D9DB9F3E5}" destId="{5E3B5CB0-7D2E-4054-AAC2-22916CAE3FAA}" srcOrd="0" destOrd="0" presId="urn:microsoft.com/office/officeart/2005/8/layout/cycle3"/>
    <dgm:cxn modelId="{E6A28330-D159-4753-8140-66D6E6CFE690}" type="presOf" srcId="{7D165A1D-55E2-43DF-962B-7F64180EE6E6}" destId="{DAF74D6B-9003-4A21-BD33-C631EE170E90}" srcOrd="0" destOrd="0" presId="urn:microsoft.com/office/officeart/2005/8/layout/cycle3"/>
    <dgm:cxn modelId="{6FB6A134-02BF-4A7E-B6C7-518F63ADBD7B}" srcId="{A8621814-E1BA-4DC3-86FD-BA8FB6872004}" destId="{B62F2F5A-36F1-4D76-849E-FC6D64221DF9}" srcOrd="11" destOrd="0" parTransId="{1E55C24E-33E8-4A02-AFD6-83C34FEDB88A}" sibTransId="{D5DEBA92-34EA-4236-9B31-92E51445CF8A}"/>
    <dgm:cxn modelId="{7F7E483F-7C7D-4FF9-8B12-6D2769B58CB8}" srcId="{A8621814-E1BA-4DC3-86FD-BA8FB6872004}" destId="{ABCD3914-20B0-4FB7-9293-90357DB7548F}" srcOrd="9" destOrd="0" parTransId="{017079CA-32A6-4E79-916D-9DDAF4E48E84}" sibTransId="{B8CDD205-09B3-4A22-8EE4-B28DF95B06BB}"/>
    <dgm:cxn modelId="{99B7A564-CEC5-4CB0-8394-381C21D48EFA}" type="presOf" srcId="{A8621814-E1BA-4DC3-86FD-BA8FB6872004}" destId="{A2DB6BF4-7BBA-4252-AE69-3BD76CDCAFE1}" srcOrd="0" destOrd="0" presId="urn:microsoft.com/office/officeart/2005/8/layout/cycle3"/>
    <dgm:cxn modelId="{BC1BB345-CE9C-414C-9B13-CF65E2FFD6BB}" type="presOf" srcId="{9443102F-E1B5-4CCB-B55E-53AF366738D5}" destId="{6C142C26-B240-4BAE-B63B-3959A590996C}" srcOrd="0" destOrd="0" presId="urn:microsoft.com/office/officeart/2005/8/layout/cycle3"/>
    <dgm:cxn modelId="{2852FE47-384A-42F0-B35B-E7EC21D5C762}" type="presOf" srcId="{52D9CF04-3CA7-4C5C-80E4-7CE26FA181BB}" destId="{3A2B894E-5EB9-484F-860A-8047693CCD42}" srcOrd="0" destOrd="0" presId="urn:microsoft.com/office/officeart/2005/8/layout/cycle3"/>
    <dgm:cxn modelId="{BB360F69-9BB7-4266-B0EC-8D4CD777DFFE}" srcId="{A8621814-E1BA-4DC3-86FD-BA8FB6872004}" destId="{52D9CF04-3CA7-4C5C-80E4-7CE26FA181BB}" srcOrd="5" destOrd="0" parTransId="{4D356BC8-B3B3-47E1-BFAD-6344802F645F}" sibTransId="{03CA33DD-0916-4C19-9D61-4DA22BAFEF2F}"/>
    <dgm:cxn modelId="{18521249-4E71-4D3C-B23F-54CDFF07B778}" type="presOf" srcId="{E908D0D1-6FE6-465C-84FA-9762D1A8E148}" destId="{FEEB6ADF-F2FB-40D2-A580-08B37950D981}" srcOrd="0" destOrd="0" presId="urn:microsoft.com/office/officeart/2005/8/layout/cycle3"/>
    <dgm:cxn modelId="{495CFF6A-624D-4280-849A-CA4E5F49C0D6}" srcId="{A8621814-E1BA-4DC3-86FD-BA8FB6872004}" destId="{0BFC33A6-33A5-4DCC-B627-3224C6907E61}" srcOrd="1" destOrd="0" parTransId="{EEB0230E-FF36-442B-B4FF-3B8735C64E0C}" sibTransId="{9D04D4D0-1BA9-4D2E-BD77-09D096FAF009}"/>
    <dgm:cxn modelId="{BEC9AE4B-F45C-4A99-8877-EEDC6576E67F}" type="presOf" srcId="{B2703544-CB7D-4C80-9B62-A5199770F662}" destId="{C340FE4C-986E-4413-9F62-66592C7E1814}" srcOrd="0" destOrd="0" presId="urn:microsoft.com/office/officeart/2005/8/layout/cycle3"/>
    <dgm:cxn modelId="{01D3C86F-DEAA-4104-8DB7-1B628096FCED}" type="presOf" srcId="{ABCD3914-20B0-4FB7-9293-90357DB7548F}" destId="{B3160628-BC89-4144-99C0-5E22B9F4D92A}" srcOrd="0" destOrd="0" presId="urn:microsoft.com/office/officeart/2005/8/layout/cycle3"/>
    <dgm:cxn modelId="{7C306676-4161-4BBD-9C07-5FA9DD6CEDEE}" type="presOf" srcId="{A41822C7-5438-4193-B013-FA71241612BD}" destId="{7941B259-1B61-4ACF-90E9-9D53839BD113}" srcOrd="0" destOrd="0" presId="urn:microsoft.com/office/officeart/2005/8/layout/cycle3"/>
    <dgm:cxn modelId="{622F4679-FD20-43DC-9FE0-EABA3A43ABFF}" srcId="{A8621814-E1BA-4DC3-86FD-BA8FB6872004}" destId="{E908D0D1-6FE6-465C-84FA-9762D1A8E148}" srcOrd="6" destOrd="0" parTransId="{0D9F797B-E674-4327-92A0-C92CEEAE1F17}" sibTransId="{5180A22C-0241-49D1-B6D6-D540E9163425}"/>
    <dgm:cxn modelId="{C3AD9B7D-A9CF-463F-BAE6-6E92105B02AD}" type="presOf" srcId="{0BFC33A6-33A5-4DCC-B627-3224C6907E61}" destId="{C13AB510-CD57-4842-8D8C-3A8927BCFD17}" srcOrd="0" destOrd="0" presId="urn:microsoft.com/office/officeart/2005/8/layout/cycle3"/>
    <dgm:cxn modelId="{C9309086-9EA6-4A11-9FA2-277AADA05AEE}" type="presOf" srcId="{7A268730-CF6E-4C88-A3E7-BB1478025CAF}" destId="{0D21D4AB-5749-4079-BAB1-3FEC0A8FF4A5}" srcOrd="0" destOrd="0" presId="urn:microsoft.com/office/officeart/2005/8/layout/cycle3"/>
    <dgm:cxn modelId="{3DA01A97-98A2-4E3B-80A7-FF7967358307}" srcId="{A8621814-E1BA-4DC3-86FD-BA8FB6872004}" destId="{9443102F-E1B5-4CCB-B55E-53AF366738D5}" srcOrd="7" destOrd="0" parTransId="{D47689A9-CF06-420E-AD10-D56C9EC20926}" sibTransId="{B68AE0C7-16B4-4A58-A399-1EFE971F2D8A}"/>
    <dgm:cxn modelId="{FB7BF0A3-1BAA-4E89-A437-94E00BBB3DA1}" srcId="{A8621814-E1BA-4DC3-86FD-BA8FB6872004}" destId="{7D165A1D-55E2-43DF-962B-7F64180EE6E6}" srcOrd="8" destOrd="0" parTransId="{5A097F59-DBB3-45CD-8362-10ACF4E935EE}" sibTransId="{ADFF62C7-1033-412F-AFDF-6138B0EA43BC}"/>
    <dgm:cxn modelId="{A66533A8-4725-4A61-BDF2-93825D8F843A}" srcId="{A8621814-E1BA-4DC3-86FD-BA8FB6872004}" destId="{D4C74A64-12AD-4347-A859-99034A791764}" srcOrd="0" destOrd="0" parTransId="{1BC80CE4-EFBF-4ADA-8434-8962ABB19C32}" sibTransId="{B2703544-CB7D-4C80-9B62-A5199770F662}"/>
    <dgm:cxn modelId="{802001AA-DD85-4183-9D8B-ABAB41082FDA}" srcId="{A8621814-E1BA-4DC3-86FD-BA8FB6872004}" destId="{9F92993B-D748-47CA-BEDF-0D719810DE38}" srcOrd="13" destOrd="0" parTransId="{C8CA807D-C224-4EC7-A490-D13EECCC3F40}" sibTransId="{C36706D0-839D-4803-8A45-9CFDAF948D6F}"/>
    <dgm:cxn modelId="{D46648D6-5A95-4273-B274-781D20A4B71A}" type="presOf" srcId="{D4C74A64-12AD-4347-A859-99034A791764}" destId="{724BC137-58C1-4990-8E18-1F09929B922C}" srcOrd="0" destOrd="0" presId="urn:microsoft.com/office/officeart/2005/8/layout/cycle3"/>
    <dgm:cxn modelId="{88BF93E7-E41A-4787-9444-4762AA154D76}" srcId="{A8621814-E1BA-4DC3-86FD-BA8FB6872004}" destId="{7A268730-CF6E-4C88-A3E7-BB1478025CAF}" srcOrd="2" destOrd="0" parTransId="{1ECC345A-1BDA-4F8F-BE24-6074E9FCE341}" sibTransId="{C13533B1-B983-49B8-A706-1CD64E994E19}"/>
    <dgm:cxn modelId="{BD1A45EF-DBA0-4FC4-806C-904EFF3E2B6E}" srcId="{A8621814-E1BA-4DC3-86FD-BA8FB6872004}" destId="{B26724F4-AC45-473D-A492-2A55181B1AFB}" srcOrd="10" destOrd="0" parTransId="{A0399D92-9D4F-4722-984D-849BBE563E27}" sibTransId="{E1DC87CE-0576-4A92-B7D6-978C1FFDD785}"/>
    <dgm:cxn modelId="{0BEE6263-5ECA-4F55-A49C-C076ACC440CF}" type="presParOf" srcId="{A2DB6BF4-7BBA-4252-AE69-3BD76CDCAFE1}" destId="{C14EBD50-C765-4F53-A313-14BFCF8D3BC7}" srcOrd="0" destOrd="0" presId="urn:microsoft.com/office/officeart/2005/8/layout/cycle3"/>
    <dgm:cxn modelId="{7BD2C783-ED7D-4D70-90E3-500C5208C186}" type="presParOf" srcId="{C14EBD50-C765-4F53-A313-14BFCF8D3BC7}" destId="{724BC137-58C1-4990-8E18-1F09929B922C}" srcOrd="0" destOrd="0" presId="urn:microsoft.com/office/officeart/2005/8/layout/cycle3"/>
    <dgm:cxn modelId="{6DC3A705-01E2-4FE3-BE90-54AD68FF3906}" type="presParOf" srcId="{C14EBD50-C765-4F53-A313-14BFCF8D3BC7}" destId="{C340FE4C-986E-4413-9F62-66592C7E1814}" srcOrd="1" destOrd="0" presId="urn:microsoft.com/office/officeart/2005/8/layout/cycle3"/>
    <dgm:cxn modelId="{B9F27349-BF40-4C18-9152-16135EBBC3E6}" type="presParOf" srcId="{C14EBD50-C765-4F53-A313-14BFCF8D3BC7}" destId="{C13AB510-CD57-4842-8D8C-3A8927BCFD17}" srcOrd="2" destOrd="0" presId="urn:microsoft.com/office/officeart/2005/8/layout/cycle3"/>
    <dgm:cxn modelId="{DE7D1E7B-EC4E-4825-9273-494705F8631A}" type="presParOf" srcId="{C14EBD50-C765-4F53-A313-14BFCF8D3BC7}" destId="{0D21D4AB-5749-4079-BAB1-3FEC0A8FF4A5}" srcOrd="3" destOrd="0" presId="urn:microsoft.com/office/officeart/2005/8/layout/cycle3"/>
    <dgm:cxn modelId="{343F3D9D-FD7D-425D-9ACB-E675EF7A6837}" type="presParOf" srcId="{C14EBD50-C765-4F53-A313-14BFCF8D3BC7}" destId="{7941B259-1B61-4ACF-90E9-9D53839BD113}" srcOrd="4" destOrd="0" presId="urn:microsoft.com/office/officeart/2005/8/layout/cycle3"/>
    <dgm:cxn modelId="{5318FF4D-03AD-470F-92F6-2565E41F4F57}" type="presParOf" srcId="{C14EBD50-C765-4F53-A313-14BFCF8D3BC7}" destId="{0556685A-6C75-477E-AE73-9F3255045E5A}" srcOrd="5" destOrd="0" presId="urn:microsoft.com/office/officeart/2005/8/layout/cycle3"/>
    <dgm:cxn modelId="{41EB4FED-A839-4FEA-8029-B94F879E1BB1}" type="presParOf" srcId="{C14EBD50-C765-4F53-A313-14BFCF8D3BC7}" destId="{3A2B894E-5EB9-484F-860A-8047693CCD42}" srcOrd="6" destOrd="0" presId="urn:microsoft.com/office/officeart/2005/8/layout/cycle3"/>
    <dgm:cxn modelId="{74FFB46B-A13B-4A66-B013-D7A5B66D0145}" type="presParOf" srcId="{C14EBD50-C765-4F53-A313-14BFCF8D3BC7}" destId="{FEEB6ADF-F2FB-40D2-A580-08B37950D981}" srcOrd="7" destOrd="0" presId="urn:microsoft.com/office/officeart/2005/8/layout/cycle3"/>
    <dgm:cxn modelId="{7483145D-FF23-4C0E-81D7-24F7BDE97FDE}" type="presParOf" srcId="{C14EBD50-C765-4F53-A313-14BFCF8D3BC7}" destId="{6C142C26-B240-4BAE-B63B-3959A590996C}" srcOrd="8" destOrd="0" presId="urn:microsoft.com/office/officeart/2005/8/layout/cycle3"/>
    <dgm:cxn modelId="{8F7C5FE8-B0D0-42D6-BB5E-09BD753B138F}" type="presParOf" srcId="{C14EBD50-C765-4F53-A313-14BFCF8D3BC7}" destId="{DAF74D6B-9003-4A21-BD33-C631EE170E90}" srcOrd="9" destOrd="0" presId="urn:microsoft.com/office/officeart/2005/8/layout/cycle3"/>
    <dgm:cxn modelId="{D5625415-CE2F-481C-B560-643108771F4B}" type="presParOf" srcId="{C14EBD50-C765-4F53-A313-14BFCF8D3BC7}" destId="{B3160628-BC89-4144-99C0-5E22B9F4D92A}" srcOrd="10" destOrd="0" presId="urn:microsoft.com/office/officeart/2005/8/layout/cycle3"/>
    <dgm:cxn modelId="{E3315316-E496-4D60-B0FD-57DCA2B15F60}" type="presParOf" srcId="{C14EBD50-C765-4F53-A313-14BFCF8D3BC7}" destId="{2ED9524D-238F-4A6A-9233-BDE3975EE17B}" srcOrd="11" destOrd="0" presId="urn:microsoft.com/office/officeart/2005/8/layout/cycle3"/>
    <dgm:cxn modelId="{B7B78DC0-4A42-44C1-9B9A-F0FCEA4510D6}" type="presParOf" srcId="{C14EBD50-C765-4F53-A313-14BFCF8D3BC7}" destId="{E872FEA2-99D3-48FA-88BB-FE4CAF2B8480}" srcOrd="12" destOrd="0" presId="urn:microsoft.com/office/officeart/2005/8/layout/cycle3"/>
    <dgm:cxn modelId="{6921C439-2979-4A09-BB24-A2FBF2851135}" type="presParOf" srcId="{C14EBD50-C765-4F53-A313-14BFCF8D3BC7}" destId="{5E3B5CB0-7D2E-4054-AAC2-22916CAE3FAA}" srcOrd="13" destOrd="0" presId="urn:microsoft.com/office/officeart/2005/8/layout/cycle3"/>
    <dgm:cxn modelId="{1D109A59-579E-4683-90FA-85C1754D49D6}" type="presParOf" srcId="{C14EBD50-C765-4F53-A313-14BFCF8D3BC7}" destId="{320D74B6-8975-423B-A55A-942734FF26A2}" srcOrd="14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40FE4C-986E-4413-9F62-66592C7E1814}">
      <dsp:nvSpPr>
        <dsp:cNvPr id="0" name=""/>
        <dsp:cNvSpPr/>
      </dsp:nvSpPr>
      <dsp:spPr>
        <a:xfrm>
          <a:off x="1342118" y="-46420"/>
          <a:ext cx="5443763" cy="5443763"/>
        </a:xfrm>
        <a:prstGeom prst="circularArrow">
          <a:avLst>
            <a:gd name="adj1" fmla="val 5544"/>
            <a:gd name="adj2" fmla="val 330680"/>
            <a:gd name="adj3" fmla="val 14640608"/>
            <a:gd name="adj4" fmla="val 16879136"/>
            <a:gd name="adj5" fmla="val 5757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724BC137-58C1-4990-8E18-1F09929B922C}">
      <dsp:nvSpPr>
        <dsp:cNvPr id="0" name=""/>
        <dsp:cNvSpPr/>
      </dsp:nvSpPr>
      <dsp:spPr>
        <a:xfrm>
          <a:off x="3292078" y="1938"/>
          <a:ext cx="1543843" cy="771921"/>
        </a:xfrm>
        <a:prstGeom prst="roundRect">
          <a:avLst/>
        </a:prstGeom>
        <a:gradFill flip="none"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path path="circle">
            <a:fillToRect l="50000" t="50000" r="50000" b="50000"/>
          </a:path>
          <a:tileRect/>
        </a:gradFill>
        <a:ln w="19050">
          <a:solidFill>
            <a:srgbClr val="002060"/>
          </a:solidFill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load aggregate state (into mem)</a:t>
          </a:r>
          <a:endParaRPr lang="en-NZ" sz="1200" kern="1200" dirty="0"/>
        </a:p>
      </dsp:txBody>
      <dsp:txXfrm>
        <a:off x="3329760" y="39620"/>
        <a:ext cx="1468479" cy="696557"/>
      </dsp:txXfrm>
    </dsp:sp>
    <dsp:sp modelId="{C13AB510-CD57-4842-8D8C-3A8927BCFD17}">
      <dsp:nvSpPr>
        <dsp:cNvPr id="0" name=""/>
        <dsp:cNvSpPr/>
      </dsp:nvSpPr>
      <dsp:spPr>
        <a:xfrm>
          <a:off x="4933579" y="681870"/>
          <a:ext cx="1543843" cy="771921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invoke use case (method call)</a:t>
          </a:r>
        </a:p>
      </dsp:txBody>
      <dsp:txXfrm>
        <a:off x="4971261" y="719552"/>
        <a:ext cx="1468479" cy="696557"/>
      </dsp:txXfrm>
    </dsp:sp>
    <dsp:sp modelId="{0D21D4AB-5749-4079-BAB1-3FEC0A8FF4A5}">
      <dsp:nvSpPr>
        <dsp:cNvPr id="0" name=""/>
        <dsp:cNvSpPr/>
      </dsp:nvSpPr>
      <dsp:spPr>
        <a:xfrm>
          <a:off x="5613512" y="2323372"/>
          <a:ext cx="1543843" cy="771921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validate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(method parameters)</a:t>
          </a:r>
        </a:p>
      </dsp:txBody>
      <dsp:txXfrm>
        <a:off x="5651194" y="2361054"/>
        <a:ext cx="1468479" cy="696557"/>
      </dsp:txXfrm>
    </dsp:sp>
    <dsp:sp modelId="{7941B259-1B61-4ACF-90E9-9D53839BD113}">
      <dsp:nvSpPr>
        <dsp:cNvPr id="0" name=""/>
        <dsp:cNvSpPr/>
      </dsp:nvSpPr>
      <dsp:spPr>
        <a:xfrm>
          <a:off x="4933579" y="3964874"/>
          <a:ext cx="1543843" cy="771921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raise event (</a:t>
          </a:r>
          <a:r>
            <a:rPr lang="en-US" sz="1200" kern="1200" dirty="0" err="1"/>
            <a:t>RaiseChangeEvent</a:t>
          </a:r>
          <a:r>
            <a:rPr lang="en-US" sz="1200" kern="1200" dirty="0"/>
            <a:t>)</a:t>
          </a:r>
        </a:p>
      </dsp:txBody>
      <dsp:txXfrm>
        <a:off x="4971261" y="4002556"/>
        <a:ext cx="1468479" cy="696557"/>
      </dsp:txXfrm>
    </dsp:sp>
    <dsp:sp modelId="{A15F9EE8-4659-47E0-A52E-0B93961498DF}">
      <dsp:nvSpPr>
        <dsp:cNvPr id="0" name=""/>
        <dsp:cNvSpPr/>
      </dsp:nvSpPr>
      <dsp:spPr>
        <a:xfrm>
          <a:off x="3292078" y="4644806"/>
          <a:ext cx="1543843" cy="771921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saves event to internal list</a:t>
          </a:r>
        </a:p>
      </dsp:txBody>
      <dsp:txXfrm>
        <a:off x="3329760" y="4682488"/>
        <a:ext cx="1468479" cy="696557"/>
      </dsp:txXfrm>
    </dsp:sp>
    <dsp:sp modelId="{1B21BF4E-05DF-494A-A34C-98E43888D3E8}">
      <dsp:nvSpPr>
        <dsp:cNvPr id="0" name=""/>
        <dsp:cNvSpPr/>
      </dsp:nvSpPr>
      <dsp:spPr>
        <a:xfrm>
          <a:off x="1650576" y="3964874"/>
          <a:ext cx="1543843" cy="771921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consume event (</a:t>
          </a:r>
          <a:r>
            <a:rPr lang="en-US" sz="1200" kern="1200" dirty="0" err="1"/>
            <a:t>OnStateChanged</a:t>
          </a:r>
          <a:r>
            <a:rPr lang="en-US" sz="1200" kern="1200" dirty="0"/>
            <a:t>)</a:t>
          </a:r>
        </a:p>
      </dsp:txBody>
      <dsp:txXfrm>
        <a:off x="1688258" y="4002556"/>
        <a:ext cx="1468479" cy="696557"/>
      </dsp:txXfrm>
    </dsp:sp>
    <dsp:sp modelId="{B99F653D-2E0F-47E1-A723-BB6EA8E8C3E3}">
      <dsp:nvSpPr>
        <dsp:cNvPr id="0" name=""/>
        <dsp:cNvSpPr/>
      </dsp:nvSpPr>
      <dsp:spPr>
        <a:xfrm>
          <a:off x="970643" y="2323372"/>
          <a:ext cx="1543843" cy="771921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set in-mem state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(property setters)</a:t>
          </a:r>
        </a:p>
      </dsp:txBody>
      <dsp:txXfrm>
        <a:off x="1008325" y="2361054"/>
        <a:ext cx="1468479" cy="696557"/>
      </dsp:txXfrm>
    </dsp:sp>
    <dsp:sp modelId="{1C465DA8-29B9-4559-B0B1-2149FD139FF5}">
      <dsp:nvSpPr>
        <dsp:cNvPr id="0" name=""/>
        <dsp:cNvSpPr/>
      </dsp:nvSpPr>
      <dsp:spPr>
        <a:xfrm>
          <a:off x="1650576" y="681870"/>
          <a:ext cx="1543843" cy="771921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validate invariants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(</a:t>
          </a:r>
          <a:r>
            <a:rPr lang="en-US" sz="1200" kern="1200" dirty="0" err="1"/>
            <a:t>EnsureInvariants</a:t>
          </a:r>
          <a:r>
            <a:rPr lang="en-US" sz="1200" kern="1200" dirty="0"/>
            <a:t>)</a:t>
          </a:r>
        </a:p>
      </dsp:txBody>
      <dsp:txXfrm>
        <a:off x="1688258" y="719552"/>
        <a:ext cx="1468479" cy="69655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40FE4C-986E-4413-9F62-66592C7E1814}">
      <dsp:nvSpPr>
        <dsp:cNvPr id="0" name=""/>
        <dsp:cNvSpPr/>
      </dsp:nvSpPr>
      <dsp:spPr>
        <a:xfrm>
          <a:off x="1181750" y="-123970"/>
          <a:ext cx="5764498" cy="5764498"/>
        </a:xfrm>
        <a:prstGeom prst="circularArrow">
          <a:avLst>
            <a:gd name="adj1" fmla="val 5544"/>
            <a:gd name="adj2" fmla="val 330680"/>
            <a:gd name="adj3" fmla="val 15125285"/>
            <a:gd name="adj4" fmla="val 16607821"/>
            <a:gd name="adj5" fmla="val 5757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724BC137-58C1-4990-8E18-1F09929B922C}">
      <dsp:nvSpPr>
        <dsp:cNvPr id="0" name=""/>
        <dsp:cNvSpPr/>
      </dsp:nvSpPr>
      <dsp:spPr>
        <a:xfrm>
          <a:off x="3563937" y="1094"/>
          <a:ext cx="1000124" cy="500062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>
          <a:solidFill>
            <a:srgbClr val="002060"/>
          </a:solidFill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load aggregate state (into mem)</a:t>
          </a:r>
          <a:endParaRPr lang="en-NZ" sz="700" kern="1200" dirty="0"/>
        </a:p>
      </dsp:txBody>
      <dsp:txXfrm>
        <a:off x="3588348" y="25505"/>
        <a:ext cx="951302" cy="451240"/>
      </dsp:txXfrm>
    </dsp:sp>
    <dsp:sp modelId="{C13AB510-CD57-4842-8D8C-3A8927BCFD17}">
      <dsp:nvSpPr>
        <dsp:cNvPr id="0" name=""/>
        <dsp:cNvSpPr/>
      </dsp:nvSpPr>
      <dsp:spPr>
        <a:xfrm>
          <a:off x="4630514" y="244533"/>
          <a:ext cx="1000124" cy="500062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Root: invoke use case (method call)</a:t>
          </a:r>
        </a:p>
      </dsp:txBody>
      <dsp:txXfrm>
        <a:off x="4654925" y="268944"/>
        <a:ext cx="951302" cy="451240"/>
      </dsp:txXfrm>
    </dsp:sp>
    <dsp:sp modelId="{0D21D4AB-5749-4079-BAB1-3FEC0A8FF4A5}">
      <dsp:nvSpPr>
        <dsp:cNvPr id="0" name=""/>
        <dsp:cNvSpPr/>
      </dsp:nvSpPr>
      <dsp:spPr>
        <a:xfrm>
          <a:off x="5485842" y="926634"/>
          <a:ext cx="1000124" cy="500062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Root: validate</a:t>
          </a:r>
        </a:p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(method params)</a:t>
          </a:r>
        </a:p>
      </dsp:txBody>
      <dsp:txXfrm>
        <a:off x="5510253" y="951045"/>
        <a:ext cx="951302" cy="451240"/>
      </dsp:txXfrm>
    </dsp:sp>
    <dsp:sp modelId="{7941B259-1B61-4ACF-90E9-9D53839BD113}">
      <dsp:nvSpPr>
        <dsp:cNvPr id="0" name=""/>
        <dsp:cNvSpPr/>
      </dsp:nvSpPr>
      <dsp:spPr>
        <a:xfrm>
          <a:off x="5960513" y="1912299"/>
          <a:ext cx="1000124" cy="500062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Root: invoke method on entity instance</a:t>
          </a:r>
        </a:p>
      </dsp:txBody>
      <dsp:txXfrm>
        <a:off x="5984924" y="1936710"/>
        <a:ext cx="951302" cy="451240"/>
      </dsp:txXfrm>
    </dsp:sp>
    <dsp:sp modelId="{0556685A-6C75-477E-AE73-9F3255045E5A}">
      <dsp:nvSpPr>
        <dsp:cNvPr id="0" name=""/>
        <dsp:cNvSpPr/>
      </dsp:nvSpPr>
      <dsp:spPr>
        <a:xfrm>
          <a:off x="5960513" y="3006305"/>
          <a:ext cx="1000124" cy="500062"/>
        </a:xfrm>
        <a:prstGeom prst="roundRect">
          <a:avLst/>
        </a:prstGeom>
        <a:solidFill>
          <a:schemeClr val="accent2">
            <a:lumMod val="7500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bg1"/>
              </a:solidFill>
            </a:rPr>
            <a:t>Entity: validate (method params)</a:t>
          </a:r>
        </a:p>
      </dsp:txBody>
      <dsp:txXfrm>
        <a:off x="5984924" y="3030716"/>
        <a:ext cx="951302" cy="451240"/>
      </dsp:txXfrm>
    </dsp:sp>
    <dsp:sp modelId="{3A2B894E-5EB9-484F-860A-8047693CCD42}">
      <dsp:nvSpPr>
        <dsp:cNvPr id="0" name=""/>
        <dsp:cNvSpPr/>
      </dsp:nvSpPr>
      <dsp:spPr>
        <a:xfrm>
          <a:off x="5485842" y="3991969"/>
          <a:ext cx="1000124" cy="500062"/>
        </a:xfrm>
        <a:prstGeom prst="roundRect">
          <a:avLst/>
        </a:prstGeom>
        <a:solidFill>
          <a:schemeClr val="accent2">
            <a:lumMod val="7500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bg1"/>
              </a:solidFill>
            </a:rPr>
            <a:t>Entity: raise event  (</a:t>
          </a:r>
          <a:r>
            <a:rPr lang="en-US" sz="700" kern="1200" dirty="0" err="1">
              <a:solidFill>
                <a:schemeClr val="bg1"/>
              </a:solidFill>
            </a:rPr>
            <a:t>RaiseChangeEvent</a:t>
          </a:r>
          <a:r>
            <a:rPr lang="en-US" sz="700" kern="1200" dirty="0">
              <a:solidFill>
                <a:schemeClr val="bg1"/>
              </a:solidFill>
            </a:rPr>
            <a:t>)</a:t>
          </a:r>
        </a:p>
      </dsp:txBody>
      <dsp:txXfrm>
        <a:off x="5510253" y="4016380"/>
        <a:ext cx="951302" cy="451240"/>
      </dsp:txXfrm>
    </dsp:sp>
    <dsp:sp modelId="{FEEB6ADF-F2FB-40D2-A580-08B37950D981}">
      <dsp:nvSpPr>
        <dsp:cNvPr id="0" name=""/>
        <dsp:cNvSpPr/>
      </dsp:nvSpPr>
      <dsp:spPr>
        <a:xfrm>
          <a:off x="4630514" y="4674071"/>
          <a:ext cx="1000124" cy="500062"/>
        </a:xfrm>
        <a:prstGeom prst="roundRect">
          <a:avLst/>
        </a:prstGeom>
        <a:solidFill>
          <a:schemeClr val="accent2">
            <a:lumMod val="7500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bg1"/>
              </a:solidFill>
            </a:rPr>
            <a:t>Entity: consume event (</a:t>
          </a:r>
          <a:r>
            <a:rPr lang="en-US" sz="700" kern="1200" dirty="0" err="1">
              <a:solidFill>
                <a:schemeClr val="bg1"/>
              </a:solidFill>
            </a:rPr>
            <a:t>OnStateChanged</a:t>
          </a:r>
          <a:r>
            <a:rPr lang="en-US" sz="700" kern="1200" dirty="0">
              <a:solidFill>
                <a:schemeClr val="bg1"/>
              </a:solidFill>
            </a:rPr>
            <a:t>)</a:t>
          </a:r>
        </a:p>
      </dsp:txBody>
      <dsp:txXfrm>
        <a:off x="4654925" y="4698482"/>
        <a:ext cx="951302" cy="451240"/>
      </dsp:txXfrm>
    </dsp:sp>
    <dsp:sp modelId="{6C142C26-B240-4BAE-B63B-3959A590996C}">
      <dsp:nvSpPr>
        <dsp:cNvPr id="0" name=""/>
        <dsp:cNvSpPr/>
      </dsp:nvSpPr>
      <dsp:spPr>
        <a:xfrm>
          <a:off x="3563937" y="4917510"/>
          <a:ext cx="1000124" cy="500062"/>
        </a:xfrm>
        <a:prstGeom prst="roundRect">
          <a:avLst/>
        </a:prstGeom>
        <a:solidFill>
          <a:schemeClr val="accent2">
            <a:lumMod val="7500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bg1"/>
              </a:solidFill>
            </a:rPr>
            <a:t>Entity: set state</a:t>
          </a:r>
        </a:p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bg1"/>
              </a:solidFill>
            </a:rPr>
            <a:t>(property setters)</a:t>
          </a:r>
        </a:p>
      </dsp:txBody>
      <dsp:txXfrm>
        <a:off x="3588348" y="4941921"/>
        <a:ext cx="951302" cy="451240"/>
      </dsp:txXfrm>
    </dsp:sp>
    <dsp:sp modelId="{DAF74D6B-9003-4A21-BD33-C631EE170E90}">
      <dsp:nvSpPr>
        <dsp:cNvPr id="0" name=""/>
        <dsp:cNvSpPr/>
      </dsp:nvSpPr>
      <dsp:spPr>
        <a:xfrm>
          <a:off x="2497360" y="4674071"/>
          <a:ext cx="1000124" cy="500062"/>
        </a:xfrm>
        <a:prstGeom prst="roundRect">
          <a:avLst/>
        </a:prstGeom>
        <a:solidFill>
          <a:schemeClr val="accent2">
            <a:lumMod val="7500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bg1"/>
              </a:solidFill>
            </a:rPr>
            <a:t>Entity: validate invariants</a:t>
          </a:r>
        </a:p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>
              <a:solidFill>
                <a:schemeClr val="bg1"/>
              </a:solidFill>
            </a:rPr>
            <a:t>(</a:t>
          </a:r>
          <a:r>
            <a:rPr lang="en-US" sz="700" kern="1200" dirty="0" err="1">
              <a:solidFill>
                <a:schemeClr val="bg1"/>
              </a:solidFill>
            </a:rPr>
            <a:t>EnsureInvariants</a:t>
          </a:r>
          <a:r>
            <a:rPr lang="en-US" sz="700" kern="1200" dirty="0">
              <a:solidFill>
                <a:schemeClr val="bg1"/>
              </a:solidFill>
            </a:rPr>
            <a:t>)</a:t>
          </a:r>
        </a:p>
      </dsp:txBody>
      <dsp:txXfrm>
        <a:off x="2521771" y="4698482"/>
        <a:ext cx="951302" cy="451240"/>
      </dsp:txXfrm>
    </dsp:sp>
    <dsp:sp modelId="{B3160628-BC89-4144-99C0-5E22B9F4D92A}">
      <dsp:nvSpPr>
        <dsp:cNvPr id="0" name=""/>
        <dsp:cNvSpPr/>
      </dsp:nvSpPr>
      <dsp:spPr>
        <a:xfrm>
          <a:off x="1642032" y="3991969"/>
          <a:ext cx="1000124" cy="500062"/>
        </a:xfrm>
        <a:prstGeom prst="roundRect">
          <a:avLst/>
        </a:prstGeom>
        <a:solidFill>
          <a:srgbClr val="ED7D31">
            <a:lumMod val="75000"/>
          </a:srgb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solidFill>
                <a:schemeClr val="bg1"/>
              </a:solidFill>
              <a:latin typeface="Calibri" panose="020F0502020204030204"/>
              <a:ea typeface="+mn-ea"/>
              <a:cs typeface="+mn-cs"/>
            </a:rPr>
            <a:t>Entity: raise event to root</a:t>
          </a:r>
        </a:p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solidFill>
                <a:schemeClr val="bg1"/>
              </a:solidFill>
              <a:latin typeface="Calibri" panose="020F0502020204030204"/>
              <a:ea typeface="+mn-ea"/>
              <a:cs typeface="+mn-cs"/>
            </a:rPr>
            <a:t>(</a:t>
          </a:r>
          <a:r>
            <a:rPr lang="en-NZ" sz="800" kern="1200" dirty="0" err="1">
              <a:solidFill>
                <a:schemeClr val="bg1"/>
              </a:solidFill>
            </a:rPr>
            <a:t>RootEventHandler</a:t>
          </a:r>
          <a:r>
            <a:rPr lang="en-US" sz="800" kern="1200" dirty="0">
              <a:solidFill>
                <a:schemeClr val="bg1"/>
              </a:solidFill>
              <a:latin typeface="Calibri" panose="020F0502020204030204"/>
              <a:ea typeface="+mn-ea"/>
              <a:cs typeface="+mn-cs"/>
            </a:rPr>
            <a:t>)</a:t>
          </a:r>
        </a:p>
      </dsp:txBody>
      <dsp:txXfrm>
        <a:off x="1666443" y="4016380"/>
        <a:ext cx="951302" cy="451240"/>
      </dsp:txXfrm>
    </dsp:sp>
    <dsp:sp modelId="{2ED9524D-238F-4A6A-9233-BDE3975EE17B}">
      <dsp:nvSpPr>
        <dsp:cNvPr id="0" name=""/>
        <dsp:cNvSpPr/>
      </dsp:nvSpPr>
      <dsp:spPr>
        <a:xfrm>
          <a:off x="1167361" y="3006305"/>
          <a:ext cx="1000124" cy="500062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Root: saves event to internal list</a:t>
          </a:r>
          <a:endParaRPr lang="en-US" sz="700" kern="1200" dirty="0">
            <a:solidFill>
              <a:schemeClr val="bg1"/>
            </a:solidFill>
          </a:endParaRPr>
        </a:p>
      </dsp:txBody>
      <dsp:txXfrm>
        <a:off x="1191772" y="3030716"/>
        <a:ext cx="951302" cy="451240"/>
      </dsp:txXfrm>
    </dsp:sp>
    <dsp:sp modelId="{E872FEA2-99D3-48FA-88BB-FE4CAF2B8480}">
      <dsp:nvSpPr>
        <dsp:cNvPr id="0" name=""/>
        <dsp:cNvSpPr/>
      </dsp:nvSpPr>
      <dsp:spPr>
        <a:xfrm>
          <a:off x="1167361" y="1912299"/>
          <a:ext cx="1000124" cy="500062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Root: consume event (</a:t>
          </a:r>
          <a:r>
            <a:rPr lang="en-US" sz="700" kern="1200" dirty="0" err="1"/>
            <a:t>OnStateChanged</a:t>
          </a:r>
          <a:r>
            <a:rPr lang="en-US" sz="700" kern="1200" dirty="0"/>
            <a:t>)</a:t>
          </a:r>
        </a:p>
      </dsp:txBody>
      <dsp:txXfrm>
        <a:off x="1191772" y="1936710"/>
        <a:ext cx="951302" cy="451240"/>
      </dsp:txXfrm>
    </dsp:sp>
    <dsp:sp modelId="{5E3B5CB0-7D2E-4054-AAC2-22916CAE3FAA}">
      <dsp:nvSpPr>
        <dsp:cNvPr id="0" name=""/>
        <dsp:cNvSpPr/>
      </dsp:nvSpPr>
      <dsp:spPr>
        <a:xfrm>
          <a:off x="1642032" y="926634"/>
          <a:ext cx="1000124" cy="500062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Root: set in-mem state</a:t>
          </a:r>
        </a:p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(property setters)</a:t>
          </a:r>
        </a:p>
      </dsp:txBody>
      <dsp:txXfrm>
        <a:off x="1666443" y="951045"/>
        <a:ext cx="951302" cy="451240"/>
      </dsp:txXfrm>
    </dsp:sp>
    <dsp:sp modelId="{320D74B6-8975-423B-A55A-942734FF26A2}">
      <dsp:nvSpPr>
        <dsp:cNvPr id="0" name=""/>
        <dsp:cNvSpPr/>
      </dsp:nvSpPr>
      <dsp:spPr>
        <a:xfrm>
          <a:off x="2497360" y="244533"/>
          <a:ext cx="1000124" cy="500062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Root: validate invariants</a:t>
          </a:r>
        </a:p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(</a:t>
          </a:r>
          <a:r>
            <a:rPr lang="en-US" sz="700" kern="1200" dirty="0" err="1"/>
            <a:t>EnsureInvariants</a:t>
          </a:r>
          <a:r>
            <a:rPr lang="en-US" sz="700" kern="1200" dirty="0"/>
            <a:t>)</a:t>
          </a:r>
          <a:endParaRPr lang="en-NZ" sz="700" kern="1200" dirty="0"/>
        </a:p>
      </dsp:txBody>
      <dsp:txXfrm>
        <a:off x="2521771" y="268944"/>
        <a:ext cx="951302" cy="4512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0BA2C31-8300-3BAB-BF4C-35F7E6F80F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694D99-5BBD-A3DA-6119-FDFECCE34BC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49B613-EB70-4772-B8C5-27134E618EC6}" type="datetimeFigureOut">
              <a:rPr lang="en-NZ" smtClean="0"/>
              <a:t>9/01/2026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148F42-4E49-793E-920D-1B3614C258F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403B48-7068-A342-A497-3AEBD0EC07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77DB07-C338-430E-9585-EBF522617A9D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4827368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C910B-FFDF-56CE-F985-7869947B7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49275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  <a:endParaRPr lang="en-NZ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51FFDE-260F-8140-1729-C9B33E97A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C8CC2-4E43-407C-8230-EFF88652EA00}" type="datetimeFigureOut">
              <a:rPr lang="en-NZ" smtClean="0"/>
              <a:t>9/01/2026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24EAD8-4C45-7A56-0743-359695B59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DE271C-4314-4B6A-5FC5-EC50E5688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0D17B-7991-4BCC-BB1F-EDA288A325A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688346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0E8704-EF6B-F7F8-14C5-FC329CEF0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C8CC2-4E43-407C-8230-EFF88652EA00}" type="datetimeFigureOut">
              <a:rPr lang="en-NZ" smtClean="0"/>
              <a:t>9/01/2026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ED411F-5BB4-92D0-C334-B452ED7FD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3AB131-D228-9C33-EA37-55EA2BF7B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0D17B-7991-4BCC-BB1F-EDA288A325A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546309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16D165-0E94-A634-A71B-993B8A0C0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62" y="287578"/>
            <a:ext cx="10515600" cy="5751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NZ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4AFD40-C371-1C1F-2EC1-204375F16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7C8CC2-4E43-407C-8230-EFF88652EA00}" type="datetimeFigureOut">
              <a:rPr lang="en-NZ" smtClean="0"/>
              <a:t>9/01/2026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36DF42-5732-16D6-12F9-6CC6D80482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3F3BF-F57A-8097-E393-5DA9234F6C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C0D17B-7991-4BCC-BB1F-EDA288A325A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011738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4.png"/><Relationship Id="rId15" Type="http://schemas.openxmlformats.org/officeDocument/2006/relationships/image" Target="../media/image14.jpe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33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9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32.png"/><Relationship Id="rId32" Type="http://schemas.openxmlformats.org/officeDocument/2006/relationships/image" Target="../media/image38.png"/><Relationship Id="rId5" Type="http://schemas.openxmlformats.org/officeDocument/2006/relationships/image" Target="../media/image4.png"/><Relationship Id="rId15" Type="http://schemas.openxmlformats.org/officeDocument/2006/relationships/image" Target="../media/image14.jpeg"/><Relationship Id="rId23" Type="http://schemas.openxmlformats.org/officeDocument/2006/relationships/image" Target="../media/image22.png"/><Relationship Id="rId28" Type="http://schemas.openxmlformats.org/officeDocument/2006/relationships/image" Target="../media/image28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7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31.png"/><Relationship Id="rId27" Type="http://schemas.openxmlformats.org/officeDocument/2006/relationships/image" Target="../media/image34.jpeg"/><Relationship Id="rId30" Type="http://schemas.openxmlformats.org/officeDocument/2006/relationships/image" Target="../media/image3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sv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2.png"/><Relationship Id="rId7" Type="http://schemas.openxmlformats.org/officeDocument/2006/relationships/image" Target="../media/image1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25.png"/><Relationship Id="rId10" Type="http://schemas.openxmlformats.org/officeDocument/2006/relationships/image" Target="../media/image23.png"/><Relationship Id="rId4" Type="http://schemas.openxmlformats.org/officeDocument/2006/relationships/image" Target="../media/image24.png"/><Relationship Id="rId9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jpeg"/><Relationship Id="rId3" Type="http://schemas.openxmlformats.org/officeDocument/2006/relationships/image" Target="../media/image2.png"/><Relationship Id="rId7" Type="http://schemas.openxmlformats.org/officeDocument/2006/relationships/image" Target="../media/image3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10" Type="http://schemas.openxmlformats.org/officeDocument/2006/relationships/image" Target="../media/image36.png"/><Relationship Id="rId4" Type="http://schemas.openxmlformats.org/officeDocument/2006/relationships/image" Target="../media/image11.png"/><Relationship Id="rId9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50.png"/><Relationship Id="rId18" Type="http://schemas.openxmlformats.org/officeDocument/2006/relationships/image" Target="../media/image55.svg"/><Relationship Id="rId3" Type="http://schemas.openxmlformats.org/officeDocument/2006/relationships/image" Target="../media/image24.png"/><Relationship Id="rId7" Type="http://schemas.openxmlformats.org/officeDocument/2006/relationships/image" Target="../media/image14.jpeg"/><Relationship Id="rId12" Type="http://schemas.openxmlformats.org/officeDocument/2006/relationships/image" Target="../media/image49.svg"/><Relationship Id="rId17" Type="http://schemas.openxmlformats.org/officeDocument/2006/relationships/image" Target="../media/image54.png"/><Relationship Id="rId2" Type="http://schemas.openxmlformats.org/officeDocument/2006/relationships/image" Target="../media/image22.png"/><Relationship Id="rId16" Type="http://schemas.openxmlformats.org/officeDocument/2006/relationships/image" Target="../media/image5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48.png"/><Relationship Id="rId5" Type="http://schemas.openxmlformats.org/officeDocument/2006/relationships/image" Target="../media/image23.png"/><Relationship Id="rId15" Type="http://schemas.openxmlformats.org/officeDocument/2006/relationships/image" Target="../media/image52.png"/><Relationship Id="rId10" Type="http://schemas.openxmlformats.org/officeDocument/2006/relationships/image" Target="../media/image47.svg"/><Relationship Id="rId4" Type="http://schemas.openxmlformats.org/officeDocument/2006/relationships/image" Target="../media/image25.png"/><Relationship Id="rId9" Type="http://schemas.openxmlformats.org/officeDocument/2006/relationships/image" Target="../media/image46.png"/><Relationship Id="rId14" Type="http://schemas.openxmlformats.org/officeDocument/2006/relationships/image" Target="../media/image51.sv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13" Type="http://schemas.openxmlformats.org/officeDocument/2006/relationships/image" Target="../media/image66.png"/><Relationship Id="rId18" Type="http://schemas.openxmlformats.org/officeDocument/2006/relationships/image" Target="../media/image27.png"/><Relationship Id="rId26" Type="http://schemas.openxmlformats.org/officeDocument/2006/relationships/image" Target="../media/image77.svg"/><Relationship Id="rId3" Type="http://schemas.openxmlformats.org/officeDocument/2006/relationships/image" Target="../media/image56.png"/><Relationship Id="rId21" Type="http://schemas.openxmlformats.org/officeDocument/2006/relationships/image" Target="../media/image72.png"/><Relationship Id="rId7" Type="http://schemas.openxmlformats.org/officeDocument/2006/relationships/image" Target="../media/image60.png"/><Relationship Id="rId12" Type="http://schemas.openxmlformats.org/officeDocument/2006/relationships/image" Target="../media/image65.svg"/><Relationship Id="rId17" Type="http://schemas.openxmlformats.org/officeDocument/2006/relationships/image" Target="../media/image24.png"/><Relationship Id="rId25" Type="http://schemas.openxmlformats.org/officeDocument/2006/relationships/image" Target="../media/image76.png"/><Relationship Id="rId2" Type="http://schemas.openxmlformats.org/officeDocument/2006/relationships/image" Target="../media/image23.png"/><Relationship Id="rId16" Type="http://schemas.openxmlformats.org/officeDocument/2006/relationships/image" Target="../media/image69.svg"/><Relationship Id="rId20" Type="http://schemas.openxmlformats.org/officeDocument/2006/relationships/image" Target="../media/image71.svg"/><Relationship Id="rId29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svg"/><Relationship Id="rId11" Type="http://schemas.openxmlformats.org/officeDocument/2006/relationships/image" Target="../media/image64.png"/><Relationship Id="rId24" Type="http://schemas.openxmlformats.org/officeDocument/2006/relationships/image" Target="../media/image75.svg"/><Relationship Id="rId5" Type="http://schemas.openxmlformats.org/officeDocument/2006/relationships/image" Target="../media/image58.png"/><Relationship Id="rId15" Type="http://schemas.openxmlformats.org/officeDocument/2006/relationships/image" Target="../media/image68.png"/><Relationship Id="rId23" Type="http://schemas.openxmlformats.org/officeDocument/2006/relationships/image" Target="../media/image74.png"/><Relationship Id="rId28" Type="http://schemas.openxmlformats.org/officeDocument/2006/relationships/image" Target="../media/image55.svg"/><Relationship Id="rId10" Type="http://schemas.openxmlformats.org/officeDocument/2006/relationships/image" Target="../media/image63.svg"/><Relationship Id="rId19" Type="http://schemas.openxmlformats.org/officeDocument/2006/relationships/image" Target="../media/image70.png"/><Relationship Id="rId4" Type="http://schemas.openxmlformats.org/officeDocument/2006/relationships/image" Target="../media/image57.svg"/><Relationship Id="rId9" Type="http://schemas.openxmlformats.org/officeDocument/2006/relationships/image" Target="../media/image62.png"/><Relationship Id="rId14" Type="http://schemas.openxmlformats.org/officeDocument/2006/relationships/image" Target="../media/image67.svg"/><Relationship Id="rId22" Type="http://schemas.openxmlformats.org/officeDocument/2006/relationships/image" Target="../media/image73.svg"/><Relationship Id="rId27" Type="http://schemas.openxmlformats.org/officeDocument/2006/relationships/image" Target="../media/image54.png"/><Relationship Id="rId30" Type="http://schemas.openxmlformats.org/officeDocument/2006/relationships/image" Target="../media/image79.svg"/></Relationships>
</file>

<file path=ppt/slides/_rels/slide2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4.png"/><Relationship Id="rId18" Type="http://schemas.openxmlformats.org/officeDocument/2006/relationships/image" Target="../media/image85.svg"/><Relationship Id="rId26" Type="http://schemas.openxmlformats.org/officeDocument/2006/relationships/image" Target="../media/image88.png"/><Relationship Id="rId39" Type="http://schemas.openxmlformats.org/officeDocument/2006/relationships/image" Target="../media/image101.svg"/><Relationship Id="rId21" Type="http://schemas.openxmlformats.org/officeDocument/2006/relationships/image" Target="../media/image52.png"/><Relationship Id="rId34" Type="http://schemas.openxmlformats.org/officeDocument/2006/relationships/image" Target="../media/image96.png"/><Relationship Id="rId7" Type="http://schemas.openxmlformats.org/officeDocument/2006/relationships/image" Target="../media/image48.png"/><Relationship Id="rId2" Type="http://schemas.openxmlformats.org/officeDocument/2006/relationships/image" Target="../media/image23.png"/><Relationship Id="rId16" Type="http://schemas.openxmlformats.org/officeDocument/2006/relationships/image" Target="../media/image83.svg"/><Relationship Id="rId20" Type="http://schemas.openxmlformats.org/officeDocument/2006/relationships/image" Target="../media/image87.svg"/><Relationship Id="rId29" Type="http://schemas.openxmlformats.org/officeDocument/2006/relationships/image" Target="../media/image91.svg"/><Relationship Id="rId41" Type="http://schemas.openxmlformats.org/officeDocument/2006/relationships/image" Target="../media/image10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svg"/><Relationship Id="rId11" Type="http://schemas.openxmlformats.org/officeDocument/2006/relationships/image" Target="../media/image46.png"/><Relationship Id="rId24" Type="http://schemas.openxmlformats.org/officeDocument/2006/relationships/image" Target="../media/image7.png"/><Relationship Id="rId32" Type="http://schemas.openxmlformats.org/officeDocument/2006/relationships/image" Target="../media/image94.png"/><Relationship Id="rId37" Type="http://schemas.openxmlformats.org/officeDocument/2006/relationships/image" Target="../media/image99.svg"/><Relationship Id="rId40" Type="http://schemas.openxmlformats.org/officeDocument/2006/relationships/image" Target="../media/image102.png"/><Relationship Id="rId5" Type="http://schemas.openxmlformats.org/officeDocument/2006/relationships/image" Target="../media/image80.png"/><Relationship Id="rId15" Type="http://schemas.openxmlformats.org/officeDocument/2006/relationships/image" Target="../media/image82.png"/><Relationship Id="rId23" Type="http://schemas.openxmlformats.org/officeDocument/2006/relationships/image" Target="../media/image6.png"/><Relationship Id="rId28" Type="http://schemas.openxmlformats.org/officeDocument/2006/relationships/image" Target="../media/image90.png"/><Relationship Id="rId36" Type="http://schemas.openxmlformats.org/officeDocument/2006/relationships/image" Target="../media/image98.png"/><Relationship Id="rId10" Type="http://schemas.openxmlformats.org/officeDocument/2006/relationships/image" Target="../media/image51.svg"/><Relationship Id="rId19" Type="http://schemas.openxmlformats.org/officeDocument/2006/relationships/image" Target="../media/image86.png"/><Relationship Id="rId31" Type="http://schemas.openxmlformats.org/officeDocument/2006/relationships/image" Target="../media/image93.svg"/><Relationship Id="rId4" Type="http://schemas.openxmlformats.org/officeDocument/2006/relationships/image" Target="../media/image57.svg"/><Relationship Id="rId9" Type="http://schemas.openxmlformats.org/officeDocument/2006/relationships/image" Target="../media/image50.png"/><Relationship Id="rId14" Type="http://schemas.openxmlformats.org/officeDocument/2006/relationships/image" Target="../media/image27.png"/><Relationship Id="rId22" Type="http://schemas.openxmlformats.org/officeDocument/2006/relationships/image" Target="../media/image53.svg"/><Relationship Id="rId27" Type="http://schemas.openxmlformats.org/officeDocument/2006/relationships/image" Target="../media/image89.svg"/><Relationship Id="rId30" Type="http://schemas.openxmlformats.org/officeDocument/2006/relationships/image" Target="../media/image92.png"/><Relationship Id="rId35" Type="http://schemas.openxmlformats.org/officeDocument/2006/relationships/image" Target="../media/image97.svg"/><Relationship Id="rId8" Type="http://schemas.openxmlformats.org/officeDocument/2006/relationships/image" Target="../media/image49.svg"/><Relationship Id="rId3" Type="http://schemas.openxmlformats.org/officeDocument/2006/relationships/image" Target="../media/image56.png"/><Relationship Id="rId12" Type="http://schemas.openxmlformats.org/officeDocument/2006/relationships/image" Target="../media/image47.svg"/><Relationship Id="rId17" Type="http://schemas.openxmlformats.org/officeDocument/2006/relationships/image" Target="../media/image84.png"/><Relationship Id="rId25" Type="http://schemas.openxmlformats.org/officeDocument/2006/relationships/image" Target="../media/image16.png"/><Relationship Id="rId33" Type="http://schemas.openxmlformats.org/officeDocument/2006/relationships/image" Target="../media/image95.svg"/><Relationship Id="rId38" Type="http://schemas.openxmlformats.org/officeDocument/2006/relationships/image" Target="../media/image100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svg"/><Relationship Id="rId13" Type="http://schemas.openxmlformats.org/officeDocument/2006/relationships/image" Target="../media/image72.png"/><Relationship Id="rId18" Type="http://schemas.openxmlformats.org/officeDocument/2006/relationships/image" Target="../media/image77.svg"/><Relationship Id="rId3" Type="http://schemas.openxmlformats.org/officeDocument/2006/relationships/image" Target="../media/image56.png"/><Relationship Id="rId21" Type="http://schemas.openxmlformats.org/officeDocument/2006/relationships/image" Target="../media/image78.png"/><Relationship Id="rId7" Type="http://schemas.openxmlformats.org/officeDocument/2006/relationships/image" Target="../media/image62.png"/><Relationship Id="rId12" Type="http://schemas.openxmlformats.org/officeDocument/2006/relationships/image" Target="../media/image71.svg"/><Relationship Id="rId17" Type="http://schemas.openxmlformats.org/officeDocument/2006/relationships/image" Target="../media/image76.png"/><Relationship Id="rId2" Type="http://schemas.openxmlformats.org/officeDocument/2006/relationships/image" Target="../media/image23.png"/><Relationship Id="rId16" Type="http://schemas.openxmlformats.org/officeDocument/2006/relationships/image" Target="../media/image75.svg"/><Relationship Id="rId20" Type="http://schemas.openxmlformats.org/officeDocument/2006/relationships/image" Target="../media/image5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svg"/><Relationship Id="rId11" Type="http://schemas.openxmlformats.org/officeDocument/2006/relationships/image" Target="../media/image70.png"/><Relationship Id="rId24" Type="http://schemas.openxmlformats.org/officeDocument/2006/relationships/image" Target="../media/image65.svg"/><Relationship Id="rId5" Type="http://schemas.openxmlformats.org/officeDocument/2006/relationships/image" Target="../media/image60.png"/><Relationship Id="rId15" Type="http://schemas.openxmlformats.org/officeDocument/2006/relationships/image" Target="../media/image74.png"/><Relationship Id="rId23" Type="http://schemas.openxmlformats.org/officeDocument/2006/relationships/image" Target="../media/image64.png"/><Relationship Id="rId10" Type="http://schemas.openxmlformats.org/officeDocument/2006/relationships/image" Target="../media/image67.svg"/><Relationship Id="rId19" Type="http://schemas.openxmlformats.org/officeDocument/2006/relationships/image" Target="../media/image54.png"/><Relationship Id="rId4" Type="http://schemas.openxmlformats.org/officeDocument/2006/relationships/image" Target="../media/image57.svg"/><Relationship Id="rId9" Type="http://schemas.openxmlformats.org/officeDocument/2006/relationships/image" Target="../media/image66.png"/><Relationship Id="rId14" Type="http://schemas.openxmlformats.org/officeDocument/2006/relationships/image" Target="../media/image73.svg"/><Relationship Id="rId22" Type="http://schemas.openxmlformats.org/officeDocument/2006/relationships/image" Target="../media/image79.sv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svg"/><Relationship Id="rId13" Type="http://schemas.openxmlformats.org/officeDocument/2006/relationships/image" Target="../media/image54.png"/><Relationship Id="rId18" Type="http://schemas.openxmlformats.org/officeDocument/2006/relationships/image" Target="../media/image65.svg"/><Relationship Id="rId3" Type="http://schemas.openxmlformats.org/officeDocument/2006/relationships/image" Target="../media/image60.png"/><Relationship Id="rId21" Type="http://schemas.openxmlformats.org/officeDocument/2006/relationships/image" Target="../media/image104.png"/><Relationship Id="rId7" Type="http://schemas.openxmlformats.org/officeDocument/2006/relationships/image" Target="../media/image66.png"/><Relationship Id="rId12" Type="http://schemas.openxmlformats.org/officeDocument/2006/relationships/image" Target="../media/image75.svg"/><Relationship Id="rId17" Type="http://schemas.openxmlformats.org/officeDocument/2006/relationships/image" Target="../media/image64.png"/><Relationship Id="rId2" Type="http://schemas.openxmlformats.org/officeDocument/2006/relationships/image" Target="../media/image23.png"/><Relationship Id="rId16" Type="http://schemas.openxmlformats.org/officeDocument/2006/relationships/image" Target="../media/image79.svg"/><Relationship Id="rId20" Type="http://schemas.openxmlformats.org/officeDocument/2006/relationships/image" Target="../media/image5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svg"/><Relationship Id="rId11" Type="http://schemas.openxmlformats.org/officeDocument/2006/relationships/image" Target="../media/image74.png"/><Relationship Id="rId5" Type="http://schemas.openxmlformats.org/officeDocument/2006/relationships/image" Target="../media/image62.png"/><Relationship Id="rId15" Type="http://schemas.openxmlformats.org/officeDocument/2006/relationships/image" Target="../media/image78.png"/><Relationship Id="rId10" Type="http://schemas.openxmlformats.org/officeDocument/2006/relationships/image" Target="../media/image73.svg"/><Relationship Id="rId19" Type="http://schemas.openxmlformats.org/officeDocument/2006/relationships/image" Target="../media/image56.png"/><Relationship Id="rId4" Type="http://schemas.openxmlformats.org/officeDocument/2006/relationships/image" Target="../media/image61.svg"/><Relationship Id="rId9" Type="http://schemas.openxmlformats.org/officeDocument/2006/relationships/image" Target="../media/image72.png"/><Relationship Id="rId14" Type="http://schemas.openxmlformats.org/officeDocument/2006/relationships/image" Target="../media/image55.svg"/><Relationship Id="rId22" Type="http://schemas.openxmlformats.org/officeDocument/2006/relationships/image" Target="../media/image105.sv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sv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0.svg"/><Relationship Id="rId4" Type="http://schemas.openxmlformats.org/officeDocument/2006/relationships/image" Target="../media/image109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13" Type="http://schemas.openxmlformats.org/officeDocument/2006/relationships/image" Target="../media/image123.svg"/><Relationship Id="rId3" Type="http://schemas.openxmlformats.org/officeDocument/2006/relationships/image" Target="../media/image113.svg"/><Relationship Id="rId7" Type="http://schemas.openxmlformats.org/officeDocument/2006/relationships/image" Target="../media/image117.svg"/><Relationship Id="rId12" Type="http://schemas.openxmlformats.org/officeDocument/2006/relationships/image" Target="../media/image122.png"/><Relationship Id="rId2" Type="http://schemas.openxmlformats.org/officeDocument/2006/relationships/image" Target="../media/image112.png"/><Relationship Id="rId16" Type="http://schemas.openxmlformats.org/officeDocument/2006/relationships/image" Target="../media/image12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.png"/><Relationship Id="rId11" Type="http://schemas.openxmlformats.org/officeDocument/2006/relationships/image" Target="../media/image121.svg"/><Relationship Id="rId5" Type="http://schemas.openxmlformats.org/officeDocument/2006/relationships/image" Target="../media/image115.svg"/><Relationship Id="rId15" Type="http://schemas.openxmlformats.org/officeDocument/2006/relationships/image" Target="../media/image125.png"/><Relationship Id="rId10" Type="http://schemas.openxmlformats.org/officeDocument/2006/relationships/image" Target="../media/image120.png"/><Relationship Id="rId4" Type="http://schemas.openxmlformats.org/officeDocument/2006/relationships/image" Target="../media/image114.png"/><Relationship Id="rId9" Type="http://schemas.openxmlformats.org/officeDocument/2006/relationships/image" Target="../media/image119.svg"/><Relationship Id="rId14" Type="http://schemas.openxmlformats.org/officeDocument/2006/relationships/image" Target="../media/image124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13" Type="http://schemas.openxmlformats.org/officeDocument/2006/relationships/image" Target="../media/image138.svg"/><Relationship Id="rId3" Type="http://schemas.openxmlformats.org/officeDocument/2006/relationships/image" Target="../media/image128.svg"/><Relationship Id="rId7" Type="http://schemas.openxmlformats.org/officeDocument/2006/relationships/image" Target="../media/image132.svg"/><Relationship Id="rId12" Type="http://schemas.openxmlformats.org/officeDocument/2006/relationships/image" Target="../media/image137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1.png"/><Relationship Id="rId11" Type="http://schemas.openxmlformats.org/officeDocument/2006/relationships/image" Target="../media/image136.svg"/><Relationship Id="rId5" Type="http://schemas.openxmlformats.org/officeDocument/2006/relationships/image" Target="../media/image130.svg"/><Relationship Id="rId15" Type="http://schemas.openxmlformats.org/officeDocument/2006/relationships/image" Target="../media/image140.svg"/><Relationship Id="rId10" Type="http://schemas.openxmlformats.org/officeDocument/2006/relationships/image" Target="../media/image135.png"/><Relationship Id="rId4" Type="http://schemas.openxmlformats.org/officeDocument/2006/relationships/image" Target="../media/image129.png"/><Relationship Id="rId9" Type="http://schemas.openxmlformats.org/officeDocument/2006/relationships/image" Target="../media/image134.svg"/><Relationship Id="rId14" Type="http://schemas.openxmlformats.org/officeDocument/2006/relationships/image" Target="../media/image139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://server.com/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://server.com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46D5-4DEC-85EE-9028-5D107779E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NZ" dirty="0"/>
              <a:t>Clean/Onion/Hexagonal</a:t>
            </a:r>
            <a:br>
              <a:rPr lang="en-NZ" dirty="0"/>
            </a:br>
            <a:r>
              <a:rPr lang="en-NZ" dirty="0"/>
              <a:t>Architecture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E5A26AA-607B-198F-71BD-7B00731B6BA4}"/>
              </a:ext>
            </a:extLst>
          </p:cNvPr>
          <p:cNvGrpSpPr/>
          <p:nvPr/>
        </p:nvGrpSpPr>
        <p:grpSpPr>
          <a:xfrm>
            <a:off x="2734575" y="396815"/>
            <a:ext cx="6498564" cy="6383666"/>
            <a:chOff x="2734575" y="629729"/>
            <a:chExt cx="6498564" cy="6383666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513E3060-84CE-1DEC-5213-F10D308B7805}"/>
                </a:ext>
              </a:extLst>
            </p:cNvPr>
            <p:cNvSpPr/>
            <p:nvPr/>
          </p:nvSpPr>
          <p:spPr>
            <a:xfrm>
              <a:off x="2734575" y="629729"/>
              <a:ext cx="6498564" cy="638366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B43F493-BC45-3564-A61C-F9558711E959}"/>
                </a:ext>
              </a:extLst>
            </p:cNvPr>
            <p:cNvSpPr txBox="1"/>
            <p:nvPr/>
          </p:nvSpPr>
          <p:spPr>
            <a:xfrm>
              <a:off x="4054415" y="1285334"/>
              <a:ext cx="3899140" cy="2044461"/>
            </a:xfrm>
            <a:prstGeom prst="rect">
              <a:avLst/>
            </a:prstGeom>
            <a:noFill/>
          </p:spPr>
          <p:txBody>
            <a:bodyPr wrap="none" rtlCol="0">
              <a:prstTxWarp prst="textArchUp">
                <a:avLst>
                  <a:gd name="adj" fmla="val 13125914"/>
                </a:avLst>
              </a:prstTxWarp>
              <a:spAutoFit/>
            </a:bodyPr>
            <a:lstStyle/>
            <a:p>
              <a:pPr algn="ctr"/>
              <a:r>
                <a:rPr lang="en-NZ" sz="2400" dirty="0"/>
                <a:t>Infrastructure Layer</a:t>
              </a:r>
            </a:p>
          </p:txBody>
        </p:sp>
      </p:grpSp>
      <p:sp>
        <p:nvSpPr>
          <p:cNvPr id="28" name="Oval 27">
            <a:extLst>
              <a:ext uri="{FF2B5EF4-FFF2-40B4-BE49-F238E27FC236}">
                <a16:creationId xmlns:a16="http://schemas.microsoft.com/office/drawing/2014/main" id="{53E8EF6C-F432-BE90-CEED-8AB65EC218D4}"/>
              </a:ext>
            </a:extLst>
          </p:cNvPr>
          <p:cNvSpPr/>
          <p:nvPr/>
        </p:nvSpPr>
        <p:spPr>
          <a:xfrm>
            <a:off x="3375805" y="989057"/>
            <a:ext cx="5216104" cy="5199182"/>
          </a:xfrm>
          <a:prstGeom prst="ellipse">
            <a:avLst/>
          </a:prstGeom>
          <a:solidFill>
            <a:schemeClr val="accent5">
              <a:lumMod val="75000"/>
              <a:alpha val="50000"/>
            </a:schemeClr>
          </a:solidFill>
          <a:ln>
            <a:solidFill>
              <a:schemeClr val="tx1"/>
            </a:solidFill>
            <a:prstDash val="lgDash"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8D6B44A-6F6F-C9EB-B6EB-944FFDE45C04}"/>
              </a:ext>
            </a:extLst>
          </p:cNvPr>
          <p:cNvGrpSpPr/>
          <p:nvPr/>
        </p:nvGrpSpPr>
        <p:grpSpPr>
          <a:xfrm>
            <a:off x="3856008" y="1412034"/>
            <a:ext cx="4295954" cy="4353226"/>
            <a:chOff x="3022121" y="859826"/>
            <a:chExt cx="5923471" cy="5923471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77713B1-059C-BA92-306C-53B0BA4438B9}"/>
                </a:ext>
              </a:extLst>
            </p:cNvPr>
            <p:cNvSpPr/>
            <p:nvPr/>
          </p:nvSpPr>
          <p:spPr>
            <a:xfrm>
              <a:off x="3022121" y="859826"/>
              <a:ext cx="5923471" cy="5923471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2B38BDB-9827-D2E7-1CD1-80B934B45FE2}"/>
                </a:ext>
              </a:extLst>
            </p:cNvPr>
            <p:cNvSpPr txBox="1"/>
            <p:nvPr/>
          </p:nvSpPr>
          <p:spPr>
            <a:xfrm>
              <a:off x="4054415" y="1320547"/>
              <a:ext cx="3899140" cy="2044462"/>
            </a:xfrm>
            <a:prstGeom prst="rect">
              <a:avLst/>
            </a:prstGeom>
            <a:noFill/>
          </p:spPr>
          <p:txBody>
            <a:bodyPr wrap="none" rtlCol="0">
              <a:prstTxWarp prst="textArchUp">
                <a:avLst>
                  <a:gd name="adj" fmla="val 13125914"/>
                </a:avLst>
              </a:prstTxWarp>
              <a:spAutoFit/>
            </a:bodyPr>
            <a:lstStyle/>
            <a:p>
              <a:pPr algn="ctr"/>
              <a:r>
                <a:rPr lang="en-NZ" sz="2400" dirty="0"/>
                <a:t>Application Layer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7101289-44CA-37B3-CB15-5647FF8A87F1}"/>
              </a:ext>
            </a:extLst>
          </p:cNvPr>
          <p:cNvGrpSpPr/>
          <p:nvPr/>
        </p:nvGrpSpPr>
        <p:grpSpPr>
          <a:xfrm>
            <a:off x="4730150" y="2334941"/>
            <a:ext cx="2507412" cy="2507412"/>
            <a:chOff x="3022121" y="859826"/>
            <a:chExt cx="5923471" cy="5923471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D2B6A801-8B7C-9306-8C0F-CE2E084A9113}"/>
                </a:ext>
              </a:extLst>
            </p:cNvPr>
            <p:cNvSpPr/>
            <p:nvPr/>
          </p:nvSpPr>
          <p:spPr>
            <a:xfrm>
              <a:off x="3022121" y="859826"/>
              <a:ext cx="5923471" cy="5923471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C1F063D-7530-D1D8-684A-8E29A98FAF8F}"/>
                </a:ext>
              </a:extLst>
            </p:cNvPr>
            <p:cNvSpPr txBox="1"/>
            <p:nvPr/>
          </p:nvSpPr>
          <p:spPr>
            <a:xfrm>
              <a:off x="4054414" y="1427979"/>
              <a:ext cx="3899139" cy="2044462"/>
            </a:xfrm>
            <a:prstGeom prst="rect">
              <a:avLst/>
            </a:prstGeom>
            <a:noFill/>
          </p:spPr>
          <p:txBody>
            <a:bodyPr wrap="none" rtlCol="0">
              <a:prstTxWarp prst="textArchUp">
                <a:avLst>
                  <a:gd name="adj" fmla="val 13125914"/>
                </a:avLst>
              </a:prstTxWarp>
              <a:spAutoFit/>
            </a:bodyPr>
            <a:lstStyle/>
            <a:p>
              <a:pPr algn="ctr"/>
              <a:r>
                <a:rPr lang="en-NZ" sz="2400" dirty="0"/>
                <a:t>Domain Layer</a:t>
              </a:r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36D638F-DDF9-7252-98E9-6FD2760A7BBA}"/>
              </a:ext>
            </a:extLst>
          </p:cNvPr>
          <p:cNvCxnSpPr>
            <a:cxnSpLocks/>
            <a:stCxn id="28" idx="3"/>
            <a:endCxn id="28" idx="7"/>
          </p:cNvCxnSpPr>
          <p:nvPr/>
        </p:nvCxnSpPr>
        <p:spPr>
          <a:xfrm flipV="1">
            <a:off x="4139686" y="1750460"/>
            <a:ext cx="3688342" cy="3676376"/>
          </a:xfrm>
          <a:prstGeom prst="line">
            <a:avLst/>
          </a:prstGeom>
          <a:ln w="381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F17BFA-46FF-FAC2-BCE8-80A2FFFF7476}"/>
              </a:ext>
            </a:extLst>
          </p:cNvPr>
          <p:cNvCxnSpPr>
            <a:cxnSpLocks/>
            <a:stCxn id="28" idx="5"/>
            <a:endCxn id="28" idx="1"/>
          </p:cNvCxnSpPr>
          <p:nvPr/>
        </p:nvCxnSpPr>
        <p:spPr>
          <a:xfrm flipH="1" flipV="1">
            <a:off x="4139686" y="1750460"/>
            <a:ext cx="3688342" cy="3676376"/>
          </a:xfrm>
          <a:prstGeom prst="line">
            <a:avLst/>
          </a:prstGeom>
          <a:ln w="381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DDD4204-8300-F814-E4D1-C491DA9FC0BC}"/>
              </a:ext>
            </a:extLst>
          </p:cNvPr>
          <p:cNvCxnSpPr>
            <a:cxnSpLocks/>
            <a:stCxn id="28" idx="6"/>
            <a:endCxn id="28" idx="2"/>
          </p:cNvCxnSpPr>
          <p:nvPr/>
        </p:nvCxnSpPr>
        <p:spPr>
          <a:xfrm flipH="1">
            <a:off x="3375805" y="3588648"/>
            <a:ext cx="5216104" cy="0"/>
          </a:xfrm>
          <a:prstGeom prst="line">
            <a:avLst/>
          </a:prstGeom>
          <a:ln w="381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02996B5-2D49-2957-865D-4E641EC04B97}"/>
              </a:ext>
            </a:extLst>
          </p:cNvPr>
          <p:cNvCxnSpPr>
            <a:cxnSpLocks/>
            <a:stCxn id="28" idx="4"/>
            <a:endCxn id="4" idx="0"/>
          </p:cNvCxnSpPr>
          <p:nvPr/>
        </p:nvCxnSpPr>
        <p:spPr>
          <a:xfrm flipV="1">
            <a:off x="5983857" y="1052420"/>
            <a:ext cx="20128" cy="5135819"/>
          </a:xfrm>
          <a:prstGeom prst="line">
            <a:avLst/>
          </a:prstGeom>
          <a:ln w="381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rrow: Left 23">
            <a:extLst>
              <a:ext uri="{FF2B5EF4-FFF2-40B4-BE49-F238E27FC236}">
                <a16:creationId xmlns:a16="http://schemas.microsoft.com/office/drawing/2014/main" id="{F37C94E5-F561-E047-7A65-4A0D774DED3D}"/>
              </a:ext>
            </a:extLst>
          </p:cNvPr>
          <p:cNvSpPr/>
          <p:nvPr/>
        </p:nvSpPr>
        <p:spPr>
          <a:xfrm rot="21090187">
            <a:off x="6378239" y="2920974"/>
            <a:ext cx="3209026" cy="457194"/>
          </a:xfrm>
          <a:prstGeom prst="leftArrow">
            <a:avLst>
              <a:gd name="adj1" fmla="val 50000"/>
              <a:gd name="adj2" fmla="val 86486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Direction of Dependencies (inwards)</a:t>
            </a:r>
          </a:p>
        </p:txBody>
      </p:sp>
      <p:sp>
        <p:nvSpPr>
          <p:cNvPr id="25" name="Cylinder 24">
            <a:extLst>
              <a:ext uri="{FF2B5EF4-FFF2-40B4-BE49-F238E27FC236}">
                <a16:creationId xmlns:a16="http://schemas.microsoft.com/office/drawing/2014/main" id="{02ABBB3D-C97B-08EC-36DA-0EA6F314E338}"/>
              </a:ext>
            </a:extLst>
          </p:cNvPr>
          <p:cNvSpPr/>
          <p:nvPr/>
        </p:nvSpPr>
        <p:spPr>
          <a:xfrm>
            <a:off x="6362073" y="6251602"/>
            <a:ext cx="560717" cy="49176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/>
              <a:t>Event </a:t>
            </a:r>
            <a:r>
              <a:rPr lang="en-NZ" sz="800" dirty="0"/>
              <a:t>Stores</a:t>
            </a:r>
          </a:p>
        </p:txBody>
      </p:sp>
      <p:sp>
        <p:nvSpPr>
          <p:cNvPr id="26" name="Cylinder 25">
            <a:extLst>
              <a:ext uri="{FF2B5EF4-FFF2-40B4-BE49-F238E27FC236}">
                <a16:creationId xmlns:a16="http://schemas.microsoft.com/office/drawing/2014/main" id="{8DAE3E16-4DB6-6D7C-5645-F920188DE972}"/>
              </a:ext>
            </a:extLst>
          </p:cNvPr>
          <p:cNvSpPr/>
          <p:nvPr/>
        </p:nvSpPr>
        <p:spPr>
          <a:xfrm>
            <a:off x="5701889" y="6231780"/>
            <a:ext cx="563933" cy="521269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/>
              <a:t>Data</a:t>
            </a:r>
          </a:p>
          <a:p>
            <a:pPr algn="ctr"/>
            <a:r>
              <a:rPr lang="en-NZ" sz="900" dirty="0"/>
              <a:t>bases</a:t>
            </a:r>
          </a:p>
        </p:txBody>
      </p:sp>
      <p:sp>
        <p:nvSpPr>
          <p:cNvPr id="37" name="Cloud 36">
            <a:extLst>
              <a:ext uri="{FF2B5EF4-FFF2-40B4-BE49-F238E27FC236}">
                <a16:creationId xmlns:a16="http://schemas.microsoft.com/office/drawing/2014/main" id="{CC2C2213-F2DB-015B-9628-1ADD844EC967}"/>
              </a:ext>
            </a:extLst>
          </p:cNvPr>
          <p:cNvSpPr/>
          <p:nvPr/>
        </p:nvSpPr>
        <p:spPr>
          <a:xfrm>
            <a:off x="3647814" y="5624891"/>
            <a:ext cx="746356" cy="521269"/>
          </a:xfrm>
          <a:prstGeom prst="cloud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NZ" sz="1000" dirty="0"/>
              <a:t>REST</a:t>
            </a:r>
          </a:p>
          <a:p>
            <a:pPr algn="ctr"/>
            <a:r>
              <a:rPr lang="en-NZ" sz="1000" dirty="0"/>
              <a:t>APIs</a:t>
            </a:r>
          </a:p>
        </p:txBody>
      </p:sp>
      <p:sp>
        <p:nvSpPr>
          <p:cNvPr id="38" name="Cloud 37">
            <a:extLst>
              <a:ext uri="{FF2B5EF4-FFF2-40B4-BE49-F238E27FC236}">
                <a16:creationId xmlns:a16="http://schemas.microsoft.com/office/drawing/2014/main" id="{3713C805-50B2-ECE7-7985-CBD318F7582D}"/>
              </a:ext>
            </a:extLst>
          </p:cNvPr>
          <p:cNvSpPr/>
          <p:nvPr/>
        </p:nvSpPr>
        <p:spPr>
          <a:xfrm>
            <a:off x="2566710" y="3620329"/>
            <a:ext cx="746356" cy="521269"/>
          </a:xfrm>
          <a:prstGeom prst="cloud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NZ" sz="1000" dirty="0"/>
              <a:t>UIs</a:t>
            </a:r>
          </a:p>
        </p:txBody>
      </p:sp>
      <p:sp>
        <p:nvSpPr>
          <p:cNvPr id="39" name="Cloud 38">
            <a:extLst>
              <a:ext uri="{FF2B5EF4-FFF2-40B4-BE49-F238E27FC236}">
                <a16:creationId xmlns:a16="http://schemas.microsoft.com/office/drawing/2014/main" id="{48D4080E-2542-EFBA-A31D-92E3C2C62F90}"/>
              </a:ext>
            </a:extLst>
          </p:cNvPr>
          <p:cNvSpPr/>
          <p:nvPr/>
        </p:nvSpPr>
        <p:spPr>
          <a:xfrm>
            <a:off x="2678499" y="4249307"/>
            <a:ext cx="746356" cy="521269"/>
          </a:xfrm>
          <a:prstGeom prst="cloud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NZ" sz="1000" dirty="0"/>
              <a:t>CLIs</a:t>
            </a:r>
          </a:p>
        </p:txBody>
      </p:sp>
      <p:sp>
        <p:nvSpPr>
          <p:cNvPr id="40" name="Cloud 39">
            <a:extLst>
              <a:ext uri="{FF2B5EF4-FFF2-40B4-BE49-F238E27FC236}">
                <a16:creationId xmlns:a16="http://schemas.microsoft.com/office/drawing/2014/main" id="{F6B17113-2F8B-ED05-F587-4038B8344F34}"/>
              </a:ext>
            </a:extLst>
          </p:cNvPr>
          <p:cNvSpPr/>
          <p:nvPr/>
        </p:nvSpPr>
        <p:spPr>
          <a:xfrm>
            <a:off x="7580377" y="5564507"/>
            <a:ext cx="746356" cy="521269"/>
          </a:xfrm>
          <a:prstGeom prst="cloud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NZ" sz="1000" dirty="0"/>
              <a:t>3</a:t>
            </a:r>
            <a:r>
              <a:rPr lang="en-NZ" sz="1000" baseline="30000" dirty="0"/>
              <a:t>rd</a:t>
            </a:r>
            <a:r>
              <a:rPr lang="en-NZ" sz="1000" dirty="0"/>
              <a:t> Party</a:t>
            </a:r>
          </a:p>
          <a:p>
            <a:pPr algn="ctr"/>
            <a:r>
              <a:rPr lang="en-NZ" sz="1000" dirty="0"/>
              <a:t>APIs</a:t>
            </a:r>
          </a:p>
        </p:txBody>
      </p:sp>
      <p:sp>
        <p:nvSpPr>
          <p:cNvPr id="41" name="Cloud 40">
            <a:extLst>
              <a:ext uri="{FF2B5EF4-FFF2-40B4-BE49-F238E27FC236}">
                <a16:creationId xmlns:a16="http://schemas.microsoft.com/office/drawing/2014/main" id="{F1E625A9-90DF-AA03-AFDB-488F3A377580}"/>
              </a:ext>
            </a:extLst>
          </p:cNvPr>
          <p:cNvSpPr/>
          <p:nvPr/>
        </p:nvSpPr>
        <p:spPr>
          <a:xfrm>
            <a:off x="3182591" y="5143288"/>
            <a:ext cx="746356" cy="521269"/>
          </a:xfrm>
          <a:prstGeom prst="cloud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NZ" sz="1000" dirty="0"/>
              <a:t>Server less</a:t>
            </a:r>
          </a:p>
        </p:txBody>
      </p:sp>
      <p:sp>
        <p:nvSpPr>
          <p:cNvPr id="42" name="Cylinder 41">
            <a:extLst>
              <a:ext uri="{FF2B5EF4-FFF2-40B4-BE49-F238E27FC236}">
                <a16:creationId xmlns:a16="http://schemas.microsoft.com/office/drawing/2014/main" id="{C753A58F-9A6C-90E5-F6A9-A2B206EAC398}"/>
              </a:ext>
            </a:extLst>
          </p:cNvPr>
          <p:cNvSpPr/>
          <p:nvPr/>
        </p:nvSpPr>
        <p:spPr>
          <a:xfrm>
            <a:off x="5044921" y="6266241"/>
            <a:ext cx="560717" cy="49176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/>
              <a:t>Read Models</a:t>
            </a:r>
            <a:endParaRPr lang="en-NZ" sz="800" dirty="0"/>
          </a:p>
        </p:txBody>
      </p:sp>
      <p:sp>
        <p:nvSpPr>
          <p:cNvPr id="43" name="Cloud 42">
            <a:extLst>
              <a:ext uri="{FF2B5EF4-FFF2-40B4-BE49-F238E27FC236}">
                <a16:creationId xmlns:a16="http://schemas.microsoft.com/office/drawing/2014/main" id="{97B6DEE9-CF40-214B-20C4-2536320DC9B3}"/>
              </a:ext>
            </a:extLst>
          </p:cNvPr>
          <p:cNvSpPr/>
          <p:nvPr/>
        </p:nvSpPr>
        <p:spPr>
          <a:xfrm>
            <a:off x="8103019" y="5049450"/>
            <a:ext cx="746356" cy="521269"/>
          </a:xfrm>
          <a:prstGeom prst="cloud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NZ" sz="1000" dirty="0"/>
              <a:t>The</a:t>
            </a:r>
          </a:p>
          <a:p>
            <a:pPr algn="ctr"/>
            <a:r>
              <a:rPr lang="en-NZ" sz="1000" dirty="0"/>
              <a:t>Internet</a:t>
            </a:r>
          </a:p>
        </p:txBody>
      </p:sp>
      <p:sp>
        <p:nvSpPr>
          <p:cNvPr id="44" name="Cloud 43">
            <a:extLst>
              <a:ext uri="{FF2B5EF4-FFF2-40B4-BE49-F238E27FC236}">
                <a16:creationId xmlns:a16="http://schemas.microsoft.com/office/drawing/2014/main" id="{11D9555B-C738-DBBD-5615-BBCB809A912A}"/>
              </a:ext>
            </a:extLst>
          </p:cNvPr>
          <p:cNvSpPr/>
          <p:nvPr/>
        </p:nvSpPr>
        <p:spPr>
          <a:xfrm>
            <a:off x="8644492" y="3318419"/>
            <a:ext cx="746356" cy="521269"/>
          </a:xfrm>
          <a:prstGeom prst="cloud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NZ" sz="1000" dirty="0"/>
              <a:t>File</a:t>
            </a:r>
          </a:p>
          <a:p>
            <a:pPr algn="ctr"/>
            <a:r>
              <a:rPr lang="en-NZ" sz="1000" dirty="0"/>
              <a:t>Systems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44059F8E-A4CD-A412-E2AF-110E9AB2A732}"/>
              </a:ext>
            </a:extLst>
          </p:cNvPr>
          <p:cNvSpPr/>
          <p:nvPr/>
        </p:nvSpPr>
        <p:spPr>
          <a:xfrm>
            <a:off x="4190052" y="5262819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/>
              <a:t>Repo-</a:t>
            </a:r>
          </a:p>
          <a:p>
            <a:pPr algn="ctr"/>
            <a:r>
              <a:rPr lang="en-NZ" sz="900" dirty="0" err="1"/>
              <a:t>sitories</a:t>
            </a:r>
            <a:endParaRPr lang="en-NZ" sz="900" dirty="0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AAC8FE8B-8827-F822-CA29-ECDB31243276}"/>
              </a:ext>
            </a:extLst>
          </p:cNvPr>
          <p:cNvSpPr/>
          <p:nvPr/>
        </p:nvSpPr>
        <p:spPr>
          <a:xfrm>
            <a:off x="4753037" y="5522533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HTTP</a:t>
            </a:r>
          </a:p>
          <a:p>
            <a:pPr algn="ctr"/>
            <a:r>
              <a:rPr lang="en-NZ" sz="800" dirty="0"/>
              <a:t>Service</a:t>
            </a:r>
          </a:p>
          <a:p>
            <a:pPr algn="ctr"/>
            <a:r>
              <a:rPr lang="en-NZ" sz="800" dirty="0"/>
              <a:t>Clients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5C91D129-919D-72DB-C686-1D6A95D4E55C}"/>
              </a:ext>
            </a:extLst>
          </p:cNvPr>
          <p:cNvSpPr/>
          <p:nvPr/>
        </p:nvSpPr>
        <p:spPr>
          <a:xfrm>
            <a:off x="5327514" y="5733383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I/O </a:t>
            </a:r>
            <a:r>
              <a:rPr lang="en-NZ" sz="700" dirty="0"/>
              <a:t>Adapters</a:t>
            </a:r>
            <a:endParaRPr lang="en-NZ" sz="800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BE5CA682-40AC-DDC7-EE92-F06BD3A5126F}"/>
              </a:ext>
            </a:extLst>
          </p:cNvPr>
          <p:cNvSpPr/>
          <p:nvPr/>
        </p:nvSpPr>
        <p:spPr>
          <a:xfrm>
            <a:off x="3339435" y="3725451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/>
              <a:t>Repo-</a:t>
            </a:r>
          </a:p>
          <a:p>
            <a:pPr algn="ctr"/>
            <a:r>
              <a:rPr lang="en-NZ" sz="900" dirty="0" err="1"/>
              <a:t>sitories</a:t>
            </a:r>
            <a:endParaRPr lang="en-NZ" sz="900" dirty="0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E66520D3-AC56-1FE3-1C36-EC55AD7873FF}"/>
              </a:ext>
            </a:extLst>
          </p:cNvPr>
          <p:cNvSpPr/>
          <p:nvPr/>
        </p:nvSpPr>
        <p:spPr>
          <a:xfrm>
            <a:off x="3437681" y="4230761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HTTP</a:t>
            </a:r>
          </a:p>
          <a:p>
            <a:pPr algn="ctr"/>
            <a:r>
              <a:rPr lang="en-NZ" sz="800" dirty="0"/>
              <a:t>Service</a:t>
            </a:r>
          </a:p>
          <a:p>
            <a:pPr algn="ctr"/>
            <a:r>
              <a:rPr lang="en-NZ" sz="800" dirty="0"/>
              <a:t>Clients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CB2BF840-8ADE-1BF5-49FB-726426F11275}"/>
              </a:ext>
            </a:extLst>
          </p:cNvPr>
          <p:cNvSpPr/>
          <p:nvPr/>
        </p:nvSpPr>
        <p:spPr>
          <a:xfrm>
            <a:off x="3694660" y="4804885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I/O </a:t>
            </a:r>
            <a:r>
              <a:rPr lang="en-NZ" sz="700" dirty="0"/>
              <a:t>Adapters</a:t>
            </a:r>
            <a:endParaRPr lang="en-NZ" sz="800" dirty="0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6F4EFB0C-F0A7-D208-2D27-D6CF974214EA}"/>
              </a:ext>
            </a:extLst>
          </p:cNvPr>
          <p:cNvSpPr/>
          <p:nvPr/>
        </p:nvSpPr>
        <p:spPr>
          <a:xfrm>
            <a:off x="3752044" y="2007791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/>
              <a:t>Repo-</a:t>
            </a:r>
          </a:p>
          <a:p>
            <a:pPr algn="ctr"/>
            <a:r>
              <a:rPr lang="en-NZ" sz="900" dirty="0" err="1"/>
              <a:t>sitories</a:t>
            </a:r>
            <a:endParaRPr lang="en-NZ" sz="900" dirty="0"/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121BCD3C-155F-850E-1C4D-F12B54D27272}"/>
              </a:ext>
            </a:extLst>
          </p:cNvPr>
          <p:cNvSpPr/>
          <p:nvPr/>
        </p:nvSpPr>
        <p:spPr>
          <a:xfrm>
            <a:off x="3450164" y="2541424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HTTP</a:t>
            </a:r>
          </a:p>
          <a:p>
            <a:pPr algn="ctr"/>
            <a:r>
              <a:rPr lang="en-NZ" sz="800" dirty="0"/>
              <a:t>Service</a:t>
            </a:r>
          </a:p>
          <a:p>
            <a:pPr algn="ctr"/>
            <a:r>
              <a:rPr lang="en-NZ" sz="800" dirty="0"/>
              <a:t>Clients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585872AB-6EBD-C784-1B80-D25DD9F39AF7}"/>
              </a:ext>
            </a:extLst>
          </p:cNvPr>
          <p:cNvSpPr/>
          <p:nvPr/>
        </p:nvSpPr>
        <p:spPr>
          <a:xfrm>
            <a:off x="3312744" y="3086878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I/O </a:t>
            </a:r>
            <a:r>
              <a:rPr lang="en-NZ" sz="700" dirty="0"/>
              <a:t>Adapters</a:t>
            </a:r>
            <a:endParaRPr lang="en-NZ" sz="800" dirty="0"/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AB30421F-9989-575C-4D0B-E94B27572A36}"/>
              </a:ext>
            </a:extLst>
          </p:cNvPr>
          <p:cNvSpPr/>
          <p:nvPr/>
        </p:nvSpPr>
        <p:spPr>
          <a:xfrm>
            <a:off x="7229349" y="5260109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/>
              <a:t>Repo-</a:t>
            </a:r>
          </a:p>
          <a:p>
            <a:pPr algn="ctr"/>
            <a:r>
              <a:rPr lang="en-NZ" sz="900" dirty="0" err="1"/>
              <a:t>sitories</a:t>
            </a:r>
            <a:endParaRPr lang="en-NZ" sz="900" dirty="0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B98EEB45-F71D-541B-C59F-0EF58C723A42}"/>
              </a:ext>
            </a:extLst>
          </p:cNvPr>
          <p:cNvSpPr/>
          <p:nvPr/>
        </p:nvSpPr>
        <p:spPr>
          <a:xfrm>
            <a:off x="6706699" y="5528162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HTTP</a:t>
            </a:r>
          </a:p>
          <a:p>
            <a:pPr algn="ctr"/>
            <a:r>
              <a:rPr lang="en-NZ" sz="800" dirty="0"/>
              <a:t>Service</a:t>
            </a:r>
          </a:p>
          <a:p>
            <a:pPr algn="ctr"/>
            <a:r>
              <a:rPr lang="en-NZ" sz="800" dirty="0"/>
              <a:t>Clients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54C24A2E-16DA-8150-E543-AA12AFF552B2}"/>
              </a:ext>
            </a:extLst>
          </p:cNvPr>
          <p:cNvSpPr/>
          <p:nvPr/>
        </p:nvSpPr>
        <p:spPr>
          <a:xfrm>
            <a:off x="6028430" y="5728910"/>
            <a:ext cx="603760" cy="3701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I/O </a:t>
            </a:r>
            <a:r>
              <a:rPr lang="en-NZ" sz="700" dirty="0"/>
              <a:t>Adapters</a:t>
            </a:r>
            <a:endParaRPr lang="en-NZ" sz="800" dirty="0"/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7ED5A95F-884B-F63F-E61E-5447DA1FA941}"/>
              </a:ext>
            </a:extLst>
          </p:cNvPr>
          <p:cNvSpPr/>
          <p:nvPr/>
        </p:nvSpPr>
        <p:spPr>
          <a:xfrm>
            <a:off x="3990863" y="2762836"/>
            <a:ext cx="782513" cy="370114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Application Class</a:t>
            </a:r>
          </a:p>
        </p:txBody>
      </p: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BAD06B15-58BF-CF5C-49D7-711EDF5A4C21}"/>
              </a:ext>
            </a:extLst>
          </p:cNvPr>
          <p:cNvSpPr/>
          <p:nvPr/>
        </p:nvSpPr>
        <p:spPr>
          <a:xfrm>
            <a:off x="4790895" y="3046330"/>
            <a:ext cx="833709" cy="481577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Aggregate Root + </a:t>
            </a:r>
            <a:r>
              <a:rPr lang="en-NZ" sz="800" dirty="0" err="1">
                <a:solidFill>
                  <a:schemeClr val="tx1"/>
                </a:solidFill>
              </a:rPr>
              <a:t>ValueObjects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3D88907D-EBF1-42E1-9A78-28CFF478D241}"/>
              </a:ext>
            </a:extLst>
          </p:cNvPr>
          <p:cNvSpPr/>
          <p:nvPr/>
        </p:nvSpPr>
        <p:spPr>
          <a:xfrm>
            <a:off x="4053924" y="4086798"/>
            <a:ext cx="782513" cy="370114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Application Class</a:t>
            </a:r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B47DD633-15D0-6FE4-D105-A883EFA94D57}"/>
              </a:ext>
            </a:extLst>
          </p:cNvPr>
          <p:cNvSpPr/>
          <p:nvPr/>
        </p:nvSpPr>
        <p:spPr>
          <a:xfrm>
            <a:off x="4955160" y="4938030"/>
            <a:ext cx="782513" cy="370114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Application Class</a:t>
            </a: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0EC925C-8830-49D8-C0B5-2B00A717DC0E}"/>
              </a:ext>
            </a:extLst>
          </p:cNvPr>
          <p:cNvSpPr/>
          <p:nvPr/>
        </p:nvSpPr>
        <p:spPr>
          <a:xfrm>
            <a:off x="6264001" y="4935359"/>
            <a:ext cx="782513" cy="370114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/>
              <a:t>Application Class</a:t>
            </a:r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9EB3F59E-88EE-A606-4D2F-5413EE4CC54D}"/>
              </a:ext>
            </a:extLst>
          </p:cNvPr>
          <p:cNvSpPr/>
          <p:nvPr/>
        </p:nvSpPr>
        <p:spPr>
          <a:xfrm>
            <a:off x="4812774" y="3673416"/>
            <a:ext cx="833709" cy="481577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Aggregate Root + </a:t>
            </a:r>
            <a:r>
              <a:rPr lang="en-NZ" sz="800" dirty="0" err="1">
                <a:solidFill>
                  <a:schemeClr val="tx1"/>
                </a:solidFill>
              </a:rPr>
              <a:t>ValueObjects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3A9BB47D-0D03-93B5-A2BD-179772AD94DC}"/>
              </a:ext>
            </a:extLst>
          </p:cNvPr>
          <p:cNvSpPr/>
          <p:nvPr/>
        </p:nvSpPr>
        <p:spPr>
          <a:xfrm>
            <a:off x="5268167" y="4178547"/>
            <a:ext cx="833709" cy="481577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Aggregate Root + </a:t>
            </a:r>
            <a:r>
              <a:rPr lang="en-NZ" sz="800" dirty="0" err="1">
                <a:solidFill>
                  <a:schemeClr val="tx1"/>
                </a:solidFill>
              </a:rPr>
              <a:t>ValueObjects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3A33105C-9D63-4F2D-3B28-84D4EE65E39B}"/>
              </a:ext>
            </a:extLst>
          </p:cNvPr>
          <p:cNvSpPr/>
          <p:nvPr/>
        </p:nvSpPr>
        <p:spPr>
          <a:xfrm>
            <a:off x="5893215" y="4075661"/>
            <a:ext cx="833709" cy="481577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Aggregate Root + </a:t>
            </a:r>
            <a:r>
              <a:rPr lang="en-NZ" sz="800" dirty="0" err="1">
                <a:solidFill>
                  <a:schemeClr val="tx1"/>
                </a:solidFill>
              </a:rPr>
              <a:t>ValueObjects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83" name="Arrow: Curved Down 82">
            <a:extLst>
              <a:ext uri="{FF2B5EF4-FFF2-40B4-BE49-F238E27FC236}">
                <a16:creationId xmlns:a16="http://schemas.microsoft.com/office/drawing/2014/main" id="{C176B2C7-124E-5862-D32A-397ACDC68A6D}"/>
              </a:ext>
            </a:extLst>
          </p:cNvPr>
          <p:cNvSpPr/>
          <p:nvPr/>
        </p:nvSpPr>
        <p:spPr>
          <a:xfrm rot="1702208" flipH="1">
            <a:off x="6625212" y="3711808"/>
            <a:ext cx="1032336" cy="549275"/>
          </a:xfrm>
          <a:prstGeom prst="curvedDown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100" dirty="0">
                <a:solidFill>
                  <a:schemeClr val="tx1"/>
                </a:solidFill>
              </a:rPr>
              <a:t>Value</a:t>
            </a:r>
          </a:p>
          <a:p>
            <a:pPr algn="ctr"/>
            <a:r>
              <a:rPr lang="en-NZ" sz="1100" dirty="0">
                <a:solidFill>
                  <a:schemeClr val="tx1"/>
                </a:solidFill>
              </a:rPr>
              <a:t>Objects</a:t>
            </a:r>
          </a:p>
        </p:txBody>
      </p:sp>
      <p:sp>
        <p:nvSpPr>
          <p:cNvPr id="82" name="Arrow: Curved Down 81">
            <a:extLst>
              <a:ext uri="{FF2B5EF4-FFF2-40B4-BE49-F238E27FC236}">
                <a16:creationId xmlns:a16="http://schemas.microsoft.com/office/drawing/2014/main" id="{F72C1AAF-B856-26EE-0A11-8F31CCB7DC4E}"/>
              </a:ext>
            </a:extLst>
          </p:cNvPr>
          <p:cNvSpPr/>
          <p:nvPr/>
        </p:nvSpPr>
        <p:spPr>
          <a:xfrm rot="1410142" flipH="1">
            <a:off x="7367004" y="4112830"/>
            <a:ext cx="1032336" cy="549275"/>
          </a:xfrm>
          <a:prstGeom prst="curvedDownArrow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100" dirty="0">
                <a:solidFill>
                  <a:schemeClr val="bg1"/>
                </a:solidFill>
              </a:rPr>
              <a:t>Resource</a:t>
            </a:r>
          </a:p>
          <a:p>
            <a:pPr algn="ctr"/>
            <a:r>
              <a:rPr lang="en-NZ" sz="1100" dirty="0">
                <a:solidFill>
                  <a:schemeClr val="bg1"/>
                </a:solidFill>
              </a:rPr>
              <a:t>DTOs +</a:t>
            </a:r>
          </a:p>
          <a:p>
            <a:pPr algn="ctr"/>
            <a:r>
              <a:rPr lang="en-NZ" sz="900" dirty="0">
                <a:solidFill>
                  <a:schemeClr val="bg1"/>
                </a:solidFill>
              </a:rPr>
              <a:t>primitives</a:t>
            </a:r>
            <a:endParaRPr lang="en-NZ" sz="1400" dirty="0">
              <a:solidFill>
                <a:schemeClr val="bg1"/>
              </a:solidFill>
            </a:endParaRPr>
          </a:p>
        </p:txBody>
      </p:sp>
      <p:sp>
        <p:nvSpPr>
          <p:cNvPr id="84" name="Partial Circle 83">
            <a:extLst>
              <a:ext uri="{FF2B5EF4-FFF2-40B4-BE49-F238E27FC236}">
                <a16:creationId xmlns:a16="http://schemas.microsoft.com/office/drawing/2014/main" id="{48A5979C-C654-ECF5-B327-4F12D3E438F1}"/>
              </a:ext>
            </a:extLst>
          </p:cNvPr>
          <p:cNvSpPr/>
          <p:nvPr/>
        </p:nvSpPr>
        <p:spPr>
          <a:xfrm>
            <a:off x="2158463" y="-263086"/>
            <a:ext cx="7684278" cy="7684278"/>
          </a:xfrm>
          <a:prstGeom prst="pie">
            <a:avLst>
              <a:gd name="adj1" fmla="val 10806092"/>
              <a:gd name="adj2" fmla="val 13480386"/>
            </a:avLst>
          </a:prstGeom>
          <a:solidFill>
            <a:schemeClr val="tx1">
              <a:alpha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>
              <a:solidFill>
                <a:schemeClr val="tx1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5673549-85A8-918F-5694-1CED81662210}"/>
              </a:ext>
            </a:extLst>
          </p:cNvPr>
          <p:cNvSpPr txBox="1"/>
          <p:nvPr/>
        </p:nvSpPr>
        <p:spPr>
          <a:xfrm rot="17545036">
            <a:off x="1946049" y="1733581"/>
            <a:ext cx="2827823" cy="1502498"/>
          </a:xfrm>
          <a:prstGeom prst="rect">
            <a:avLst/>
          </a:prstGeom>
          <a:noFill/>
        </p:spPr>
        <p:txBody>
          <a:bodyPr wrap="none" rtlCol="0">
            <a:prstTxWarp prst="textArchUp">
              <a:avLst>
                <a:gd name="adj" fmla="val 13125914"/>
              </a:avLst>
            </a:prstTxWarp>
            <a:spAutoFit/>
          </a:bodyPr>
          <a:lstStyle/>
          <a:p>
            <a:pPr algn="ctr"/>
            <a:r>
              <a:rPr lang="en-NZ" sz="4000" dirty="0"/>
              <a:t>A Subdomain</a:t>
            </a:r>
            <a:r>
              <a:rPr lang="en-NZ" sz="2400" dirty="0"/>
              <a:t> (A Vertical Slice)</a:t>
            </a:r>
          </a:p>
        </p:txBody>
      </p:sp>
    </p:spTree>
    <p:extLst>
      <p:ext uri="{BB962C8B-B14F-4D97-AF65-F5344CB8AC3E}">
        <p14:creationId xmlns:p14="http://schemas.microsoft.com/office/powerpoint/2010/main" val="4090498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0B8F0F2-25BB-577D-D513-3A2EA1F990DE}"/>
              </a:ext>
            </a:extLst>
          </p:cNvPr>
          <p:cNvSpPr/>
          <p:nvPr/>
        </p:nvSpPr>
        <p:spPr>
          <a:xfrm>
            <a:off x="4865802" y="575035"/>
            <a:ext cx="1564850" cy="848412"/>
          </a:xfrm>
          <a:prstGeom prst="roundRect">
            <a:avLst/>
          </a:prstGeom>
          <a:solidFill>
            <a:schemeClr val="tx2">
              <a:lumMod val="5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Mobile Apps</a:t>
            </a:r>
            <a:br>
              <a:rPr lang="en-NZ" dirty="0"/>
            </a:br>
            <a:r>
              <a:rPr lang="en-NZ" sz="1200" dirty="0">
                <a:solidFill>
                  <a:schemeClr val="bg2">
                    <a:lumMod val="75000"/>
                  </a:schemeClr>
                </a:solidFill>
              </a:rPr>
              <a:t>iOS/Androids</a:t>
            </a:r>
            <a:endParaRPr lang="en-NZ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300C19B-D93E-0342-6A96-4EAAA1202F7C}"/>
              </a:ext>
            </a:extLst>
          </p:cNvPr>
          <p:cNvSpPr/>
          <p:nvPr/>
        </p:nvSpPr>
        <p:spPr>
          <a:xfrm>
            <a:off x="7073244" y="575035"/>
            <a:ext cx="1564850" cy="848412"/>
          </a:xfrm>
          <a:prstGeom prst="roundRect">
            <a:avLst/>
          </a:prstGeom>
          <a:solidFill>
            <a:schemeClr val="tx2">
              <a:lumMod val="5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3</a:t>
            </a:r>
            <a:r>
              <a:rPr lang="en-NZ" baseline="30000" dirty="0"/>
              <a:t>rd</a:t>
            </a:r>
            <a:r>
              <a:rPr lang="en-NZ" dirty="0"/>
              <a:t> Party Apps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7FC2C7D-9545-AB99-1134-779EC3AAF3D4}"/>
              </a:ext>
            </a:extLst>
          </p:cNvPr>
          <p:cNvSpPr/>
          <p:nvPr/>
        </p:nvSpPr>
        <p:spPr>
          <a:xfrm>
            <a:off x="2582944" y="2707063"/>
            <a:ext cx="6165130" cy="1063657"/>
          </a:xfrm>
          <a:prstGeom prst="roundRect">
            <a:avLst/>
          </a:prstGeom>
          <a:solidFill>
            <a:srgbClr val="9966FF"/>
          </a:solidFill>
          <a:ln w="38100">
            <a:solidFill>
              <a:srgbClr val="99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sz="2000" dirty="0"/>
              <a:t>REST API</a:t>
            </a:r>
          </a:p>
          <a:p>
            <a:pPr algn="r"/>
            <a:r>
              <a:rPr lang="en-NZ" sz="1200" dirty="0">
                <a:solidFill>
                  <a:schemeClr val="bg1">
                    <a:lumMod val="85000"/>
                  </a:schemeClr>
                </a:solidFill>
              </a:rPr>
              <a:t>140+ endpoints, modular-monolith</a:t>
            </a:r>
          </a:p>
          <a:p>
            <a:pPr algn="r"/>
            <a:r>
              <a:rPr lang="en-NZ" sz="1200" dirty="0">
                <a:solidFill>
                  <a:schemeClr val="bg1">
                    <a:lumMod val="85000"/>
                  </a:schemeClr>
                </a:solidFill>
              </a:rPr>
              <a:t>C#, Minimal APIs, Ports &amp; Adapters, DDD, EDA, CQRS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89AB2CE-B3AD-361A-8D0D-F2300E394FBC}"/>
              </a:ext>
            </a:extLst>
          </p:cNvPr>
          <p:cNvSpPr/>
          <p:nvPr/>
        </p:nvSpPr>
        <p:spPr>
          <a:xfrm>
            <a:off x="2582944" y="575035"/>
            <a:ext cx="1564850" cy="848412"/>
          </a:xfrm>
          <a:prstGeom prst="roundRect">
            <a:avLst/>
          </a:prstGeom>
          <a:solidFill>
            <a:schemeClr val="tx2">
              <a:lumMod val="5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Browser  App</a:t>
            </a:r>
            <a:br>
              <a:rPr lang="en-NZ" dirty="0"/>
            </a:br>
            <a:r>
              <a:rPr lang="en-NZ" sz="1200" dirty="0">
                <a:solidFill>
                  <a:schemeClr val="bg2">
                    <a:lumMod val="75000"/>
                  </a:schemeClr>
                </a:solidFill>
              </a:rPr>
              <a:t>20+ pages</a:t>
            </a:r>
            <a:br>
              <a:rPr lang="en-NZ" dirty="0"/>
            </a:br>
            <a:r>
              <a:rPr lang="en-NZ" sz="1100" dirty="0">
                <a:solidFill>
                  <a:schemeClr val="bg2">
                    <a:lumMod val="75000"/>
                  </a:schemeClr>
                </a:solidFill>
              </a:rPr>
              <a:t>React.js/Typescript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745FE14-D477-33A9-F78F-2A5C3DAFCA34}"/>
              </a:ext>
            </a:extLst>
          </p:cNvPr>
          <p:cNvSpPr/>
          <p:nvPr/>
        </p:nvSpPr>
        <p:spPr>
          <a:xfrm>
            <a:off x="2582944" y="1641049"/>
            <a:ext cx="1564850" cy="696014"/>
          </a:xfrm>
          <a:prstGeom prst="roundRect">
            <a:avLst/>
          </a:prstGeom>
          <a:solidFill>
            <a:srgbClr val="6600CC"/>
          </a:solidFill>
          <a:ln w="38100">
            <a:solidFill>
              <a:srgbClr val="99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sz="1400" dirty="0"/>
              <a:t>Backend for Frontend</a:t>
            </a:r>
            <a:br>
              <a:rPr lang="en-NZ" sz="1200" dirty="0"/>
            </a:br>
            <a:r>
              <a:rPr lang="en-NZ" sz="1100" dirty="0">
                <a:solidFill>
                  <a:schemeClr val="bg1">
                    <a:lumMod val="85000"/>
                  </a:schemeClr>
                </a:solidFill>
              </a:rPr>
              <a:t>C# Reverse Proxy</a:t>
            </a:r>
            <a:endParaRPr lang="en-NZ" sz="1200" dirty="0">
              <a:solidFill>
                <a:schemeClr val="bg1">
                  <a:lumMod val="85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972A7FA-009D-C29D-AFD2-20BF4714AD2E}"/>
              </a:ext>
            </a:extLst>
          </p:cNvPr>
          <p:cNvGrpSpPr/>
          <p:nvPr/>
        </p:nvGrpSpPr>
        <p:grpSpPr>
          <a:xfrm>
            <a:off x="2582944" y="4140720"/>
            <a:ext cx="6165130" cy="2316641"/>
            <a:chOff x="2083323" y="4140720"/>
            <a:chExt cx="6165130" cy="2316641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902CE3E8-6322-7A53-8164-A57E537B1D8A}"/>
                </a:ext>
              </a:extLst>
            </p:cNvPr>
            <p:cNvSpPr/>
            <p:nvPr/>
          </p:nvSpPr>
          <p:spPr>
            <a:xfrm>
              <a:off x="2083323" y="4140720"/>
              <a:ext cx="6165130" cy="2316641"/>
            </a:xfrm>
            <a:prstGeom prst="roundRect">
              <a:avLst>
                <a:gd name="adj" fmla="val 6731"/>
              </a:avLst>
            </a:prstGeom>
            <a:solidFill>
              <a:schemeClr val="accent4">
                <a:lumMod val="50000"/>
              </a:schemeClr>
            </a:solidFill>
            <a:ln w="38100">
              <a:solidFill>
                <a:srgbClr val="FFC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2000" dirty="0"/>
                <a:t>3</a:t>
              </a:r>
              <a:r>
                <a:rPr lang="en-NZ" sz="2000" baseline="30000" dirty="0"/>
                <a:t>rd</a:t>
              </a:r>
              <a:r>
                <a:rPr lang="en-NZ" sz="2000" dirty="0"/>
                <a:t> party integration plugins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F95E0895-A763-9638-FDAC-0E9CDFE90DB7}"/>
                </a:ext>
              </a:extLst>
            </p:cNvPr>
            <p:cNvSpPr/>
            <p:nvPr/>
          </p:nvSpPr>
          <p:spPr>
            <a:xfrm>
              <a:off x="2486323" y="4733824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Payments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Maxio</a:t>
              </a:r>
              <a:endParaRPr lang="en-NZ" sz="1000" dirty="0">
                <a:solidFill>
                  <a:srgbClr val="FFC000"/>
                </a:solidFill>
              </a:endParaRP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Chargbee</a:t>
              </a:r>
              <a:endParaRPr lang="en-NZ" sz="1000" dirty="0">
                <a:solidFill>
                  <a:srgbClr val="FFC000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438B0A39-F24C-010D-4248-0B44C1D1DC3C}"/>
                </a:ext>
              </a:extLst>
            </p:cNvPr>
            <p:cNvSpPr/>
            <p:nvPr/>
          </p:nvSpPr>
          <p:spPr>
            <a:xfrm>
              <a:off x="3892488" y="4733824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AuthN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Auth0</a:t>
              </a:r>
            </a:p>
            <a:p>
              <a:pPr algn="ctr"/>
              <a:r>
                <a:rPr lang="en-NZ" sz="900" dirty="0" err="1">
                  <a:solidFill>
                    <a:srgbClr val="FFC000"/>
                  </a:solidFill>
                </a:rPr>
                <a:t>IdentityServer</a:t>
              </a:r>
              <a:endParaRPr lang="en-NZ" sz="900" dirty="0">
                <a:solidFill>
                  <a:srgbClr val="FFC000"/>
                </a:solidFill>
              </a:endParaRP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52E7FAFD-DCC1-2901-DC2C-8AA111B18BE9}"/>
                </a:ext>
              </a:extLst>
            </p:cNvPr>
            <p:cNvSpPr/>
            <p:nvPr/>
          </p:nvSpPr>
          <p:spPr>
            <a:xfrm>
              <a:off x="5298653" y="4733823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100" dirty="0" err="1"/>
                <a:t>FeatureFlags</a:t>
              </a:r>
              <a:endParaRPr lang="en-NZ" sz="1200" dirty="0"/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Flagsmith</a:t>
              </a:r>
              <a:endParaRPr lang="en-NZ" sz="1000" dirty="0">
                <a:solidFill>
                  <a:srgbClr val="FFC000"/>
                </a:solidFill>
              </a:endParaRP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LaunchDarkly</a:t>
              </a:r>
              <a:endParaRPr lang="en-NZ" sz="1000" dirty="0">
                <a:solidFill>
                  <a:srgbClr val="FFC000"/>
                </a:solidFill>
              </a:endParaRP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76FDFC71-B0E1-F215-C3B2-55B375CECC8A}"/>
                </a:ext>
              </a:extLst>
            </p:cNvPr>
            <p:cNvSpPr/>
            <p:nvPr/>
          </p:nvSpPr>
          <p:spPr>
            <a:xfrm>
              <a:off x="6704818" y="4733823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Analytics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Mixpanel</a:t>
              </a:r>
              <a:endParaRPr lang="en-NZ" sz="1000" dirty="0">
                <a:solidFill>
                  <a:srgbClr val="FFC000"/>
                </a:solidFill>
              </a:endParaRP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UserPilot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107AB264-6E58-FDA3-0C72-9B540D6FA75C}"/>
                </a:ext>
              </a:extLst>
            </p:cNvPr>
            <p:cNvSpPr/>
            <p:nvPr/>
          </p:nvSpPr>
          <p:spPr>
            <a:xfrm>
              <a:off x="2486323" y="5617588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Email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Twilio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Mailgun</a:t>
              </a:r>
              <a:endParaRPr lang="en-NZ" sz="1000" dirty="0">
                <a:solidFill>
                  <a:srgbClr val="FFC000"/>
                </a:solidFill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F470451E-8CB8-32AE-CC37-7796B3803301}"/>
                </a:ext>
              </a:extLst>
            </p:cNvPr>
            <p:cNvSpPr/>
            <p:nvPr/>
          </p:nvSpPr>
          <p:spPr>
            <a:xfrm>
              <a:off x="3892488" y="5617588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SMS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Twilio</a:t>
              </a: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86B34414-5AD6-2C17-D73B-31AF9AFE0DB7}"/>
                </a:ext>
              </a:extLst>
            </p:cNvPr>
            <p:cNvSpPr/>
            <p:nvPr/>
          </p:nvSpPr>
          <p:spPr>
            <a:xfrm>
              <a:off x="5298653" y="5617587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Avatars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Gravatar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Libravatar</a:t>
              </a:r>
              <a:endParaRPr lang="en-NZ" sz="1000" dirty="0">
                <a:solidFill>
                  <a:srgbClr val="FFC000"/>
                </a:solidFill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272EE02-712A-D48E-C9B7-004E400A605B}"/>
                </a:ext>
              </a:extLst>
            </p:cNvPr>
            <p:cNvSpPr/>
            <p:nvPr/>
          </p:nvSpPr>
          <p:spPr>
            <a:xfrm>
              <a:off x="6704818" y="5617587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SSO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Microsoft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Google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1199730-3EEC-4EAA-9398-F1E67017601A}"/>
              </a:ext>
            </a:extLst>
          </p:cNvPr>
          <p:cNvGrpSpPr/>
          <p:nvPr/>
        </p:nvGrpSpPr>
        <p:grpSpPr>
          <a:xfrm>
            <a:off x="9043449" y="1796197"/>
            <a:ext cx="3016577" cy="2885387"/>
            <a:chOff x="8446416" y="2489460"/>
            <a:chExt cx="3016577" cy="2885387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758FC225-7E0B-C6A9-07E9-3ABD7B7960C1}"/>
                </a:ext>
              </a:extLst>
            </p:cNvPr>
            <p:cNvSpPr/>
            <p:nvPr/>
          </p:nvSpPr>
          <p:spPr>
            <a:xfrm>
              <a:off x="8446416" y="2489460"/>
              <a:ext cx="3016577" cy="2885387"/>
            </a:xfrm>
            <a:prstGeom prst="roundRect">
              <a:avLst>
                <a:gd name="adj" fmla="val 6226"/>
              </a:avLst>
            </a:prstGeom>
            <a:solidFill>
              <a:srgbClr val="336600"/>
            </a:solidFill>
            <a:ln w="38100">
              <a:solidFill>
                <a:srgbClr val="33CC33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dirty="0"/>
                <a:t>Cloud Infrastructure</a:t>
              </a:r>
              <a:br>
                <a:rPr lang="en-NZ" dirty="0"/>
              </a:br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Azure or AWS</a:t>
              </a:r>
              <a:endParaRPr lang="en-NZ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8651F825-F488-41CD-AD3B-9FE62CF5D5CA}"/>
                </a:ext>
              </a:extLst>
            </p:cNvPr>
            <p:cNvSpPr/>
            <p:nvPr/>
          </p:nvSpPr>
          <p:spPr>
            <a:xfrm>
              <a:off x="8616096" y="3916837"/>
              <a:ext cx="1252193" cy="575032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 err="1"/>
                <a:t>Rel.Databases</a:t>
              </a:r>
              <a:endParaRPr lang="en-NZ" sz="1200" dirty="0"/>
            </a:p>
            <a:p>
              <a:pPr algn="ctr"/>
              <a:r>
                <a:rPr lang="en-NZ" sz="1050" dirty="0">
                  <a:solidFill>
                    <a:srgbClr val="33CC33"/>
                  </a:solidFill>
                </a:rPr>
                <a:t>Data</a:t>
              </a:r>
              <a:endParaRPr lang="en-NZ" sz="1000" dirty="0">
                <a:solidFill>
                  <a:srgbClr val="33CC33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8B92A04-4892-FC39-D5D8-E1DAE644E84A}"/>
                </a:ext>
              </a:extLst>
            </p:cNvPr>
            <p:cNvSpPr/>
            <p:nvPr/>
          </p:nvSpPr>
          <p:spPr>
            <a:xfrm>
              <a:off x="8616097" y="3076282"/>
              <a:ext cx="1252193" cy="721938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Message Bus</a:t>
              </a:r>
              <a:br>
                <a:rPr lang="en-NZ" sz="1200" dirty="0"/>
              </a:br>
              <a:r>
                <a:rPr lang="en-NZ" sz="1100" dirty="0">
                  <a:solidFill>
                    <a:srgbClr val="33CC33"/>
                  </a:solidFill>
                </a:rPr>
                <a:t>Topics</a:t>
              </a:r>
              <a:endParaRPr lang="en-NZ" sz="1050" dirty="0">
                <a:solidFill>
                  <a:srgbClr val="33CC33"/>
                </a:solidFill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1001D19E-A224-DD6E-68A3-537B9E54A3C6}"/>
                </a:ext>
              </a:extLst>
            </p:cNvPr>
            <p:cNvSpPr/>
            <p:nvPr/>
          </p:nvSpPr>
          <p:spPr>
            <a:xfrm>
              <a:off x="10037971" y="3075099"/>
              <a:ext cx="1252193" cy="721938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400" dirty="0"/>
                <a:t>Queues</a:t>
              </a:r>
            </a:p>
            <a:p>
              <a:pPr algn="ctr"/>
              <a:r>
                <a:rPr lang="en-NZ" sz="1050" dirty="0">
                  <a:solidFill>
                    <a:srgbClr val="33CC33"/>
                  </a:solidFill>
                </a:rPr>
                <a:t>FIFO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D3C8C05-5A3A-810E-16CB-A934AE8E6848}"/>
                </a:ext>
              </a:extLst>
            </p:cNvPr>
            <p:cNvSpPr/>
            <p:nvPr/>
          </p:nvSpPr>
          <p:spPr>
            <a:xfrm>
              <a:off x="10037970" y="4604890"/>
              <a:ext cx="1252193" cy="611166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400" dirty="0"/>
                <a:t>Blobs</a:t>
              </a:r>
              <a:br>
                <a:rPr lang="en-NZ" sz="1400" dirty="0"/>
              </a:br>
              <a:r>
                <a:rPr lang="en-NZ" sz="1100" dirty="0">
                  <a:solidFill>
                    <a:srgbClr val="33CC33"/>
                  </a:solidFill>
                </a:rPr>
                <a:t>Images</a:t>
              </a:r>
              <a:endParaRPr lang="en-NZ" sz="1050" dirty="0">
                <a:solidFill>
                  <a:srgbClr val="33CC33"/>
                </a:solidFill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3176021C-1B82-976D-2A55-2EF790F63653}"/>
                </a:ext>
              </a:extLst>
            </p:cNvPr>
            <p:cNvSpPr/>
            <p:nvPr/>
          </p:nvSpPr>
          <p:spPr>
            <a:xfrm>
              <a:off x="8616097" y="4610486"/>
              <a:ext cx="1252192" cy="611166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400" dirty="0"/>
                <a:t>Event Store</a:t>
              </a:r>
              <a:br>
                <a:rPr lang="en-NZ" sz="1400" dirty="0"/>
              </a:br>
              <a:r>
                <a:rPr lang="en-NZ" sz="1100" dirty="0">
                  <a:solidFill>
                    <a:srgbClr val="33CC33"/>
                  </a:solidFill>
                </a:rPr>
                <a:t>Events</a:t>
              </a:r>
              <a:endParaRPr lang="en-NZ" sz="1050" dirty="0">
                <a:solidFill>
                  <a:srgbClr val="33CC33"/>
                </a:solidFill>
              </a:endParaRP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353B57B3-0711-1CAB-0250-3E5D7194AB5C}"/>
                </a:ext>
              </a:extLst>
            </p:cNvPr>
            <p:cNvSpPr/>
            <p:nvPr/>
          </p:nvSpPr>
          <p:spPr>
            <a:xfrm>
              <a:off x="10037969" y="3909959"/>
              <a:ext cx="1252193" cy="575032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Table/NoSQL</a:t>
              </a:r>
            </a:p>
            <a:p>
              <a:pPr algn="ctr"/>
              <a:r>
                <a:rPr lang="en-NZ" sz="1050" dirty="0">
                  <a:solidFill>
                    <a:srgbClr val="33CC33"/>
                  </a:solidFill>
                </a:rPr>
                <a:t>Data</a:t>
              </a:r>
              <a:endParaRPr lang="en-NZ" sz="1000" dirty="0">
                <a:solidFill>
                  <a:srgbClr val="33CC33"/>
                </a:solidFill>
              </a:endParaRPr>
            </a:p>
          </p:txBody>
        </p:sp>
      </p:grpSp>
      <p:sp>
        <p:nvSpPr>
          <p:cNvPr id="25" name="Left Brace 24">
            <a:extLst>
              <a:ext uri="{FF2B5EF4-FFF2-40B4-BE49-F238E27FC236}">
                <a16:creationId xmlns:a16="http://schemas.microsoft.com/office/drawing/2014/main" id="{FE258105-6985-7644-ECFD-3B604DEF39D0}"/>
              </a:ext>
            </a:extLst>
          </p:cNvPr>
          <p:cNvSpPr/>
          <p:nvPr/>
        </p:nvSpPr>
        <p:spPr>
          <a:xfrm>
            <a:off x="1998482" y="1517715"/>
            <a:ext cx="490194" cy="2392244"/>
          </a:xfrm>
          <a:prstGeom prst="leftBrace">
            <a:avLst>
              <a:gd name="adj1" fmla="val 60256"/>
              <a:gd name="adj2" fmla="val 50000"/>
            </a:avLst>
          </a:prstGeom>
          <a:ln w="19050"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644673-B137-8A31-A380-377E190C023A}"/>
              </a:ext>
            </a:extLst>
          </p:cNvPr>
          <p:cNvSpPr txBox="1"/>
          <p:nvPr/>
        </p:nvSpPr>
        <p:spPr>
          <a:xfrm>
            <a:off x="1264361" y="2518005"/>
            <a:ext cx="8130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NZ" sz="1000" dirty="0">
                <a:solidFill>
                  <a:schemeClr val="bg2">
                    <a:lumMod val="75000"/>
                  </a:schemeClr>
                </a:solidFill>
              </a:rPr>
              <a:t>Deployable</a:t>
            </a:r>
          </a:p>
          <a:p>
            <a:pPr algn="r"/>
            <a:r>
              <a:rPr lang="en-NZ" sz="1000" dirty="0">
                <a:solidFill>
                  <a:schemeClr val="bg2">
                    <a:lumMod val="75000"/>
                  </a:schemeClr>
                </a:solidFill>
              </a:rPr>
              <a:t>Units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00582DD-30A4-BB94-C648-2DC2C6722CFB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3365369" y="1423447"/>
            <a:ext cx="0" cy="217602"/>
          </a:xfrm>
          <a:prstGeom prst="straightConnector1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4B2D6CD-E7B4-AF3A-EB86-DC1CC3F83105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>
            <a:off x="5648227" y="1423447"/>
            <a:ext cx="17282" cy="1283616"/>
          </a:xfrm>
          <a:prstGeom prst="straightConnector1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041B626-9FC6-F7F5-6A3B-965553B079AE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7846248" y="1423447"/>
            <a:ext cx="9421" cy="1290390"/>
          </a:xfrm>
          <a:prstGeom prst="straightConnector1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11BF994-928C-F4BE-DAFD-3851404074A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3365369" y="2337063"/>
            <a:ext cx="0" cy="370000"/>
          </a:xfrm>
          <a:prstGeom prst="straightConnector1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6B692CA-1638-60C9-2680-C7B3A8E3BA4A}"/>
              </a:ext>
            </a:extLst>
          </p:cNvPr>
          <p:cNvCxnSpPr>
            <a:cxnSpLocks/>
            <a:stCxn id="5" idx="3"/>
            <a:endCxn id="23" idx="1"/>
          </p:cNvCxnSpPr>
          <p:nvPr/>
        </p:nvCxnSpPr>
        <p:spPr>
          <a:xfrm flipV="1">
            <a:off x="8748074" y="3238891"/>
            <a:ext cx="295375" cy="1"/>
          </a:xfrm>
          <a:prstGeom prst="straightConnector1">
            <a:avLst/>
          </a:prstGeom>
          <a:ln w="38100">
            <a:solidFill>
              <a:srgbClr val="33CC33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448CA08-1065-2E17-F33A-42680C4C41D3}"/>
              </a:ext>
            </a:extLst>
          </p:cNvPr>
          <p:cNvCxnSpPr>
            <a:cxnSpLocks/>
            <a:stCxn id="5" idx="2"/>
            <a:endCxn id="14" idx="0"/>
          </p:cNvCxnSpPr>
          <p:nvPr/>
        </p:nvCxnSpPr>
        <p:spPr>
          <a:xfrm>
            <a:off x="5665509" y="3770720"/>
            <a:ext cx="0" cy="370000"/>
          </a:xfrm>
          <a:prstGeom prst="straightConnector1">
            <a:avLst/>
          </a:prstGeom>
          <a:ln w="38100">
            <a:solidFill>
              <a:srgbClr val="FFC00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902F1AE-CE94-88AA-86E4-E0C57EB9814D}"/>
              </a:ext>
            </a:extLst>
          </p:cNvPr>
          <p:cNvCxnSpPr>
            <a:cxnSpLocks/>
          </p:cNvCxnSpPr>
          <p:nvPr/>
        </p:nvCxnSpPr>
        <p:spPr>
          <a:xfrm flipV="1">
            <a:off x="5809271" y="3739683"/>
            <a:ext cx="0" cy="370000"/>
          </a:xfrm>
          <a:prstGeom prst="straightConnector1">
            <a:avLst/>
          </a:prstGeom>
          <a:ln w="38100">
            <a:solidFill>
              <a:srgbClr val="FFC00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FBDFF58-346F-BAB1-5552-B6E3B15E6B32}"/>
              </a:ext>
            </a:extLst>
          </p:cNvPr>
          <p:cNvCxnSpPr>
            <a:cxnSpLocks/>
          </p:cNvCxnSpPr>
          <p:nvPr/>
        </p:nvCxnSpPr>
        <p:spPr>
          <a:xfrm flipH="1" flipV="1">
            <a:off x="8722930" y="3415443"/>
            <a:ext cx="295375" cy="1"/>
          </a:xfrm>
          <a:prstGeom prst="straightConnector1">
            <a:avLst/>
          </a:prstGeom>
          <a:ln w="38100">
            <a:solidFill>
              <a:srgbClr val="33CC33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42ECE61-6789-97A6-53D0-24EA115AE575}"/>
              </a:ext>
            </a:extLst>
          </p:cNvPr>
          <p:cNvCxnSpPr>
            <a:cxnSpLocks/>
          </p:cNvCxnSpPr>
          <p:nvPr/>
        </p:nvCxnSpPr>
        <p:spPr>
          <a:xfrm flipV="1">
            <a:off x="3517769" y="2338631"/>
            <a:ext cx="0" cy="370000"/>
          </a:xfrm>
          <a:prstGeom prst="straightConnector1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216713F-3D16-0226-E828-3FE9D152CDF7}"/>
              </a:ext>
            </a:extLst>
          </p:cNvPr>
          <p:cNvSpPr txBox="1"/>
          <p:nvPr/>
        </p:nvSpPr>
        <p:spPr>
          <a:xfrm>
            <a:off x="25081" y="1626264"/>
            <a:ext cx="2052323" cy="783193"/>
          </a:xfrm>
          <a:prstGeom prst="round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NZ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Physical: </a:t>
            </a:r>
            <a:r>
              <a:rPr lang="en-NZ" sz="1000" dirty="0" err="1">
                <a:solidFill>
                  <a:schemeClr val="bg2">
                    <a:lumMod val="90000"/>
                  </a:schemeClr>
                </a:solidFill>
              </a:rPr>
              <a:t>WebsiteHost</a:t>
            </a:r>
            <a:endParaRPr lang="en-NZ" sz="1000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NZ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Logical: </a:t>
            </a:r>
            <a:r>
              <a:rPr lang="en-NZ" sz="1000" dirty="0">
                <a:solidFill>
                  <a:schemeClr val="bg2">
                    <a:lumMod val="90000"/>
                  </a:schemeClr>
                </a:solidFill>
              </a:rPr>
              <a:t>BEFFE</a:t>
            </a:r>
          </a:p>
          <a:p>
            <a:r>
              <a:rPr lang="en-NZ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Local Address: </a:t>
            </a:r>
            <a:r>
              <a:rPr lang="en-NZ" sz="1000" dirty="0">
                <a:solidFill>
                  <a:schemeClr val="bg2">
                    <a:lumMod val="90000"/>
                  </a:schemeClr>
                </a:solidFill>
              </a:rPr>
              <a:t>localhost:5101</a:t>
            </a:r>
          </a:p>
          <a:p>
            <a:r>
              <a:rPr lang="en-NZ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Prod Address: </a:t>
            </a:r>
            <a:r>
              <a:rPr lang="en-NZ" sz="1000" dirty="0">
                <a:solidFill>
                  <a:schemeClr val="bg2">
                    <a:lumMod val="90000"/>
                  </a:schemeClr>
                </a:solidFill>
              </a:rPr>
              <a:t>app.product.com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40C8BB-D447-2390-1A2B-A638C7EBC48F}"/>
              </a:ext>
            </a:extLst>
          </p:cNvPr>
          <p:cNvSpPr txBox="1"/>
          <p:nvPr/>
        </p:nvSpPr>
        <p:spPr>
          <a:xfrm>
            <a:off x="25080" y="2918115"/>
            <a:ext cx="2052323" cy="783193"/>
          </a:xfrm>
          <a:prstGeom prst="round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NZ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Physical: </a:t>
            </a:r>
            <a:r>
              <a:rPr lang="en-NZ" sz="1000" dirty="0">
                <a:solidFill>
                  <a:schemeClr val="bg2">
                    <a:lumMod val="90000"/>
                  </a:schemeClr>
                </a:solidFill>
              </a:rPr>
              <a:t>ApiHost1</a:t>
            </a:r>
          </a:p>
          <a:p>
            <a:r>
              <a:rPr lang="en-NZ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Logical: </a:t>
            </a:r>
            <a:r>
              <a:rPr lang="en-NZ" sz="1000" dirty="0">
                <a:solidFill>
                  <a:schemeClr val="bg2">
                    <a:lumMod val="90000"/>
                  </a:schemeClr>
                </a:solidFill>
              </a:rPr>
              <a:t>Backend API</a:t>
            </a:r>
          </a:p>
          <a:p>
            <a:r>
              <a:rPr lang="en-NZ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Local Address: </a:t>
            </a:r>
            <a:r>
              <a:rPr lang="en-NZ" sz="1000" dirty="0">
                <a:solidFill>
                  <a:schemeClr val="bg2">
                    <a:lumMod val="90000"/>
                  </a:schemeClr>
                </a:solidFill>
              </a:rPr>
              <a:t>localhost:5001</a:t>
            </a:r>
          </a:p>
          <a:p>
            <a:r>
              <a:rPr lang="en-NZ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Prod Address: </a:t>
            </a:r>
            <a:r>
              <a:rPr lang="en-NZ" sz="1000" dirty="0">
                <a:solidFill>
                  <a:schemeClr val="bg2">
                    <a:lumMod val="90000"/>
                  </a:schemeClr>
                </a:solidFill>
              </a:rPr>
              <a:t>api.product.com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D31D743-1B0B-CB48-04FE-7A0676EB36E3}"/>
              </a:ext>
            </a:extLst>
          </p:cNvPr>
          <p:cNvSpPr txBox="1"/>
          <p:nvPr/>
        </p:nvSpPr>
        <p:spPr>
          <a:xfrm>
            <a:off x="4147794" y="1627049"/>
            <a:ext cx="11737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200" dirty="0">
                <a:solidFill>
                  <a:schemeClr val="bg2"/>
                </a:solidFill>
              </a:rPr>
              <a:t>x </a:t>
            </a:r>
            <a:r>
              <a:rPr lang="en-NZ" sz="1200" i="1" dirty="0">
                <a:solidFill>
                  <a:schemeClr val="bg2"/>
                </a:solidFill>
              </a:rPr>
              <a:t>n (instances)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83A2AC7E-E043-17F0-4EE9-F62B8FA70B2E}"/>
              </a:ext>
            </a:extLst>
          </p:cNvPr>
          <p:cNvSpPr/>
          <p:nvPr/>
        </p:nvSpPr>
        <p:spPr>
          <a:xfrm>
            <a:off x="2712193" y="2785225"/>
            <a:ext cx="1039676" cy="907330"/>
          </a:xfrm>
          <a:prstGeom prst="roundRect">
            <a:avLst/>
          </a:prstGeom>
          <a:solidFill>
            <a:srgbClr val="6600CC"/>
          </a:solidFill>
          <a:ln w="38100">
            <a:solidFill>
              <a:srgbClr val="99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 err="1"/>
              <a:t>ApiHost</a:t>
            </a:r>
            <a:r>
              <a:rPr lang="en-NZ" sz="1400" dirty="0"/>
              <a:t> </a:t>
            </a:r>
            <a:r>
              <a:rPr lang="en-NZ" sz="1400" i="1" dirty="0"/>
              <a:t>1</a:t>
            </a:r>
            <a:endParaRPr lang="en-NZ" sz="1000" i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00CB47F3-25A7-501E-B0AF-E072A5B74AD3}"/>
              </a:ext>
            </a:extLst>
          </p:cNvPr>
          <p:cNvSpPr/>
          <p:nvPr/>
        </p:nvSpPr>
        <p:spPr>
          <a:xfrm>
            <a:off x="3826126" y="2787187"/>
            <a:ext cx="1039676" cy="907330"/>
          </a:xfrm>
          <a:prstGeom prst="roundRect">
            <a:avLst/>
          </a:prstGeom>
          <a:solidFill>
            <a:srgbClr val="6600CC"/>
          </a:solidFill>
          <a:ln w="38100">
            <a:solidFill>
              <a:srgbClr val="99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 err="1">
                <a:solidFill>
                  <a:schemeClr val="bg2">
                    <a:lumMod val="50000"/>
                  </a:schemeClr>
                </a:solidFill>
              </a:rPr>
              <a:t>ApiHost</a:t>
            </a:r>
            <a:r>
              <a:rPr lang="en-NZ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NZ" sz="1400" i="1" dirty="0">
                <a:solidFill>
                  <a:schemeClr val="bg2">
                    <a:lumMod val="50000"/>
                  </a:schemeClr>
                </a:solidFill>
              </a:rPr>
              <a:t>n</a:t>
            </a:r>
            <a:endParaRPr lang="en-NZ" sz="1000" i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A84CABE-EBA2-E70D-A08D-7B407E6EC99F}"/>
              </a:ext>
            </a:extLst>
          </p:cNvPr>
          <p:cNvSpPr txBox="1"/>
          <p:nvPr/>
        </p:nvSpPr>
        <p:spPr>
          <a:xfrm>
            <a:off x="4808662" y="2779615"/>
            <a:ext cx="11737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200" dirty="0">
                <a:solidFill>
                  <a:schemeClr val="bg2"/>
                </a:solidFill>
              </a:rPr>
              <a:t>x </a:t>
            </a:r>
            <a:r>
              <a:rPr lang="en-NZ" sz="1200" i="1" dirty="0">
                <a:solidFill>
                  <a:schemeClr val="bg2"/>
                </a:solidFill>
              </a:rPr>
              <a:t>n (instances)</a:t>
            </a:r>
          </a:p>
        </p:txBody>
      </p:sp>
    </p:spTree>
    <p:extLst>
      <p:ext uri="{BB962C8B-B14F-4D97-AF65-F5344CB8AC3E}">
        <p14:creationId xmlns:p14="http://schemas.microsoft.com/office/powerpoint/2010/main" val="3161322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7" name="Group 1066">
            <a:extLst>
              <a:ext uri="{FF2B5EF4-FFF2-40B4-BE49-F238E27FC236}">
                <a16:creationId xmlns:a16="http://schemas.microsoft.com/office/drawing/2014/main" id="{E986EF44-472D-2693-C9E3-969E8FA74FF2}"/>
              </a:ext>
            </a:extLst>
          </p:cNvPr>
          <p:cNvGrpSpPr/>
          <p:nvPr/>
        </p:nvGrpSpPr>
        <p:grpSpPr>
          <a:xfrm>
            <a:off x="239557" y="4878562"/>
            <a:ext cx="10863826" cy="1921694"/>
            <a:chOff x="239557" y="4878562"/>
            <a:chExt cx="10863826" cy="1921694"/>
          </a:xfrm>
        </p:grpSpPr>
        <p:sp>
          <p:nvSpPr>
            <p:cNvPr id="1099" name="Rectangle 1098">
              <a:extLst>
                <a:ext uri="{FF2B5EF4-FFF2-40B4-BE49-F238E27FC236}">
                  <a16:creationId xmlns:a16="http://schemas.microsoft.com/office/drawing/2014/main" id="{EDCB2EF0-1B08-D294-EFF0-4DEAC850CA22}"/>
                </a:ext>
              </a:extLst>
            </p:cNvPr>
            <p:cNvSpPr/>
            <p:nvPr/>
          </p:nvSpPr>
          <p:spPr>
            <a:xfrm>
              <a:off x="7271031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600" dirty="0">
                  <a:solidFill>
                    <a:schemeClr val="bg2">
                      <a:lumMod val="75000"/>
                    </a:schemeClr>
                  </a:solidFill>
                </a:rPr>
                <a:t>Avatars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0" name="Rectangle 1099">
              <a:extLst>
                <a:ext uri="{FF2B5EF4-FFF2-40B4-BE49-F238E27FC236}">
                  <a16:creationId xmlns:a16="http://schemas.microsoft.com/office/drawing/2014/main" id="{DB3E9C77-F5D4-28B3-8F2B-EA5A852E3B80}"/>
                </a:ext>
              </a:extLst>
            </p:cNvPr>
            <p:cNvSpPr/>
            <p:nvPr/>
          </p:nvSpPr>
          <p:spPr>
            <a:xfrm>
              <a:off x="6116204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Email Delivery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1" name="Rectangle 1100">
              <a:extLst>
                <a:ext uri="{FF2B5EF4-FFF2-40B4-BE49-F238E27FC236}">
                  <a16:creationId xmlns:a16="http://schemas.microsoft.com/office/drawing/2014/main" id="{C72C4C30-6245-25DD-8E07-9EB894A4382C}"/>
                </a:ext>
              </a:extLst>
            </p:cNvPr>
            <p:cNvSpPr/>
            <p:nvPr/>
          </p:nvSpPr>
          <p:spPr>
            <a:xfrm>
              <a:off x="4961377" y="4939656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Feature Flags</a:t>
              </a:r>
              <a:endParaRPr lang="en-NZ" sz="5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2" name="Rectangle 1101">
              <a:extLst>
                <a:ext uri="{FF2B5EF4-FFF2-40B4-BE49-F238E27FC236}">
                  <a16:creationId xmlns:a16="http://schemas.microsoft.com/office/drawing/2014/main" id="{3791DE32-A2F5-475D-D4A7-7510C6F2B0A5}"/>
                </a:ext>
              </a:extLst>
            </p:cNvPr>
            <p:cNvSpPr/>
            <p:nvPr/>
          </p:nvSpPr>
          <p:spPr>
            <a:xfrm>
              <a:off x="3806550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Product Metrics</a:t>
              </a:r>
              <a:endParaRPr lang="en-NZ" sz="4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3" name="Rectangle 1102">
              <a:extLst>
                <a:ext uri="{FF2B5EF4-FFF2-40B4-BE49-F238E27FC236}">
                  <a16:creationId xmlns:a16="http://schemas.microsoft.com/office/drawing/2014/main" id="{01E26DDB-6A97-2401-A288-3412A8C9AC0F}"/>
                </a:ext>
              </a:extLst>
            </p:cNvPr>
            <p:cNvSpPr/>
            <p:nvPr/>
          </p:nvSpPr>
          <p:spPr>
            <a:xfrm>
              <a:off x="2651723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Billing Subscriptions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4" name="Rectangle 1103">
              <a:extLst>
                <a:ext uri="{FF2B5EF4-FFF2-40B4-BE49-F238E27FC236}">
                  <a16:creationId xmlns:a16="http://schemas.microsoft.com/office/drawing/2014/main" id="{FC782E3C-49D8-F173-C6D6-F8872394C5F5}"/>
                </a:ext>
              </a:extLst>
            </p:cNvPr>
            <p:cNvSpPr/>
            <p:nvPr/>
          </p:nvSpPr>
          <p:spPr>
            <a:xfrm>
              <a:off x="1496896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600" dirty="0">
                  <a:solidFill>
                    <a:schemeClr val="bg2">
                      <a:lumMod val="75000"/>
                    </a:schemeClr>
                  </a:solidFill>
                </a:rPr>
                <a:t>Payments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44" name="Rectangle 1043">
              <a:extLst>
                <a:ext uri="{FF2B5EF4-FFF2-40B4-BE49-F238E27FC236}">
                  <a16:creationId xmlns:a16="http://schemas.microsoft.com/office/drawing/2014/main" id="{C841B7AF-09E9-E9A9-8240-9D4C6EC006E8}"/>
                </a:ext>
              </a:extLst>
            </p:cNvPr>
            <p:cNvSpPr/>
            <p:nvPr/>
          </p:nvSpPr>
          <p:spPr>
            <a:xfrm>
              <a:off x="8425859" y="4939656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Single Sign On</a:t>
              </a:r>
              <a:endParaRPr lang="en-NZ" sz="4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87" name="Rectangle 1086">
              <a:extLst>
                <a:ext uri="{FF2B5EF4-FFF2-40B4-BE49-F238E27FC236}">
                  <a16:creationId xmlns:a16="http://schemas.microsoft.com/office/drawing/2014/main" id="{ACA2F58A-21F7-B0E8-14CC-600404437345}"/>
                </a:ext>
              </a:extLst>
            </p:cNvPr>
            <p:cNvSpPr/>
            <p:nvPr/>
          </p:nvSpPr>
          <p:spPr>
            <a:xfrm>
              <a:off x="9586329" y="4935101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Auth Provider</a:t>
              </a:r>
              <a:endParaRPr lang="en-NZ" sz="5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9074616-4093-0C1A-7591-0B5500FB1DC3}"/>
                </a:ext>
              </a:extLst>
            </p:cNvPr>
            <p:cNvSpPr/>
            <p:nvPr/>
          </p:nvSpPr>
          <p:spPr>
            <a:xfrm>
              <a:off x="239557" y="4878562"/>
              <a:ext cx="10863826" cy="1921694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NZ" sz="1200" dirty="0">
                  <a:solidFill>
                    <a:schemeClr val="tx1"/>
                  </a:solidFill>
                </a:rPr>
                <a:t>3</a:t>
              </a:r>
              <a:r>
                <a:rPr lang="en-NZ" sz="1200" baseline="30000" dirty="0">
                  <a:solidFill>
                    <a:schemeClr val="tx1"/>
                  </a:solidFill>
                </a:rPr>
                <a:t>rd</a:t>
              </a:r>
              <a:r>
                <a:rPr lang="en-NZ" sz="1200" dirty="0">
                  <a:solidFill>
                    <a:schemeClr val="tx1"/>
                  </a:solidFill>
                </a:rPr>
                <a:t> Party </a:t>
              </a:r>
            </a:p>
            <a:p>
              <a:r>
                <a:rPr lang="en-NZ" sz="1200" dirty="0">
                  <a:solidFill>
                    <a:schemeClr val="tx1"/>
                  </a:solidFill>
                </a:rPr>
                <a:t>Integration</a:t>
              </a:r>
            </a:p>
            <a:p>
              <a:r>
                <a:rPr lang="en-NZ" sz="1200" dirty="0">
                  <a:solidFill>
                    <a:schemeClr val="tx1"/>
                  </a:solidFill>
                </a:rPr>
                <a:t>Plugins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5C282802-69F6-CA49-3830-6AB9BD64D4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rot="20400000">
              <a:off x="6219420" y="5789055"/>
              <a:ext cx="918256" cy="24988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26" name="Picture 2" descr="Mixpanel | Attribution Platform - Ematic Solutions">
              <a:extLst>
                <a:ext uri="{FF2B5EF4-FFF2-40B4-BE49-F238E27FC236}">
                  <a16:creationId xmlns:a16="http://schemas.microsoft.com/office/drawing/2014/main" id="{0A4C32E7-D188-E734-8CC8-3C2588204E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460" t="13489" r="2189" b="10958"/>
            <a:stretch/>
          </p:blipFill>
          <p:spPr bwMode="auto">
            <a:xfrm rot="20400000">
              <a:off x="3884797" y="5440538"/>
              <a:ext cx="940471" cy="26719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25" name="Picture 4">
              <a:extLst>
                <a:ext uri="{FF2B5EF4-FFF2-40B4-BE49-F238E27FC236}">
                  <a16:creationId xmlns:a16="http://schemas.microsoft.com/office/drawing/2014/main" id="{7AC3CE2E-3F46-F1F1-FE35-B98D9CBD693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16" b="8972"/>
            <a:stretch/>
          </p:blipFill>
          <p:spPr bwMode="auto">
            <a:xfrm rot="20400000">
              <a:off x="1581624" y="5542724"/>
              <a:ext cx="925046" cy="20833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cxnSp>
          <p:nvCxnSpPr>
            <p:cNvPr id="1033" name="Straight Arrow Connector 29">
              <a:extLst>
                <a:ext uri="{FF2B5EF4-FFF2-40B4-BE49-F238E27FC236}">
                  <a16:creationId xmlns:a16="http://schemas.microsoft.com/office/drawing/2014/main" id="{DFA0CD3E-3F63-4115-88B8-81F99E887738}"/>
                </a:ext>
              </a:extLst>
            </p:cNvPr>
            <p:cNvCxnSpPr>
              <a:cxnSpLocks/>
              <a:stCxn id="1025" idx="3"/>
              <a:endCxn id="36" idx="1"/>
            </p:cNvCxnSpPr>
            <p:nvPr/>
          </p:nvCxnSpPr>
          <p:spPr>
            <a:xfrm>
              <a:off x="2478776" y="5488700"/>
              <a:ext cx="259004" cy="592313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arrow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9A758DAF-5EE4-460C-BB67-4E01A6911ED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rot="20400000">
              <a:off x="7386688" y="5769234"/>
              <a:ext cx="922731" cy="27172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sp>
          <p:nvSpPr>
            <p:cNvPr id="1215" name="TextBox 1214">
              <a:extLst>
                <a:ext uri="{FF2B5EF4-FFF2-40B4-BE49-F238E27FC236}">
                  <a16:creationId xmlns:a16="http://schemas.microsoft.com/office/drawing/2014/main" id="{8E7F38A4-6ABB-C7F8-B97F-B08E5BCF0F9B}"/>
                </a:ext>
              </a:extLst>
            </p:cNvPr>
            <p:cNvSpPr txBox="1"/>
            <p:nvPr/>
          </p:nvSpPr>
          <p:spPr>
            <a:xfrm rot="16200000">
              <a:off x="2483509" y="5052451"/>
              <a:ext cx="481469" cy="153888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txBody>
            <a:bodyPr wrap="none" lIns="36000" tIns="0" rIns="36000" bIns="0" rtlCol="0" anchor="b" anchorCtr="0">
              <a:spAutoFit/>
            </a:bodyPr>
            <a:lstStyle/>
            <a:p>
              <a:r>
                <a:rPr lang="en-NZ" sz="1000" dirty="0"/>
                <a:t>+Events</a:t>
              </a:r>
            </a:p>
          </p:txBody>
        </p:sp>
        <p:pic>
          <p:nvPicPr>
            <p:cNvPr id="1221" name="Picture 1220">
              <a:extLst>
                <a:ext uri="{FF2B5EF4-FFF2-40B4-BE49-F238E27FC236}">
                  <a16:creationId xmlns:a16="http://schemas.microsoft.com/office/drawing/2014/main" id="{D70A1E97-4BBD-498F-88E4-E35F3C89843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1" b="3009"/>
            <a:stretch/>
          </p:blipFill>
          <p:spPr>
            <a:xfrm rot="20400000">
              <a:off x="5060127" y="5779752"/>
              <a:ext cx="916581" cy="25053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83" name="Picture 2" descr="google - Wikipedia">
              <a:extLst>
                <a:ext uri="{FF2B5EF4-FFF2-40B4-BE49-F238E27FC236}">
                  <a16:creationId xmlns:a16="http://schemas.microsoft.com/office/drawing/2014/main" id="{C1490A4B-2729-F71B-D2B2-3A65A9CB9EB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3973" r="-12631"/>
            <a:stretch/>
          </p:blipFill>
          <p:spPr bwMode="auto">
            <a:xfrm rot="20400000">
              <a:off x="8575461" y="5810312"/>
              <a:ext cx="857550" cy="22812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84" name="Picture 4">
              <a:extLst>
                <a:ext uri="{FF2B5EF4-FFF2-40B4-BE49-F238E27FC236}">
                  <a16:creationId xmlns:a16="http://schemas.microsoft.com/office/drawing/2014/main" id="{8C14C4A7-87FB-5F5B-B9BC-2F74E9F8720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00000">
              <a:off x="8508912" y="5522290"/>
              <a:ext cx="990648" cy="20952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sp>
          <p:nvSpPr>
            <p:cNvPr id="1124" name="Rectangle 1123">
              <a:extLst>
                <a:ext uri="{FF2B5EF4-FFF2-40B4-BE49-F238E27FC236}">
                  <a16:creationId xmlns:a16="http://schemas.microsoft.com/office/drawing/2014/main" id="{ED35A757-8F32-C59F-713E-BC68B3866761}"/>
                </a:ext>
              </a:extLst>
            </p:cNvPr>
            <p:cNvSpPr/>
            <p:nvPr/>
          </p:nvSpPr>
          <p:spPr>
            <a:xfrm rot="20400000">
              <a:off x="9674371" y="5230380"/>
              <a:ext cx="926590" cy="228794"/>
            </a:xfrm>
            <a:prstGeom prst="rect">
              <a:avLst/>
            </a:prstGeom>
            <a:solidFill>
              <a:srgbClr val="4472C4"/>
            </a:solidFill>
            <a:ln w="12700"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AuthN API</a:t>
              </a:r>
              <a:endParaRPr lang="en-NZ" sz="1200" dirty="0">
                <a:solidFill>
                  <a:schemeClr val="bg1"/>
                </a:solidFill>
              </a:endParaRPr>
            </a:p>
          </p:txBody>
        </p:sp>
        <p:sp>
          <p:nvSpPr>
            <p:cNvPr id="1126" name="Rectangle 1125">
              <a:extLst>
                <a:ext uri="{FF2B5EF4-FFF2-40B4-BE49-F238E27FC236}">
                  <a16:creationId xmlns:a16="http://schemas.microsoft.com/office/drawing/2014/main" id="{9BD93A82-2A39-DB90-1195-67F1CB7B5EC7}"/>
                </a:ext>
              </a:extLst>
            </p:cNvPr>
            <p:cNvSpPr/>
            <p:nvPr/>
          </p:nvSpPr>
          <p:spPr>
            <a:xfrm rot="20400000">
              <a:off x="9691107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127" name="Rectangle 1126">
              <a:extLst>
                <a:ext uri="{FF2B5EF4-FFF2-40B4-BE49-F238E27FC236}">
                  <a16:creationId xmlns:a16="http://schemas.microsoft.com/office/drawing/2014/main" id="{943F0BCD-640B-AABA-6E6F-24224F09D2EE}"/>
                </a:ext>
              </a:extLst>
            </p:cNvPr>
            <p:cNvSpPr/>
            <p:nvPr/>
          </p:nvSpPr>
          <p:spPr>
            <a:xfrm rot="20400000">
              <a:off x="7395772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128" name="Rectangle 1127">
              <a:extLst>
                <a:ext uri="{FF2B5EF4-FFF2-40B4-BE49-F238E27FC236}">
                  <a16:creationId xmlns:a16="http://schemas.microsoft.com/office/drawing/2014/main" id="{D595ED4D-ED95-E379-D5A4-D07BF6C75DB4}"/>
                </a:ext>
              </a:extLst>
            </p:cNvPr>
            <p:cNvSpPr/>
            <p:nvPr/>
          </p:nvSpPr>
          <p:spPr>
            <a:xfrm rot="20400000">
              <a:off x="6215253" y="6097598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129" name="Rectangle 1128">
              <a:extLst>
                <a:ext uri="{FF2B5EF4-FFF2-40B4-BE49-F238E27FC236}">
                  <a16:creationId xmlns:a16="http://schemas.microsoft.com/office/drawing/2014/main" id="{11FB7093-8D74-25B3-C378-8E2BC40CF11F}"/>
                </a:ext>
              </a:extLst>
            </p:cNvPr>
            <p:cNvSpPr/>
            <p:nvPr/>
          </p:nvSpPr>
          <p:spPr>
            <a:xfrm rot="20400000">
              <a:off x="5055122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131" name="Rectangle 1130">
              <a:extLst>
                <a:ext uri="{FF2B5EF4-FFF2-40B4-BE49-F238E27FC236}">
                  <a16:creationId xmlns:a16="http://schemas.microsoft.com/office/drawing/2014/main" id="{783D8BAF-AD1E-EE11-898A-7648CAC00E14}"/>
                </a:ext>
              </a:extLst>
            </p:cNvPr>
            <p:cNvSpPr/>
            <p:nvPr/>
          </p:nvSpPr>
          <p:spPr>
            <a:xfrm rot="20400000">
              <a:off x="3891737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133" name="Rectangle 1132">
              <a:extLst>
                <a:ext uri="{FF2B5EF4-FFF2-40B4-BE49-F238E27FC236}">
                  <a16:creationId xmlns:a16="http://schemas.microsoft.com/office/drawing/2014/main" id="{67F1C157-B016-40B3-00EE-AE8E6315BE13}"/>
                </a:ext>
              </a:extLst>
            </p:cNvPr>
            <p:cNvSpPr/>
            <p:nvPr/>
          </p:nvSpPr>
          <p:spPr>
            <a:xfrm rot="20400000">
              <a:off x="2744371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134" name="Rectangle 1133">
              <a:extLst>
                <a:ext uri="{FF2B5EF4-FFF2-40B4-BE49-F238E27FC236}">
                  <a16:creationId xmlns:a16="http://schemas.microsoft.com/office/drawing/2014/main" id="{1755E447-C8BC-9AA3-7E0F-517DB79B732D}"/>
                </a:ext>
              </a:extLst>
            </p:cNvPr>
            <p:cNvSpPr/>
            <p:nvPr/>
          </p:nvSpPr>
          <p:spPr>
            <a:xfrm rot="20400000">
              <a:off x="1580852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140" name="Rectangle 1139">
              <a:extLst>
                <a:ext uri="{FF2B5EF4-FFF2-40B4-BE49-F238E27FC236}">
                  <a16:creationId xmlns:a16="http://schemas.microsoft.com/office/drawing/2014/main" id="{5DBD2DC8-487B-7BA3-A1DA-BA58460DE3E3}"/>
                </a:ext>
              </a:extLst>
            </p:cNvPr>
            <p:cNvSpPr/>
            <p:nvPr/>
          </p:nvSpPr>
          <p:spPr>
            <a:xfrm rot="20400000">
              <a:off x="8540941" y="6107792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pic>
          <p:nvPicPr>
            <p:cNvPr id="28" name="Picture 2" descr="Shopify">
              <a:extLst>
                <a:ext uri="{FF2B5EF4-FFF2-40B4-BE49-F238E27FC236}">
                  <a16:creationId xmlns:a16="http://schemas.microsoft.com/office/drawing/2014/main" id="{7B7A8646-67C5-E1FB-CF63-086D920A7B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00000">
              <a:off x="1571087" y="5826784"/>
              <a:ext cx="946121" cy="205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33" name="Picture 4">
              <a:extLst>
                <a:ext uri="{FF2B5EF4-FFF2-40B4-BE49-F238E27FC236}">
                  <a16:creationId xmlns:a16="http://schemas.microsoft.com/office/drawing/2014/main" id="{901324E2-58EE-CEA2-22E5-08E1C78928E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16" b="8972"/>
            <a:stretch/>
          </p:blipFill>
          <p:spPr bwMode="auto">
            <a:xfrm rot="20400000">
              <a:off x="2745143" y="5507033"/>
              <a:ext cx="925046" cy="20833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35" name="Picture 4" descr="Chargify and Swipesum">
              <a:extLst>
                <a:ext uri="{FF2B5EF4-FFF2-40B4-BE49-F238E27FC236}">
                  <a16:creationId xmlns:a16="http://schemas.microsoft.com/office/drawing/2014/main" id="{B2DF7519-B76D-D9AA-8BDC-769E0CCE281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481" b="21480"/>
            <a:stretch/>
          </p:blipFill>
          <p:spPr bwMode="auto">
            <a:xfrm rot="20400000">
              <a:off x="2692875" y="5208199"/>
              <a:ext cx="1029582" cy="22788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36" name="Picture 6" descr="Chargebee: SaaS for Effective Revenue Growth Management">
              <a:extLst>
                <a:ext uri="{FF2B5EF4-FFF2-40B4-BE49-F238E27FC236}">
                  <a16:creationId xmlns:a16="http://schemas.microsoft.com/office/drawing/2014/main" id="{41CFE2A9-9A55-0549-42C8-0F9F18F6C9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715" t="29331" r="8963" b="27615"/>
            <a:stretch/>
          </p:blipFill>
          <p:spPr bwMode="auto">
            <a:xfrm rot="20400000">
              <a:off x="2707624" y="5792672"/>
              <a:ext cx="1000084" cy="234633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36" name="Picture 12" descr="Analyze the impact of personalization in Google Analytics">
              <a:extLst>
                <a:ext uri="{FF2B5EF4-FFF2-40B4-BE49-F238E27FC236}">
                  <a16:creationId xmlns:a16="http://schemas.microsoft.com/office/drawing/2014/main" id="{271A12D7-3E07-7383-A989-A6E27B356FC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3074" t="-1409" r="-5031" b="-4078"/>
            <a:stretch/>
          </p:blipFill>
          <p:spPr bwMode="auto">
            <a:xfrm rot="20400000">
              <a:off x="3972053" y="5105614"/>
              <a:ext cx="765959" cy="25564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38" name="Picture 14" descr="Amplitude Analytics Reviews, Ratings &amp; Features 2023 | Gartner Peer Insights">
              <a:extLst>
                <a:ext uri="{FF2B5EF4-FFF2-40B4-BE49-F238E27FC236}">
                  <a16:creationId xmlns:a16="http://schemas.microsoft.com/office/drawing/2014/main" id="{47A2B6E8-59C3-5912-243D-7EF5E41EED3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393" b="28622"/>
            <a:stretch/>
          </p:blipFill>
          <p:spPr bwMode="auto">
            <a:xfrm rot="20400000">
              <a:off x="3892561" y="5779495"/>
              <a:ext cx="924942" cy="25137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40" name="Picture 16" descr="LaunchDarkly allows customers to automate feature releases with Courier">
              <a:extLst>
                <a:ext uri="{FF2B5EF4-FFF2-40B4-BE49-F238E27FC236}">
                  <a16:creationId xmlns:a16="http://schemas.microsoft.com/office/drawing/2014/main" id="{435A27E2-BEA2-57E2-7E11-E1C0F826F9E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9482" b="31324"/>
            <a:stretch/>
          </p:blipFill>
          <p:spPr bwMode="auto">
            <a:xfrm rot="20400000">
              <a:off x="5046345" y="5496017"/>
              <a:ext cx="944145" cy="207227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42" name="Picture 18" descr="Postmark - Our Preferred Transactional Email Provider for WordPress">
              <a:extLst>
                <a:ext uri="{FF2B5EF4-FFF2-40B4-BE49-F238E27FC236}">
                  <a16:creationId xmlns:a16="http://schemas.microsoft.com/office/drawing/2014/main" id="{93CE99C4-49CC-AF76-AD2C-2E7037FBDEE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E002"/>
                </a:clrFrom>
                <a:clrTo>
                  <a:srgbClr val="FFE002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4105" b="28369"/>
            <a:stretch/>
          </p:blipFill>
          <p:spPr bwMode="auto">
            <a:xfrm rot="20400000">
              <a:off x="6170163" y="5448651"/>
              <a:ext cx="1016770" cy="27061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21" name="Picture 20" descr="How to setup Mailgun for WordPress - AcyMailing Blog">
              <a:extLst>
                <a:ext uri="{FF2B5EF4-FFF2-40B4-BE49-F238E27FC236}">
                  <a16:creationId xmlns:a16="http://schemas.microsoft.com/office/drawing/2014/main" id="{0D7C46C1-2772-5653-0A7D-2FB519F1EC4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323" t="29275" r="19487" b="29494"/>
            <a:stretch/>
          </p:blipFill>
          <p:spPr bwMode="auto">
            <a:xfrm rot="20400000">
              <a:off x="6253877" y="5175754"/>
              <a:ext cx="849344" cy="21363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22" name="Picture 22" descr="Facebook - log in or sign up">
              <a:extLst>
                <a:ext uri="{FF2B5EF4-FFF2-40B4-BE49-F238E27FC236}">
                  <a16:creationId xmlns:a16="http://schemas.microsoft.com/office/drawing/2014/main" id="{11057122-15CD-2323-9396-31F62419D5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065" b="20642"/>
            <a:stretch/>
          </p:blipFill>
          <p:spPr bwMode="auto">
            <a:xfrm rot="20400000">
              <a:off x="8490137" y="5242807"/>
              <a:ext cx="1003534" cy="20935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27" name="Picture 1026">
              <a:extLst>
                <a:ext uri="{FF2B5EF4-FFF2-40B4-BE49-F238E27FC236}">
                  <a16:creationId xmlns:a16="http://schemas.microsoft.com/office/drawing/2014/main" id="{27A0CDC4-5001-C063-02C2-FEADDF920A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clrChange>
                <a:clrFrom>
                  <a:srgbClr val="2F64D1"/>
                </a:clrFrom>
                <a:clrTo>
                  <a:srgbClr val="2F64D1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rot="20400000">
              <a:off x="7371776" y="5498193"/>
              <a:ext cx="881617" cy="20287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29" name="Picture 24">
              <a:extLst>
                <a:ext uri="{FF2B5EF4-FFF2-40B4-BE49-F238E27FC236}">
                  <a16:creationId xmlns:a16="http://schemas.microsoft.com/office/drawing/2014/main" id="{0D486320-6D45-855D-7538-F69E76FEAA4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9001" r="-13248"/>
            <a:stretch/>
          </p:blipFill>
          <p:spPr bwMode="auto">
            <a:xfrm rot="20400000">
              <a:off x="5095780" y="5226933"/>
              <a:ext cx="824004" cy="205863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50" name="Picture 26" descr="Auth0 Single Sign On | Drupal.org">
              <a:extLst>
                <a:ext uri="{FF2B5EF4-FFF2-40B4-BE49-F238E27FC236}">
                  <a16:creationId xmlns:a16="http://schemas.microsoft.com/office/drawing/2014/main" id="{CDB17DA6-F926-D85D-31A9-3108A34BF75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8856" r="-9198"/>
            <a:stretch/>
          </p:blipFill>
          <p:spPr bwMode="auto">
            <a:xfrm rot="20400000">
              <a:off x="9706018" y="5804365"/>
              <a:ext cx="896769" cy="2243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52" name="Picture 28" descr="Ping Identity - Tech Partners | Cloudflare">
              <a:extLst>
                <a:ext uri="{FF2B5EF4-FFF2-40B4-BE49-F238E27FC236}">
                  <a16:creationId xmlns:a16="http://schemas.microsoft.com/office/drawing/2014/main" id="{70B96440-945E-5E7C-EDBC-B7D6841FF1A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4073" b="21793"/>
            <a:stretch/>
          </p:blipFill>
          <p:spPr bwMode="auto">
            <a:xfrm rot="20400000">
              <a:off x="9649415" y="5530412"/>
              <a:ext cx="987543" cy="19703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DC7EFB4-9C75-4F5A-29CF-76970ABFF719}"/>
              </a:ext>
            </a:extLst>
          </p:cNvPr>
          <p:cNvGrpSpPr/>
          <p:nvPr/>
        </p:nvGrpSpPr>
        <p:grpSpPr>
          <a:xfrm>
            <a:off x="1444244" y="1911195"/>
            <a:ext cx="9659138" cy="2911546"/>
            <a:chOff x="2349983" y="1704166"/>
            <a:chExt cx="9659138" cy="291154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BAEA8EE-8769-4D46-8095-C63827A89660}"/>
                </a:ext>
              </a:extLst>
            </p:cNvPr>
            <p:cNvSpPr/>
            <p:nvPr/>
          </p:nvSpPr>
          <p:spPr>
            <a:xfrm>
              <a:off x="3000799" y="1795395"/>
              <a:ext cx="9008322" cy="2820317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NZ" sz="2000" dirty="0">
                <a:solidFill>
                  <a:schemeClr val="tx1"/>
                </a:solidFill>
              </a:endParaRPr>
            </a:p>
          </p:txBody>
        </p:sp>
        <p:pic>
          <p:nvPicPr>
            <p:cNvPr id="1048" name="Picture 2" descr="Brand New: New Logo for Microsoft Azure">
              <a:extLst>
                <a:ext uri="{FF2B5EF4-FFF2-40B4-BE49-F238E27FC236}">
                  <a16:creationId xmlns:a16="http://schemas.microsoft.com/office/drawing/2014/main" id="{57AA9039-6ECF-CD86-DAC8-41280EB317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178"/>
            <a:stretch/>
          </p:blipFill>
          <p:spPr bwMode="auto">
            <a:xfrm rot="5400000">
              <a:off x="2154133" y="1900016"/>
              <a:ext cx="2373656" cy="1981955"/>
            </a:xfrm>
            <a:prstGeom prst="rect">
              <a:avLst/>
            </a:prstGeom>
            <a:noFill/>
            <a:ln w="19050"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8" name="Rectangle 77">
            <a:extLst>
              <a:ext uri="{FF2B5EF4-FFF2-40B4-BE49-F238E27FC236}">
                <a16:creationId xmlns:a16="http://schemas.microsoft.com/office/drawing/2014/main" id="{0B0B29A8-5FD2-A89C-C784-D9830DA5BDA1}"/>
              </a:ext>
            </a:extLst>
          </p:cNvPr>
          <p:cNvSpPr/>
          <p:nvPr/>
        </p:nvSpPr>
        <p:spPr>
          <a:xfrm>
            <a:off x="8777545" y="2086730"/>
            <a:ext cx="2234828" cy="40928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APMs</a:t>
            </a:r>
          </a:p>
          <a:p>
            <a:pPr algn="r"/>
            <a:r>
              <a:rPr lang="en-NZ" sz="700" dirty="0">
                <a:solidFill>
                  <a:schemeClr val="bg2">
                    <a:lumMod val="75000"/>
                  </a:schemeClr>
                </a:solidFill>
              </a:rPr>
              <a:t>(Logs, Crashes, Metrics)</a:t>
            </a:r>
          </a:p>
        </p:txBody>
      </p:sp>
      <p:cxnSp>
        <p:nvCxnSpPr>
          <p:cNvPr id="1255" name="Straight Arrow Connector 29">
            <a:extLst>
              <a:ext uri="{FF2B5EF4-FFF2-40B4-BE49-F238E27FC236}">
                <a16:creationId xmlns:a16="http://schemas.microsoft.com/office/drawing/2014/main" id="{0810E4AD-4D20-48A4-AE5B-BF96A9B9C489}"/>
              </a:ext>
            </a:extLst>
          </p:cNvPr>
          <p:cNvCxnSpPr>
            <a:cxnSpLocks/>
            <a:stCxn id="43" idx="2"/>
            <a:endCxn id="93" idx="2"/>
          </p:cNvCxnSpPr>
          <p:nvPr/>
        </p:nvCxnSpPr>
        <p:spPr>
          <a:xfrm flipH="1">
            <a:off x="9411528" y="2451585"/>
            <a:ext cx="5451" cy="1899554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9" name="Straight Arrow Connector 29">
            <a:extLst>
              <a:ext uri="{FF2B5EF4-FFF2-40B4-BE49-F238E27FC236}">
                <a16:creationId xmlns:a16="http://schemas.microsoft.com/office/drawing/2014/main" id="{3D787191-AC27-7568-1FC7-3A04E6B5E1AC}"/>
              </a:ext>
            </a:extLst>
          </p:cNvPr>
          <p:cNvCxnSpPr>
            <a:cxnSpLocks/>
            <a:stCxn id="43" idx="1"/>
            <a:endCxn id="2" idx="3"/>
          </p:cNvCxnSpPr>
          <p:nvPr/>
        </p:nvCxnSpPr>
        <p:spPr>
          <a:xfrm flipH="1">
            <a:off x="4485004" y="2291991"/>
            <a:ext cx="4402877" cy="1483150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4" name="Straight Arrow Connector 29">
            <a:extLst>
              <a:ext uri="{FF2B5EF4-FFF2-40B4-BE49-F238E27FC236}">
                <a16:creationId xmlns:a16="http://schemas.microsoft.com/office/drawing/2014/main" id="{C4CED0DE-008E-5632-4208-72D232A47946}"/>
              </a:ext>
            </a:extLst>
          </p:cNvPr>
          <p:cNvCxnSpPr>
            <a:cxnSpLocks/>
            <a:stCxn id="43" idx="1"/>
            <a:endCxn id="6" idx="1"/>
          </p:cNvCxnSpPr>
          <p:nvPr/>
        </p:nvCxnSpPr>
        <p:spPr>
          <a:xfrm>
            <a:off x="8887881" y="2291991"/>
            <a:ext cx="184366" cy="266806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7" name="Straight Arrow Connector 29">
            <a:extLst>
              <a:ext uri="{FF2B5EF4-FFF2-40B4-BE49-F238E27FC236}">
                <a16:creationId xmlns:a16="http://schemas.microsoft.com/office/drawing/2014/main" id="{8855CFC6-5562-24FF-7750-8C497EE366C6}"/>
              </a:ext>
            </a:extLst>
          </p:cNvPr>
          <p:cNvCxnSpPr>
            <a:cxnSpLocks/>
            <a:stCxn id="43" idx="2"/>
            <a:endCxn id="8" idx="1"/>
          </p:cNvCxnSpPr>
          <p:nvPr/>
        </p:nvCxnSpPr>
        <p:spPr>
          <a:xfrm>
            <a:off x="9416979" y="2451585"/>
            <a:ext cx="188632" cy="668015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5" name="Straight Arrow Connector 29">
            <a:extLst>
              <a:ext uri="{FF2B5EF4-FFF2-40B4-BE49-F238E27FC236}">
                <a16:creationId xmlns:a16="http://schemas.microsoft.com/office/drawing/2014/main" id="{3E69B5C8-CE19-F98F-38EA-BFA0CD505A70}"/>
              </a:ext>
            </a:extLst>
          </p:cNvPr>
          <p:cNvCxnSpPr>
            <a:cxnSpLocks/>
            <a:stCxn id="43" idx="2"/>
            <a:endCxn id="4" idx="0"/>
          </p:cNvCxnSpPr>
          <p:nvPr/>
        </p:nvCxnSpPr>
        <p:spPr>
          <a:xfrm>
            <a:off x="9416979" y="2451585"/>
            <a:ext cx="1115744" cy="1899552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0" name="Straight Arrow Connector 29">
            <a:extLst>
              <a:ext uri="{FF2B5EF4-FFF2-40B4-BE49-F238E27FC236}">
                <a16:creationId xmlns:a16="http://schemas.microsoft.com/office/drawing/2014/main" id="{45B51305-540C-90BB-62CC-B4C43EAB71D3}"/>
              </a:ext>
            </a:extLst>
          </p:cNvPr>
          <p:cNvCxnSpPr>
            <a:cxnSpLocks/>
            <a:stCxn id="43" idx="1"/>
            <a:endCxn id="126" idx="3"/>
          </p:cNvCxnSpPr>
          <p:nvPr/>
        </p:nvCxnSpPr>
        <p:spPr>
          <a:xfrm flipH="1" flipV="1">
            <a:off x="4022237" y="1009180"/>
            <a:ext cx="4865644" cy="1282811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232F839-F600-4F20-9972-DC3C9DE64692}"/>
              </a:ext>
            </a:extLst>
          </p:cNvPr>
          <p:cNvGrpSpPr/>
          <p:nvPr/>
        </p:nvGrpSpPr>
        <p:grpSpPr>
          <a:xfrm>
            <a:off x="5298390" y="82852"/>
            <a:ext cx="750395" cy="1353781"/>
            <a:chOff x="3782859" y="896787"/>
            <a:chExt cx="750395" cy="1353781"/>
          </a:xfrm>
          <a:solidFill>
            <a:schemeClr val="bg2">
              <a:alpha val="43922"/>
            </a:schemeClr>
          </a:solidFill>
        </p:grpSpPr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26AC7C5B-25AF-402F-89C1-3C13CC6BCA90}"/>
                </a:ext>
              </a:extLst>
            </p:cNvPr>
            <p:cNvSpPr/>
            <p:nvPr/>
          </p:nvSpPr>
          <p:spPr>
            <a:xfrm>
              <a:off x="3785461" y="896787"/>
              <a:ext cx="747793" cy="1353781"/>
            </a:xfrm>
            <a:prstGeom prst="roundRect">
              <a:avLst>
                <a:gd name="adj" fmla="val 17100"/>
              </a:avLst>
            </a:prstGeom>
            <a:grpFill/>
            <a:ln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Mobile Apps</a:t>
              </a:r>
            </a:p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IOS/Android</a:t>
              </a:r>
              <a:endParaRPr lang="en-NZ" sz="700" dirty="0">
                <a:solidFill>
                  <a:schemeClr val="tx1"/>
                </a:solidFill>
              </a:endParaRPr>
            </a:p>
          </p:txBody>
        </p: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93A32C36-CF7C-4E9A-A47E-910E98925428}"/>
                </a:ext>
              </a:extLst>
            </p:cNvPr>
            <p:cNvCxnSpPr/>
            <p:nvPr/>
          </p:nvCxnSpPr>
          <p:spPr>
            <a:xfrm>
              <a:off x="3782859" y="2049651"/>
              <a:ext cx="750395" cy="0"/>
            </a:xfrm>
            <a:prstGeom prst="line">
              <a:avLst/>
            </a:prstGeom>
            <a:grpFill/>
            <a:ln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1018C838-D304-4AA0-8899-629B5C87A97B}"/>
                </a:ext>
              </a:extLst>
            </p:cNvPr>
            <p:cNvSpPr/>
            <p:nvPr/>
          </p:nvSpPr>
          <p:spPr>
            <a:xfrm>
              <a:off x="4061437" y="2062517"/>
              <a:ext cx="158858" cy="158858"/>
            </a:xfrm>
            <a:prstGeom prst="ellipse">
              <a:avLst/>
            </a:prstGeom>
            <a:grpFill/>
            <a:ln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212304EA-2057-4329-8386-63CE47AE7EB7}"/>
              </a:ext>
            </a:extLst>
          </p:cNvPr>
          <p:cNvSpPr/>
          <p:nvPr/>
        </p:nvSpPr>
        <p:spPr>
          <a:xfrm>
            <a:off x="6848159" y="82536"/>
            <a:ext cx="999895" cy="1353781"/>
          </a:xfrm>
          <a:prstGeom prst="roundRect">
            <a:avLst>
              <a:gd name="adj" fmla="val 8177"/>
            </a:avLst>
          </a:prstGeom>
          <a:solidFill>
            <a:schemeClr val="bg2"/>
          </a:solidFill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3rd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Party API </a:t>
            </a:r>
            <a:r>
              <a:rPr lang="en-US" sz="1100" dirty="0">
                <a:solidFill>
                  <a:schemeClr val="tx1"/>
                </a:solidFill>
              </a:rPr>
              <a:t>Integrations</a:t>
            </a:r>
            <a:endParaRPr lang="en-NZ" sz="1200" dirty="0">
              <a:solidFill>
                <a:schemeClr val="tx1"/>
              </a:solidFill>
            </a:endParaRP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6A15F141-4A65-1DA5-647B-67CAACC0CE1E}"/>
              </a:ext>
            </a:extLst>
          </p:cNvPr>
          <p:cNvGrpSpPr/>
          <p:nvPr/>
        </p:nvGrpSpPr>
        <p:grpSpPr>
          <a:xfrm>
            <a:off x="2839479" y="57744"/>
            <a:ext cx="1483536" cy="1640909"/>
            <a:chOff x="350729" y="2317762"/>
            <a:chExt cx="1483536" cy="1640909"/>
          </a:xfrm>
        </p:grpSpPr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D076736D-64FC-08B2-ACE4-AFB3B917B333}"/>
                </a:ext>
              </a:extLst>
            </p:cNvPr>
            <p:cNvSpPr/>
            <p:nvPr/>
          </p:nvSpPr>
          <p:spPr>
            <a:xfrm>
              <a:off x="1254451" y="3423388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EF31F507-A3A5-0879-59C4-6B2DF161F519}"/>
                </a:ext>
              </a:extLst>
            </p:cNvPr>
            <p:cNvSpPr/>
            <p:nvPr/>
          </p:nvSpPr>
          <p:spPr>
            <a:xfrm>
              <a:off x="772441" y="3415183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1F52BA5F-22A0-4E37-9B2E-CD7BE871A91C}"/>
                </a:ext>
              </a:extLst>
            </p:cNvPr>
            <p:cNvSpPr/>
            <p:nvPr/>
          </p:nvSpPr>
          <p:spPr>
            <a:xfrm>
              <a:off x="350729" y="2342870"/>
              <a:ext cx="1483536" cy="1325733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Web</a:t>
              </a:r>
              <a:br>
                <a:rPr lang="en-US" sz="1200" dirty="0">
                  <a:solidFill>
                    <a:schemeClr val="tx1"/>
                  </a:solidFill>
                </a:rPr>
              </a:br>
              <a:r>
                <a:rPr lang="en-US" sz="1200" dirty="0">
                  <a:solidFill>
                    <a:schemeClr val="tx1"/>
                  </a:solidFill>
                </a:rPr>
                <a:t>Browsers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126" name="Rectangle: Rounded Corners 125">
              <a:extLst>
                <a:ext uri="{FF2B5EF4-FFF2-40B4-BE49-F238E27FC236}">
                  <a16:creationId xmlns:a16="http://schemas.microsoft.com/office/drawing/2014/main" id="{5203ADBF-36B0-41A5-808E-D7DAF9BF826F}"/>
                </a:ext>
              </a:extLst>
            </p:cNvPr>
            <p:cNvSpPr/>
            <p:nvPr/>
          </p:nvSpPr>
          <p:spPr>
            <a:xfrm>
              <a:off x="675540" y="2959621"/>
              <a:ext cx="857947" cy="619153"/>
            </a:xfrm>
            <a:prstGeom prst="roundRect">
              <a:avLst>
                <a:gd name="adj" fmla="val 9701"/>
              </a:avLst>
            </a:prstGeom>
            <a:solidFill>
              <a:srgbClr val="2B2C2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 dirty="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8BE48E9F-D9C9-40D8-92E6-0FB5D1DDB150}"/>
                </a:ext>
              </a:extLst>
            </p:cNvPr>
            <p:cNvSpPr txBox="1"/>
            <p:nvPr/>
          </p:nvSpPr>
          <p:spPr>
            <a:xfrm rot="16200000">
              <a:off x="846371" y="3007412"/>
              <a:ext cx="164090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bg2">
                      <a:lumMod val="50000"/>
                    </a:schemeClr>
                  </a:solidFill>
                </a:rPr>
                <a:t>Chrome,  Firefox, </a:t>
              </a:r>
              <a:r>
                <a:rPr lang="en-US" sz="1050" dirty="0" err="1">
                  <a:solidFill>
                    <a:schemeClr val="bg2">
                      <a:lumMod val="50000"/>
                    </a:schemeClr>
                  </a:solidFill>
                </a:rPr>
                <a:t>etc</a:t>
              </a:r>
              <a:endParaRPr lang="en-NZ" sz="105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pic>
          <p:nvPicPr>
            <p:cNvPr id="1030" name="Picture 6" descr="What is React JS? | Ironhack Blog">
              <a:extLst>
                <a:ext uri="{FF2B5EF4-FFF2-40B4-BE49-F238E27FC236}">
                  <a16:creationId xmlns:a16="http://schemas.microsoft.com/office/drawing/2014/main" id="{4E73A939-500C-05AB-A146-85C38626F2F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3152" y="3124161"/>
              <a:ext cx="725292" cy="3030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79FA3E0-B6D8-0556-107B-35385444F0D1}"/>
              </a:ext>
            </a:extLst>
          </p:cNvPr>
          <p:cNvGrpSpPr/>
          <p:nvPr/>
        </p:nvGrpSpPr>
        <p:grpSpPr>
          <a:xfrm>
            <a:off x="2844095" y="2862345"/>
            <a:ext cx="1640909" cy="1825592"/>
            <a:chOff x="2698105" y="3204588"/>
            <a:chExt cx="1640909" cy="1825592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22D0A4C4-2426-4AF2-AD8F-F95EFF6E0024}"/>
                </a:ext>
              </a:extLst>
            </p:cNvPr>
            <p:cNvSpPr/>
            <p:nvPr/>
          </p:nvSpPr>
          <p:spPr>
            <a:xfrm>
              <a:off x="2698105" y="3204588"/>
              <a:ext cx="1640909" cy="1825592"/>
            </a:xfrm>
            <a:prstGeom prst="roundRect">
              <a:avLst>
                <a:gd name="adj" fmla="val 5101"/>
              </a:avLst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en-US" sz="1200" dirty="0"/>
                <a:t>                  Backend</a:t>
              </a:r>
            </a:p>
            <a:p>
              <a:r>
                <a:rPr lang="en-US" sz="1200" dirty="0"/>
                <a:t>               4FrontEnd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DEFF57D-C769-4C2F-B980-C00D75C9D487}"/>
                </a:ext>
              </a:extLst>
            </p:cNvPr>
            <p:cNvSpPr/>
            <p:nvPr/>
          </p:nvSpPr>
          <p:spPr>
            <a:xfrm rot="5400000">
              <a:off x="3396930" y="3521132"/>
              <a:ext cx="1039660" cy="409138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CSS,JS,HTML</a:t>
              </a:r>
              <a:endParaRPr lang="en-NZ" sz="110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B660F30-5AB5-4A32-BACB-62D8BF91F3CE}"/>
                </a:ext>
              </a:extLst>
            </p:cNvPr>
            <p:cNvSpPr/>
            <p:nvPr/>
          </p:nvSpPr>
          <p:spPr>
            <a:xfrm rot="5400000">
              <a:off x="2582730" y="3493838"/>
              <a:ext cx="1039660" cy="463726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AuthN API</a:t>
              </a:r>
              <a:endParaRPr lang="en-NZ" sz="1200" dirty="0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4D911064-AD93-48F2-9B2E-1D800EBC7E84}"/>
                </a:ext>
              </a:extLst>
            </p:cNvPr>
            <p:cNvSpPr/>
            <p:nvPr/>
          </p:nvSpPr>
          <p:spPr>
            <a:xfrm rot="5400000">
              <a:off x="3001084" y="3535773"/>
              <a:ext cx="1039660" cy="37985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Reverse Proxy</a:t>
              </a:r>
              <a:endParaRPr lang="en-NZ" sz="1200" dirty="0"/>
            </a:p>
          </p:txBody>
        </p:sp>
        <p:pic>
          <p:nvPicPr>
            <p:cNvPr id="1032" name="Picture 8" descr="App Service - Web App | Microsoft Azure Mono">
              <a:extLst>
                <a:ext uri="{FF2B5EF4-FFF2-40B4-BE49-F238E27FC236}">
                  <a16:creationId xmlns:a16="http://schemas.microsoft.com/office/drawing/2014/main" id="{9AC15FE8-F99D-8CB9-C6EC-1AC17FFC97C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78776" y="4523371"/>
              <a:ext cx="450277" cy="4173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91" name="Straight Arrow Connector 29">
            <a:extLst>
              <a:ext uri="{FF2B5EF4-FFF2-40B4-BE49-F238E27FC236}">
                <a16:creationId xmlns:a16="http://schemas.microsoft.com/office/drawing/2014/main" id="{CA0E3A0E-E2D9-A012-7C20-A72902C2AC69}"/>
              </a:ext>
            </a:extLst>
          </p:cNvPr>
          <p:cNvCxnSpPr>
            <a:cxnSpLocks/>
            <a:stCxn id="5" idx="3"/>
            <a:endCxn id="3" idx="3"/>
          </p:cNvCxnSpPr>
          <p:nvPr/>
        </p:nvCxnSpPr>
        <p:spPr>
          <a:xfrm rot="10800000">
            <a:off x="8359009" y="3513183"/>
            <a:ext cx="422053" cy="1037922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9" name="Straight Arrow Connector 38">
            <a:extLst>
              <a:ext uri="{FF2B5EF4-FFF2-40B4-BE49-F238E27FC236}">
                <a16:creationId xmlns:a16="http://schemas.microsoft.com/office/drawing/2014/main" id="{16AA8358-75EE-052F-6D67-CDFCB046DC46}"/>
              </a:ext>
            </a:extLst>
          </p:cNvPr>
          <p:cNvCxnSpPr>
            <a:cxnSpLocks/>
            <a:stCxn id="126" idx="1"/>
            <a:endCxn id="1025" idx="0"/>
          </p:cNvCxnSpPr>
          <p:nvPr/>
        </p:nvCxnSpPr>
        <p:spPr>
          <a:xfrm rot="10800000" flipV="1">
            <a:off x="2008520" y="1009180"/>
            <a:ext cx="1155771" cy="4539826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55" name="TextBox 1054">
            <a:extLst>
              <a:ext uri="{FF2B5EF4-FFF2-40B4-BE49-F238E27FC236}">
                <a16:creationId xmlns:a16="http://schemas.microsoft.com/office/drawing/2014/main" id="{283E1D77-6D8C-B9C0-F44C-1DEF8AD3BB5F}"/>
              </a:ext>
            </a:extLst>
          </p:cNvPr>
          <p:cNvSpPr txBox="1"/>
          <p:nvPr/>
        </p:nvSpPr>
        <p:spPr>
          <a:xfrm>
            <a:off x="3217864" y="2148271"/>
            <a:ext cx="4780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JSON</a:t>
            </a:r>
            <a:endParaRPr lang="en-NZ" sz="1050" dirty="0"/>
          </a:p>
        </p:txBody>
      </p:sp>
      <p:grpSp>
        <p:nvGrpSpPr>
          <p:cNvPr id="1130" name="Group 1129">
            <a:extLst>
              <a:ext uri="{FF2B5EF4-FFF2-40B4-BE49-F238E27FC236}">
                <a16:creationId xmlns:a16="http://schemas.microsoft.com/office/drawing/2014/main" id="{52D7987B-66C6-5675-4218-6479A63309B0}"/>
              </a:ext>
            </a:extLst>
          </p:cNvPr>
          <p:cNvGrpSpPr/>
          <p:nvPr/>
        </p:nvGrpSpPr>
        <p:grpSpPr>
          <a:xfrm>
            <a:off x="8781059" y="4344282"/>
            <a:ext cx="1301653" cy="406788"/>
            <a:chOff x="7156883" y="5814395"/>
            <a:chExt cx="1667634" cy="517641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6B1FF764-C29B-4738-B01A-67A344B8D291}"/>
                </a:ext>
              </a:extLst>
            </p:cNvPr>
            <p:cNvGrpSpPr/>
            <p:nvPr/>
          </p:nvGrpSpPr>
          <p:grpSpPr>
            <a:xfrm>
              <a:off x="7156883" y="5814395"/>
              <a:ext cx="1667634" cy="517641"/>
              <a:chOff x="7656619" y="5506371"/>
              <a:chExt cx="1667634" cy="517641"/>
            </a:xfrm>
          </p:grpSpPr>
          <p:sp>
            <p:nvSpPr>
              <p:cNvPr id="5" name="Cylinder 4">
                <a:extLst>
                  <a:ext uri="{FF2B5EF4-FFF2-40B4-BE49-F238E27FC236}">
                    <a16:creationId xmlns:a16="http://schemas.microsoft.com/office/drawing/2014/main" id="{C05D9611-A4C9-455B-81AB-FE738C6571E7}"/>
                  </a:ext>
                </a:extLst>
              </p:cNvPr>
              <p:cNvSpPr/>
              <p:nvPr/>
            </p:nvSpPr>
            <p:spPr>
              <a:xfrm rot="5400000">
                <a:off x="7543882" y="5627835"/>
                <a:ext cx="508914" cy="283439"/>
              </a:xfrm>
              <a:prstGeom prst="can">
                <a:avLst/>
              </a:prstGeom>
              <a:solidFill>
                <a:srgbClr val="00B4E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2" name="Cylinder 91">
                <a:extLst>
                  <a:ext uri="{FF2B5EF4-FFF2-40B4-BE49-F238E27FC236}">
                    <a16:creationId xmlns:a16="http://schemas.microsoft.com/office/drawing/2014/main" id="{3276A01A-E003-4435-995D-2E583E728730}"/>
                  </a:ext>
                </a:extLst>
              </p:cNvPr>
              <p:cNvSpPr/>
              <p:nvPr/>
            </p:nvSpPr>
            <p:spPr>
              <a:xfrm rot="5400000">
                <a:off x="7872894" y="5627831"/>
                <a:ext cx="508913" cy="283439"/>
              </a:xfrm>
              <a:prstGeom prst="can">
                <a:avLst/>
              </a:prstGeom>
              <a:solidFill>
                <a:srgbClr val="00B4E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3" name="Cylinder 92">
                <a:extLst>
                  <a:ext uri="{FF2B5EF4-FFF2-40B4-BE49-F238E27FC236}">
                    <a16:creationId xmlns:a16="http://schemas.microsoft.com/office/drawing/2014/main" id="{93AEF307-EF82-4715-8ACC-F9382E34DE78}"/>
                  </a:ext>
                </a:extLst>
              </p:cNvPr>
              <p:cNvSpPr/>
              <p:nvPr/>
            </p:nvSpPr>
            <p:spPr>
              <a:xfrm rot="5400000">
                <a:off x="8209897" y="5627834"/>
                <a:ext cx="508913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4" name="Cylinder 93">
                <a:extLst>
                  <a:ext uri="{FF2B5EF4-FFF2-40B4-BE49-F238E27FC236}">
                    <a16:creationId xmlns:a16="http://schemas.microsoft.com/office/drawing/2014/main" id="{737DA5AA-539C-461A-AF11-7D7C3FFCA683}"/>
                  </a:ext>
                </a:extLst>
              </p:cNvPr>
              <p:cNvSpPr/>
              <p:nvPr/>
            </p:nvSpPr>
            <p:spPr>
              <a:xfrm rot="5400000">
                <a:off x="8519833" y="5627834"/>
                <a:ext cx="508912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5" name="Cylinder 94">
                <a:extLst>
                  <a:ext uri="{FF2B5EF4-FFF2-40B4-BE49-F238E27FC236}">
                    <a16:creationId xmlns:a16="http://schemas.microsoft.com/office/drawing/2014/main" id="{429D2594-1BD4-44F7-93F3-0365CDA80D27}"/>
                  </a:ext>
                </a:extLst>
              </p:cNvPr>
              <p:cNvSpPr/>
              <p:nvPr/>
            </p:nvSpPr>
            <p:spPr>
              <a:xfrm rot="5400000">
                <a:off x="8852209" y="5619108"/>
                <a:ext cx="508913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154C6DB7-1B2E-4BF5-812F-948103763CD6}"/>
                  </a:ext>
                </a:extLst>
              </p:cNvPr>
              <p:cNvSpPr txBox="1"/>
              <p:nvPr/>
            </p:nvSpPr>
            <p:spPr>
              <a:xfrm>
                <a:off x="8122229" y="5576118"/>
                <a:ext cx="1202024" cy="313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rPr>
                  <a:t>Bus &amp;Queues</a:t>
                </a:r>
                <a:endParaRPr lang="en-NZ" sz="1050" dirty="0">
                  <a:effectLst>
                    <a:glow rad="101600">
                      <a:schemeClr val="bg1">
                        <a:alpha val="60000"/>
                      </a:schemeClr>
                    </a:glow>
                  </a:effectLst>
                </a:endParaRPr>
              </a:p>
            </p:txBody>
          </p:sp>
        </p:grpSp>
        <p:pic>
          <p:nvPicPr>
            <p:cNvPr id="1059" name="Picture 1058">
              <a:extLst>
                <a:ext uri="{FF2B5EF4-FFF2-40B4-BE49-F238E27FC236}">
                  <a16:creationId xmlns:a16="http://schemas.microsoft.com/office/drawing/2014/main" id="{4A651F1A-229E-CC5A-2403-A85A55ED4A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7236015" y="5920348"/>
              <a:ext cx="348582" cy="317597"/>
            </a:xfrm>
            <a:prstGeom prst="rect">
              <a:avLst/>
            </a:prstGeom>
          </p:spPr>
        </p:pic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51A4B0B-742D-4FF2-AB30-35E80B97B20E}"/>
              </a:ext>
            </a:extLst>
          </p:cNvPr>
          <p:cNvCxnSpPr>
            <a:cxnSpLocks/>
            <a:endCxn id="10" idx="1"/>
          </p:cNvCxnSpPr>
          <p:nvPr/>
        </p:nvCxnSpPr>
        <p:spPr>
          <a:xfrm rot="16200000" flipH="1">
            <a:off x="3178175" y="1979053"/>
            <a:ext cx="1562884" cy="206266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399CA70-A060-4B70-8511-F58E5877045C}"/>
              </a:ext>
            </a:extLst>
          </p:cNvPr>
          <p:cNvCxnSpPr>
            <a:cxnSpLocks/>
            <a:stCxn id="127" idx="4"/>
            <a:endCxn id="11" idx="1"/>
          </p:cNvCxnSpPr>
          <p:nvPr/>
        </p:nvCxnSpPr>
        <p:spPr>
          <a:xfrm rot="5400000">
            <a:off x="2509824" y="2039471"/>
            <a:ext cx="1562884" cy="8543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accent5">
                <a:lumMod val="50000"/>
              </a:schemeClr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7" name="Straight Arrow Connector 38">
            <a:extLst>
              <a:ext uri="{FF2B5EF4-FFF2-40B4-BE49-F238E27FC236}">
                <a16:creationId xmlns:a16="http://schemas.microsoft.com/office/drawing/2014/main" id="{5977C817-6F2D-46F1-95D4-88280A372297}"/>
              </a:ext>
            </a:extLst>
          </p:cNvPr>
          <p:cNvCxnSpPr>
            <a:cxnSpLocks/>
            <a:stCxn id="126" idx="2"/>
            <a:endCxn id="56" idx="1"/>
          </p:cNvCxnSpPr>
          <p:nvPr/>
        </p:nvCxnSpPr>
        <p:spPr>
          <a:xfrm rot="16200000" flipH="1">
            <a:off x="2857648" y="2054372"/>
            <a:ext cx="1544873" cy="73640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116" name="Group 1115">
            <a:extLst>
              <a:ext uri="{FF2B5EF4-FFF2-40B4-BE49-F238E27FC236}">
                <a16:creationId xmlns:a16="http://schemas.microsoft.com/office/drawing/2014/main" id="{35C19940-940A-A1A0-8DB5-FE35D35F6577}"/>
              </a:ext>
            </a:extLst>
          </p:cNvPr>
          <p:cNvGrpSpPr/>
          <p:nvPr/>
        </p:nvGrpSpPr>
        <p:grpSpPr>
          <a:xfrm>
            <a:off x="5146016" y="2239419"/>
            <a:ext cx="3212992" cy="2454639"/>
            <a:chOff x="6385557" y="1575627"/>
            <a:chExt cx="3212992" cy="2454639"/>
          </a:xfrm>
        </p:grpSpPr>
        <p:sp>
          <p:nvSpPr>
            <p:cNvPr id="1049" name="Oval 1048">
              <a:extLst>
                <a:ext uri="{FF2B5EF4-FFF2-40B4-BE49-F238E27FC236}">
                  <a16:creationId xmlns:a16="http://schemas.microsoft.com/office/drawing/2014/main" id="{410C30EB-4ADA-89FD-15B7-BF7F008DA1F5}"/>
                </a:ext>
              </a:extLst>
            </p:cNvPr>
            <p:cNvSpPr/>
            <p:nvPr/>
          </p:nvSpPr>
          <p:spPr>
            <a:xfrm>
              <a:off x="7870866" y="1644358"/>
              <a:ext cx="227313" cy="227313"/>
            </a:xfrm>
            <a:prstGeom prst="ellipse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61C2E7D4-D996-FB5C-BA2F-7A14D9325855}"/>
                </a:ext>
              </a:extLst>
            </p:cNvPr>
            <p:cNvSpPr/>
            <p:nvPr/>
          </p:nvSpPr>
          <p:spPr>
            <a:xfrm>
              <a:off x="7833372" y="2052207"/>
              <a:ext cx="175950" cy="175950"/>
            </a:xfrm>
            <a:prstGeom prst="ellipse">
              <a:avLst/>
            </a:prstGeom>
            <a:solidFill>
              <a:srgbClr val="0078D7"/>
            </a:solidFill>
            <a:ln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dirty="0"/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7473CE81-DD1B-2B5A-8654-54F889646FE0}"/>
                </a:ext>
              </a:extLst>
            </p:cNvPr>
            <p:cNvSpPr/>
            <p:nvPr/>
          </p:nvSpPr>
          <p:spPr>
            <a:xfrm>
              <a:off x="6390891" y="2888111"/>
              <a:ext cx="175950" cy="17595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A7D40E5A-83F0-BB2A-061D-366EC6EFE931}"/>
                </a:ext>
              </a:extLst>
            </p:cNvPr>
            <p:cNvSpPr/>
            <p:nvPr/>
          </p:nvSpPr>
          <p:spPr>
            <a:xfrm>
              <a:off x="6397527" y="3455086"/>
              <a:ext cx="175950" cy="17595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0CF88265-2857-4675-9232-BD2B84E9E536}"/>
                </a:ext>
              </a:extLst>
            </p:cNvPr>
            <p:cNvSpPr/>
            <p:nvPr/>
          </p:nvSpPr>
          <p:spPr>
            <a:xfrm>
              <a:off x="6385557" y="1668515"/>
              <a:ext cx="3212992" cy="2361751"/>
            </a:xfrm>
            <a:prstGeom prst="roundRect">
              <a:avLst>
                <a:gd name="adj" fmla="val 4576"/>
              </a:avLst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en-US" sz="1200" dirty="0"/>
                <a:t>              </a:t>
              </a:r>
              <a:r>
                <a:rPr lang="en-US" sz="1200" dirty="0" err="1"/>
                <a:t>BackEnd</a:t>
              </a:r>
              <a:r>
                <a:rPr lang="en-US" sz="1200" dirty="0"/>
                <a:t> API</a:t>
              </a:r>
            </a:p>
            <a:p>
              <a:r>
                <a:rPr lang="en-US" sz="800" dirty="0"/>
                <a:t>                      (</a:t>
              </a:r>
              <a:r>
                <a:rPr lang="en-US" sz="800" dirty="0">
                  <a:solidFill>
                    <a:schemeClr val="bg1">
                      <a:lumMod val="85000"/>
                    </a:schemeClr>
                  </a:solidFill>
                  <a:latin typeface="Simplified Arabic Fixed" panose="02070309020205020404" pitchFamily="49" charset="-78"/>
                  <a:cs typeface="Simplified Arabic Fixed" panose="02070309020205020404" pitchFamily="49" charset="-78"/>
                </a:rPr>
                <a:t>Modular Monolith</a:t>
              </a:r>
              <a:r>
                <a:rPr lang="en-US" sz="800" dirty="0"/>
                <a:t>)</a:t>
              </a:r>
              <a:endParaRPr lang="en-NZ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66ED815D-E7F7-6E65-52B7-2778D1CF4873}"/>
                </a:ext>
              </a:extLst>
            </p:cNvPr>
            <p:cNvSpPr/>
            <p:nvPr/>
          </p:nvSpPr>
          <p:spPr>
            <a:xfrm>
              <a:off x="7954608" y="1575627"/>
              <a:ext cx="175950" cy="175950"/>
            </a:xfrm>
            <a:prstGeom prst="ellipse">
              <a:avLst/>
            </a:prstGeom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EEFDF9C-F183-4E96-90CA-DEAE06BB9382}"/>
                </a:ext>
              </a:extLst>
            </p:cNvPr>
            <p:cNvSpPr/>
            <p:nvPr/>
          </p:nvSpPr>
          <p:spPr>
            <a:xfrm rot="5400000">
              <a:off x="6148670" y="2452453"/>
              <a:ext cx="1237773" cy="59363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  Product Specific APIs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FAF7121-EDDA-4DCF-8AB1-ADCA48651E99}"/>
                </a:ext>
              </a:extLst>
            </p:cNvPr>
            <p:cNvSpPr/>
            <p:nvPr/>
          </p:nvSpPr>
          <p:spPr>
            <a:xfrm rot="5400000">
              <a:off x="6914468" y="2600854"/>
              <a:ext cx="1237772" cy="296833"/>
            </a:xfrm>
            <a:prstGeom prst="rect">
              <a:avLst/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2">
                      <a:lumMod val="25000"/>
                    </a:schemeClr>
                  </a:solidFill>
                </a:rPr>
                <a:t>Subscription</a:t>
              </a:r>
              <a:r>
                <a:rPr lang="en-US" sz="1200" dirty="0"/>
                <a:t> </a:t>
              </a:r>
              <a:r>
                <a:rPr lang="en-US" sz="1200" dirty="0">
                  <a:solidFill>
                    <a:schemeClr val="bg2">
                      <a:lumMod val="25000"/>
                    </a:schemeClr>
                  </a:solidFill>
                </a:rPr>
                <a:t>API</a:t>
              </a:r>
              <a:endParaRPr lang="en-NZ" sz="12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0E7A885-C86F-47E1-9893-E63DEDC0EEAF}"/>
                </a:ext>
              </a:extLst>
            </p:cNvPr>
            <p:cNvSpPr/>
            <p:nvPr/>
          </p:nvSpPr>
          <p:spPr>
            <a:xfrm rot="5400000">
              <a:off x="7215035" y="2600854"/>
              <a:ext cx="1237772" cy="296833"/>
            </a:xfrm>
            <a:prstGeom prst="rect">
              <a:avLst/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bg2">
                      <a:lumMod val="25000"/>
                    </a:schemeClr>
                  </a:solidFill>
                </a:rPr>
                <a:t>UserProfile</a:t>
              </a:r>
              <a:r>
                <a:rPr lang="en-US" sz="1200" dirty="0">
                  <a:solidFill>
                    <a:schemeClr val="bg2">
                      <a:lumMod val="25000"/>
                    </a:schemeClr>
                  </a:solidFill>
                </a:rPr>
                <a:t> API</a:t>
              </a:r>
              <a:endParaRPr lang="en-NZ" sz="12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4DCC080-DF09-416A-924D-2B614F317884}"/>
                </a:ext>
              </a:extLst>
            </p:cNvPr>
            <p:cNvSpPr/>
            <p:nvPr/>
          </p:nvSpPr>
          <p:spPr>
            <a:xfrm rot="5400000">
              <a:off x="7542111" y="2572633"/>
              <a:ext cx="1237772" cy="353274"/>
            </a:xfrm>
            <a:prstGeom prst="rect">
              <a:avLst/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bg2">
                      <a:lumMod val="25000"/>
                    </a:schemeClr>
                  </a:solidFill>
                </a:rPr>
                <a:t>EndUser</a:t>
              </a:r>
              <a:r>
                <a:rPr lang="en-US" sz="1200" dirty="0">
                  <a:solidFill>
                    <a:schemeClr val="bg2">
                      <a:lumMod val="25000"/>
                    </a:schemeClr>
                  </a:solidFill>
                </a:rPr>
                <a:t> API</a:t>
              </a:r>
              <a:endParaRPr lang="en-NZ" sz="12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7323949-A812-47EC-A589-01F361E0AB6B}"/>
                </a:ext>
              </a:extLst>
            </p:cNvPr>
            <p:cNvSpPr/>
            <p:nvPr/>
          </p:nvSpPr>
          <p:spPr>
            <a:xfrm rot="5400000">
              <a:off x="8682650" y="2525712"/>
              <a:ext cx="1236528" cy="445873"/>
            </a:xfrm>
            <a:prstGeom prst="rect">
              <a:avLst/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2">
                      <a:lumMod val="25000"/>
                    </a:schemeClr>
                  </a:solidFill>
                </a:rPr>
                <a:t>Ancillary API</a:t>
              </a:r>
              <a:endParaRPr lang="en-NZ" sz="12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1891B7E-0E51-466C-96CF-29970B10EFA1}"/>
                </a:ext>
              </a:extLst>
            </p:cNvPr>
            <p:cNvSpPr/>
            <p:nvPr/>
          </p:nvSpPr>
          <p:spPr>
            <a:xfrm rot="5400000">
              <a:off x="6602651" y="2592108"/>
              <a:ext cx="1237679" cy="314232"/>
            </a:xfrm>
            <a:prstGeom prst="rect">
              <a:avLst/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2">
                      <a:lumMod val="25000"/>
                    </a:schemeClr>
                  </a:solidFill>
                </a:rPr>
                <a:t>Identity API</a:t>
              </a:r>
              <a:endParaRPr lang="en-NZ" sz="12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0FD1454-E5E9-4812-868B-99F448ED04B0}"/>
                </a:ext>
              </a:extLst>
            </p:cNvPr>
            <p:cNvSpPr/>
            <p:nvPr/>
          </p:nvSpPr>
          <p:spPr>
            <a:xfrm rot="16200000">
              <a:off x="7762979" y="369425"/>
              <a:ext cx="467847" cy="30562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r>
                <a:rPr lang="en-US" dirty="0"/>
                <a:t>API Gateway</a:t>
              </a:r>
              <a:endParaRPr lang="en-NZ" dirty="0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44C5CFFB-1FA6-24C4-6C25-D1488EFC8C22}"/>
                </a:ext>
              </a:extLst>
            </p:cNvPr>
            <p:cNvSpPr/>
            <p:nvPr/>
          </p:nvSpPr>
          <p:spPr>
            <a:xfrm rot="5400000">
              <a:off x="7904921" y="2566490"/>
              <a:ext cx="1237680" cy="365469"/>
            </a:xfrm>
            <a:prstGeom prst="rect">
              <a:avLst/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2">
                      <a:lumMod val="25000"/>
                    </a:schemeClr>
                  </a:solidFill>
                </a:rPr>
                <a:t>Organization  API</a:t>
              </a:r>
              <a:endParaRPr lang="en-NZ" sz="12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pic>
          <p:nvPicPr>
            <p:cNvPr id="87" name="Picture 8" descr="App Service - Web App | Microsoft Azure Mono">
              <a:extLst>
                <a:ext uri="{FF2B5EF4-FFF2-40B4-BE49-F238E27FC236}">
                  <a16:creationId xmlns:a16="http://schemas.microsoft.com/office/drawing/2014/main" id="{3E3D5989-72A0-2355-87C0-6ED86C8EBA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68801" y="3480050"/>
              <a:ext cx="450277" cy="4502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05" name="Rectangle 1104">
              <a:extLst>
                <a:ext uri="{FF2B5EF4-FFF2-40B4-BE49-F238E27FC236}">
                  <a16:creationId xmlns:a16="http://schemas.microsoft.com/office/drawing/2014/main" id="{DB3464EC-EFA8-DB75-4DB6-B95D7AF41B6A}"/>
                </a:ext>
              </a:extLst>
            </p:cNvPr>
            <p:cNvSpPr/>
            <p:nvPr/>
          </p:nvSpPr>
          <p:spPr>
            <a:xfrm rot="5400000">
              <a:off x="8272457" y="2566490"/>
              <a:ext cx="1237680" cy="365469"/>
            </a:xfrm>
            <a:prstGeom prst="rect">
              <a:avLst/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2">
                      <a:lumMod val="25000"/>
                    </a:schemeClr>
                  </a:solidFill>
                </a:rPr>
                <a:t>Image API</a:t>
              </a:r>
              <a:endParaRPr lang="en-NZ" sz="12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DA08A5B-CEA6-4501-B565-49E93450C357}"/>
              </a:ext>
            </a:extLst>
          </p:cNvPr>
          <p:cNvCxnSpPr>
            <a:cxnSpLocks/>
            <a:stCxn id="55" idx="2"/>
            <a:endCxn id="53" idx="2"/>
          </p:cNvCxnSpPr>
          <p:nvPr/>
        </p:nvCxnSpPr>
        <p:spPr>
          <a:xfrm>
            <a:off x="5674889" y="1436633"/>
            <a:ext cx="1040178" cy="89076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5BD7101-4650-48C8-B739-FACCCFD8F40A}"/>
              </a:ext>
            </a:extLst>
          </p:cNvPr>
          <p:cNvCxnSpPr>
            <a:cxnSpLocks/>
            <a:stCxn id="56" idx="3"/>
            <a:endCxn id="53" idx="1"/>
          </p:cNvCxnSpPr>
          <p:nvPr/>
        </p:nvCxnSpPr>
        <p:spPr>
          <a:xfrm rot="5400000" flipH="1" flipV="1">
            <a:off x="4384817" y="1547273"/>
            <a:ext cx="1638103" cy="3073930"/>
          </a:xfrm>
          <a:prstGeom prst="bentConnector5">
            <a:avLst>
              <a:gd name="adj1" fmla="val -20933"/>
              <a:gd name="adj2" fmla="val 39444"/>
              <a:gd name="adj3" fmla="val 111629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6F0DD28-A134-4C59-BBCA-3C72EA3ACF6A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rot="5400000" flipH="1" flipV="1">
            <a:off x="4060694" y="1982033"/>
            <a:ext cx="1109111" cy="2733400"/>
          </a:xfrm>
          <a:prstGeom prst="bentConnector5">
            <a:avLst>
              <a:gd name="adj1" fmla="val -20611"/>
              <a:gd name="adj2" fmla="val 48189"/>
              <a:gd name="adj3" fmla="val 120611"/>
            </a:avLst>
          </a:prstGeom>
          <a:ln w="19050" cap="flat" cmpd="sng" algn="ctr">
            <a:solidFill>
              <a:schemeClr val="accent5">
                <a:lumMod val="50000"/>
              </a:schemeClr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56" name="Straight Arrow Connector 65">
            <a:extLst>
              <a:ext uri="{FF2B5EF4-FFF2-40B4-BE49-F238E27FC236}">
                <a16:creationId xmlns:a16="http://schemas.microsoft.com/office/drawing/2014/main" id="{7E583BB9-4B97-ACE4-B2B2-4A6857AA9C34}"/>
              </a:ext>
            </a:extLst>
          </p:cNvPr>
          <p:cNvCxnSpPr>
            <a:cxnSpLocks/>
            <a:stCxn id="69" idx="2"/>
            <a:endCxn id="53" idx="7"/>
          </p:cNvCxnSpPr>
          <p:nvPr/>
        </p:nvCxnSpPr>
        <p:spPr>
          <a:xfrm flipH="1">
            <a:off x="6865250" y="1436317"/>
            <a:ext cx="482857" cy="82886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4" name="Straight Arrow Connector 29">
            <a:extLst>
              <a:ext uri="{FF2B5EF4-FFF2-40B4-BE49-F238E27FC236}">
                <a16:creationId xmlns:a16="http://schemas.microsoft.com/office/drawing/2014/main" id="{0D4C409C-AD00-4B91-9D76-ADDF89072338}"/>
              </a:ext>
            </a:extLst>
          </p:cNvPr>
          <p:cNvCxnSpPr>
            <a:cxnSpLocks/>
            <a:stCxn id="16" idx="1"/>
            <a:endCxn id="4" idx="3"/>
          </p:cNvCxnSpPr>
          <p:nvPr/>
        </p:nvCxnSpPr>
        <p:spPr>
          <a:xfrm rot="16200000" flipH="1">
            <a:off x="8658410" y="2197139"/>
            <a:ext cx="1756925" cy="2951000"/>
          </a:xfrm>
          <a:prstGeom prst="bentConnector4">
            <a:avLst>
              <a:gd name="adj1" fmla="val -51772"/>
              <a:gd name="adj2" fmla="val 107747"/>
            </a:avLst>
          </a:prstGeom>
          <a:ln w="19050" cap="flat" cmpd="sng" algn="ctr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Straight Arrow Connector 29">
            <a:extLst>
              <a:ext uri="{FF2B5EF4-FFF2-40B4-BE49-F238E27FC236}">
                <a16:creationId xmlns:a16="http://schemas.microsoft.com/office/drawing/2014/main" id="{E7AEF456-6844-42C3-8A49-721AB56805BC}"/>
              </a:ext>
            </a:extLst>
          </p:cNvPr>
          <p:cNvCxnSpPr>
            <a:cxnSpLocks/>
            <a:stCxn id="1029" idx="0"/>
            <a:endCxn id="16" idx="3"/>
          </p:cNvCxnSpPr>
          <p:nvPr/>
        </p:nvCxnSpPr>
        <p:spPr>
          <a:xfrm rot="5400000" flipH="1" flipV="1">
            <a:off x="6165757" y="3337525"/>
            <a:ext cx="1202436" cy="2588796"/>
          </a:xfrm>
          <a:prstGeom prst="bentConnector3">
            <a:avLst>
              <a:gd name="adj1" fmla="val 39966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2" name="Straight Arrow Connector 29">
            <a:extLst>
              <a:ext uri="{FF2B5EF4-FFF2-40B4-BE49-F238E27FC236}">
                <a16:creationId xmlns:a16="http://schemas.microsoft.com/office/drawing/2014/main" id="{5C61B3D3-9190-4FC6-9062-1FE30696ABF6}"/>
              </a:ext>
            </a:extLst>
          </p:cNvPr>
          <p:cNvCxnSpPr>
            <a:cxnSpLocks/>
            <a:stCxn id="121" idx="0"/>
            <a:endCxn id="16" idx="3"/>
          </p:cNvCxnSpPr>
          <p:nvPr/>
        </p:nvCxnSpPr>
        <p:spPr>
          <a:xfrm rot="5400000" flipH="1" flipV="1">
            <a:off x="6775949" y="3896772"/>
            <a:ext cx="1151491" cy="1419358"/>
          </a:xfrm>
          <a:prstGeom prst="bentConnector3">
            <a:avLst>
              <a:gd name="adj1" fmla="val 63786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8" name="Straight Arrow Connector 29">
            <a:extLst>
              <a:ext uri="{FF2B5EF4-FFF2-40B4-BE49-F238E27FC236}">
                <a16:creationId xmlns:a16="http://schemas.microsoft.com/office/drawing/2014/main" id="{B57B1AB6-762F-E3A7-D8D5-CFEEA822C506}"/>
              </a:ext>
            </a:extLst>
          </p:cNvPr>
          <p:cNvCxnSpPr>
            <a:cxnSpLocks/>
            <a:stCxn id="1036" idx="0"/>
            <a:endCxn id="16" idx="3"/>
          </p:cNvCxnSpPr>
          <p:nvPr/>
        </p:nvCxnSpPr>
        <p:spPr>
          <a:xfrm rot="5400000" flipH="1" flipV="1">
            <a:off x="5645036" y="2696986"/>
            <a:ext cx="1082617" cy="3750057"/>
          </a:xfrm>
          <a:prstGeom prst="bentConnector3">
            <a:avLst>
              <a:gd name="adj1" fmla="val 24779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3" name="Straight Arrow Connector 29">
            <a:extLst>
              <a:ext uri="{FF2B5EF4-FFF2-40B4-BE49-F238E27FC236}">
                <a16:creationId xmlns:a16="http://schemas.microsoft.com/office/drawing/2014/main" id="{81F4B5EE-1533-41C0-5AE5-E444238E30DC}"/>
              </a:ext>
            </a:extLst>
          </p:cNvPr>
          <p:cNvCxnSpPr>
            <a:cxnSpLocks/>
            <a:stCxn id="35" idx="0"/>
            <a:endCxn id="13" idx="3"/>
          </p:cNvCxnSpPr>
          <p:nvPr/>
        </p:nvCxnSpPr>
        <p:spPr>
          <a:xfrm rot="5400000" flipH="1" flipV="1">
            <a:off x="4139694" y="3060952"/>
            <a:ext cx="1183121" cy="3125117"/>
          </a:xfrm>
          <a:prstGeom prst="bentConnector3">
            <a:avLst>
              <a:gd name="adj1" fmla="val 41949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8" name="Straight Arrow Connector 29">
            <a:extLst>
              <a:ext uri="{FF2B5EF4-FFF2-40B4-BE49-F238E27FC236}">
                <a16:creationId xmlns:a16="http://schemas.microsoft.com/office/drawing/2014/main" id="{92039A90-69A3-49FA-B43C-57164F95C561}"/>
              </a:ext>
            </a:extLst>
          </p:cNvPr>
          <p:cNvCxnSpPr>
            <a:cxnSpLocks/>
            <a:stCxn id="1027" idx="0"/>
            <a:endCxn id="14" idx="3"/>
          </p:cNvCxnSpPr>
          <p:nvPr/>
        </p:nvCxnSpPr>
        <p:spPr>
          <a:xfrm rot="16200000" flipV="1">
            <a:off x="6449956" y="4176374"/>
            <a:ext cx="1472361" cy="1183512"/>
          </a:xfrm>
          <a:prstGeom prst="bentConnector3">
            <a:avLst>
              <a:gd name="adj1" fmla="val 75014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Straight Arrow Connector 29">
            <a:extLst>
              <a:ext uri="{FF2B5EF4-FFF2-40B4-BE49-F238E27FC236}">
                <a16:creationId xmlns:a16="http://schemas.microsoft.com/office/drawing/2014/main" id="{C3A3AF8E-D814-8C67-469E-CF0847F5F098}"/>
              </a:ext>
            </a:extLst>
          </p:cNvPr>
          <p:cNvCxnSpPr>
            <a:cxnSpLocks/>
            <a:stCxn id="13" idx="1"/>
            <a:endCxn id="1215" idx="3"/>
          </p:cNvCxnSpPr>
          <p:nvPr/>
        </p:nvCxnSpPr>
        <p:spPr>
          <a:xfrm rot="16200000" flipH="1" flipV="1">
            <a:off x="3461787" y="2056634"/>
            <a:ext cx="2094484" cy="3569569"/>
          </a:xfrm>
          <a:prstGeom prst="bentConnector3">
            <a:avLst>
              <a:gd name="adj1" fmla="val -17254"/>
            </a:avLst>
          </a:prstGeom>
          <a:ln w="19050" cap="flat" cmpd="sng" algn="ctr">
            <a:solidFill>
              <a:schemeClr val="tx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17" name="TextBox 1216">
            <a:extLst>
              <a:ext uri="{FF2B5EF4-FFF2-40B4-BE49-F238E27FC236}">
                <a16:creationId xmlns:a16="http://schemas.microsoft.com/office/drawing/2014/main" id="{E949F42A-A49D-9D54-30A5-0F2AF9AA8E33}"/>
              </a:ext>
            </a:extLst>
          </p:cNvPr>
          <p:cNvSpPr txBox="1"/>
          <p:nvPr/>
        </p:nvSpPr>
        <p:spPr>
          <a:xfrm>
            <a:off x="8526048" y="4177876"/>
            <a:ext cx="161454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/>
              <a:t>+Emails/Audits/Usages/Events</a:t>
            </a:r>
          </a:p>
        </p:txBody>
      </p:sp>
      <p:grpSp>
        <p:nvGrpSpPr>
          <p:cNvPr id="1132" name="Group 1131">
            <a:extLst>
              <a:ext uri="{FF2B5EF4-FFF2-40B4-BE49-F238E27FC236}">
                <a16:creationId xmlns:a16="http://schemas.microsoft.com/office/drawing/2014/main" id="{ADE85CB1-1125-B7A4-CF5B-2BEEB58F7088}"/>
              </a:ext>
            </a:extLst>
          </p:cNvPr>
          <p:cNvGrpSpPr/>
          <p:nvPr/>
        </p:nvGrpSpPr>
        <p:grpSpPr>
          <a:xfrm>
            <a:off x="10053073" y="4351137"/>
            <a:ext cx="959300" cy="399929"/>
            <a:chOff x="7334798" y="4191253"/>
            <a:chExt cx="959300" cy="399929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87DB88F7-B005-4833-93DC-7D6D49AB96EB}"/>
                </a:ext>
              </a:extLst>
            </p:cNvPr>
            <p:cNvSpPr/>
            <p:nvPr/>
          </p:nvSpPr>
          <p:spPr>
            <a:xfrm>
              <a:off x="7334798" y="4191253"/>
              <a:ext cx="959300" cy="399929"/>
            </a:xfrm>
            <a:prstGeom prst="roundRect">
              <a:avLst>
                <a:gd name="adj" fmla="val 6468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100" dirty="0">
                  <a:solidFill>
                    <a:schemeClr val="tx1"/>
                  </a:solidFill>
                </a:rPr>
                <a:t>Functions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pic>
          <p:nvPicPr>
            <p:cNvPr id="1028" name="Picture 4" descr="Azure Functions (@AzureFunctions) / Twitter">
              <a:extLst>
                <a:ext uri="{FF2B5EF4-FFF2-40B4-BE49-F238E27FC236}">
                  <a16:creationId xmlns:a16="http://schemas.microsoft.com/office/drawing/2014/main" id="{A8730DBE-6667-711C-9AB8-C8BA4600E3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64438" y="4251747"/>
              <a:ext cx="278939" cy="2789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70" name="Straight Arrow Connector 29">
            <a:extLst>
              <a:ext uri="{FF2B5EF4-FFF2-40B4-BE49-F238E27FC236}">
                <a16:creationId xmlns:a16="http://schemas.microsoft.com/office/drawing/2014/main" id="{851C2095-F713-4951-80B9-7DE650037746}"/>
              </a:ext>
            </a:extLst>
          </p:cNvPr>
          <p:cNvCxnSpPr>
            <a:cxnSpLocks/>
            <a:stCxn id="20" idx="1"/>
            <a:endCxn id="3" idx="3"/>
          </p:cNvCxnSpPr>
          <p:nvPr/>
        </p:nvCxnSpPr>
        <p:spPr>
          <a:xfrm rot="10800000" flipV="1">
            <a:off x="8359009" y="2791775"/>
            <a:ext cx="418537" cy="721407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3" name="Straight Arrow Connector 29">
            <a:extLst>
              <a:ext uri="{FF2B5EF4-FFF2-40B4-BE49-F238E27FC236}">
                <a16:creationId xmlns:a16="http://schemas.microsoft.com/office/drawing/2014/main" id="{F07E4B6B-D255-479C-B90B-FCAC77695863}"/>
              </a:ext>
            </a:extLst>
          </p:cNvPr>
          <p:cNvCxnSpPr>
            <a:cxnSpLocks/>
            <a:stCxn id="21" idx="1"/>
            <a:endCxn id="3" idx="3"/>
          </p:cNvCxnSpPr>
          <p:nvPr/>
        </p:nvCxnSpPr>
        <p:spPr>
          <a:xfrm rot="10800000" flipV="1">
            <a:off x="8359009" y="3346733"/>
            <a:ext cx="418537" cy="166449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16" name="TextBox 1315">
            <a:extLst>
              <a:ext uri="{FF2B5EF4-FFF2-40B4-BE49-F238E27FC236}">
                <a16:creationId xmlns:a16="http://schemas.microsoft.com/office/drawing/2014/main" id="{16EBEA88-F71A-A8EA-9DEE-E009F0D06DA6}"/>
              </a:ext>
            </a:extLst>
          </p:cNvPr>
          <p:cNvSpPr txBox="1"/>
          <p:nvPr/>
        </p:nvSpPr>
        <p:spPr>
          <a:xfrm rot="5400000">
            <a:off x="10551816" y="3714843"/>
            <a:ext cx="16241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/>
              <a:t>+Emails / Usages / Audits</a:t>
            </a:r>
          </a:p>
        </p:txBody>
      </p:sp>
      <p:sp>
        <p:nvSpPr>
          <p:cNvPr id="1324" name="TextBox 1323">
            <a:extLst>
              <a:ext uri="{FF2B5EF4-FFF2-40B4-BE49-F238E27FC236}">
                <a16:creationId xmlns:a16="http://schemas.microsoft.com/office/drawing/2014/main" id="{A96E8ED6-6D5A-C0AF-D8FA-C10877650BBE}"/>
              </a:ext>
            </a:extLst>
          </p:cNvPr>
          <p:cNvSpPr txBox="1"/>
          <p:nvPr/>
        </p:nvSpPr>
        <p:spPr>
          <a:xfrm rot="16200000">
            <a:off x="1381788" y="1407453"/>
            <a:ext cx="104227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/>
              <a:t>+ Card Capture</a:t>
            </a:r>
          </a:p>
        </p:txBody>
      </p:sp>
      <p:cxnSp>
        <p:nvCxnSpPr>
          <p:cNvPr id="1332" name="Straight Arrow Connector 29">
            <a:extLst>
              <a:ext uri="{FF2B5EF4-FFF2-40B4-BE49-F238E27FC236}">
                <a16:creationId xmlns:a16="http://schemas.microsoft.com/office/drawing/2014/main" id="{C83D361B-B069-62E8-79D7-4ED751FF3041}"/>
              </a:ext>
            </a:extLst>
          </p:cNvPr>
          <p:cNvCxnSpPr>
            <a:cxnSpLocks/>
            <a:stCxn id="43" idx="1"/>
            <a:endCxn id="55" idx="3"/>
          </p:cNvCxnSpPr>
          <p:nvPr/>
        </p:nvCxnSpPr>
        <p:spPr>
          <a:xfrm flipH="1" flipV="1">
            <a:off x="6048785" y="759743"/>
            <a:ext cx="2839096" cy="1532248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4DDF4498-7562-5436-BE07-A53B0F8B791C}"/>
              </a:ext>
            </a:extLst>
          </p:cNvPr>
          <p:cNvSpPr/>
          <p:nvPr/>
        </p:nvSpPr>
        <p:spPr>
          <a:xfrm>
            <a:off x="8777545" y="2533772"/>
            <a:ext cx="2234828" cy="5160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Events</a:t>
            </a:r>
          </a:p>
          <a:p>
            <a:pPr algn="r"/>
            <a:r>
              <a:rPr lang="en-NZ" sz="700" dirty="0">
                <a:solidFill>
                  <a:schemeClr val="bg2">
                    <a:lumMod val="75000"/>
                  </a:schemeClr>
                </a:solidFill>
              </a:rPr>
              <a:t>(Events)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25242BC-5250-0A70-4E64-88100FFF98BE}"/>
              </a:ext>
            </a:extLst>
          </p:cNvPr>
          <p:cNvSpPr/>
          <p:nvPr/>
        </p:nvSpPr>
        <p:spPr>
          <a:xfrm>
            <a:off x="8777545" y="3088730"/>
            <a:ext cx="2234828" cy="5160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Data</a:t>
            </a:r>
          </a:p>
          <a:p>
            <a:pPr algn="r"/>
            <a:r>
              <a:rPr lang="en-NZ" sz="800" dirty="0">
                <a:solidFill>
                  <a:schemeClr val="bg2">
                    <a:lumMod val="75000"/>
                  </a:schemeClr>
                </a:solidFill>
              </a:rPr>
              <a:t>(State)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CEFA06F-FCFA-4312-4D5B-4DFE12C03741}"/>
              </a:ext>
            </a:extLst>
          </p:cNvPr>
          <p:cNvSpPr/>
          <p:nvPr/>
        </p:nvSpPr>
        <p:spPr>
          <a:xfrm>
            <a:off x="8777545" y="3645850"/>
            <a:ext cx="2234828" cy="5160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Blobs</a:t>
            </a:r>
          </a:p>
          <a:p>
            <a:pPr algn="r"/>
            <a:r>
              <a:rPr lang="en-NZ" sz="700" dirty="0">
                <a:solidFill>
                  <a:schemeClr val="bg2">
                    <a:lumMod val="75000"/>
                  </a:schemeClr>
                </a:solidFill>
              </a:rPr>
              <a:t>(Images, Binaries)</a:t>
            </a:r>
          </a:p>
        </p:txBody>
      </p: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1AADD68D-B8BF-705D-BF3A-86A68C65E709}"/>
              </a:ext>
            </a:extLst>
          </p:cNvPr>
          <p:cNvGrpSpPr/>
          <p:nvPr/>
        </p:nvGrpSpPr>
        <p:grpSpPr>
          <a:xfrm>
            <a:off x="8887881" y="2132396"/>
            <a:ext cx="1058195" cy="319189"/>
            <a:chOff x="1484389" y="5783642"/>
            <a:chExt cx="2243283" cy="442298"/>
          </a:xfrm>
        </p:grpSpPr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206C0A55-CE59-6CA6-3B28-9ACEFE74BDE8}"/>
                </a:ext>
              </a:extLst>
            </p:cNvPr>
            <p:cNvSpPr/>
            <p:nvPr/>
          </p:nvSpPr>
          <p:spPr>
            <a:xfrm>
              <a:off x="1484389" y="5783642"/>
              <a:ext cx="2243283" cy="442298"/>
            </a:xfrm>
            <a:prstGeom prst="roundRect">
              <a:avLst>
                <a:gd name="adj" fmla="val 4751"/>
              </a:avLst>
            </a:prstGeom>
            <a:solidFill>
              <a:srgbClr val="651F74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NZ" sz="1100" dirty="0"/>
                <a:t>App Insights </a:t>
              </a:r>
            </a:p>
          </p:txBody>
        </p:sp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FBAB9EFA-356D-7160-7977-8A249EA2A9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1581685" y="5883792"/>
              <a:ext cx="290502" cy="240278"/>
            </a:xfrm>
            <a:prstGeom prst="rect">
              <a:avLst/>
            </a:prstGeom>
          </p:spPr>
        </p:pic>
      </p:grpSp>
      <p:grpSp>
        <p:nvGrpSpPr>
          <p:cNvPr id="1071" name="Group 1070">
            <a:extLst>
              <a:ext uri="{FF2B5EF4-FFF2-40B4-BE49-F238E27FC236}">
                <a16:creationId xmlns:a16="http://schemas.microsoft.com/office/drawing/2014/main" id="{87C14528-E9D4-6CE2-E618-9FC25D8795D3}"/>
              </a:ext>
            </a:extLst>
          </p:cNvPr>
          <p:cNvGrpSpPr/>
          <p:nvPr/>
        </p:nvGrpSpPr>
        <p:grpSpPr>
          <a:xfrm>
            <a:off x="8813773" y="2558797"/>
            <a:ext cx="516948" cy="456681"/>
            <a:chOff x="8813773" y="2558797"/>
            <a:chExt cx="516948" cy="456681"/>
          </a:xfrm>
        </p:grpSpPr>
        <p:sp>
          <p:nvSpPr>
            <p:cNvPr id="6" name="Cylinder 5">
              <a:extLst>
                <a:ext uri="{FF2B5EF4-FFF2-40B4-BE49-F238E27FC236}">
                  <a16:creationId xmlns:a16="http://schemas.microsoft.com/office/drawing/2014/main" id="{B428330C-994D-4BFE-A730-98F4752A3437}"/>
                </a:ext>
              </a:extLst>
            </p:cNvPr>
            <p:cNvSpPr/>
            <p:nvPr/>
          </p:nvSpPr>
          <p:spPr>
            <a:xfrm>
              <a:off x="8813773" y="2558797"/>
              <a:ext cx="516948" cy="456681"/>
            </a:xfrm>
            <a:prstGeom prst="can">
              <a:avLst/>
            </a:prstGeom>
            <a:solidFill>
              <a:srgbClr val="BB1932"/>
            </a:solidFill>
            <a:ln>
              <a:solidFill>
                <a:srgbClr val="74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/>
                  </a:solidFill>
                </a:rPr>
                <a:t>Azure SQL</a:t>
              </a:r>
              <a:endParaRPr lang="en-NZ" sz="900" dirty="0">
                <a:solidFill>
                  <a:schemeClr val="tx1"/>
                </a:solidFill>
              </a:endParaRPr>
            </a:p>
          </p:txBody>
        </p:sp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4A6DF64B-2336-DA9B-062F-739AE6C285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8829354" y="2735984"/>
              <a:ext cx="182393" cy="176250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1073" name="Group 1072">
            <a:extLst>
              <a:ext uri="{FF2B5EF4-FFF2-40B4-BE49-F238E27FC236}">
                <a16:creationId xmlns:a16="http://schemas.microsoft.com/office/drawing/2014/main" id="{02417B66-B2F6-296E-CDF7-DFD075B76DC1}"/>
              </a:ext>
            </a:extLst>
          </p:cNvPr>
          <p:cNvGrpSpPr/>
          <p:nvPr/>
        </p:nvGrpSpPr>
        <p:grpSpPr>
          <a:xfrm>
            <a:off x="9347137" y="3119600"/>
            <a:ext cx="516948" cy="456681"/>
            <a:chOff x="8813773" y="3114097"/>
            <a:chExt cx="516948" cy="456681"/>
          </a:xfrm>
        </p:grpSpPr>
        <p:sp>
          <p:nvSpPr>
            <p:cNvPr id="8" name="Cylinder 7">
              <a:extLst>
                <a:ext uri="{FF2B5EF4-FFF2-40B4-BE49-F238E27FC236}">
                  <a16:creationId xmlns:a16="http://schemas.microsoft.com/office/drawing/2014/main" id="{1AF74573-FA92-4AAC-970D-3A4476F32AD6}"/>
                </a:ext>
              </a:extLst>
            </p:cNvPr>
            <p:cNvSpPr/>
            <p:nvPr/>
          </p:nvSpPr>
          <p:spPr>
            <a:xfrm>
              <a:off x="8813773" y="3114097"/>
              <a:ext cx="516948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Table </a:t>
              </a:r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Storage</a:t>
              </a:r>
              <a:endParaRPr lang="en-NZ" sz="9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CD9AAEE0-D914-6CF0-5BC6-D5B4803CC5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833187" y="3243336"/>
              <a:ext cx="192678" cy="151968"/>
            </a:xfrm>
            <a:prstGeom prst="rect">
              <a:avLst/>
            </a:prstGeom>
          </p:spPr>
        </p:pic>
      </p:grpSp>
      <p:grpSp>
        <p:nvGrpSpPr>
          <p:cNvPr id="1075" name="Group 1074">
            <a:extLst>
              <a:ext uri="{FF2B5EF4-FFF2-40B4-BE49-F238E27FC236}">
                <a16:creationId xmlns:a16="http://schemas.microsoft.com/office/drawing/2014/main" id="{370CEAD3-3BFD-B405-5CA9-61604E5722C9}"/>
              </a:ext>
            </a:extLst>
          </p:cNvPr>
          <p:cNvGrpSpPr/>
          <p:nvPr/>
        </p:nvGrpSpPr>
        <p:grpSpPr>
          <a:xfrm>
            <a:off x="8813440" y="3669676"/>
            <a:ext cx="516948" cy="456681"/>
            <a:chOff x="8813440" y="3669676"/>
            <a:chExt cx="516948" cy="456681"/>
          </a:xfrm>
        </p:grpSpPr>
        <p:sp>
          <p:nvSpPr>
            <p:cNvPr id="1046" name="Cylinder 1045">
              <a:extLst>
                <a:ext uri="{FF2B5EF4-FFF2-40B4-BE49-F238E27FC236}">
                  <a16:creationId xmlns:a16="http://schemas.microsoft.com/office/drawing/2014/main" id="{FD07A791-B413-D69A-FE55-4432E5DFEEFC}"/>
                </a:ext>
              </a:extLst>
            </p:cNvPr>
            <p:cNvSpPr/>
            <p:nvPr/>
          </p:nvSpPr>
          <p:spPr>
            <a:xfrm>
              <a:off x="8813440" y="3669676"/>
              <a:ext cx="516948" cy="456681"/>
            </a:xfrm>
            <a:prstGeom prst="can">
              <a:avLst/>
            </a:prstGeom>
            <a:solidFill>
              <a:srgbClr val="00B4E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/>
                  </a:solidFill>
                </a:rPr>
                <a:t>Blob </a:t>
              </a:r>
              <a:r>
                <a:rPr lang="en-US" sz="800" dirty="0">
                  <a:solidFill>
                    <a:schemeClr val="tx1"/>
                  </a:solidFill>
                </a:rPr>
                <a:t>Storage</a:t>
              </a:r>
              <a:endParaRPr lang="en-NZ" sz="900" dirty="0">
                <a:solidFill>
                  <a:schemeClr val="tx1"/>
                </a:solidFill>
              </a:endParaRPr>
            </a:p>
          </p:txBody>
        </p:sp>
        <p:pic>
          <p:nvPicPr>
            <p:cNvPr id="1047" name="Picture 1046">
              <a:extLst>
                <a:ext uri="{FF2B5EF4-FFF2-40B4-BE49-F238E27FC236}">
                  <a16:creationId xmlns:a16="http://schemas.microsoft.com/office/drawing/2014/main" id="{33844DD7-6FBE-694E-FCAE-8E950340E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832854" y="3798915"/>
              <a:ext cx="192678" cy="151968"/>
            </a:xfrm>
            <a:prstGeom prst="rect">
              <a:avLst/>
            </a:prstGeom>
          </p:spPr>
        </p:pic>
      </p:grpSp>
      <p:grpSp>
        <p:nvGrpSpPr>
          <p:cNvPr id="1072" name="Group 1071">
            <a:extLst>
              <a:ext uri="{FF2B5EF4-FFF2-40B4-BE49-F238E27FC236}">
                <a16:creationId xmlns:a16="http://schemas.microsoft.com/office/drawing/2014/main" id="{D13A5051-E1C6-4DDC-ED82-03D841D32474}"/>
              </a:ext>
            </a:extLst>
          </p:cNvPr>
          <p:cNvGrpSpPr/>
          <p:nvPr/>
        </p:nvGrpSpPr>
        <p:grpSpPr>
          <a:xfrm>
            <a:off x="9366414" y="2562713"/>
            <a:ext cx="516948" cy="456681"/>
            <a:chOff x="9530501" y="2551706"/>
            <a:chExt cx="516948" cy="456681"/>
          </a:xfrm>
        </p:grpSpPr>
        <p:sp>
          <p:nvSpPr>
            <p:cNvPr id="1051" name="Cylinder 1050">
              <a:extLst>
                <a:ext uri="{FF2B5EF4-FFF2-40B4-BE49-F238E27FC236}">
                  <a16:creationId xmlns:a16="http://schemas.microsoft.com/office/drawing/2014/main" id="{59046BFA-3BBC-4F63-A244-DE2081D3D57A}"/>
                </a:ext>
              </a:extLst>
            </p:cNvPr>
            <p:cNvSpPr/>
            <p:nvPr/>
          </p:nvSpPr>
          <p:spPr>
            <a:xfrm>
              <a:off x="9530501" y="2551706"/>
              <a:ext cx="516948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accent6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Event Store</a:t>
              </a:r>
              <a:endParaRPr lang="en-NZ" sz="9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1053" name="Picture 2" descr="Event Store · GitHub">
              <a:extLst>
                <a:ext uri="{FF2B5EF4-FFF2-40B4-BE49-F238E27FC236}">
                  <a16:creationId xmlns:a16="http://schemas.microsoft.com/office/drawing/2014/main" id="{4EFDB97C-83B7-F949-36D7-8AA328E431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2683" y="2714563"/>
              <a:ext cx="193697" cy="1936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74" name="Group 1073">
            <a:extLst>
              <a:ext uri="{FF2B5EF4-FFF2-40B4-BE49-F238E27FC236}">
                <a16:creationId xmlns:a16="http://schemas.microsoft.com/office/drawing/2014/main" id="{CA2E4BB8-7507-01A7-6BAB-53A48AD070EE}"/>
              </a:ext>
            </a:extLst>
          </p:cNvPr>
          <p:cNvGrpSpPr/>
          <p:nvPr/>
        </p:nvGrpSpPr>
        <p:grpSpPr>
          <a:xfrm>
            <a:off x="9883362" y="3118124"/>
            <a:ext cx="516948" cy="456681"/>
            <a:chOff x="9530501" y="3113794"/>
            <a:chExt cx="516948" cy="456681"/>
          </a:xfrm>
        </p:grpSpPr>
        <p:sp>
          <p:nvSpPr>
            <p:cNvPr id="1057" name="Cylinder 1056">
              <a:extLst>
                <a:ext uri="{FF2B5EF4-FFF2-40B4-BE49-F238E27FC236}">
                  <a16:creationId xmlns:a16="http://schemas.microsoft.com/office/drawing/2014/main" id="{96BBD047-E1B8-564A-CEF8-E7EF41F75CBF}"/>
                </a:ext>
              </a:extLst>
            </p:cNvPr>
            <p:cNvSpPr/>
            <p:nvPr/>
          </p:nvSpPr>
          <p:spPr>
            <a:xfrm>
              <a:off x="9530501" y="3113794"/>
              <a:ext cx="516948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rgbClr val="74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Redis</a:t>
              </a:r>
              <a:endParaRPr lang="en-NZ" sz="9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1061" name="Picture 4" descr="Redis · GitHub">
              <a:extLst>
                <a:ext uri="{FF2B5EF4-FFF2-40B4-BE49-F238E27FC236}">
                  <a16:creationId xmlns:a16="http://schemas.microsoft.com/office/drawing/2014/main" id="{88EBCED3-3C3D-6095-01B6-9382A85841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42317" y="3236806"/>
              <a:ext cx="219764" cy="2197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76" name="Group 1075">
            <a:extLst>
              <a:ext uri="{FF2B5EF4-FFF2-40B4-BE49-F238E27FC236}">
                <a16:creationId xmlns:a16="http://schemas.microsoft.com/office/drawing/2014/main" id="{911C4D4D-501C-3D51-BB8D-E89E8293D53D}"/>
              </a:ext>
            </a:extLst>
          </p:cNvPr>
          <p:cNvGrpSpPr/>
          <p:nvPr/>
        </p:nvGrpSpPr>
        <p:grpSpPr>
          <a:xfrm>
            <a:off x="9295325" y="3672958"/>
            <a:ext cx="592914" cy="456681"/>
            <a:chOff x="9465526" y="3669675"/>
            <a:chExt cx="592914" cy="456681"/>
          </a:xfrm>
        </p:grpSpPr>
        <p:sp>
          <p:nvSpPr>
            <p:cNvPr id="1064" name="Cylinder 1063">
              <a:extLst>
                <a:ext uri="{FF2B5EF4-FFF2-40B4-BE49-F238E27FC236}">
                  <a16:creationId xmlns:a16="http://schemas.microsoft.com/office/drawing/2014/main" id="{68592488-55FB-79E3-F692-83CF96E85F88}"/>
                </a:ext>
              </a:extLst>
            </p:cNvPr>
            <p:cNvSpPr/>
            <p:nvPr/>
          </p:nvSpPr>
          <p:spPr>
            <a:xfrm>
              <a:off x="9541492" y="3669675"/>
              <a:ext cx="516948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accent6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Azure</a:t>
              </a:r>
            </a:p>
            <a:p>
              <a:pPr algn="r"/>
              <a:r>
                <a:rPr lang="en-US" sz="7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DataLake</a:t>
              </a:r>
              <a:endParaRPr lang="en-NZ" sz="9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1066" name="Picture 6" descr="Azure Data Factory Templates with Data Lake - Altis - NZ">
              <a:extLst>
                <a:ext uri="{FF2B5EF4-FFF2-40B4-BE49-F238E27FC236}">
                  <a16:creationId xmlns:a16="http://schemas.microsoft.com/office/drawing/2014/main" id="{A8969451-7222-8006-D23D-513B943D7D2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65526" y="3784186"/>
              <a:ext cx="324273" cy="1666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77" name="Group 1076">
            <a:extLst>
              <a:ext uri="{FF2B5EF4-FFF2-40B4-BE49-F238E27FC236}">
                <a16:creationId xmlns:a16="http://schemas.microsoft.com/office/drawing/2014/main" id="{C6FD6841-BB71-86E6-CFD5-3D41FC843D68}"/>
              </a:ext>
            </a:extLst>
          </p:cNvPr>
          <p:cNvGrpSpPr/>
          <p:nvPr/>
        </p:nvGrpSpPr>
        <p:grpSpPr>
          <a:xfrm>
            <a:off x="8804285" y="3113848"/>
            <a:ext cx="516948" cy="456681"/>
            <a:chOff x="8813773" y="2558797"/>
            <a:chExt cx="516948" cy="456681"/>
          </a:xfrm>
        </p:grpSpPr>
        <p:sp>
          <p:nvSpPr>
            <p:cNvPr id="1078" name="Cylinder 1077">
              <a:extLst>
                <a:ext uri="{FF2B5EF4-FFF2-40B4-BE49-F238E27FC236}">
                  <a16:creationId xmlns:a16="http://schemas.microsoft.com/office/drawing/2014/main" id="{52588497-3EFC-0655-BBEC-7264263BC144}"/>
                </a:ext>
              </a:extLst>
            </p:cNvPr>
            <p:cNvSpPr/>
            <p:nvPr/>
          </p:nvSpPr>
          <p:spPr>
            <a:xfrm>
              <a:off x="8813773" y="2558797"/>
              <a:ext cx="516948" cy="456681"/>
            </a:xfrm>
            <a:prstGeom prst="can">
              <a:avLst/>
            </a:prstGeom>
            <a:solidFill>
              <a:srgbClr val="BB1932"/>
            </a:solidFill>
            <a:ln>
              <a:solidFill>
                <a:srgbClr val="74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/>
                  </a:solidFill>
                </a:rPr>
                <a:t>Azure SQL</a:t>
              </a:r>
              <a:endParaRPr lang="en-NZ" sz="900" dirty="0">
                <a:solidFill>
                  <a:schemeClr val="tx1"/>
                </a:solidFill>
              </a:endParaRPr>
            </a:p>
          </p:txBody>
        </p:sp>
        <p:pic>
          <p:nvPicPr>
            <p:cNvPr id="1079" name="Picture 1078">
              <a:extLst>
                <a:ext uri="{FF2B5EF4-FFF2-40B4-BE49-F238E27FC236}">
                  <a16:creationId xmlns:a16="http://schemas.microsoft.com/office/drawing/2014/main" id="{49E7BD14-569C-021A-76E8-3733216260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8829354" y="2735984"/>
              <a:ext cx="182393" cy="176250"/>
            </a:xfrm>
            <a:prstGeom prst="rect">
              <a:avLst/>
            </a:prstGeom>
            <a:ln>
              <a:noFill/>
            </a:ln>
          </p:spPr>
        </p:pic>
      </p:grpSp>
      <p:cxnSp>
        <p:nvCxnSpPr>
          <p:cNvPr id="1085" name="Straight Arrow Connector 29">
            <a:extLst>
              <a:ext uri="{FF2B5EF4-FFF2-40B4-BE49-F238E27FC236}">
                <a16:creationId xmlns:a16="http://schemas.microsoft.com/office/drawing/2014/main" id="{5AA56C6C-758C-B77A-10C6-F02C98AE58A8}"/>
              </a:ext>
            </a:extLst>
          </p:cNvPr>
          <p:cNvCxnSpPr>
            <a:cxnSpLocks/>
            <a:stCxn id="27" idx="1"/>
            <a:endCxn id="3" idx="3"/>
          </p:cNvCxnSpPr>
          <p:nvPr/>
        </p:nvCxnSpPr>
        <p:spPr>
          <a:xfrm rot="10800000">
            <a:off x="8359009" y="3513184"/>
            <a:ext cx="418537" cy="39067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89" name="Straight Arrow Connector 29">
            <a:extLst>
              <a:ext uri="{FF2B5EF4-FFF2-40B4-BE49-F238E27FC236}">
                <a16:creationId xmlns:a16="http://schemas.microsoft.com/office/drawing/2014/main" id="{DF95B40E-DF8E-D9CD-80BF-4763F20112DB}"/>
              </a:ext>
            </a:extLst>
          </p:cNvPr>
          <p:cNvCxnSpPr>
            <a:cxnSpLocks/>
            <a:stCxn id="78" idx="1"/>
            <a:endCxn id="3" idx="3"/>
          </p:cNvCxnSpPr>
          <p:nvPr/>
        </p:nvCxnSpPr>
        <p:spPr>
          <a:xfrm rot="10800000" flipV="1">
            <a:off x="8359009" y="2291371"/>
            <a:ext cx="418537" cy="122181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06" name="Rectangle 1105">
            <a:extLst>
              <a:ext uri="{FF2B5EF4-FFF2-40B4-BE49-F238E27FC236}">
                <a16:creationId xmlns:a16="http://schemas.microsoft.com/office/drawing/2014/main" id="{E1FD1016-4EF0-52FB-C30D-3EE8F1637624}"/>
              </a:ext>
            </a:extLst>
          </p:cNvPr>
          <p:cNvSpPr/>
          <p:nvPr/>
        </p:nvSpPr>
        <p:spPr>
          <a:xfrm>
            <a:off x="8482881" y="1009179"/>
            <a:ext cx="2567754" cy="3782062"/>
          </a:xfrm>
          <a:prstGeom prst="rect">
            <a:avLst/>
          </a:prstGeom>
          <a:noFill/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>
                <a:solidFill>
                  <a:schemeClr val="tx1"/>
                </a:solidFill>
              </a:rPr>
              <a:t>3</a:t>
            </a:r>
            <a:r>
              <a:rPr lang="en-NZ" sz="1200" baseline="30000" dirty="0">
                <a:solidFill>
                  <a:schemeClr val="tx1"/>
                </a:solidFill>
              </a:rPr>
              <a:t>rd</a:t>
            </a:r>
            <a:r>
              <a:rPr lang="en-NZ" sz="1200" dirty="0">
                <a:solidFill>
                  <a:schemeClr val="tx1"/>
                </a:solidFill>
              </a:rPr>
              <a:t> Party </a:t>
            </a:r>
          </a:p>
          <a:p>
            <a:pPr algn="ctr"/>
            <a:r>
              <a:rPr lang="en-NZ" sz="1200" dirty="0">
                <a:solidFill>
                  <a:schemeClr val="tx1"/>
                </a:solidFill>
              </a:rPr>
              <a:t>Infrastructure</a:t>
            </a:r>
          </a:p>
          <a:p>
            <a:pPr algn="ctr"/>
            <a:r>
              <a:rPr lang="en-NZ" sz="1200" dirty="0">
                <a:solidFill>
                  <a:schemeClr val="tx1"/>
                </a:solidFill>
              </a:rPr>
              <a:t>Plugins</a:t>
            </a:r>
          </a:p>
        </p:txBody>
      </p:sp>
      <p:cxnSp>
        <p:nvCxnSpPr>
          <p:cNvPr id="1111" name="Straight Arrow Connector 29">
            <a:extLst>
              <a:ext uri="{FF2B5EF4-FFF2-40B4-BE49-F238E27FC236}">
                <a16:creationId xmlns:a16="http://schemas.microsoft.com/office/drawing/2014/main" id="{481F741E-1570-B87F-695E-BC8C99D2BE3A}"/>
              </a:ext>
            </a:extLst>
          </p:cNvPr>
          <p:cNvCxnSpPr>
            <a:cxnSpLocks/>
            <a:stCxn id="122" idx="0"/>
            <a:endCxn id="23" idx="3"/>
          </p:cNvCxnSpPr>
          <p:nvPr/>
        </p:nvCxnSpPr>
        <p:spPr>
          <a:xfrm rot="16200000" flipV="1">
            <a:off x="6860394" y="3153412"/>
            <a:ext cx="1217264" cy="2974152"/>
          </a:xfrm>
          <a:prstGeom prst="bentConnector3">
            <a:avLst>
              <a:gd name="adj1" fmla="val 2183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00441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61781B9-3FD6-6F02-EE62-B7149D5FAE8C}"/>
              </a:ext>
            </a:extLst>
          </p:cNvPr>
          <p:cNvGrpSpPr/>
          <p:nvPr/>
        </p:nvGrpSpPr>
        <p:grpSpPr>
          <a:xfrm>
            <a:off x="239557" y="4878562"/>
            <a:ext cx="10863826" cy="1921694"/>
            <a:chOff x="239557" y="4878562"/>
            <a:chExt cx="10863826" cy="192169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E8EF501-8B4C-5085-5756-101EE968BC33}"/>
                </a:ext>
              </a:extLst>
            </p:cNvPr>
            <p:cNvSpPr/>
            <p:nvPr/>
          </p:nvSpPr>
          <p:spPr>
            <a:xfrm>
              <a:off x="7271031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600" dirty="0">
                  <a:solidFill>
                    <a:schemeClr val="bg2">
                      <a:lumMod val="75000"/>
                    </a:schemeClr>
                  </a:solidFill>
                </a:rPr>
                <a:t>Avatars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63081A2-7250-4A01-985D-951F33B29641}"/>
                </a:ext>
              </a:extLst>
            </p:cNvPr>
            <p:cNvSpPr/>
            <p:nvPr/>
          </p:nvSpPr>
          <p:spPr>
            <a:xfrm>
              <a:off x="6116204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Email Delivery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D750834-43CF-974E-1CA7-834FAA5CF9F0}"/>
                </a:ext>
              </a:extLst>
            </p:cNvPr>
            <p:cNvSpPr/>
            <p:nvPr/>
          </p:nvSpPr>
          <p:spPr>
            <a:xfrm>
              <a:off x="4961377" y="4939656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Feature Flags</a:t>
              </a:r>
              <a:endParaRPr lang="en-NZ" sz="5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41AEE63-42B5-711A-A6DD-4B9B3ED47BF6}"/>
                </a:ext>
              </a:extLst>
            </p:cNvPr>
            <p:cNvSpPr/>
            <p:nvPr/>
          </p:nvSpPr>
          <p:spPr>
            <a:xfrm>
              <a:off x="3806550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Product Metrics</a:t>
              </a:r>
              <a:endParaRPr lang="en-NZ" sz="4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575241A-1B09-FB25-F64B-9349B0D5A51D}"/>
                </a:ext>
              </a:extLst>
            </p:cNvPr>
            <p:cNvSpPr/>
            <p:nvPr/>
          </p:nvSpPr>
          <p:spPr>
            <a:xfrm>
              <a:off x="2651723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Billing Subscriptions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371BB5DF-1E36-BBFC-7F1C-3DBCDF3A3AE4}"/>
                </a:ext>
              </a:extLst>
            </p:cNvPr>
            <p:cNvSpPr/>
            <p:nvPr/>
          </p:nvSpPr>
          <p:spPr>
            <a:xfrm>
              <a:off x="1496896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600" dirty="0">
                  <a:solidFill>
                    <a:schemeClr val="bg2">
                      <a:lumMod val="75000"/>
                    </a:schemeClr>
                  </a:solidFill>
                </a:rPr>
                <a:t>Payments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01FF71A2-9429-C257-C5B1-05481A875387}"/>
                </a:ext>
              </a:extLst>
            </p:cNvPr>
            <p:cNvSpPr/>
            <p:nvPr/>
          </p:nvSpPr>
          <p:spPr>
            <a:xfrm>
              <a:off x="8425859" y="4939656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Single Sign On</a:t>
              </a:r>
              <a:endParaRPr lang="en-NZ" sz="4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29455AB-A45E-F9AB-4895-C037E89EC033}"/>
                </a:ext>
              </a:extLst>
            </p:cNvPr>
            <p:cNvSpPr/>
            <p:nvPr/>
          </p:nvSpPr>
          <p:spPr>
            <a:xfrm>
              <a:off x="9586329" y="4935101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Auth Provider</a:t>
              </a:r>
              <a:endParaRPr lang="en-NZ" sz="5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50C5D652-E226-8357-17B4-8879FD15027E}"/>
                </a:ext>
              </a:extLst>
            </p:cNvPr>
            <p:cNvSpPr/>
            <p:nvPr/>
          </p:nvSpPr>
          <p:spPr>
            <a:xfrm>
              <a:off x="239557" y="4878562"/>
              <a:ext cx="10863826" cy="1921694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NZ" sz="1200" dirty="0">
                  <a:solidFill>
                    <a:schemeClr val="tx1"/>
                  </a:solidFill>
                </a:rPr>
                <a:t>3</a:t>
              </a:r>
              <a:r>
                <a:rPr lang="en-NZ" sz="1200" baseline="30000" dirty="0">
                  <a:solidFill>
                    <a:schemeClr val="tx1"/>
                  </a:solidFill>
                </a:rPr>
                <a:t>rd</a:t>
              </a:r>
              <a:r>
                <a:rPr lang="en-NZ" sz="1200" dirty="0">
                  <a:solidFill>
                    <a:schemeClr val="tx1"/>
                  </a:solidFill>
                </a:rPr>
                <a:t> Party </a:t>
              </a:r>
            </a:p>
            <a:p>
              <a:r>
                <a:rPr lang="en-NZ" sz="1200" dirty="0">
                  <a:solidFill>
                    <a:schemeClr val="tx1"/>
                  </a:solidFill>
                </a:rPr>
                <a:t>Integration</a:t>
              </a:r>
            </a:p>
            <a:p>
              <a:r>
                <a:rPr lang="en-NZ" sz="1200" dirty="0">
                  <a:solidFill>
                    <a:schemeClr val="tx1"/>
                  </a:solidFill>
                </a:rPr>
                <a:t>Plugins</a:t>
              </a:r>
            </a:p>
          </p:txBody>
        </p:sp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5348B616-4929-6AA9-A066-D5689E6E43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rot="20400000">
              <a:off x="6219420" y="5789055"/>
              <a:ext cx="918256" cy="24988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97" name="Picture 2" descr="Mixpanel | Attribution Platform - Ematic Solutions">
              <a:extLst>
                <a:ext uri="{FF2B5EF4-FFF2-40B4-BE49-F238E27FC236}">
                  <a16:creationId xmlns:a16="http://schemas.microsoft.com/office/drawing/2014/main" id="{B36DB943-BE3F-CB9E-FEAF-0212A774707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460" t="13489" r="2189" b="10958"/>
            <a:stretch/>
          </p:blipFill>
          <p:spPr bwMode="auto">
            <a:xfrm rot="20400000">
              <a:off x="3884797" y="5440538"/>
              <a:ext cx="940471" cy="26719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98" name="Picture 4">
              <a:extLst>
                <a:ext uri="{FF2B5EF4-FFF2-40B4-BE49-F238E27FC236}">
                  <a16:creationId xmlns:a16="http://schemas.microsoft.com/office/drawing/2014/main" id="{66100BAF-8118-AB15-5DBA-EEB32D088F2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16" b="8972"/>
            <a:stretch/>
          </p:blipFill>
          <p:spPr bwMode="auto">
            <a:xfrm rot="20400000">
              <a:off x="1581624" y="5542724"/>
              <a:ext cx="925046" cy="20833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cxnSp>
          <p:nvCxnSpPr>
            <p:cNvPr id="103" name="Straight Arrow Connector 29">
              <a:extLst>
                <a:ext uri="{FF2B5EF4-FFF2-40B4-BE49-F238E27FC236}">
                  <a16:creationId xmlns:a16="http://schemas.microsoft.com/office/drawing/2014/main" id="{4D7DA10B-5D3B-6252-1260-33D804327284}"/>
                </a:ext>
              </a:extLst>
            </p:cNvPr>
            <p:cNvCxnSpPr>
              <a:cxnSpLocks/>
              <a:stCxn id="98" idx="3"/>
              <a:endCxn id="1034" idx="1"/>
            </p:cNvCxnSpPr>
            <p:nvPr/>
          </p:nvCxnSpPr>
          <p:spPr>
            <a:xfrm>
              <a:off x="2478776" y="5488700"/>
              <a:ext cx="259004" cy="592313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arrow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104" name="Picture 103">
              <a:extLst>
                <a:ext uri="{FF2B5EF4-FFF2-40B4-BE49-F238E27FC236}">
                  <a16:creationId xmlns:a16="http://schemas.microsoft.com/office/drawing/2014/main" id="{2A40A23A-17D4-1989-FAAA-4BEF14335BB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rot="20400000">
              <a:off x="7386688" y="5769234"/>
              <a:ext cx="922731" cy="27172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BDD72F2E-E4DF-58F5-16CD-55D62CC20892}"/>
                </a:ext>
              </a:extLst>
            </p:cNvPr>
            <p:cNvSpPr txBox="1"/>
            <p:nvPr/>
          </p:nvSpPr>
          <p:spPr>
            <a:xfrm rot="16200000">
              <a:off x="2483509" y="5052451"/>
              <a:ext cx="481469" cy="153888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txBody>
            <a:bodyPr wrap="none" lIns="36000" tIns="0" rIns="36000" bIns="0" rtlCol="0" anchor="b" anchorCtr="0">
              <a:spAutoFit/>
            </a:bodyPr>
            <a:lstStyle/>
            <a:p>
              <a:r>
                <a:rPr lang="en-NZ" sz="1000" dirty="0"/>
                <a:t>+Events</a:t>
              </a:r>
            </a:p>
          </p:txBody>
        </p:sp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E2887768-8761-7939-5E27-8D31BEB3E22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1" b="3009"/>
            <a:stretch/>
          </p:blipFill>
          <p:spPr>
            <a:xfrm rot="20400000">
              <a:off x="5060127" y="5779752"/>
              <a:ext cx="916581" cy="25053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10" name="Picture 2" descr="google - Wikipedia">
              <a:extLst>
                <a:ext uri="{FF2B5EF4-FFF2-40B4-BE49-F238E27FC236}">
                  <a16:creationId xmlns:a16="http://schemas.microsoft.com/office/drawing/2014/main" id="{90BB1FC7-D759-849C-FA96-36939AB745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3973" r="-12631"/>
            <a:stretch/>
          </p:blipFill>
          <p:spPr bwMode="auto">
            <a:xfrm rot="20400000">
              <a:off x="8575461" y="5810312"/>
              <a:ext cx="857550" cy="22812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17" name="Picture 4">
              <a:extLst>
                <a:ext uri="{FF2B5EF4-FFF2-40B4-BE49-F238E27FC236}">
                  <a16:creationId xmlns:a16="http://schemas.microsoft.com/office/drawing/2014/main" id="{EC4DD09D-10B7-08C3-23CB-58DD00A834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00000">
              <a:off x="8508912" y="5522290"/>
              <a:ext cx="990648" cy="20952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12568C92-1AED-029B-5294-261A03CE17DD}"/>
                </a:ext>
              </a:extLst>
            </p:cNvPr>
            <p:cNvSpPr/>
            <p:nvPr/>
          </p:nvSpPr>
          <p:spPr>
            <a:xfrm rot="20400000">
              <a:off x="9674371" y="5230380"/>
              <a:ext cx="926590" cy="228794"/>
            </a:xfrm>
            <a:prstGeom prst="rect">
              <a:avLst/>
            </a:prstGeom>
            <a:solidFill>
              <a:srgbClr val="4472C4"/>
            </a:solidFill>
            <a:ln w="12700"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AuthN API</a:t>
              </a:r>
              <a:endParaRPr lang="en-NZ" sz="1200" dirty="0">
                <a:solidFill>
                  <a:schemeClr val="bg1"/>
                </a:solidFill>
              </a:endParaRP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AB1E1F31-C38C-A004-4C75-42C7EBBB95BD}"/>
                </a:ext>
              </a:extLst>
            </p:cNvPr>
            <p:cNvSpPr/>
            <p:nvPr/>
          </p:nvSpPr>
          <p:spPr>
            <a:xfrm rot="20400000">
              <a:off x="9691107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5D4728A3-6C1E-4431-8954-EAAE707FE728}"/>
                </a:ext>
              </a:extLst>
            </p:cNvPr>
            <p:cNvSpPr/>
            <p:nvPr/>
          </p:nvSpPr>
          <p:spPr>
            <a:xfrm rot="20400000">
              <a:off x="7395772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024" name="Rectangle 1023">
              <a:extLst>
                <a:ext uri="{FF2B5EF4-FFF2-40B4-BE49-F238E27FC236}">
                  <a16:creationId xmlns:a16="http://schemas.microsoft.com/office/drawing/2014/main" id="{BC77ECE5-3691-7933-9501-4AF6E60FB88F}"/>
                </a:ext>
              </a:extLst>
            </p:cNvPr>
            <p:cNvSpPr/>
            <p:nvPr/>
          </p:nvSpPr>
          <p:spPr>
            <a:xfrm rot="20400000">
              <a:off x="6215253" y="6097598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025" name="Rectangle 1024">
              <a:extLst>
                <a:ext uri="{FF2B5EF4-FFF2-40B4-BE49-F238E27FC236}">
                  <a16:creationId xmlns:a16="http://schemas.microsoft.com/office/drawing/2014/main" id="{BC7A9858-0F1B-DDEB-7D74-EE2E3D606025}"/>
                </a:ext>
              </a:extLst>
            </p:cNvPr>
            <p:cNvSpPr/>
            <p:nvPr/>
          </p:nvSpPr>
          <p:spPr>
            <a:xfrm rot="20400000">
              <a:off x="5055122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026" name="Rectangle 1025">
              <a:extLst>
                <a:ext uri="{FF2B5EF4-FFF2-40B4-BE49-F238E27FC236}">
                  <a16:creationId xmlns:a16="http://schemas.microsoft.com/office/drawing/2014/main" id="{0D74A10E-D846-D58D-C8EA-123CBB18F5FC}"/>
                </a:ext>
              </a:extLst>
            </p:cNvPr>
            <p:cNvSpPr/>
            <p:nvPr/>
          </p:nvSpPr>
          <p:spPr>
            <a:xfrm rot="20400000">
              <a:off x="3891737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027" name="Rectangle 1026">
              <a:extLst>
                <a:ext uri="{FF2B5EF4-FFF2-40B4-BE49-F238E27FC236}">
                  <a16:creationId xmlns:a16="http://schemas.microsoft.com/office/drawing/2014/main" id="{821F4CDD-9744-A888-0A68-99EA6EC32413}"/>
                </a:ext>
              </a:extLst>
            </p:cNvPr>
            <p:cNvSpPr/>
            <p:nvPr/>
          </p:nvSpPr>
          <p:spPr>
            <a:xfrm rot="20400000">
              <a:off x="2744371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028" name="Rectangle 1027">
              <a:extLst>
                <a:ext uri="{FF2B5EF4-FFF2-40B4-BE49-F238E27FC236}">
                  <a16:creationId xmlns:a16="http://schemas.microsoft.com/office/drawing/2014/main" id="{8E5A6FC3-14DB-DB74-D411-C9B3A21FA424}"/>
                </a:ext>
              </a:extLst>
            </p:cNvPr>
            <p:cNvSpPr/>
            <p:nvPr/>
          </p:nvSpPr>
          <p:spPr>
            <a:xfrm rot="20400000">
              <a:off x="1580852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003CF0CB-FE84-0AD1-9751-B978F726624F}"/>
                </a:ext>
              </a:extLst>
            </p:cNvPr>
            <p:cNvSpPr/>
            <p:nvPr/>
          </p:nvSpPr>
          <p:spPr>
            <a:xfrm rot="20400000">
              <a:off x="8540941" y="6107792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pic>
          <p:nvPicPr>
            <p:cNvPr id="1031" name="Picture 2" descr="Shopify">
              <a:extLst>
                <a:ext uri="{FF2B5EF4-FFF2-40B4-BE49-F238E27FC236}">
                  <a16:creationId xmlns:a16="http://schemas.microsoft.com/office/drawing/2014/main" id="{FFEB0089-A75C-2D95-A8F5-8765A8CE11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00000">
              <a:off x="1571087" y="5826784"/>
              <a:ext cx="946121" cy="205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32" name="Picture 4">
              <a:extLst>
                <a:ext uri="{FF2B5EF4-FFF2-40B4-BE49-F238E27FC236}">
                  <a16:creationId xmlns:a16="http://schemas.microsoft.com/office/drawing/2014/main" id="{77FE4F77-F49A-FA8C-1DD1-43038E0231B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16" b="8972"/>
            <a:stretch/>
          </p:blipFill>
          <p:spPr bwMode="auto">
            <a:xfrm rot="20400000">
              <a:off x="2745143" y="5507033"/>
              <a:ext cx="925046" cy="20833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33" name="Picture 4" descr="Chargify and Swipesum">
              <a:extLst>
                <a:ext uri="{FF2B5EF4-FFF2-40B4-BE49-F238E27FC236}">
                  <a16:creationId xmlns:a16="http://schemas.microsoft.com/office/drawing/2014/main" id="{187E15A4-DD4A-D490-D1F3-0B9E61B4A74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481" b="21480"/>
            <a:stretch/>
          </p:blipFill>
          <p:spPr bwMode="auto">
            <a:xfrm rot="20400000">
              <a:off x="2692875" y="5208199"/>
              <a:ext cx="1029582" cy="22788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34" name="Picture 6" descr="Chargebee: SaaS for Effective Revenue Growth Management">
              <a:extLst>
                <a:ext uri="{FF2B5EF4-FFF2-40B4-BE49-F238E27FC236}">
                  <a16:creationId xmlns:a16="http://schemas.microsoft.com/office/drawing/2014/main" id="{EF89CB5B-6FEA-B06F-DE66-6A6B70EDAAB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715" t="29331" r="8963" b="27615"/>
            <a:stretch/>
          </p:blipFill>
          <p:spPr bwMode="auto">
            <a:xfrm rot="20400000">
              <a:off x="2707624" y="5792672"/>
              <a:ext cx="1000084" cy="234633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35" name="Picture 12" descr="Analyze the impact of personalization in Google Analytics">
              <a:extLst>
                <a:ext uri="{FF2B5EF4-FFF2-40B4-BE49-F238E27FC236}">
                  <a16:creationId xmlns:a16="http://schemas.microsoft.com/office/drawing/2014/main" id="{81516A95-1545-BC74-2960-34B93B6E801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3074" t="-1409" r="-5031" b="-4078"/>
            <a:stretch/>
          </p:blipFill>
          <p:spPr bwMode="auto">
            <a:xfrm rot="20400000">
              <a:off x="3972053" y="5105614"/>
              <a:ext cx="765959" cy="25564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37" name="Picture 14" descr="Amplitude Analytics Reviews, Ratings &amp; Features 2023 | Gartner Peer Insights">
              <a:extLst>
                <a:ext uri="{FF2B5EF4-FFF2-40B4-BE49-F238E27FC236}">
                  <a16:creationId xmlns:a16="http://schemas.microsoft.com/office/drawing/2014/main" id="{0E306858-6798-8C4E-EEA2-62550D9F183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393" b="28622"/>
            <a:stretch/>
          </p:blipFill>
          <p:spPr bwMode="auto">
            <a:xfrm rot="20400000">
              <a:off x="3892561" y="5779495"/>
              <a:ext cx="924942" cy="25137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38" name="Picture 16" descr="LaunchDarkly allows customers to automate feature releases with Courier">
              <a:extLst>
                <a:ext uri="{FF2B5EF4-FFF2-40B4-BE49-F238E27FC236}">
                  <a16:creationId xmlns:a16="http://schemas.microsoft.com/office/drawing/2014/main" id="{11AE5844-2BFE-B803-4C78-0ADC400D272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9482" b="31324"/>
            <a:stretch/>
          </p:blipFill>
          <p:spPr bwMode="auto">
            <a:xfrm rot="20400000">
              <a:off x="5046345" y="5496017"/>
              <a:ext cx="944145" cy="207227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40" name="Picture 18" descr="Postmark - Our Preferred Transactional Email Provider for WordPress">
              <a:extLst>
                <a:ext uri="{FF2B5EF4-FFF2-40B4-BE49-F238E27FC236}">
                  <a16:creationId xmlns:a16="http://schemas.microsoft.com/office/drawing/2014/main" id="{978D1617-2E42-6E95-923F-885B623E1B4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E002"/>
                </a:clrFrom>
                <a:clrTo>
                  <a:srgbClr val="FFE002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4105" b="28369"/>
            <a:stretch/>
          </p:blipFill>
          <p:spPr bwMode="auto">
            <a:xfrm rot="20400000">
              <a:off x="6170163" y="5448651"/>
              <a:ext cx="1016770" cy="27061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44" name="Picture 20" descr="How to setup Mailgun for WordPress - AcyMailing Blog">
              <a:extLst>
                <a:ext uri="{FF2B5EF4-FFF2-40B4-BE49-F238E27FC236}">
                  <a16:creationId xmlns:a16="http://schemas.microsoft.com/office/drawing/2014/main" id="{95FBB62B-CCA6-561F-C4A1-32CEEA376FD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323" t="29275" r="19487" b="29494"/>
            <a:stretch/>
          </p:blipFill>
          <p:spPr bwMode="auto">
            <a:xfrm rot="20400000">
              <a:off x="6253877" y="5175754"/>
              <a:ext cx="849344" cy="21363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46" name="Picture 22" descr="Facebook - log in or sign up">
              <a:extLst>
                <a:ext uri="{FF2B5EF4-FFF2-40B4-BE49-F238E27FC236}">
                  <a16:creationId xmlns:a16="http://schemas.microsoft.com/office/drawing/2014/main" id="{0651E690-DC7B-24DA-D624-BC2CD1D83A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065" b="20642"/>
            <a:stretch/>
          </p:blipFill>
          <p:spPr bwMode="auto">
            <a:xfrm rot="20400000">
              <a:off x="8490137" y="5242807"/>
              <a:ext cx="1003534" cy="20935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47" name="Picture 1046">
              <a:extLst>
                <a:ext uri="{FF2B5EF4-FFF2-40B4-BE49-F238E27FC236}">
                  <a16:creationId xmlns:a16="http://schemas.microsoft.com/office/drawing/2014/main" id="{ABB6A542-0370-1DB4-0B92-ACFCB3B9CB8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clrChange>
                <a:clrFrom>
                  <a:srgbClr val="2F64D1"/>
                </a:clrFrom>
                <a:clrTo>
                  <a:srgbClr val="2F64D1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rot="20400000">
              <a:off x="7371776" y="5498193"/>
              <a:ext cx="881617" cy="20287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48" name="Picture 24">
              <a:extLst>
                <a:ext uri="{FF2B5EF4-FFF2-40B4-BE49-F238E27FC236}">
                  <a16:creationId xmlns:a16="http://schemas.microsoft.com/office/drawing/2014/main" id="{E26504F8-F5D7-DEC6-91CC-1DC0280B686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9001" r="-13248"/>
            <a:stretch/>
          </p:blipFill>
          <p:spPr bwMode="auto">
            <a:xfrm rot="20400000">
              <a:off x="5095780" y="5226933"/>
              <a:ext cx="824004" cy="205863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51" name="Picture 26" descr="Auth0 Single Sign On | Drupal.org">
              <a:extLst>
                <a:ext uri="{FF2B5EF4-FFF2-40B4-BE49-F238E27FC236}">
                  <a16:creationId xmlns:a16="http://schemas.microsoft.com/office/drawing/2014/main" id="{A8C15814-C481-E34A-5160-70EED91CE52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8856" r="-9198"/>
            <a:stretch/>
          </p:blipFill>
          <p:spPr bwMode="auto">
            <a:xfrm rot="20400000">
              <a:off x="9706018" y="5804365"/>
              <a:ext cx="896769" cy="2243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52" name="Picture 28" descr="Ping Identity - Tech Partners | Cloudflare">
              <a:extLst>
                <a:ext uri="{FF2B5EF4-FFF2-40B4-BE49-F238E27FC236}">
                  <a16:creationId xmlns:a16="http://schemas.microsoft.com/office/drawing/2014/main" id="{17507EF9-E426-FCA4-239C-79F067F3DF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4073" b="21793"/>
            <a:stretch/>
          </p:blipFill>
          <p:spPr bwMode="auto">
            <a:xfrm rot="20400000">
              <a:off x="9649415" y="5530412"/>
              <a:ext cx="987543" cy="19703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CF4DFD2-74EA-ACF9-83A5-84644FF1E9C3}"/>
              </a:ext>
            </a:extLst>
          </p:cNvPr>
          <p:cNvGrpSpPr/>
          <p:nvPr/>
        </p:nvGrpSpPr>
        <p:grpSpPr>
          <a:xfrm>
            <a:off x="1782480" y="2002426"/>
            <a:ext cx="9320903" cy="2814640"/>
            <a:chOff x="2688218" y="2002426"/>
            <a:chExt cx="9320903" cy="281464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BAEA8EE-8769-4D46-8095-C63827A89660}"/>
                </a:ext>
              </a:extLst>
            </p:cNvPr>
            <p:cNvSpPr/>
            <p:nvPr/>
          </p:nvSpPr>
          <p:spPr>
            <a:xfrm>
              <a:off x="3000799" y="2002426"/>
              <a:ext cx="9008322" cy="2814640"/>
            </a:xfrm>
            <a:prstGeom prst="rect">
              <a:avLst/>
            </a:prstGeom>
            <a:solidFill>
              <a:srgbClr val="FF9900">
                <a:alpha val="50000"/>
              </a:srgbClr>
            </a:solidFill>
            <a:ln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NZ" sz="2000" dirty="0">
                <a:solidFill>
                  <a:schemeClr val="tx1"/>
                </a:solidFill>
              </a:endParaRPr>
            </a:p>
          </p:txBody>
        </p:sp>
        <p:pic>
          <p:nvPicPr>
            <p:cNvPr id="18" name="Picture 2" descr="Amazon Web Services: download vector logo and get Amazon Web Services brand  information and colors.">
              <a:extLst>
                <a:ext uri="{FF2B5EF4-FFF2-40B4-BE49-F238E27FC236}">
                  <a16:creationId xmlns:a16="http://schemas.microsoft.com/office/drawing/2014/main" id="{CDBBA71A-D3E7-2B7F-C1B5-D509DF6199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5400000">
              <a:off x="2443574" y="2484067"/>
              <a:ext cx="1712512" cy="12232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1106" name="Straight Arrow Connector 29">
            <a:extLst>
              <a:ext uri="{FF2B5EF4-FFF2-40B4-BE49-F238E27FC236}">
                <a16:creationId xmlns:a16="http://schemas.microsoft.com/office/drawing/2014/main" id="{B5910466-6D88-1235-F064-DA13BCB2DE27}"/>
              </a:ext>
            </a:extLst>
          </p:cNvPr>
          <p:cNvCxnSpPr>
            <a:cxnSpLocks/>
            <a:stCxn id="43" idx="2"/>
            <a:endCxn id="89" idx="2"/>
          </p:cNvCxnSpPr>
          <p:nvPr/>
        </p:nvCxnSpPr>
        <p:spPr>
          <a:xfrm>
            <a:off x="9408949" y="2447823"/>
            <a:ext cx="2578" cy="1903316"/>
          </a:xfrm>
          <a:prstGeom prst="straightConnector1">
            <a:avLst/>
          </a:prstGeom>
          <a:ln w="12700" cap="flat" cmpd="sng" algn="ctr">
            <a:solidFill>
              <a:schemeClr val="accent6">
                <a:lumMod val="75000"/>
              </a:schemeClr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5" name="Straight Arrow Connector 29">
            <a:extLst>
              <a:ext uri="{FF2B5EF4-FFF2-40B4-BE49-F238E27FC236}">
                <a16:creationId xmlns:a16="http://schemas.microsoft.com/office/drawing/2014/main" id="{3E69B5C8-CE19-F98F-38EA-BFA0CD505A70}"/>
              </a:ext>
            </a:extLst>
          </p:cNvPr>
          <p:cNvCxnSpPr>
            <a:cxnSpLocks/>
            <a:stCxn id="43" idx="2"/>
            <a:endCxn id="109" idx="0"/>
          </p:cNvCxnSpPr>
          <p:nvPr/>
        </p:nvCxnSpPr>
        <p:spPr>
          <a:xfrm>
            <a:off x="9408949" y="2447823"/>
            <a:ext cx="1123774" cy="1903314"/>
          </a:xfrm>
          <a:prstGeom prst="straightConnector1">
            <a:avLst/>
          </a:prstGeom>
          <a:ln w="12700" cap="flat" cmpd="sng" algn="ctr">
            <a:solidFill>
              <a:schemeClr val="accent6">
                <a:lumMod val="75000"/>
              </a:schemeClr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9" name="Straight Arrow Connector 29">
            <a:extLst>
              <a:ext uri="{FF2B5EF4-FFF2-40B4-BE49-F238E27FC236}">
                <a16:creationId xmlns:a16="http://schemas.microsoft.com/office/drawing/2014/main" id="{3D787191-AC27-7568-1FC7-3A04E6B5E1AC}"/>
              </a:ext>
            </a:extLst>
          </p:cNvPr>
          <p:cNvCxnSpPr>
            <a:cxnSpLocks/>
            <a:stCxn id="43" idx="1"/>
            <a:endCxn id="2" idx="3"/>
          </p:cNvCxnSpPr>
          <p:nvPr/>
        </p:nvCxnSpPr>
        <p:spPr>
          <a:xfrm flipH="1">
            <a:off x="4485005" y="2295411"/>
            <a:ext cx="4387320" cy="1479730"/>
          </a:xfrm>
          <a:prstGeom prst="straightConnector1">
            <a:avLst/>
          </a:prstGeom>
          <a:ln w="12700" cap="flat" cmpd="sng" algn="ctr">
            <a:solidFill>
              <a:schemeClr val="accent6">
                <a:lumMod val="75000"/>
              </a:schemeClr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232F839-F600-4F20-9972-DC3C9DE64692}"/>
              </a:ext>
            </a:extLst>
          </p:cNvPr>
          <p:cNvGrpSpPr/>
          <p:nvPr/>
        </p:nvGrpSpPr>
        <p:grpSpPr>
          <a:xfrm>
            <a:off x="5298391" y="82852"/>
            <a:ext cx="750395" cy="1353781"/>
            <a:chOff x="3782859" y="896787"/>
            <a:chExt cx="750395" cy="1353781"/>
          </a:xfrm>
          <a:solidFill>
            <a:schemeClr val="bg2">
              <a:alpha val="43922"/>
            </a:schemeClr>
          </a:solidFill>
        </p:grpSpPr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26AC7C5B-25AF-402F-89C1-3C13CC6BCA90}"/>
                </a:ext>
              </a:extLst>
            </p:cNvPr>
            <p:cNvSpPr/>
            <p:nvPr/>
          </p:nvSpPr>
          <p:spPr>
            <a:xfrm>
              <a:off x="3785461" y="896787"/>
              <a:ext cx="747793" cy="1353781"/>
            </a:xfrm>
            <a:prstGeom prst="roundRect">
              <a:avLst>
                <a:gd name="adj" fmla="val 17100"/>
              </a:avLst>
            </a:prstGeom>
            <a:grpFill/>
            <a:ln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Mobile Apps</a:t>
              </a:r>
            </a:p>
            <a:p>
              <a:pPr algn="ctr"/>
              <a:r>
                <a:rPr lang="en-US" sz="700" dirty="0">
                  <a:solidFill>
                    <a:schemeClr val="tx1"/>
                  </a:solidFill>
                </a:rPr>
                <a:t>IOS/Android</a:t>
              </a:r>
              <a:endParaRPr lang="en-NZ" sz="700" dirty="0">
                <a:solidFill>
                  <a:schemeClr val="tx1"/>
                </a:solidFill>
              </a:endParaRPr>
            </a:p>
          </p:txBody>
        </p: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93A32C36-CF7C-4E9A-A47E-910E98925428}"/>
                </a:ext>
              </a:extLst>
            </p:cNvPr>
            <p:cNvCxnSpPr/>
            <p:nvPr/>
          </p:nvCxnSpPr>
          <p:spPr>
            <a:xfrm>
              <a:off x="3782859" y="2049651"/>
              <a:ext cx="750395" cy="0"/>
            </a:xfrm>
            <a:prstGeom prst="line">
              <a:avLst/>
            </a:prstGeom>
            <a:grpFill/>
            <a:ln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1018C838-D304-4AA0-8899-629B5C87A97B}"/>
                </a:ext>
              </a:extLst>
            </p:cNvPr>
            <p:cNvSpPr/>
            <p:nvPr/>
          </p:nvSpPr>
          <p:spPr>
            <a:xfrm>
              <a:off x="4061437" y="2062517"/>
              <a:ext cx="158858" cy="158858"/>
            </a:xfrm>
            <a:prstGeom prst="ellipse">
              <a:avLst/>
            </a:prstGeom>
            <a:grpFill/>
            <a:ln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212304EA-2057-4329-8386-63CE47AE7EB7}"/>
              </a:ext>
            </a:extLst>
          </p:cNvPr>
          <p:cNvSpPr/>
          <p:nvPr/>
        </p:nvSpPr>
        <p:spPr>
          <a:xfrm>
            <a:off x="6848160" y="82536"/>
            <a:ext cx="999895" cy="1353781"/>
          </a:xfrm>
          <a:prstGeom prst="roundRect">
            <a:avLst>
              <a:gd name="adj" fmla="val 8177"/>
            </a:avLst>
          </a:prstGeom>
          <a:solidFill>
            <a:schemeClr val="bg2"/>
          </a:solidFill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3rd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Party API </a:t>
            </a:r>
            <a:r>
              <a:rPr lang="en-US" sz="1100" dirty="0">
                <a:solidFill>
                  <a:schemeClr val="tx1"/>
                </a:solidFill>
              </a:rPr>
              <a:t>Integrations</a:t>
            </a:r>
            <a:endParaRPr lang="en-NZ" sz="1200" dirty="0">
              <a:solidFill>
                <a:schemeClr val="tx1"/>
              </a:solidFill>
            </a:endParaRP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6A15F141-4A65-1DA5-647B-67CAACC0CE1E}"/>
              </a:ext>
            </a:extLst>
          </p:cNvPr>
          <p:cNvGrpSpPr/>
          <p:nvPr/>
        </p:nvGrpSpPr>
        <p:grpSpPr>
          <a:xfrm>
            <a:off x="2839480" y="57744"/>
            <a:ext cx="1483536" cy="1640909"/>
            <a:chOff x="350729" y="2317762"/>
            <a:chExt cx="1483536" cy="1640909"/>
          </a:xfrm>
        </p:grpSpPr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D076736D-64FC-08B2-ACE4-AFB3B917B333}"/>
                </a:ext>
              </a:extLst>
            </p:cNvPr>
            <p:cNvSpPr/>
            <p:nvPr/>
          </p:nvSpPr>
          <p:spPr>
            <a:xfrm>
              <a:off x="1254451" y="3423388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EF31F507-A3A5-0879-59C4-6B2DF161F519}"/>
                </a:ext>
              </a:extLst>
            </p:cNvPr>
            <p:cNvSpPr/>
            <p:nvPr/>
          </p:nvSpPr>
          <p:spPr>
            <a:xfrm>
              <a:off x="772441" y="3415183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1F52BA5F-22A0-4E37-9B2E-CD7BE871A91C}"/>
                </a:ext>
              </a:extLst>
            </p:cNvPr>
            <p:cNvSpPr/>
            <p:nvPr/>
          </p:nvSpPr>
          <p:spPr>
            <a:xfrm>
              <a:off x="350729" y="2342870"/>
              <a:ext cx="1483536" cy="1325733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Web</a:t>
              </a:r>
              <a:br>
                <a:rPr lang="en-US" sz="1200" dirty="0">
                  <a:solidFill>
                    <a:schemeClr val="tx1"/>
                  </a:solidFill>
                </a:rPr>
              </a:br>
              <a:r>
                <a:rPr lang="en-US" sz="1200" dirty="0">
                  <a:solidFill>
                    <a:schemeClr val="tx1"/>
                  </a:solidFill>
                </a:rPr>
                <a:t>Browsers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126" name="Rectangle: Rounded Corners 125">
              <a:extLst>
                <a:ext uri="{FF2B5EF4-FFF2-40B4-BE49-F238E27FC236}">
                  <a16:creationId xmlns:a16="http://schemas.microsoft.com/office/drawing/2014/main" id="{5203ADBF-36B0-41A5-808E-D7DAF9BF826F}"/>
                </a:ext>
              </a:extLst>
            </p:cNvPr>
            <p:cNvSpPr/>
            <p:nvPr/>
          </p:nvSpPr>
          <p:spPr>
            <a:xfrm>
              <a:off x="675540" y="2959621"/>
              <a:ext cx="857947" cy="619153"/>
            </a:xfrm>
            <a:prstGeom prst="roundRect">
              <a:avLst>
                <a:gd name="adj" fmla="val 9701"/>
              </a:avLst>
            </a:prstGeom>
            <a:solidFill>
              <a:srgbClr val="2B2C2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 dirty="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8BE48E9F-D9C9-40D8-92E6-0FB5D1DDB150}"/>
                </a:ext>
              </a:extLst>
            </p:cNvPr>
            <p:cNvSpPr txBox="1"/>
            <p:nvPr/>
          </p:nvSpPr>
          <p:spPr>
            <a:xfrm rot="16200000">
              <a:off x="846371" y="3007412"/>
              <a:ext cx="164090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050" dirty="0">
                  <a:solidFill>
                    <a:schemeClr val="bg2">
                      <a:lumMod val="50000"/>
                    </a:schemeClr>
                  </a:solidFill>
                </a:rPr>
                <a:t>Chrome,  Firefox, </a:t>
              </a:r>
              <a:r>
                <a:rPr lang="en-US" sz="1050" dirty="0" err="1">
                  <a:solidFill>
                    <a:schemeClr val="bg2">
                      <a:lumMod val="50000"/>
                    </a:schemeClr>
                  </a:solidFill>
                </a:rPr>
                <a:t>etc</a:t>
              </a:r>
              <a:endParaRPr lang="en-NZ" sz="105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pic>
          <p:nvPicPr>
            <p:cNvPr id="1030" name="Picture 6" descr="What is React JS? | Ironhack Blog">
              <a:extLst>
                <a:ext uri="{FF2B5EF4-FFF2-40B4-BE49-F238E27FC236}">
                  <a16:creationId xmlns:a16="http://schemas.microsoft.com/office/drawing/2014/main" id="{4E73A939-500C-05AB-A146-85C38626F2F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3152" y="3124161"/>
              <a:ext cx="725292" cy="3030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91" name="Straight Arrow Connector 29">
            <a:extLst>
              <a:ext uri="{FF2B5EF4-FFF2-40B4-BE49-F238E27FC236}">
                <a16:creationId xmlns:a16="http://schemas.microsoft.com/office/drawing/2014/main" id="{CA0E3A0E-E2D9-A012-7C20-A72902C2AC69}"/>
              </a:ext>
            </a:extLst>
          </p:cNvPr>
          <p:cNvCxnSpPr>
            <a:cxnSpLocks/>
            <a:stCxn id="86" idx="3"/>
            <a:endCxn id="3" idx="3"/>
          </p:cNvCxnSpPr>
          <p:nvPr/>
        </p:nvCxnSpPr>
        <p:spPr>
          <a:xfrm rot="10800000">
            <a:off x="8359010" y="3513183"/>
            <a:ext cx="422051" cy="1037922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9" name="Straight Arrow Connector 38">
            <a:extLst>
              <a:ext uri="{FF2B5EF4-FFF2-40B4-BE49-F238E27FC236}">
                <a16:creationId xmlns:a16="http://schemas.microsoft.com/office/drawing/2014/main" id="{16AA8358-75EE-052F-6D67-CDFCB046DC46}"/>
              </a:ext>
            </a:extLst>
          </p:cNvPr>
          <p:cNvCxnSpPr>
            <a:cxnSpLocks/>
            <a:stCxn id="126" idx="1"/>
            <a:endCxn id="98" idx="0"/>
          </p:cNvCxnSpPr>
          <p:nvPr/>
        </p:nvCxnSpPr>
        <p:spPr>
          <a:xfrm rot="10800000" flipV="1">
            <a:off x="2008519" y="1009180"/>
            <a:ext cx="1155772" cy="4539826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55" name="TextBox 1054">
            <a:extLst>
              <a:ext uri="{FF2B5EF4-FFF2-40B4-BE49-F238E27FC236}">
                <a16:creationId xmlns:a16="http://schemas.microsoft.com/office/drawing/2014/main" id="{283E1D77-6D8C-B9C0-F44C-1DEF8AD3BB5F}"/>
              </a:ext>
            </a:extLst>
          </p:cNvPr>
          <p:cNvSpPr txBox="1"/>
          <p:nvPr/>
        </p:nvSpPr>
        <p:spPr>
          <a:xfrm>
            <a:off x="3217865" y="2148271"/>
            <a:ext cx="4780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JSON</a:t>
            </a:r>
            <a:endParaRPr lang="en-NZ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51A4B0B-742D-4FF2-AB30-35E80B97B20E}"/>
              </a:ext>
            </a:extLst>
          </p:cNvPr>
          <p:cNvCxnSpPr>
            <a:cxnSpLocks/>
            <a:endCxn id="10" idx="1"/>
          </p:cNvCxnSpPr>
          <p:nvPr/>
        </p:nvCxnSpPr>
        <p:spPr>
          <a:xfrm rot="16200000" flipH="1">
            <a:off x="3178176" y="1979053"/>
            <a:ext cx="1562884" cy="206266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399CA70-A060-4B70-8511-F58E5877045C}"/>
              </a:ext>
            </a:extLst>
          </p:cNvPr>
          <p:cNvCxnSpPr>
            <a:cxnSpLocks/>
            <a:stCxn id="127" idx="4"/>
            <a:endCxn id="11" idx="1"/>
          </p:cNvCxnSpPr>
          <p:nvPr/>
        </p:nvCxnSpPr>
        <p:spPr>
          <a:xfrm rot="5400000">
            <a:off x="2509825" y="2039471"/>
            <a:ext cx="1562884" cy="8543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accent5">
                <a:lumMod val="50000"/>
              </a:schemeClr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7" name="Straight Arrow Connector 38">
            <a:extLst>
              <a:ext uri="{FF2B5EF4-FFF2-40B4-BE49-F238E27FC236}">
                <a16:creationId xmlns:a16="http://schemas.microsoft.com/office/drawing/2014/main" id="{5977C817-6F2D-46F1-95D4-88280A372297}"/>
              </a:ext>
            </a:extLst>
          </p:cNvPr>
          <p:cNvCxnSpPr>
            <a:cxnSpLocks/>
            <a:stCxn id="126" idx="2"/>
            <a:endCxn id="56" idx="1"/>
          </p:cNvCxnSpPr>
          <p:nvPr/>
        </p:nvCxnSpPr>
        <p:spPr>
          <a:xfrm rot="16200000" flipH="1">
            <a:off x="2857649" y="2054372"/>
            <a:ext cx="1544873" cy="73640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DA08A5B-CEA6-4501-B565-49E93450C357}"/>
              </a:ext>
            </a:extLst>
          </p:cNvPr>
          <p:cNvCxnSpPr>
            <a:cxnSpLocks/>
            <a:stCxn id="55" idx="2"/>
            <a:endCxn id="53" idx="2"/>
          </p:cNvCxnSpPr>
          <p:nvPr/>
        </p:nvCxnSpPr>
        <p:spPr>
          <a:xfrm>
            <a:off x="5674890" y="1436633"/>
            <a:ext cx="1040178" cy="89076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56" name="Straight Arrow Connector 65">
            <a:extLst>
              <a:ext uri="{FF2B5EF4-FFF2-40B4-BE49-F238E27FC236}">
                <a16:creationId xmlns:a16="http://schemas.microsoft.com/office/drawing/2014/main" id="{7E583BB9-4B97-ACE4-B2B2-4A6857AA9C34}"/>
              </a:ext>
            </a:extLst>
          </p:cNvPr>
          <p:cNvCxnSpPr>
            <a:cxnSpLocks/>
            <a:stCxn id="69" idx="2"/>
            <a:endCxn id="53" idx="7"/>
          </p:cNvCxnSpPr>
          <p:nvPr/>
        </p:nvCxnSpPr>
        <p:spPr>
          <a:xfrm flipH="1">
            <a:off x="6865251" y="1436317"/>
            <a:ext cx="482857" cy="82886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17" name="TextBox 1216">
            <a:extLst>
              <a:ext uri="{FF2B5EF4-FFF2-40B4-BE49-F238E27FC236}">
                <a16:creationId xmlns:a16="http://schemas.microsoft.com/office/drawing/2014/main" id="{E949F42A-A49D-9D54-30A5-0F2AF9AA8E33}"/>
              </a:ext>
            </a:extLst>
          </p:cNvPr>
          <p:cNvSpPr txBox="1"/>
          <p:nvPr/>
        </p:nvSpPr>
        <p:spPr>
          <a:xfrm>
            <a:off x="8526543" y="4179531"/>
            <a:ext cx="161454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/>
              <a:t>+Emails/Audits/Usages/Events</a:t>
            </a:r>
          </a:p>
        </p:txBody>
      </p:sp>
      <p:cxnSp>
        <p:nvCxnSpPr>
          <p:cNvPr id="70" name="Straight Arrow Connector 29">
            <a:extLst>
              <a:ext uri="{FF2B5EF4-FFF2-40B4-BE49-F238E27FC236}">
                <a16:creationId xmlns:a16="http://schemas.microsoft.com/office/drawing/2014/main" id="{851C2095-F713-4951-80B9-7DE650037746}"/>
              </a:ext>
            </a:extLst>
          </p:cNvPr>
          <p:cNvCxnSpPr>
            <a:cxnSpLocks/>
            <a:stCxn id="112" idx="1"/>
            <a:endCxn id="3" idx="3"/>
          </p:cNvCxnSpPr>
          <p:nvPr/>
        </p:nvCxnSpPr>
        <p:spPr>
          <a:xfrm rot="10800000" flipV="1">
            <a:off x="8359009" y="3346733"/>
            <a:ext cx="418536" cy="166449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3" name="Straight Arrow Connector 29">
            <a:extLst>
              <a:ext uri="{FF2B5EF4-FFF2-40B4-BE49-F238E27FC236}">
                <a16:creationId xmlns:a16="http://schemas.microsoft.com/office/drawing/2014/main" id="{F07E4B6B-D255-479C-B90B-FCAC77695863}"/>
              </a:ext>
            </a:extLst>
          </p:cNvPr>
          <p:cNvCxnSpPr>
            <a:cxnSpLocks/>
            <a:stCxn id="111" idx="1"/>
            <a:endCxn id="3" idx="3"/>
          </p:cNvCxnSpPr>
          <p:nvPr/>
        </p:nvCxnSpPr>
        <p:spPr>
          <a:xfrm rot="10800000" flipV="1">
            <a:off x="8359009" y="2791775"/>
            <a:ext cx="418536" cy="721407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16" name="TextBox 1315">
            <a:extLst>
              <a:ext uri="{FF2B5EF4-FFF2-40B4-BE49-F238E27FC236}">
                <a16:creationId xmlns:a16="http://schemas.microsoft.com/office/drawing/2014/main" id="{16EBEA88-F71A-A8EA-9DEE-E009F0D06DA6}"/>
              </a:ext>
            </a:extLst>
          </p:cNvPr>
          <p:cNvSpPr txBox="1"/>
          <p:nvPr/>
        </p:nvSpPr>
        <p:spPr>
          <a:xfrm rot="5400000">
            <a:off x="10553637" y="3716553"/>
            <a:ext cx="16241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/>
              <a:t>+Emails / Usages / Audits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C571AFD-67BD-2CB7-4657-ADFA9623E8B8}"/>
              </a:ext>
            </a:extLst>
          </p:cNvPr>
          <p:cNvGrpSpPr/>
          <p:nvPr/>
        </p:nvGrpSpPr>
        <p:grpSpPr>
          <a:xfrm>
            <a:off x="2844096" y="2862345"/>
            <a:ext cx="1640909" cy="1825592"/>
            <a:chOff x="3749834" y="2862345"/>
            <a:chExt cx="1640909" cy="1825592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979FA3E0-B6D8-0556-107B-35385444F0D1}"/>
                </a:ext>
              </a:extLst>
            </p:cNvPr>
            <p:cNvGrpSpPr/>
            <p:nvPr/>
          </p:nvGrpSpPr>
          <p:grpSpPr>
            <a:xfrm>
              <a:off x="3749834" y="2862345"/>
              <a:ext cx="1640909" cy="1825592"/>
              <a:chOff x="2698105" y="3204588"/>
              <a:chExt cx="1640909" cy="1825592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22D0A4C4-2426-4AF2-AD8F-F95EFF6E0024}"/>
                  </a:ext>
                </a:extLst>
              </p:cNvPr>
              <p:cNvSpPr/>
              <p:nvPr/>
            </p:nvSpPr>
            <p:spPr>
              <a:xfrm>
                <a:off x="2698105" y="3204588"/>
                <a:ext cx="1640909" cy="1825592"/>
              </a:xfrm>
              <a:prstGeom prst="roundRect">
                <a:avLst>
                  <a:gd name="adj" fmla="val 5101"/>
                </a:avLst>
              </a:prstGeom>
              <a:solidFill>
                <a:srgbClr val="FA7E14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    Backend</a:t>
                </a:r>
              </a:p>
              <a:p>
                <a:r>
                  <a:rPr lang="en-US" sz="1200" dirty="0"/>
                  <a:t>               4FrontEnd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FDEFF57D-C769-4C2F-B980-C00D75C9D487}"/>
                  </a:ext>
                </a:extLst>
              </p:cNvPr>
              <p:cNvSpPr/>
              <p:nvPr/>
            </p:nvSpPr>
            <p:spPr>
              <a:xfrm rot="5400000">
                <a:off x="3396930" y="3521132"/>
                <a:ext cx="1039660" cy="409138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/>
                  <a:t>CSS,JS,HTML</a:t>
                </a:r>
                <a:endParaRPr lang="en-NZ" sz="1100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B660F30-5AB5-4A32-BACB-62D8BF91F3CE}"/>
                  </a:ext>
                </a:extLst>
              </p:cNvPr>
              <p:cNvSpPr/>
              <p:nvPr/>
            </p:nvSpPr>
            <p:spPr>
              <a:xfrm rot="5400000">
                <a:off x="2582730" y="3493838"/>
                <a:ext cx="1039660" cy="463726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AuthN API</a:t>
                </a:r>
                <a:endParaRPr lang="en-NZ" sz="1200" dirty="0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4D911064-AD93-48F2-9B2E-1D800EBC7E84}"/>
                  </a:ext>
                </a:extLst>
              </p:cNvPr>
              <p:cNvSpPr/>
              <p:nvPr/>
            </p:nvSpPr>
            <p:spPr>
              <a:xfrm rot="5400000">
                <a:off x="3001084" y="3535773"/>
                <a:ext cx="1039660" cy="379857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Reverse Proxy</a:t>
                </a:r>
                <a:endParaRPr lang="en-NZ" sz="1200" dirty="0"/>
              </a:p>
            </p:txBody>
          </p:sp>
        </p:grpSp>
        <p:pic>
          <p:nvPicPr>
            <p:cNvPr id="29" name="Picture 4" descr="Aws Lambda Vector Logo - Download Free SVG Icon | Worldvectorlogo">
              <a:extLst>
                <a:ext uri="{FF2B5EF4-FFF2-40B4-BE49-F238E27FC236}">
                  <a16:creationId xmlns:a16="http://schemas.microsoft.com/office/drawing/2014/main" id="{11BC8145-A791-B7CE-B81A-6728D2A757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09733" y="4176473"/>
              <a:ext cx="396942" cy="4058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9AA6F1C-470A-D7EF-3AE5-95FA151B6A28}"/>
              </a:ext>
            </a:extLst>
          </p:cNvPr>
          <p:cNvGrpSpPr/>
          <p:nvPr/>
        </p:nvGrpSpPr>
        <p:grpSpPr>
          <a:xfrm>
            <a:off x="5146017" y="2239419"/>
            <a:ext cx="3212992" cy="2454639"/>
            <a:chOff x="6051755" y="2239419"/>
            <a:chExt cx="3212992" cy="2454639"/>
          </a:xfrm>
        </p:grpSpPr>
        <p:grpSp>
          <p:nvGrpSpPr>
            <p:cNvPr id="1116" name="Group 1115">
              <a:extLst>
                <a:ext uri="{FF2B5EF4-FFF2-40B4-BE49-F238E27FC236}">
                  <a16:creationId xmlns:a16="http://schemas.microsoft.com/office/drawing/2014/main" id="{35C19940-940A-A1A0-8DB5-FE35D35F6577}"/>
                </a:ext>
              </a:extLst>
            </p:cNvPr>
            <p:cNvGrpSpPr/>
            <p:nvPr/>
          </p:nvGrpSpPr>
          <p:grpSpPr>
            <a:xfrm>
              <a:off x="6051755" y="2239419"/>
              <a:ext cx="3212992" cy="2454639"/>
              <a:chOff x="6385557" y="1575627"/>
              <a:chExt cx="3212992" cy="2454639"/>
            </a:xfrm>
          </p:grpSpPr>
          <p:sp>
            <p:nvSpPr>
              <p:cNvPr id="1049" name="Oval 1048">
                <a:extLst>
                  <a:ext uri="{FF2B5EF4-FFF2-40B4-BE49-F238E27FC236}">
                    <a16:creationId xmlns:a16="http://schemas.microsoft.com/office/drawing/2014/main" id="{410C30EB-4ADA-89FD-15B7-BF7F008DA1F5}"/>
                  </a:ext>
                </a:extLst>
              </p:cNvPr>
              <p:cNvSpPr/>
              <p:nvPr/>
            </p:nvSpPr>
            <p:spPr>
              <a:xfrm>
                <a:off x="7870866" y="1644358"/>
                <a:ext cx="227313" cy="227313"/>
              </a:xfrm>
              <a:prstGeom prst="ellips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61C2E7D4-D996-FB5C-BA2F-7A14D9325855}"/>
                  </a:ext>
                </a:extLst>
              </p:cNvPr>
              <p:cNvSpPr/>
              <p:nvPr/>
            </p:nvSpPr>
            <p:spPr>
              <a:xfrm>
                <a:off x="7833372" y="2052207"/>
                <a:ext cx="175950" cy="175950"/>
              </a:xfrm>
              <a:prstGeom prst="ellipse">
                <a:avLst/>
              </a:prstGeom>
              <a:solidFill>
                <a:srgbClr val="0078D7"/>
              </a:solidFill>
              <a:ln>
                <a:solidFill>
                  <a:srgbClr val="0078D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7473CE81-DD1B-2B5A-8654-54F889646FE0}"/>
                  </a:ext>
                </a:extLst>
              </p:cNvPr>
              <p:cNvSpPr/>
              <p:nvPr/>
            </p:nvSpPr>
            <p:spPr>
              <a:xfrm>
                <a:off x="6390891" y="2888111"/>
                <a:ext cx="175950" cy="17595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A7D40E5A-83F0-BB2A-061D-366EC6EFE931}"/>
                  </a:ext>
                </a:extLst>
              </p:cNvPr>
              <p:cNvSpPr/>
              <p:nvPr/>
            </p:nvSpPr>
            <p:spPr>
              <a:xfrm>
                <a:off x="6397527" y="3455086"/>
                <a:ext cx="175950" cy="17595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0CF88265-2857-4675-9232-BD2B84E9E536}"/>
                  </a:ext>
                </a:extLst>
              </p:cNvPr>
              <p:cNvSpPr/>
              <p:nvPr/>
            </p:nvSpPr>
            <p:spPr>
              <a:xfrm>
                <a:off x="6385557" y="1668515"/>
                <a:ext cx="3212992" cy="2361751"/>
              </a:xfrm>
              <a:prstGeom prst="roundRect">
                <a:avLst>
                  <a:gd name="adj" fmla="val 4576"/>
                </a:avLst>
              </a:prstGeom>
              <a:solidFill>
                <a:srgbClr val="FA7E14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</a:t>
                </a:r>
                <a:r>
                  <a:rPr lang="en-US" sz="1200" dirty="0" err="1"/>
                  <a:t>BackEnd</a:t>
                </a:r>
                <a:r>
                  <a:rPr lang="en-US" sz="1200" dirty="0"/>
                  <a:t> API</a:t>
                </a:r>
              </a:p>
              <a:p>
                <a:r>
                  <a:rPr lang="en-US" sz="800" dirty="0"/>
                  <a:t>                      (</a:t>
                </a:r>
                <a:r>
                  <a:rPr lang="en-US" sz="800" dirty="0">
                    <a:solidFill>
                      <a:schemeClr val="bg1">
                        <a:lumMod val="85000"/>
                      </a:schemeClr>
                    </a:solidFill>
                    <a:latin typeface="Simplified Arabic Fixed" panose="02070309020205020404" pitchFamily="49" charset="-78"/>
                    <a:cs typeface="Simplified Arabic Fixed" panose="02070309020205020404" pitchFamily="49" charset="-78"/>
                  </a:rPr>
                  <a:t>Modular Monolith</a:t>
                </a:r>
                <a:r>
                  <a:rPr lang="en-US" sz="800" dirty="0"/>
                  <a:t>)</a:t>
                </a:r>
                <a:endParaRPr lang="en-NZ" dirty="0"/>
              </a:p>
            </p:txBody>
          </p: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66ED815D-E7F7-6E65-52B7-2778D1CF4873}"/>
                  </a:ext>
                </a:extLst>
              </p:cNvPr>
              <p:cNvSpPr/>
              <p:nvPr/>
            </p:nvSpPr>
            <p:spPr>
              <a:xfrm>
                <a:off x="7954608" y="1575627"/>
                <a:ext cx="175950" cy="175950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EEFDF9C-F183-4E96-90CA-DEAE06BB9382}"/>
                  </a:ext>
                </a:extLst>
              </p:cNvPr>
              <p:cNvSpPr/>
              <p:nvPr/>
            </p:nvSpPr>
            <p:spPr>
              <a:xfrm rot="5400000">
                <a:off x="6148670" y="2452453"/>
                <a:ext cx="1237773" cy="59363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accent2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  Product Specific APIs</a:t>
                </a:r>
                <a:endParaRPr lang="en-NZ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FAF7121-EDDA-4DCF-8AB1-ADCA48651E99}"/>
                  </a:ext>
                </a:extLst>
              </p:cNvPr>
              <p:cNvSpPr/>
              <p:nvPr/>
            </p:nvSpPr>
            <p:spPr>
              <a:xfrm rot="5400000">
                <a:off x="6914468" y="2600854"/>
                <a:ext cx="1237772" cy="296833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bg2">
                        <a:lumMod val="25000"/>
                      </a:schemeClr>
                    </a:solidFill>
                  </a:rPr>
                  <a:t>Subscription</a:t>
                </a:r>
                <a:r>
                  <a:rPr lang="en-US" sz="1200" dirty="0"/>
                  <a:t> </a:t>
                </a:r>
                <a:r>
                  <a:rPr lang="en-US" sz="1200" dirty="0">
                    <a:solidFill>
                      <a:schemeClr val="bg2">
                        <a:lumMod val="25000"/>
                      </a:schemeClr>
                    </a:solidFill>
                  </a:rPr>
                  <a:t>API</a:t>
                </a:r>
                <a:endParaRPr lang="en-NZ" sz="1200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0E7A885-C86F-47E1-9893-E63DEDC0EEAF}"/>
                  </a:ext>
                </a:extLst>
              </p:cNvPr>
              <p:cNvSpPr/>
              <p:nvPr/>
            </p:nvSpPr>
            <p:spPr>
              <a:xfrm rot="5400000">
                <a:off x="7215035" y="2600854"/>
                <a:ext cx="1237772" cy="296833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>
                    <a:solidFill>
                      <a:schemeClr val="bg2">
                        <a:lumMod val="25000"/>
                      </a:schemeClr>
                    </a:solidFill>
                  </a:rPr>
                  <a:t>UserProfile</a:t>
                </a:r>
                <a:r>
                  <a:rPr lang="en-US" sz="1200" dirty="0">
                    <a:solidFill>
                      <a:schemeClr val="bg2">
                        <a:lumMod val="25000"/>
                      </a:schemeClr>
                    </a:solidFill>
                  </a:rPr>
                  <a:t> API</a:t>
                </a:r>
                <a:endParaRPr lang="en-NZ" sz="1200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4DCC080-DF09-416A-924D-2B614F317884}"/>
                  </a:ext>
                </a:extLst>
              </p:cNvPr>
              <p:cNvSpPr/>
              <p:nvPr/>
            </p:nvSpPr>
            <p:spPr>
              <a:xfrm rot="5400000">
                <a:off x="7542111" y="2572633"/>
                <a:ext cx="1237772" cy="353274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>
                    <a:solidFill>
                      <a:schemeClr val="bg2">
                        <a:lumMod val="25000"/>
                      </a:schemeClr>
                    </a:solidFill>
                  </a:rPr>
                  <a:t>EndUser</a:t>
                </a:r>
                <a:r>
                  <a:rPr lang="en-US" sz="1200" dirty="0">
                    <a:solidFill>
                      <a:schemeClr val="bg2">
                        <a:lumMod val="25000"/>
                      </a:schemeClr>
                    </a:solidFill>
                  </a:rPr>
                  <a:t> API</a:t>
                </a:r>
                <a:endParaRPr lang="en-NZ" sz="1200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7323949-A812-47EC-A589-01F361E0AB6B}"/>
                  </a:ext>
                </a:extLst>
              </p:cNvPr>
              <p:cNvSpPr/>
              <p:nvPr/>
            </p:nvSpPr>
            <p:spPr>
              <a:xfrm rot="5400000">
                <a:off x="8682650" y="2525712"/>
                <a:ext cx="1236528" cy="445873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bg2">
                        <a:lumMod val="25000"/>
                      </a:schemeClr>
                    </a:solidFill>
                  </a:rPr>
                  <a:t>Ancillary API</a:t>
                </a:r>
                <a:endParaRPr lang="en-NZ" sz="1200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1891B7E-0E51-466C-96CF-29970B10EFA1}"/>
                  </a:ext>
                </a:extLst>
              </p:cNvPr>
              <p:cNvSpPr/>
              <p:nvPr/>
            </p:nvSpPr>
            <p:spPr>
              <a:xfrm rot="5400000">
                <a:off x="6602651" y="2592108"/>
                <a:ext cx="1237679" cy="314232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bg2">
                        <a:lumMod val="25000"/>
                      </a:schemeClr>
                    </a:solidFill>
                  </a:rPr>
                  <a:t>Identity API</a:t>
                </a:r>
                <a:endParaRPr lang="en-NZ" sz="1200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D0FD1454-E5E9-4812-868B-99F448ED04B0}"/>
                  </a:ext>
                </a:extLst>
              </p:cNvPr>
              <p:cNvSpPr/>
              <p:nvPr/>
            </p:nvSpPr>
            <p:spPr>
              <a:xfrm rot="16200000">
                <a:off x="7763947" y="370393"/>
                <a:ext cx="467847" cy="3054263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" rtlCol="0" anchor="ctr"/>
              <a:lstStyle/>
              <a:p>
                <a:pPr algn="ctr"/>
                <a:r>
                  <a:rPr lang="en-US" dirty="0"/>
                  <a:t>API Gateway</a:t>
                </a:r>
                <a:endParaRPr lang="en-NZ" dirty="0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44C5CFFB-1FA6-24C4-6C25-D1488EFC8C22}"/>
                  </a:ext>
                </a:extLst>
              </p:cNvPr>
              <p:cNvSpPr/>
              <p:nvPr/>
            </p:nvSpPr>
            <p:spPr>
              <a:xfrm rot="5400000">
                <a:off x="7904921" y="2566490"/>
                <a:ext cx="1237680" cy="365469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bg2">
                        <a:lumMod val="25000"/>
                      </a:schemeClr>
                    </a:solidFill>
                  </a:rPr>
                  <a:t>Organization  API</a:t>
                </a:r>
                <a:endParaRPr lang="en-NZ" sz="1200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  <p:sp>
            <p:nvSpPr>
              <p:cNvPr id="1105" name="Rectangle 1104">
                <a:extLst>
                  <a:ext uri="{FF2B5EF4-FFF2-40B4-BE49-F238E27FC236}">
                    <a16:creationId xmlns:a16="http://schemas.microsoft.com/office/drawing/2014/main" id="{DB3464EC-EFA8-DB75-4DB6-B95D7AF41B6A}"/>
                  </a:ext>
                </a:extLst>
              </p:cNvPr>
              <p:cNvSpPr/>
              <p:nvPr/>
            </p:nvSpPr>
            <p:spPr>
              <a:xfrm rot="5400000">
                <a:off x="8272457" y="2566490"/>
                <a:ext cx="1237680" cy="365469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bg2">
                        <a:lumMod val="25000"/>
                      </a:schemeClr>
                    </a:solidFill>
                  </a:rPr>
                  <a:t>Image API</a:t>
                </a:r>
                <a:endParaRPr lang="en-NZ" sz="1200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</p:grpSp>
        <p:pic>
          <p:nvPicPr>
            <p:cNvPr id="31" name="Picture 4" descr="Aws Lambda Vector Logo - Download Free SVG Icon | Worldvectorlogo">
              <a:extLst>
                <a:ext uri="{FF2B5EF4-FFF2-40B4-BE49-F238E27FC236}">
                  <a16:creationId xmlns:a16="http://schemas.microsoft.com/office/drawing/2014/main" id="{C74D0166-A9FF-7A0A-1BF7-87471A0E71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27472" y="4198917"/>
              <a:ext cx="396942" cy="4058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5BD7101-4650-48C8-B739-FACCCFD8F40A}"/>
              </a:ext>
            </a:extLst>
          </p:cNvPr>
          <p:cNvCxnSpPr>
            <a:cxnSpLocks/>
            <a:stCxn id="56" idx="3"/>
            <a:endCxn id="53" idx="1"/>
          </p:cNvCxnSpPr>
          <p:nvPr/>
        </p:nvCxnSpPr>
        <p:spPr>
          <a:xfrm rot="5400000" flipH="1" flipV="1">
            <a:off x="4384818" y="1547273"/>
            <a:ext cx="1638103" cy="3073930"/>
          </a:xfrm>
          <a:prstGeom prst="bentConnector5">
            <a:avLst>
              <a:gd name="adj1" fmla="val -21321"/>
              <a:gd name="adj2" fmla="val 39444"/>
              <a:gd name="adj3" fmla="val 111629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6F0DD28-A134-4C59-BBCA-3C72EA3ACF6A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rot="5400000" flipH="1" flipV="1">
            <a:off x="4060695" y="1982033"/>
            <a:ext cx="1109111" cy="2733400"/>
          </a:xfrm>
          <a:prstGeom prst="bentConnector5">
            <a:avLst>
              <a:gd name="adj1" fmla="val -20611"/>
              <a:gd name="adj2" fmla="val 48189"/>
              <a:gd name="adj3" fmla="val 120611"/>
            </a:avLst>
          </a:prstGeom>
          <a:ln w="19050" cap="flat" cmpd="sng" algn="ctr">
            <a:solidFill>
              <a:schemeClr val="accent5">
                <a:lumMod val="50000"/>
              </a:schemeClr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Straight Arrow Connector 29">
            <a:extLst>
              <a:ext uri="{FF2B5EF4-FFF2-40B4-BE49-F238E27FC236}">
                <a16:creationId xmlns:a16="http://schemas.microsoft.com/office/drawing/2014/main" id="{C3A3AF8E-D814-8C67-469E-CF0847F5F098}"/>
              </a:ext>
            </a:extLst>
          </p:cNvPr>
          <p:cNvCxnSpPr>
            <a:cxnSpLocks/>
            <a:stCxn id="13" idx="1"/>
            <a:endCxn id="106" idx="3"/>
          </p:cNvCxnSpPr>
          <p:nvPr/>
        </p:nvCxnSpPr>
        <p:spPr>
          <a:xfrm rot="16200000" flipH="1" flipV="1">
            <a:off x="3461787" y="2056634"/>
            <a:ext cx="2094484" cy="3569570"/>
          </a:xfrm>
          <a:prstGeom prst="bentConnector3">
            <a:avLst>
              <a:gd name="adj1" fmla="val -17254"/>
            </a:avLst>
          </a:prstGeom>
          <a:ln w="19050" cap="flat" cmpd="sng" algn="ctr">
            <a:solidFill>
              <a:schemeClr val="tx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E5DF524C-2D62-ED2B-EF78-96E444D53599}"/>
              </a:ext>
            </a:extLst>
          </p:cNvPr>
          <p:cNvSpPr/>
          <p:nvPr/>
        </p:nvSpPr>
        <p:spPr>
          <a:xfrm>
            <a:off x="8777545" y="2086730"/>
            <a:ext cx="2234828" cy="40928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APMs</a:t>
            </a:r>
          </a:p>
          <a:p>
            <a:pPr algn="r"/>
            <a:r>
              <a:rPr lang="en-NZ" sz="700" dirty="0">
                <a:solidFill>
                  <a:schemeClr val="bg2">
                    <a:lumMod val="75000"/>
                  </a:schemeClr>
                </a:solidFill>
              </a:rPr>
              <a:t>(Logs, Crashes, Metrics)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3DB9256-4EC2-C755-0B85-EDB325A67548}"/>
              </a:ext>
            </a:extLst>
          </p:cNvPr>
          <p:cNvSpPr/>
          <p:nvPr/>
        </p:nvSpPr>
        <p:spPr>
          <a:xfrm>
            <a:off x="8777545" y="2533772"/>
            <a:ext cx="2234828" cy="5160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Events</a:t>
            </a:r>
          </a:p>
          <a:p>
            <a:pPr algn="r"/>
            <a:r>
              <a:rPr lang="en-NZ" sz="700" dirty="0">
                <a:solidFill>
                  <a:schemeClr val="bg2">
                    <a:lumMod val="75000"/>
                  </a:schemeClr>
                </a:solidFill>
              </a:rPr>
              <a:t>(Events)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B65FA058-4230-98AA-0216-28819E31BFD6}"/>
              </a:ext>
            </a:extLst>
          </p:cNvPr>
          <p:cNvSpPr/>
          <p:nvPr/>
        </p:nvSpPr>
        <p:spPr>
          <a:xfrm>
            <a:off x="8777545" y="3088730"/>
            <a:ext cx="2234828" cy="5160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Data</a:t>
            </a:r>
          </a:p>
          <a:p>
            <a:pPr algn="r"/>
            <a:r>
              <a:rPr lang="en-NZ" sz="800" dirty="0">
                <a:solidFill>
                  <a:schemeClr val="bg2">
                    <a:lumMod val="75000"/>
                  </a:schemeClr>
                </a:solidFill>
              </a:rPr>
              <a:t>(State)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3C9327B-2749-DCBC-15E8-921DEF260EB9}"/>
              </a:ext>
            </a:extLst>
          </p:cNvPr>
          <p:cNvSpPr/>
          <p:nvPr/>
        </p:nvSpPr>
        <p:spPr>
          <a:xfrm>
            <a:off x="8777545" y="3645850"/>
            <a:ext cx="2234828" cy="5160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Blobs</a:t>
            </a:r>
          </a:p>
          <a:p>
            <a:pPr algn="r"/>
            <a:r>
              <a:rPr lang="en-NZ" sz="700" dirty="0">
                <a:solidFill>
                  <a:schemeClr val="bg2">
                    <a:lumMod val="75000"/>
                  </a:schemeClr>
                </a:solidFill>
              </a:rPr>
              <a:t>(Images, Binaries)</a:t>
            </a:r>
          </a:p>
        </p:txBody>
      </p:sp>
      <p:grpSp>
        <p:nvGrpSpPr>
          <p:cNvPr id="1041" name="Group 1040">
            <a:extLst>
              <a:ext uri="{FF2B5EF4-FFF2-40B4-BE49-F238E27FC236}">
                <a16:creationId xmlns:a16="http://schemas.microsoft.com/office/drawing/2014/main" id="{3358B364-F9E1-44AF-DA4A-07D8C2634EE0}"/>
              </a:ext>
            </a:extLst>
          </p:cNvPr>
          <p:cNvGrpSpPr/>
          <p:nvPr/>
        </p:nvGrpSpPr>
        <p:grpSpPr>
          <a:xfrm>
            <a:off x="9730293" y="3115975"/>
            <a:ext cx="516948" cy="456681"/>
            <a:chOff x="9530501" y="3113794"/>
            <a:chExt cx="516948" cy="456681"/>
          </a:xfrm>
        </p:grpSpPr>
        <p:sp>
          <p:nvSpPr>
            <p:cNvPr id="1042" name="Cylinder 1041">
              <a:extLst>
                <a:ext uri="{FF2B5EF4-FFF2-40B4-BE49-F238E27FC236}">
                  <a16:creationId xmlns:a16="http://schemas.microsoft.com/office/drawing/2014/main" id="{8C9BF05B-6561-F34B-F742-B30C8FC2C2AC}"/>
                </a:ext>
              </a:extLst>
            </p:cNvPr>
            <p:cNvSpPr/>
            <p:nvPr/>
          </p:nvSpPr>
          <p:spPr>
            <a:xfrm>
              <a:off x="9530501" y="3113794"/>
              <a:ext cx="516948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rgbClr val="74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Redis</a:t>
              </a:r>
              <a:endParaRPr lang="en-NZ" sz="9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1043" name="Picture 4" descr="Redis · GitHub">
              <a:extLst>
                <a:ext uri="{FF2B5EF4-FFF2-40B4-BE49-F238E27FC236}">
                  <a16:creationId xmlns:a16="http://schemas.microsoft.com/office/drawing/2014/main" id="{96F15540-1B01-2340-ED61-75C47A920AA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42317" y="3236806"/>
              <a:ext cx="219764" cy="2197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45" name="Cylinder 1044">
            <a:extLst>
              <a:ext uri="{FF2B5EF4-FFF2-40B4-BE49-F238E27FC236}">
                <a16:creationId xmlns:a16="http://schemas.microsoft.com/office/drawing/2014/main" id="{A1A989A7-1812-03B0-DD5C-0100EAA4A157}"/>
              </a:ext>
            </a:extLst>
          </p:cNvPr>
          <p:cNvSpPr/>
          <p:nvPr/>
        </p:nvSpPr>
        <p:spPr>
          <a:xfrm>
            <a:off x="9371291" y="3672958"/>
            <a:ext cx="516948" cy="456681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rgbClr val="0070C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36000" rtlCol="0" anchor="ctr"/>
          <a:lstStyle/>
          <a:p>
            <a:pPr algn="r"/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Data</a:t>
            </a:r>
          </a:p>
          <a:p>
            <a:pPr algn="r"/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Lake</a:t>
            </a:r>
            <a:endParaRPr lang="en-NZ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056" name="Straight Arrow Connector 29">
            <a:extLst>
              <a:ext uri="{FF2B5EF4-FFF2-40B4-BE49-F238E27FC236}">
                <a16:creationId xmlns:a16="http://schemas.microsoft.com/office/drawing/2014/main" id="{4EC5DBEB-E50B-DFE5-DDDE-A76CA5AC2BF0}"/>
              </a:ext>
            </a:extLst>
          </p:cNvPr>
          <p:cNvCxnSpPr>
            <a:cxnSpLocks/>
            <a:stCxn id="113" idx="1"/>
            <a:endCxn id="3" idx="3"/>
          </p:cNvCxnSpPr>
          <p:nvPr/>
        </p:nvCxnSpPr>
        <p:spPr>
          <a:xfrm rot="10800000">
            <a:off x="8359009" y="3513184"/>
            <a:ext cx="418536" cy="39067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59" name="Straight Arrow Connector 29">
            <a:extLst>
              <a:ext uri="{FF2B5EF4-FFF2-40B4-BE49-F238E27FC236}">
                <a16:creationId xmlns:a16="http://schemas.microsoft.com/office/drawing/2014/main" id="{6E0D5552-C490-95FB-336A-31630896A2BC}"/>
              </a:ext>
            </a:extLst>
          </p:cNvPr>
          <p:cNvCxnSpPr>
            <a:cxnSpLocks/>
            <a:stCxn id="76" idx="1"/>
            <a:endCxn id="3" idx="3"/>
          </p:cNvCxnSpPr>
          <p:nvPr/>
        </p:nvCxnSpPr>
        <p:spPr>
          <a:xfrm rot="10800000" flipV="1">
            <a:off x="8359009" y="2291371"/>
            <a:ext cx="418536" cy="122181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097" name="Group 1096">
            <a:extLst>
              <a:ext uri="{FF2B5EF4-FFF2-40B4-BE49-F238E27FC236}">
                <a16:creationId xmlns:a16="http://schemas.microsoft.com/office/drawing/2014/main" id="{5BF11416-348C-7293-CD62-7A7ED75CBE32}"/>
              </a:ext>
            </a:extLst>
          </p:cNvPr>
          <p:cNvGrpSpPr/>
          <p:nvPr/>
        </p:nvGrpSpPr>
        <p:grpSpPr>
          <a:xfrm>
            <a:off x="8872325" y="2142999"/>
            <a:ext cx="1073247" cy="304824"/>
            <a:chOff x="8868697" y="1695584"/>
            <a:chExt cx="1073247" cy="304824"/>
          </a:xfrm>
        </p:grpSpPr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206C0A55-CE59-6CA6-3B28-9ACEFE74BDE8}"/>
                </a:ext>
              </a:extLst>
            </p:cNvPr>
            <p:cNvSpPr/>
            <p:nvPr/>
          </p:nvSpPr>
          <p:spPr>
            <a:xfrm>
              <a:off x="8868697" y="1695584"/>
              <a:ext cx="1073247" cy="304824"/>
            </a:xfrm>
            <a:prstGeom prst="roundRect">
              <a:avLst>
                <a:gd name="adj" fmla="val 4751"/>
              </a:avLst>
            </a:prstGeom>
            <a:solidFill>
              <a:srgbClr val="43572B"/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NZ" sz="1000" dirty="0"/>
                <a:t>CloudWatch</a:t>
              </a:r>
              <a:endParaRPr lang="en-NZ" sz="1600" dirty="0"/>
            </a:p>
          </p:txBody>
        </p:sp>
        <p:pic>
          <p:nvPicPr>
            <p:cNvPr id="27" name="Picture 8" descr="What is AWS CloudWatch?">
              <a:extLst>
                <a:ext uri="{FF2B5EF4-FFF2-40B4-BE49-F238E27FC236}">
                  <a16:creationId xmlns:a16="http://schemas.microsoft.com/office/drawing/2014/main" id="{4D4B4AE6-38D1-BECB-FF17-BE8E159C732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93255" y="1737400"/>
              <a:ext cx="236354" cy="236354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120" name="Straight Arrow Connector 29">
            <a:extLst>
              <a:ext uri="{FF2B5EF4-FFF2-40B4-BE49-F238E27FC236}">
                <a16:creationId xmlns:a16="http://schemas.microsoft.com/office/drawing/2014/main" id="{45B51305-540C-90BB-62CC-B4C43EAB71D3}"/>
              </a:ext>
            </a:extLst>
          </p:cNvPr>
          <p:cNvCxnSpPr>
            <a:cxnSpLocks/>
            <a:stCxn id="43" idx="1"/>
            <a:endCxn id="126" idx="3"/>
          </p:cNvCxnSpPr>
          <p:nvPr/>
        </p:nvCxnSpPr>
        <p:spPr>
          <a:xfrm flipH="1" flipV="1">
            <a:off x="4022238" y="1009180"/>
            <a:ext cx="4850087" cy="1286231"/>
          </a:xfrm>
          <a:prstGeom prst="straightConnector1">
            <a:avLst/>
          </a:prstGeom>
          <a:ln w="12700" cap="flat" cmpd="sng" algn="ctr">
            <a:solidFill>
              <a:schemeClr val="accent6">
                <a:lumMod val="75000"/>
              </a:schemeClr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32" name="Straight Arrow Connector 29">
            <a:extLst>
              <a:ext uri="{FF2B5EF4-FFF2-40B4-BE49-F238E27FC236}">
                <a16:creationId xmlns:a16="http://schemas.microsoft.com/office/drawing/2014/main" id="{C83D361B-B069-62E8-79D7-4ED751FF3041}"/>
              </a:ext>
            </a:extLst>
          </p:cNvPr>
          <p:cNvCxnSpPr>
            <a:cxnSpLocks/>
            <a:stCxn id="43" idx="1"/>
            <a:endCxn id="55" idx="3"/>
          </p:cNvCxnSpPr>
          <p:nvPr/>
        </p:nvCxnSpPr>
        <p:spPr>
          <a:xfrm flipH="1" flipV="1">
            <a:off x="6048786" y="759743"/>
            <a:ext cx="2823539" cy="1535668"/>
          </a:xfrm>
          <a:prstGeom prst="straightConnector1">
            <a:avLst/>
          </a:prstGeom>
          <a:ln w="12700" cap="flat" cmpd="sng" algn="ctr">
            <a:solidFill>
              <a:schemeClr val="accent6">
                <a:lumMod val="75000"/>
              </a:schemeClr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099" name="Group 1098">
            <a:extLst>
              <a:ext uri="{FF2B5EF4-FFF2-40B4-BE49-F238E27FC236}">
                <a16:creationId xmlns:a16="http://schemas.microsoft.com/office/drawing/2014/main" id="{0C3689B3-76C8-79F3-0A27-192C4BE97F69}"/>
              </a:ext>
            </a:extLst>
          </p:cNvPr>
          <p:cNvGrpSpPr/>
          <p:nvPr/>
        </p:nvGrpSpPr>
        <p:grpSpPr>
          <a:xfrm>
            <a:off x="8781059" y="4344282"/>
            <a:ext cx="1242435" cy="406788"/>
            <a:chOff x="8781059" y="4344282"/>
            <a:chExt cx="1242435" cy="406788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6C71A25-8180-A0DD-30A2-4C398A0E2A64}"/>
                </a:ext>
              </a:extLst>
            </p:cNvPr>
            <p:cNvGrpSpPr/>
            <p:nvPr/>
          </p:nvGrpSpPr>
          <p:grpSpPr>
            <a:xfrm>
              <a:off x="8781059" y="4344282"/>
              <a:ext cx="1242435" cy="406788"/>
              <a:chOff x="7656619" y="5506371"/>
              <a:chExt cx="1591766" cy="517641"/>
            </a:xfrm>
          </p:grpSpPr>
          <p:sp>
            <p:nvSpPr>
              <p:cNvPr id="86" name="Cylinder 85">
                <a:extLst>
                  <a:ext uri="{FF2B5EF4-FFF2-40B4-BE49-F238E27FC236}">
                    <a16:creationId xmlns:a16="http://schemas.microsoft.com/office/drawing/2014/main" id="{7D6FC9F1-AD86-5D30-9552-116886BDE75D}"/>
                  </a:ext>
                </a:extLst>
              </p:cNvPr>
              <p:cNvSpPr/>
              <p:nvPr/>
            </p:nvSpPr>
            <p:spPr>
              <a:xfrm rot="5400000">
                <a:off x="7543882" y="5627835"/>
                <a:ext cx="508914" cy="283439"/>
              </a:xfrm>
              <a:prstGeom prst="can">
                <a:avLst/>
              </a:prstGeom>
              <a:solidFill>
                <a:srgbClr val="B91254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87" name="Cylinder 86">
                <a:extLst>
                  <a:ext uri="{FF2B5EF4-FFF2-40B4-BE49-F238E27FC236}">
                    <a16:creationId xmlns:a16="http://schemas.microsoft.com/office/drawing/2014/main" id="{2FB15120-0261-1CBD-45F6-75752C46C4A4}"/>
                  </a:ext>
                </a:extLst>
              </p:cNvPr>
              <p:cNvSpPr/>
              <p:nvPr/>
            </p:nvSpPr>
            <p:spPr>
              <a:xfrm rot="5400000">
                <a:off x="7872894" y="5627831"/>
                <a:ext cx="508913" cy="283439"/>
              </a:xfrm>
              <a:prstGeom prst="can">
                <a:avLst/>
              </a:prstGeom>
              <a:solidFill>
                <a:srgbClr val="B91254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89" name="Cylinder 88">
                <a:extLst>
                  <a:ext uri="{FF2B5EF4-FFF2-40B4-BE49-F238E27FC236}">
                    <a16:creationId xmlns:a16="http://schemas.microsoft.com/office/drawing/2014/main" id="{8B972B99-E0C3-1D0F-B0AB-C9E4345489AD}"/>
                  </a:ext>
                </a:extLst>
              </p:cNvPr>
              <p:cNvSpPr/>
              <p:nvPr/>
            </p:nvSpPr>
            <p:spPr>
              <a:xfrm rot="5400000">
                <a:off x="8209897" y="5627834"/>
                <a:ext cx="508913" cy="283439"/>
              </a:xfrm>
              <a:prstGeom prst="can">
                <a:avLst/>
              </a:prstGeom>
              <a:solidFill>
                <a:srgbClr val="FA488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00" name="Cylinder 99">
                <a:extLst>
                  <a:ext uri="{FF2B5EF4-FFF2-40B4-BE49-F238E27FC236}">
                    <a16:creationId xmlns:a16="http://schemas.microsoft.com/office/drawing/2014/main" id="{575553D6-8A9C-7F51-C8D9-B4D28508A168}"/>
                  </a:ext>
                </a:extLst>
              </p:cNvPr>
              <p:cNvSpPr/>
              <p:nvPr/>
            </p:nvSpPr>
            <p:spPr>
              <a:xfrm rot="5400000">
                <a:off x="8519833" y="5627834"/>
                <a:ext cx="508912" cy="283439"/>
              </a:xfrm>
              <a:prstGeom prst="can">
                <a:avLst/>
              </a:prstGeom>
              <a:solidFill>
                <a:srgbClr val="FA488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01" name="Cylinder 100">
                <a:extLst>
                  <a:ext uri="{FF2B5EF4-FFF2-40B4-BE49-F238E27FC236}">
                    <a16:creationId xmlns:a16="http://schemas.microsoft.com/office/drawing/2014/main" id="{54959AE3-260E-4E28-4669-9BA5495ABDB6}"/>
                  </a:ext>
                </a:extLst>
              </p:cNvPr>
              <p:cNvSpPr/>
              <p:nvPr/>
            </p:nvSpPr>
            <p:spPr>
              <a:xfrm rot="5400000">
                <a:off x="8852209" y="5619108"/>
                <a:ext cx="508913" cy="283439"/>
              </a:xfrm>
              <a:prstGeom prst="can">
                <a:avLst/>
              </a:prstGeom>
              <a:solidFill>
                <a:srgbClr val="FA488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0A6630EA-9350-4B25-AD7C-DC831CB2885B}"/>
                  </a:ext>
                </a:extLst>
              </p:cNvPr>
              <p:cNvSpPr txBox="1"/>
              <p:nvPr/>
            </p:nvSpPr>
            <p:spPr>
              <a:xfrm>
                <a:off x="8154033" y="5576118"/>
                <a:ext cx="1068898" cy="313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rPr>
                  <a:t>SNS &amp; SQS</a:t>
                </a:r>
                <a:endParaRPr lang="en-NZ" sz="1000" dirty="0">
                  <a:effectLst>
                    <a:glow rad="101600">
                      <a:schemeClr val="bg1">
                        <a:alpha val="60000"/>
                      </a:schemeClr>
                    </a:glow>
                  </a:effectLst>
                </a:endParaRPr>
              </a:p>
            </p:txBody>
          </p:sp>
        </p:grpSp>
        <p:pic>
          <p:nvPicPr>
            <p:cNvPr id="1098" name="Picture 6" descr="Amazon SQS Component | Prismatic Docs">
              <a:extLst>
                <a:ext uri="{FF2B5EF4-FFF2-40B4-BE49-F238E27FC236}">
                  <a16:creationId xmlns:a16="http://schemas.microsoft.com/office/drawing/2014/main" id="{A921B19E-0FCE-7ED6-E627-6BDD2E5621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53240" y="4420912"/>
              <a:ext cx="277872" cy="2778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01" name="Group 1100">
            <a:extLst>
              <a:ext uri="{FF2B5EF4-FFF2-40B4-BE49-F238E27FC236}">
                <a16:creationId xmlns:a16="http://schemas.microsoft.com/office/drawing/2014/main" id="{DCB95001-F146-FB43-F4CF-2BC634C0EBC1}"/>
              </a:ext>
            </a:extLst>
          </p:cNvPr>
          <p:cNvGrpSpPr/>
          <p:nvPr/>
        </p:nvGrpSpPr>
        <p:grpSpPr>
          <a:xfrm>
            <a:off x="10053073" y="4351137"/>
            <a:ext cx="959300" cy="399929"/>
            <a:chOff x="10053073" y="4351137"/>
            <a:chExt cx="959300" cy="399929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A7D2C2DA-51C4-7200-20F0-D8D3B752CC2C}"/>
                </a:ext>
              </a:extLst>
            </p:cNvPr>
            <p:cNvSpPr/>
            <p:nvPr/>
          </p:nvSpPr>
          <p:spPr>
            <a:xfrm>
              <a:off x="10053073" y="4351137"/>
              <a:ext cx="959300" cy="399929"/>
            </a:xfrm>
            <a:prstGeom prst="roundRect">
              <a:avLst>
                <a:gd name="adj" fmla="val 6468"/>
              </a:avLst>
            </a:prstGeom>
            <a:solidFill>
              <a:srgbClr val="FA7E14"/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100" dirty="0">
                  <a:solidFill>
                    <a:schemeClr val="tx1"/>
                  </a:solidFill>
                </a:rPr>
                <a:t>Lambdas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pic>
          <p:nvPicPr>
            <p:cNvPr id="1100" name="Picture 4" descr="Aws Lambda Vector Logo - Download Free SVG Icon | Worldvectorlogo">
              <a:extLst>
                <a:ext uri="{FF2B5EF4-FFF2-40B4-BE49-F238E27FC236}">
                  <a16:creationId xmlns:a16="http://schemas.microsoft.com/office/drawing/2014/main" id="{9ECF36B1-4DCF-3AA1-76AE-E7A4BF1647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98482" y="4428928"/>
              <a:ext cx="227723" cy="232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09" name="Group 1108">
            <a:extLst>
              <a:ext uri="{FF2B5EF4-FFF2-40B4-BE49-F238E27FC236}">
                <a16:creationId xmlns:a16="http://schemas.microsoft.com/office/drawing/2014/main" id="{6F16677E-0573-AC3E-F0E4-A60FA3393C24}"/>
              </a:ext>
            </a:extLst>
          </p:cNvPr>
          <p:cNvGrpSpPr/>
          <p:nvPr/>
        </p:nvGrpSpPr>
        <p:grpSpPr>
          <a:xfrm>
            <a:off x="9729693" y="2564635"/>
            <a:ext cx="516948" cy="456681"/>
            <a:chOff x="9530501" y="2551706"/>
            <a:chExt cx="516948" cy="456681"/>
          </a:xfrm>
        </p:grpSpPr>
        <p:sp>
          <p:nvSpPr>
            <p:cNvPr id="1110" name="Cylinder 1109">
              <a:extLst>
                <a:ext uri="{FF2B5EF4-FFF2-40B4-BE49-F238E27FC236}">
                  <a16:creationId xmlns:a16="http://schemas.microsoft.com/office/drawing/2014/main" id="{65A7D89F-323A-FDD4-4B4F-97ED500EB482}"/>
                </a:ext>
              </a:extLst>
            </p:cNvPr>
            <p:cNvSpPr/>
            <p:nvPr/>
          </p:nvSpPr>
          <p:spPr>
            <a:xfrm>
              <a:off x="9530501" y="2551706"/>
              <a:ext cx="516948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accent6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Event Store</a:t>
              </a:r>
              <a:endParaRPr lang="en-NZ" sz="9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1111" name="Picture 2" descr="Event Store · GitHub">
              <a:extLst>
                <a:ext uri="{FF2B5EF4-FFF2-40B4-BE49-F238E27FC236}">
                  <a16:creationId xmlns:a16="http://schemas.microsoft.com/office/drawing/2014/main" id="{74DDCA0B-7191-2C32-64C3-9D85FB727B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2683" y="2714563"/>
              <a:ext cx="193697" cy="1936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15" name="Group 1114">
            <a:extLst>
              <a:ext uri="{FF2B5EF4-FFF2-40B4-BE49-F238E27FC236}">
                <a16:creationId xmlns:a16="http://schemas.microsoft.com/office/drawing/2014/main" id="{2CC29C2B-983D-C396-057D-F491BCF94C78}"/>
              </a:ext>
            </a:extLst>
          </p:cNvPr>
          <p:cNvGrpSpPr/>
          <p:nvPr/>
        </p:nvGrpSpPr>
        <p:grpSpPr>
          <a:xfrm>
            <a:off x="8813773" y="2558797"/>
            <a:ext cx="421342" cy="456681"/>
            <a:chOff x="8813773" y="2558797"/>
            <a:chExt cx="421342" cy="456681"/>
          </a:xfrm>
        </p:grpSpPr>
        <p:sp>
          <p:nvSpPr>
            <p:cNvPr id="122" name="Cylinder 121">
              <a:extLst>
                <a:ext uri="{FF2B5EF4-FFF2-40B4-BE49-F238E27FC236}">
                  <a16:creationId xmlns:a16="http://schemas.microsoft.com/office/drawing/2014/main" id="{6AFE9301-3D57-584B-4ABD-52904897CFAE}"/>
                </a:ext>
              </a:extLst>
            </p:cNvPr>
            <p:cNvSpPr/>
            <p:nvPr/>
          </p:nvSpPr>
          <p:spPr>
            <a:xfrm>
              <a:off x="8813773" y="2558797"/>
              <a:ext cx="421342" cy="456681"/>
            </a:xfrm>
            <a:prstGeom prst="can">
              <a:avLst/>
            </a:prstGeom>
            <a:solidFill>
              <a:srgbClr val="2E73B8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/>
                  </a:solidFill>
                </a:rPr>
                <a:t>RDS</a:t>
              </a:r>
              <a:endParaRPr lang="en-NZ" sz="900" dirty="0">
                <a:solidFill>
                  <a:schemeClr val="tx1"/>
                </a:solidFill>
              </a:endParaRPr>
            </a:p>
          </p:txBody>
        </p:sp>
        <p:pic>
          <p:nvPicPr>
            <p:cNvPr id="1112" name="Picture 1111">
              <a:extLst>
                <a:ext uri="{FF2B5EF4-FFF2-40B4-BE49-F238E27FC236}">
                  <a16:creationId xmlns:a16="http://schemas.microsoft.com/office/drawing/2014/main" id="{9EFAE5AC-9C92-8F31-C122-2584B31AA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 flipH="1">
              <a:off x="8840009" y="2693076"/>
              <a:ext cx="171180" cy="188122"/>
            </a:xfrm>
            <a:prstGeom prst="rect">
              <a:avLst/>
            </a:prstGeom>
          </p:spPr>
        </p:pic>
      </p:grpSp>
      <p:grpSp>
        <p:nvGrpSpPr>
          <p:cNvPr id="1117" name="Group 1116">
            <a:extLst>
              <a:ext uri="{FF2B5EF4-FFF2-40B4-BE49-F238E27FC236}">
                <a16:creationId xmlns:a16="http://schemas.microsoft.com/office/drawing/2014/main" id="{8E233CB8-5E4B-8131-C9C3-CE8F7E9F445A}"/>
              </a:ext>
            </a:extLst>
          </p:cNvPr>
          <p:cNvGrpSpPr/>
          <p:nvPr/>
        </p:nvGrpSpPr>
        <p:grpSpPr>
          <a:xfrm>
            <a:off x="9234888" y="2563772"/>
            <a:ext cx="452146" cy="456681"/>
            <a:chOff x="9234888" y="2563772"/>
            <a:chExt cx="452146" cy="456681"/>
          </a:xfrm>
        </p:grpSpPr>
        <p:sp>
          <p:nvSpPr>
            <p:cNvPr id="1039" name="Cylinder 1038">
              <a:extLst>
                <a:ext uri="{FF2B5EF4-FFF2-40B4-BE49-F238E27FC236}">
                  <a16:creationId xmlns:a16="http://schemas.microsoft.com/office/drawing/2014/main" id="{96193535-A3EE-CF0B-BB06-17A6C6662840}"/>
                </a:ext>
              </a:extLst>
            </p:cNvPr>
            <p:cNvSpPr/>
            <p:nvPr/>
          </p:nvSpPr>
          <p:spPr>
            <a:xfrm>
              <a:off x="9265692" y="2563772"/>
              <a:ext cx="421342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rgbClr val="0070C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</a:t>
              </a:r>
              <a:r>
                <a:rPr lang="en-US" sz="7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Dyna</a:t>
              </a:r>
            </a:p>
            <a:p>
              <a:pPr algn="r"/>
              <a:r>
                <a:rPr lang="en-US" sz="7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moDB</a:t>
              </a:r>
              <a:endParaRPr lang="en-NZ" sz="8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2050" name="Picture 2" descr="Amazon DynamoDB - Wikipedia">
              <a:extLst>
                <a:ext uri="{FF2B5EF4-FFF2-40B4-BE49-F238E27FC236}">
                  <a16:creationId xmlns:a16="http://schemas.microsoft.com/office/drawing/2014/main" id="{2EA6B658-78F1-F774-6166-27AA0232B4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34888" y="2674937"/>
              <a:ext cx="260774" cy="2362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18" name="Group 1117">
            <a:extLst>
              <a:ext uri="{FF2B5EF4-FFF2-40B4-BE49-F238E27FC236}">
                <a16:creationId xmlns:a16="http://schemas.microsoft.com/office/drawing/2014/main" id="{DF7DEA09-C846-B0E4-F929-75F39BAB64D7}"/>
              </a:ext>
            </a:extLst>
          </p:cNvPr>
          <p:cNvGrpSpPr/>
          <p:nvPr/>
        </p:nvGrpSpPr>
        <p:grpSpPr>
          <a:xfrm>
            <a:off x="8813546" y="3111476"/>
            <a:ext cx="421342" cy="456681"/>
            <a:chOff x="8813773" y="2558797"/>
            <a:chExt cx="421342" cy="456681"/>
          </a:xfrm>
        </p:grpSpPr>
        <p:sp>
          <p:nvSpPr>
            <p:cNvPr id="1119" name="Cylinder 1118">
              <a:extLst>
                <a:ext uri="{FF2B5EF4-FFF2-40B4-BE49-F238E27FC236}">
                  <a16:creationId xmlns:a16="http://schemas.microsoft.com/office/drawing/2014/main" id="{DB6DD3AB-435F-D5AB-12CD-9CC97B96E7A7}"/>
                </a:ext>
              </a:extLst>
            </p:cNvPr>
            <p:cNvSpPr/>
            <p:nvPr/>
          </p:nvSpPr>
          <p:spPr>
            <a:xfrm>
              <a:off x="8813773" y="2558797"/>
              <a:ext cx="421342" cy="456681"/>
            </a:xfrm>
            <a:prstGeom prst="can">
              <a:avLst/>
            </a:prstGeom>
            <a:solidFill>
              <a:srgbClr val="2E73B8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/>
                  </a:solidFill>
                </a:rPr>
                <a:t>RDS</a:t>
              </a:r>
              <a:endParaRPr lang="en-NZ" sz="900" dirty="0">
                <a:solidFill>
                  <a:schemeClr val="tx1"/>
                </a:solidFill>
              </a:endParaRPr>
            </a:p>
          </p:txBody>
        </p:sp>
        <p:pic>
          <p:nvPicPr>
            <p:cNvPr id="1120" name="Picture 1119">
              <a:extLst>
                <a:ext uri="{FF2B5EF4-FFF2-40B4-BE49-F238E27FC236}">
                  <a16:creationId xmlns:a16="http://schemas.microsoft.com/office/drawing/2014/main" id="{A66ACBB6-C46A-E63C-3D27-2EA9168EC7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 flipH="1">
              <a:off x="8840009" y="2693076"/>
              <a:ext cx="171180" cy="188122"/>
            </a:xfrm>
            <a:prstGeom prst="rect">
              <a:avLst/>
            </a:prstGeom>
          </p:spPr>
        </p:pic>
      </p:grpSp>
      <p:grpSp>
        <p:nvGrpSpPr>
          <p:cNvPr id="1121" name="Group 1120">
            <a:extLst>
              <a:ext uri="{FF2B5EF4-FFF2-40B4-BE49-F238E27FC236}">
                <a16:creationId xmlns:a16="http://schemas.microsoft.com/office/drawing/2014/main" id="{CC0DB004-E86E-7A1B-FF47-E704F04CF198}"/>
              </a:ext>
            </a:extLst>
          </p:cNvPr>
          <p:cNvGrpSpPr/>
          <p:nvPr/>
        </p:nvGrpSpPr>
        <p:grpSpPr>
          <a:xfrm>
            <a:off x="9234661" y="3116451"/>
            <a:ext cx="452146" cy="456681"/>
            <a:chOff x="9234888" y="2563772"/>
            <a:chExt cx="452146" cy="456681"/>
          </a:xfrm>
        </p:grpSpPr>
        <p:sp>
          <p:nvSpPr>
            <p:cNvPr id="1122" name="Cylinder 1121">
              <a:extLst>
                <a:ext uri="{FF2B5EF4-FFF2-40B4-BE49-F238E27FC236}">
                  <a16:creationId xmlns:a16="http://schemas.microsoft.com/office/drawing/2014/main" id="{DEB5E946-2764-7031-9D81-F56E8A30B01D}"/>
                </a:ext>
              </a:extLst>
            </p:cNvPr>
            <p:cNvSpPr/>
            <p:nvPr/>
          </p:nvSpPr>
          <p:spPr>
            <a:xfrm>
              <a:off x="9265692" y="2563772"/>
              <a:ext cx="421342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rgbClr val="0070C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</a:t>
              </a:r>
              <a:r>
                <a:rPr lang="en-US" sz="7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Dyna</a:t>
              </a:r>
            </a:p>
            <a:p>
              <a:pPr algn="r"/>
              <a:r>
                <a:rPr lang="en-US" sz="7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moDB</a:t>
              </a:r>
              <a:endParaRPr lang="en-NZ" sz="8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1123" name="Picture 2" descr="Amazon DynamoDB - Wikipedia">
              <a:extLst>
                <a:ext uri="{FF2B5EF4-FFF2-40B4-BE49-F238E27FC236}">
                  <a16:creationId xmlns:a16="http://schemas.microsoft.com/office/drawing/2014/main" id="{DFAF126B-5237-6963-F398-BD01B6AB94E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34888" y="2674937"/>
              <a:ext cx="260774" cy="2362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25" name="Group 1124">
            <a:extLst>
              <a:ext uri="{FF2B5EF4-FFF2-40B4-BE49-F238E27FC236}">
                <a16:creationId xmlns:a16="http://schemas.microsoft.com/office/drawing/2014/main" id="{E877FD24-691E-791E-5459-C50AEDABDD08}"/>
              </a:ext>
            </a:extLst>
          </p:cNvPr>
          <p:cNvGrpSpPr/>
          <p:nvPr/>
        </p:nvGrpSpPr>
        <p:grpSpPr>
          <a:xfrm>
            <a:off x="8813440" y="3669676"/>
            <a:ext cx="516948" cy="456681"/>
            <a:chOff x="8813440" y="3669676"/>
            <a:chExt cx="516948" cy="456681"/>
          </a:xfrm>
        </p:grpSpPr>
        <p:sp>
          <p:nvSpPr>
            <p:cNvPr id="1036" name="Cylinder 1035">
              <a:extLst>
                <a:ext uri="{FF2B5EF4-FFF2-40B4-BE49-F238E27FC236}">
                  <a16:creationId xmlns:a16="http://schemas.microsoft.com/office/drawing/2014/main" id="{E539467B-293C-3ACE-B8E0-C6D32DBD299A}"/>
                </a:ext>
              </a:extLst>
            </p:cNvPr>
            <p:cNvSpPr/>
            <p:nvPr/>
          </p:nvSpPr>
          <p:spPr>
            <a:xfrm>
              <a:off x="8813440" y="3669676"/>
              <a:ext cx="516948" cy="456681"/>
            </a:xfrm>
            <a:prstGeom prst="can">
              <a:avLst/>
            </a:prstGeom>
            <a:solidFill>
              <a:srgbClr val="E2544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/>
                  </a:solidFill>
                </a:rPr>
                <a:t>S3 </a:t>
              </a:r>
              <a:r>
                <a:rPr lang="en-US" sz="700" dirty="0">
                  <a:solidFill>
                    <a:schemeClr val="tx1"/>
                  </a:solidFill>
                </a:rPr>
                <a:t>Buckets</a:t>
              </a:r>
              <a:endParaRPr lang="en-NZ" sz="900" dirty="0">
                <a:solidFill>
                  <a:schemeClr val="tx1"/>
                </a:solidFill>
              </a:endParaRPr>
            </a:p>
          </p:txBody>
        </p:sp>
        <p:pic>
          <p:nvPicPr>
            <p:cNvPr id="1124" name="Picture 12">
              <a:extLst>
                <a:ext uri="{FF2B5EF4-FFF2-40B4-BE49-F238E27FC236}">
                  <a16:creationId xmlns:a16="http://schemas.microsoft.com/office/drawing/2014/main" id="{7D88899B-78CE-2BE4-3E4E-5A3AC87F2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51359" y="3794224"/>
              <a:ext cx="138915" cy="16669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2" name="Picture 4" descr="Build your next-generation applications with AWS web services | GainInsights">
            <a:extLst>
              <a:ext uri="{FF2B5EF4-FFF2-40B4-BE49-F238E27FC236}">
                <a16:creationId xmlns:a16="http://schemas.microsoft.com/office/drawing/2014/main" id="{A858C408-9CDD-32B2-A4EF-CF3AA7E48F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0856" y="3810107"/>
            <a:ext cx="183279" cy="183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4" name="Straight Arrow Connector 29">
            <a:extLst>
              <a:ext uri="{FF2B5EF4-FFF2-40B4-BE49-F238E27FC236}">
                <a16:creationId xmlns:a16="http://schemas.microsoft.com/office/drawing/2014/main" id="{0D4C409C-AD00-4B91-9D76-ADDF89072338}"/>
              </a:ext>
            </a:extLst>
          </p:cNvPr>
          <p:cNvCxnSpPr>
            <a:cxnSpLocks/>
            <a:stCxn id="16" idx="1"/>
            <a:endCxn id="109" idx="3"/>
          </p:cNvCxnSpPr>
          <p:nvPr/>
        </p:nvCxnSpPr>
        <p:spPr>
          <a:xfrm rot="16200000" flipH="1">
            <a:off x="8658410" y="2197140"/>
            <a:ext cx="1756925" cy="2950999"/>
          </a:xfrm>
          <a:prstGeom prst="bentConnector4">
            <a:avLst>
              <a:gd name="adj1" fmla="val -51772"/>
              <a:gd name="adj2" fmla="val 107747"/>
            </a:avLst>
          </a:prstGeom>
          <a:ln w="19050" cap="flat" cmpd="sng" algn="ctr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36" name="Rectangle 1135">
            <a:extLst>
              <a:ext uri="{FF2B5EF4-FFF2-40B4-BE49-F238E27FC236}">
                <a16:creationId xmlns:a16="http://schemas.microsoft.com/office/drawing/2014/main" id="{5EE2EB56-EF0C-3EF1-0493-24DFBC9960D9}"/>
              </a:ext>
            </a:extLst>
          </p:cNvPr>
          <p:cNvSpPr/>
          <p:nvPr/>
        </p:nvSpPr>
        <p:spPr>
          <a:xfrm>
            <a:off x="8482881" y="1009179"/>
            <a:ext cx="2567754" cy="3780451"/>
          </a:xfrm>
          <a:prstGeom prst="rect">
            <a:avLst/>
          </a:prstGeom>
          <a:noFill/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>
                <a:solidFill>
                  <a:schemeClr val="tx1"/>
                </a:solidFill>
              </a:rPr>
              <a:t>3</a:t>
            </a:r>
            <a:r>
              <a:rPr lang="en-NZ" sz="1200" baseline="30000" dirty="0">
                <a:solidFill>
                  <a:schemeClr val="tx1"/>
                </a:solidFill>
              </a:rPr>
              <a:t>rd</a:t>
            </a:r>
            <a:r>
              <a:rPr lang="en-NZ" sz="1200" dirty="0">
                <a:solidFill>
                  <a:schemeClr val="tx1"/>
                </a:solidFill>
              </a:rPr>
              <a:t> Party </a:t>
            </a:r>
          </a:p>
          <a:p>
            <a:pPr algn="ctr"/>
            <a:r>
              <a:rPr lang="en-NZ" sz="1200" dirty="0">
                <a:solidFill>
                  <a:schemeClr val="tx1"/>
                </a:solidFill>
              </a:rPr>
              <a:t>Infrastructure</a:t>
            </a:r>
          </a:p>
          <a:p>
            <a:pPr algn="ctr"/>
            <a:r>
              <a:rPr lang="en-NZ" sz="1200" dirty="0">
                <a:solidFill>
                  <a:schemeClr val="tx1"/>
                </a:solidFill>
              </a:rPr>
              <a:t>Plugins</a:t>
            </a:r>
          </a:p>
        </p:txBody>
      </p:sp>
      <p:cxnSp>
        <p:nvCxnSpPr>
          <p:cNvPr id="59" name="Straight Arrow Connector 29">
            <a:extLst>
              <a:ext uri="{FF2B5EF4-FFF2-40B4-BE49-F238E27FC236}">
                <a16:creationId xmlns:a16="http://schemas.microsoft.com/office/drawing/2014/main" id="{E7AEF456-6844-42C3-8A49-721AB56805BC}"/>
              </a:ext>
            </a:extLst>
          </p:cNvPr>
          <p:cNvCxnSpPr>
            <a:cxnSpLocks/>
            <a:stCxn id="1048" idx="0"/>
            <a:endCxn id="16" idx="3"/>
          </p:cNvCxnSpPr>
          <p:nvPr/>
        </p:nvCxnSpPr>
        <p:spPr>
          <a:xfrm rot="5400000" flipH="1" flipV="1">
            <a:off x="6165757" y="3337525"/>
            <a:ext cx="1202436" cy="2588797"/>
          </a:xfrm>
          <a:prstGeom prst="bentConnector3">
            <a:avLst>
              <a:gd name="adj1" fmla="val 39966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2" name="Straight Arrow Connector 29">
            <a:extLst>
              <a:ext uri="{FF2B5EF4-FFF2-40B4-BE49-F238E27FC236}">
                <a16:creationId xmlns:a16="http://schemas.microsoft.com/office/drawing/2014/main" id="{5C61B3D3-9190-4FC6-9062-1FE30696ABF6}"/>
              </a:ext>
            </a:extLst>
          </p:cNvPr>
          <p:cNvCxnSpPr>
            <a:cxnSpLocks/>
            <a:stCxn id="1044" idx="0"/>
            <a:endCxn id="16" idx="3"/>
          </p:cNvCxnSpPr>
          <p:nvPr/>
        </p:nvCxnSpPr>
        <p:spPr>
          <a:xfrm rot="5400000" flipH="1" flipV="1">
            <a:off x="6775949" y="3896772"/>
            <a:ext cx="1151491" cy="1419359"/>
          </a:xfrm>
          <a:prstGeom prst="bentConnector3">
            <a:avLst>
              <a:gd name="adj1" fmla="val 63235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8" name="Straight Arrow Connector 29">
            <a:extLst>
              <a:ext uri="{FF2B5EF4-FFF2-40B4-BE49-F238E27FC236}">
                <a16:creationId xmlns:a16="http://schemas.microsoft.com/office/drawing/2014/main" id="{B57B1AB6-762F-E3A7-D8D5-CFEEA822C506}"/>
              </a:ext>
            </a:extLst>
          </p:cNvPr>
          <p:cNvCxnSpPr>
            <a:cxnSpLocks/>
            <a:stCxn id="1035" idx="0"/>
            <a:endCxn id="16" idx="3"/>
          </p:cNvCxnSpPr>
          <p:nvPr/>
        </p:nvCxnSpPr>
        <p:spPr>
          <a:xfrm rot="5400000" flipH="1" flipV="1">
            <a:off x="5645037" y="2696985"/>
            <a:ext cx="1082617" cy="3750058"/>
          </a:xfrm>
          <a:prstGeom prst="bentConnector3">
            <a:avLst>
              <a:gd name="adj1" fmla="val 24779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3" name="Straight Arrow Connector 29">
            <a:extLst>
              <a:ext uri="{FF2B5EF4-FFF2-40B4-BE49-F238E27FC236}">
                <a16:creationId xmlns:a16="http://schemas.microsoft.com/office/drawing/2014/main" id="{81F4B5EE-1533-41C0-5AE5-E444238E30DC}"/>
              </a:ext>
            </a:extLst>
          </p:cNvPr>
          <p:cNvCxnSpPr>
            <a:cxnSpLocks/>
            <a:stCxn id="1033" idx="0"/>
            <a:endCxn id="13" idx="3"/>
          </p:cNvCxnSpPr>
          <p:nvPr/>
        </p:nvCxnSpPr>
        <p:spPr>
          <a:xfrm rot="5400000" flipH="1" flipV="1">
            <a:off x="4139695" y="3060951"/>
            <a:ext cx="1183121" cy="3125118"/>
          </a:xfrm>
          <a:prstGeom prst="bentConnector3">
            <a:avLst>
              <a:gd name="adj1" fmla="val 41949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8" name="Straight Arrow Connector 29">
            <a:extLst>
              <a:ext uri="{FF2B5EF4-FFF2-40B4-BE49-F238E27FC236}">
                <a16:creationId xmlns:a16="http://schemas.microsoft.com/office/drawing/2014/main" id="{92039A90-69A3-49FA-B43C-57164F95C561}"/>
              </a:ext>
            </a:extLst>
          </p:cNvPr>
          <p:cNvCxnSpPr>
            <a:cxnSpLocks/>
            <a:stCxn id="1047" idx="0"/>
            <a:endCxn id="14" idx="3"/>
          </p:cNvCxnSpPr>
          <p:nvPr/>
        </p:nvCxnSpPr>
        <p:spPr>
          <a:xfrm rot="16200000" flipV="1">
            <a:off x="6449957" y="4176374"/>
            <a:ext cx="1472361" cy="1183511"/>
          </a:xfrm>
          <a:prstGeom prst="bentConnector3">
            <a:avLst>
              <a:gd name="adj1" fmla="val 74583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6" name="Straight Arrow Connector 29">
            <a:extLst>
              <a:ext uri="{FF2B5EF4-FFF2-40B4-BE49-F238E27FC236}">
                <a16:creationId xmlns:a16="http://schemas.microsoft.com/office/drawing/2014/main" id="{B13CC39E-C4E3-4BC0-4273-5EB910F097A7}"/>
              </a:ext>
            </a:extLst>
          </p:cNvPr>
          <p:cNvCxnSpPr>
            <a:cxnSpLocks/>
            <a:stCxn id="1046" idx="0"/>
            <a:endCxn id="23" idx="3"/>
          </p:cNvCxnSpPr>
          <p:nvPr/>
        </p:nvCxnSpPr>
        <p:spPr>
          <a:xfrm rot="16200000" flipV="1">
            <a:off x="6860395" y="3153412"/>
            <a:ext cx="1217264" cy="2974151"/>
          </a:xfrm>
          <a:prstGeom prst="bentConnector3">
            <a:avLst>
              <a:gd name="adj1" fmla="val 22351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50" name="TextBox 1049">
            <a:extLst>
              <a:ext uri="{FF2B5EF4-FFF2-40B4-BE49-F238E27FC236}">
                <a16:creationId xmlns:a16="http://schemas.microsoft.com/office/drawing/2014/main" id="{3C9D95C5-42CF-ABE2-4FD9-1561B410443C}"/>
              </a:ext>
            </a:extLst>
          </p:cNvPr>
          <p:cNvSpPr txBox="1"/>
          <p:nvPr/>
        </p:nvSpPr>
        <p:spPr>
          <a:xfrm rot="16200000">
            <a:off x="1381788" y="1407453"/>
            <a:ext cx="104227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/>
              <a:t>+ Card Capture</a:t>
            </a:r>
          </a:p>
        </p:txBody>
      </p:sp>
    </p:spTree>
    <p:extLst>
      <p:ext uri="{BB962C8B-B14F-4D97-AF65-F5344CB8AC3E}">
        <p14:creationId xmlns:p14="http://schemas.microsoft.com/office/powerpoint/2010/main" val="38894297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98781F8E-A416-AF70-1410-71F8FC623B49}"/>
              </a:ext>
            </a:extLst>
          </p:cNvPr>
          <p:cNvSpPr/>
          <p:nvPr/>
        </p:nvSpPr>
        <p:spPr>
          <a:xfrm>
            <a:off x="0" y="0"/>
            <a:ext cx="6103166" cy="6858000"/>
          </a:xfrm>
          <a:prstGeom prst="rect">
            <a:avLst/>
          </a:prstGeom>
          <a:solidFill>
            <a:srgbClr val="2B2D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48C7FE5-C922-C250-9BB8-E83835C02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851407" cy="6858000"/>
          </a:xfrm>
          <a:prstGeom prst="rect">
            <a:avLst/>
          </a:prstGeom>
        </p:spPr>
      </p:pic>
      <p:sp>
        <p:nvSpPr>
          <p:cNvPr id="4" name="Right Brace 3">
            <a:extLst>
              <a:ext uri="{FF2B5EF4-FFF2-40B4-BE49-F238E27FC236}">
                <a16:creationId xmlns:a16="http://schemas.microsoft.com/office/drawing/2014/main" id="{D17092E3-0FF4-A361-7CDF-430341157E00}"/>
              </a:ext>
            </a:extLst>
          </p:cNvPr>
          <p:cNvSpPr/>
          <p:nvPr/>
        </p:nvSpPr>
        <p:spPr>
          <a:xfrm>
            <a:off x="2699764" y="2924978"/>
            <a:ext cx="271908" cy="1006719"/>
          </a:xfrm>
          <a:prstGeom prst="rightBrac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 sz="1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3BEAC1-C3D2-2996-B2BD-65414B1929B1}"/>
              </a:ext>
            </a:extLst>
          </p:cNvPr>
          <p:cNvSpPr txBox="1"/>
          <p:nvPr/>
        </p:nvSpPr>
        <p:spPr>
          <a:xfrm>
            <a:off x="2970576" y="3221898"/>
            <a:ext cx="31325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solidFill>
                  <a:schemeClr val="bg1"/>
                </a:solidFill>
              </a:rPr>
              <a:t>Deployable Hosts (API &amp; UI &amp; Others)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107A2291-6348-7FF6-C9D7-17B85131A5D7}"/>
              </a:ext>
            </a:extLst>
          </p:cNvPr>
          <p:cNvSpPr/>
          <p:nvPr/>
        </p:nvSpPr>
        <p:spPr>
          <a:xfrm>
            <a:off x="2698668" y="1614487"/>
            <a:ext cx="271908" cy="1161633"/>
          </a:xfrm>
          <a:prstGeom prst="rightBrac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 sz="1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E8CFA5-A490-057B-8336-D1E0958BAE51}"/>
              </a:ext>
            </a:extLst>
          </p:cNvPr>
          <p:cNvSpPr txBox="1"/>
          <p:nvPr/>
        </p:nvSpPr>
        <p:spPr>
          <a:xfrm>
            <a:off x="2970576" y="1994276"/>
            <a:ext cx="17812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solidFill>
                  <a:schemeClr val="bg1"/>
                </a:solidFill>
              </a:rPr>
              <a:t>Libraries (per Layer)</a:t>
            </a:r>
          </a:p>
          <a:p>
            <a:r>
              <a:rPr lang="en-NZ" sz="1400" dirty="0">
                <a:solidFill>
                  <a:schemeClr val="bg1"/>
                </a:solidFill>
              </a:rPr>
              <a:t>&amp; Developer Tooling</a:t>
            </a:r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2ACCBF34-185B-389B-CCDF-6AE484CE76C7}"/>
              </a:ext>
            </a:extLst>
          </p:cNvPr>
          <p:cNvSpPr/>
          <p:nvPr/>
        </p:nvSpPr>
        <p:spPr>
          <a:xfrm>
            <a:off x="2699764" y="4385708"/>
            <a:ext cx="271908" cy="445814"/>
          </a:xfrm>
          <a:prstGeom prst="rightBrac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 sz="1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CDBB1A-44D1-F216-5B46-250850A288A4}"/>
              </a:ext>
            </a:extLst>
          </p:cNvPr>
          <p:cNvSpPr txBox="1"/>
          <p:nvPr/>
        </p:nvSpPr>
        <p:spPr>
          <a:xfrm>
            <a:off x="2970576" y="4348333"/>
            <a:ext cx="27606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solidFill>
                  <a:schemeClr val="bg1"/>
                </a:solidFill>
              </a:rPr>
              <a:t>the “core” subdomains/modules</a:t>
            </a:r>
          </a:p>
          <a:p>
            <a:r>
              <a:rPr lang="en-NZ" sz="1400" dirty="0">
                <a:solidFill>
                  <a:schemeClr val="bg1"/>
                </a:solidFill>
              </a:rPr>
              <a:t>of your specific product</a:t>
            </a:r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220CDCAC-545A-027A-9BC9-877ACB5A1647}"/>
              </a:ext>
            </a:extLst>
          </p:cNvPr>
          <p:cNvSpPr/>
          <p:nvPr/>
        </p:nvSpPr>
        <p:spPr>
          <a:xfrm>
            <a:off x="2699764" y="4886148"/>
            <a:ext cx="270812" cy="1328915"/>
          </a:xfrm>
          <a:prstGeom prst="rightBrac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 sz="1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36F23C-51BF-467B-06B5-9BAD76B0DADE}"/>
              </a:ext>
            </a:extLst>
          </p:cNvPr>
          <p:cNvSpPr txBox="1"/>
          <p:nvPr/>
        </p:nvSpPr>
        <p:spPr>
          <a:xfrm>
            <a:off x="2971672" y="5207787"/>
            <a:ext cx="30315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solidFill>
                  <a:schemeClr val="bg1"/>
                </a:solidFill>
              </a:rPr>
              <a:t>the “generic” subdomains/modules,</a:t>
            </a:r>
          </a:p>
          <a:p>
            <a:r>
              <a:rPr lang="en-NZ" sz="1400" dirty="0">
                <a:solidFill>
                  <a:schemeClr val="bg1"/>
                </a:solidFill>
              </a:rPr>
              <a:t>that every product has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9C164BF-63CB-4089-D08E-B583D593DC90}"/>
              </a:ext>
            </a:extLst>
          </p:cNvPr>
          <p:cNvSpPr txBox="1"/>
          <p:nvPr/>
        </p:nvSpPr>
        <p:spPr>
          <a:xfrm>
            <a:off x="3193279" y="5992572"/>
            <a:ext cx="27077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solidFill>
                  <a:schemeClr val="bg1"/>
                </a:solidFill>
              </a:rPr>
              <a:t>comprehensive documentation!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02E4803-ED82-7F3E-CFEC-EC5871BFC1AA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2700095" y="4784720"/>
            <a:ext cx="331452" cy="3362711"/>
          </a:xfrm>
          <a:prstGeom prst="curvedConnector2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ight Brace 16">
            <a:extLst>
              <a:ext uri="{FF2B5EF4-FFF2-40B4-BE49-F238E27FC236}">
                <a16:creationId xmlns:a16="http://schemas.microsoft.com/office/drawing/2014/main" id="{3AFEB552-520E-7D66-D35A-12C64620571C}"/>
              </a:ext>
            </a:extLst>
          </p:cNvPr>
          <p:cNvSpPr/>
          <p:nvPr/>
        </p:nvSpPr>
        <p:spPr>
          <a:xfrm>
            <a:off x="2698668" y="452615"/>
            <a:ext cx="271908" cy="972319"/>
          </a:xfrm>
          <a:prstGeom prst="rightBrac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 sz="140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8A2A1D-AF8E-0AF3-A7CE-0DDED865622C}"/>
              </a:ext>
            </a:extLst>
          </p:cNvPr>
          <p:cNvSpPr txBox="1"/>
          <p:nvPr/>
        </p:nvSpPr>
        <p:spPr>
          <a:xfrm>
            <a:off x="2970576" y="812739"/>
            <a:ext cx="18838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solidFill>
                  <a:schemeClr val="bg1"/>
                </a:solidFill>
              </a:rPr>
              <a:t>Technology Adapters</a:t>
            </a:r>
          </a:p>
        </p:txBody>
      </p:sp>
    </p:spTree>
    <p:extLst>
      <p:ext uri="{BB962C8B-B14F-4D97-AF65-F5344CB8AC3E}">
        <p14:creationId xmlns:p14="http://schemas.microsoft.com/office/powerpoint/2010/main" val="116229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C45D6C2-A45E-EE60-3C7A-805CA22B30F4}"/>
              </a:ext>
            </a:extLst>
          </p:cNvPr>
          <p:cNvSpPr/>
          <p:nvPr/>
        </p:nvSpPr>
        <p:spPr>
          <a:xfrm>
            <a:off x="2222609" y="1762913"/>
            <a:ext cx="5080026" cy="3752637"/>
          </a:xfrm>
          <a:custGeom>
            <a:avLst/>
            <a:gdLst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269450 w 5080026"/>
              <a:gd name="connsiteY36" fmla="*/ 1219200 h 3750733"/>
              <a:gd name="connsiteX37" fmla="*/ 235584 w 5080026"/>
              <a:gd name="connsiteY37" fmla="*/ 1388533 h 3750733"/>
              <a:gd name="connsiteX38" fmla="*/ 218650 w 5080026"/>
              <a:gd name="connsiteY38" fmla="*/ 1422400 h 3750733"/>
              <a:gd name="connsiteX39" fmla="*/ 184784 w 5080026"/>
              <a:gd name="connsiteY39" fmla="*/ 1430867 h 3750733"/>
              <a:gd name="connsiteX40" fmla="*/ 117050 w 5080026"/>
              <a:gd name="connsiteY40" fmla="*/ 1515533 h 3750733"/>
              <a:gd name="connsiteX41" fmla="*/ 74717 w 5080026"/>
              <a:gd name="connsiteY41" fmla="*/ 1642533 h 3750733"/>
              <a:gd name="connsiteX42" fmla="*/ 108584 w 5080026"/>
              <a:gd name="connsiteY42" fmla="*/ 1998133 h 3750733"/>
              <a:gd name="connsiteX43" fmla="*/ 117050 w 5080026"/>
              <a:gd name="connsiteY43" fmla="*/ 2099733 h 3750733"/>
              <a:gd name="connsiteX44" fmla="*/ 125517 w 5080026"/>
              <a:gd name="connsiteY44" fmla="*/ 2243667 h 3750733"/>
              <a:gd name="connsiteX45" fmla="*/ 159384 w 5080026"/>
              <a:gd name="connsiteY45" fmla="*/ 2362200 h 3750733"/>
              <a:gd name="connsiteX46" fmla="*/ 49317 w 5080026"/>
              <a:gd name="connsiteY46" fmla="*/ 2624667 h 3750733"/>
              <a:gd name="connsiteX47" fmla="*/ 40850 w 5080026"/>
              <a:gd name="connsiteY47" fmla="*/ 2802467 h 3750733"/>
              <a:gd name="connsiteX48" fmla="*/ 32384 w 5080026"/>
              <a:gd name="connsiteY48" fmla="*/ 2921000 h 3750733"/>
              <a:gd name="connsiteX49" fmla="*/ 100117 w 5080026"/>
              <a:gd name="connsiteY49" fmla="*/ 3098800 h 3750733"/>
              <a:gd name="connsiteX50" fmla="*/ 133984 w 5080026"/>
              <a:gd name="connsiteY50" fmla="*/ 3141133 h 3750733"/>
              <a:gd name="connsiteX51" fmla="*/ 286384 w 5080026"/>
              <a:gd name="connsiteY51" fmla="*/ 3395133 h 3750733"/>
              <a:gd name="connsiteX52" fmla="*/ 362584 w 5080026"/>
              <a:gd name="connsiteY52" fmla="*/ 3505200 h 3750733"/>
              <a:gd name="connsiteX53" fmla="*/ 455717 w 5080026"/>
              <a:gd name="connsiteY53" fmla="*/ 3556000 h 3750733"/>
              <a:gd name="connsiteX54" fmla="*/ 616584 w 5080026"/>
              <a:gd name="connsiteY54" fmla="*/ 3632200 h 3750733"/>
              <a:gd name="connsiteX55" fmla="*/ 929850 w 5080026"/>
              <a:gd name="connsiteY55" fmla="*/ 3716867 h 3750733"/>
              <a:gd name="connsiteX56" fmla="*/ 1073784 w 5080026"/>
              <a:gd name="connsiteY56" fmla="*/ 3742267 h 3750733"/>
              <a:gd name="connsiteX57" fmla="*/ 1361650 w 5080026"/>
              <a:gd name="connsiteY57" fmla="*/ 3750733 h 3750733"/>
              <a:gd name="connsiteX58" fmla="*/ 1649517 w 5080026"/>
              <a:gd name="connsiteY58" fmla="*/ 3691467 h 3750733"/>
              <a:gd name="connsiteX59" fmla="*/ 1886584 w 5080026"/>
              <a:gd name="connsiteY59" fmla="*/ 3479800 h 3750733"/>
              <a:gd name="connsiteX60" fmla="*/ 1945850 w 5080026"/>
              <a:gd name="connsiteY60" fmla="*/ 3395133 h 3750733"/>
              <a:gd name="connsiteX61" fmla="*/ 1996650 w 5080026"/>
              <a:gd name="connsiteY61" fmla="*/ 3335867 h 3750733"/>
              <a:gd name="connsiteX62" fmla="*/ 2318384 w 5080026"/>
              <a:gd name="connsiteY62" fmla="*/ 3183467 h 3750733"/>
              <a:gd name="connsiteX63" fmla="*/ 2394584 w 5080026"/>
              <a:gd name="connsiteY63" fmla="*/ 3141133 h 3750733"/>
              <a:gd name="connsiteX64" fmla="*/ 2944917 w 5080026"/>
              <a:gd name="connsiteY64" fmla="*/ 2853267 h 3750733"/>
              <a:gd name="connsiteX65" fmla="*/ 3376717 w 5080026"/>
              <a:gd name="connsiteY65" fmla="*/ 2827867 h 3750733"/>
              <a:gd name="connsiteX66" fmla="*/ 3469850 w 5080026"/>
              <a:gd name="connsiteY66" fmla="*/ 2802467 h 3750733"/>
              <a:gd name="connsiteX67" fmla="*/ 3529117 w 5080026"/>
              <a:gd name="connsiteY67" fmla="*/ 2794000 h 3750733"/>
              <a:gd name="connsiteX68" fmla="*/ 3639184 w 5080026"/>
              <a:gd name="connsiteY68" fmla="*/ 2768600 h 3750733"/>
              <a:gd name="connsiteX69" fmla="*/ 3757717 w 5080026"/>
              <a:gd name="connsiteY69" fmla="*/ 2734733 h 3750733"/>
              <a:gd name="connsiteX70" fmla="*/ 3986317 w 5080026"/>
              <a:gd name="connsiteY70" fmla="*/ 2692400 h 3750733"/>
              <a:gd name="connsiteX71" fmla="*/ 4485850 w 5080026"/>
              <a:gd name="connsiteY71" fmla="*/ 2675467 h 3750733"/>
              <a:gd name="connsiteX72" fmla="*/ 4604384 w 5080026"/>
              <a:gd name="connsiteY72" fmla="*/ 2641600 h 3750733"/>
              <a:gd name="connsiteX73" fmla="*/ 4672117 w 5080026"/>
              <a:gd name="connsiteY73" fmla="*/ 2590800 h 3750733"/>
              <a:gd name="connsiteX74" fmla="*/ 4790650 w 5080026"/>
              <a:gd name="connsiteY74" fmla="*/ 2506133 h 3750733"/>
              <a:gd name="connsiteX75" fmla="*/ 4892250 w 5080026"/>
              <a:gd name="connsiteY75" fmla="*/ 2404533 h 3750733"/>
              <a:gd name="connsiteX76" fmla="*/ 5002317 w 5080026"/>
              <a:gd name="connsiteY76" fmla="*/ 2201333 h 3750733"/>
              <a:gd name="connsiteX77" fmla="*/ 5044650 w 5080026"/>
              <a:gd name="connsiteY77" fmla="*/ 2116667 h 3750733"/>
              <a:gd name="connsiteX78" fmla="*/ 5070050 w 5080026"/>
              <a:gd name="connsiteY78" fmla="*/ 2023533 h 3750733"/>
              <a:gd name="connsiteX79" fmla="*/ 5070050 w 5080026"/>
              <a:gd name="connsiteY79" fmla="*/ 1769533 h 3750733"/>
              <a:gd name="connsiteX80" fmla="*/ 5019250 w 5080026"/>
              <a:gd name="connsiteY80" fmla="*/ 1498600 h 3750733"/>
              <a:gd name="connsiteX81" fmla="*/ 4993850 w 5080026"/>
              <a:gd name="connsiteY81" fmla="*/ 1261533 h 3750733"/>
              <a:gd name="connsiteX82" fmla="*/ 4976917 w 5080026"/>
              <a:gd name="connsiteY82" fmla="*/ 1159933 h 3750733"/>
              <a:gd name="connsiteX83" fmla="*/ 4841450 w 5080026"/>
              <a:gd name="connsiteY83" fmla="*/ 1083733 h 3750733"/>
              <a:gd name="connsiteX84" fmla="*/ 4621317 w 5080026"/>
              <a:gd name="connsiteY84" fmla="*/ 999067 h 3750733"/>
              <a:gd name="connsiteX85" fmla="*/ 4511250 w 5080026"/>
              <a:gd name="connsiteY85" fmla="*/ 905933 h 3750733"/>
              <a:gd name="connsiteX86" fmla="*/ 4274184 w 5080026"/>
              <a:gd name="connsiteY86" fmla="*/ 795867 h 3750733"/>
              <a:gd name="connsiteX87" fmla="*/ 4147184 w 5080026"/>
              <a:gd name="connsiteY87" fmla="*/ 711200 h 3750733"/>
              <a:gd name="connsiteX88" fmla="*/ 4062517 w 5080026"/>
              <a:gd name="connsiteY88" fmla="*/ 660400 h 3750733"/>
              <a:gd name="connsiteX89" fmla="*/ 4037117 w 5080026"/>
              <a:gd name="connsiteY89" fmla="*/ 635000 h 3750733"/>
              <a:gd name="connsiteX90" fmla="*/ 3977850 w 5080026"/>
              <a:gd name="connsiteY90" fmla="*/ 584200 h 3750733"/>
              <a:gd name="connsiteX91" fmla="*/ 3867784 w 5080026"/>
              <a:gd name="connsiteY91" fmla="*/ 508000 h 3750733"/>
              <a:gd name="connsiteX92" fmla="*/ 3681517 w 5080026"/>
              <a:gd name="connsiteY92" fmla="*/ 440267 h 3750733"/>
              <a:gd name="connsiteX93" fmla="*/ 3588384 w 5080026"/>
              <a:gd name="connsiteY93" fmla="*/ 381000 h 3750733"/>
              <a:gd name="connsiteX94" fmla="*/ 3554517 w 5080026"/>
              <a:gd name="connsiteY94" fmla="*/ 372533 h 3750733"/>
              <a:gd name="connsiteX95" fmla="*/ 3495250 w 5080026"/>
              <a:gd name="connsiteY95" fmla="*/ 347133 h 3750733"/>
              <a:gd name="connsiteX96" fmla="*/ 3300517 w 5080026"/>
              <a:gd name="connsiteY96" fmla="*/ 237067 h 3750733"/>
              <a:gd name="connsiteX97" fmla="*/ 3139650 w 5080026"/>
              <a:gd name="connsiteY97" fmla="*/ 211667 h 3750733"/>
              <a:gd name="connsiteX98" fmla="*/ 2987250 w 5080026"/>
              <a:gd name="connsiteY98" fmla="*/ 152400 h 3750733"/>
              <a:gd name="connsiteX99" fmla="*/ 2902584 w 5080026"/>
              <a:gd name="connsiteY99" fmla="*/ 101600 h 3750733"/>
              <a:gd name="connsiteX100" fmla="*/ 2733250 w 5080026"/>
              <a:gd name="connsiteY100" fmla="*/ 59267 h 3750733"/>
              <a:gd name="connsiteX101" fmla="*/ 2623184 w 5080026"/>
              <a:gd name="connsiteY101" fmla="*/ 8467 h 3750733"/>
              <a:gd name="connsiteX102" fmla="*/ 2589317 w 5080026"/>
              <a:gd name="connsiteY102" fmla="*/ 33867 h 3750733"/>
              <a:gd name="connsiteX103" fmla="*/ 2546984 w 5080026"/>
              <a:gd name="connsiteY103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269450 w 5080026"/>
              <a:gd name="connsiteY36" fmla="*/ 1219200 h 3750733"/>
              <a:gd name="connsiteX37" fmla="*/ 235584 w 5080026"/>
              <a:gd name="connsiteY37" fmla="*/ 1388533 h 3750733"/>
              <a:gd name="connsiteX38" fmla="*/ 218650 w 5080026"/>
              <a:gd name="connsiteY38" fmla="*/ 1422400 h 3750733"/>
              <a:gd name="connsiteX39" fmla="*/ 117050 w 5080026"/>
              <a:gd name="connsiteY39" fmla="*/ 1515533 h 3750733"/>
              <a:gd name="connsiteX40" fmla="*/ 74717 w 5080026"/>
              <a:gd name="connsiteY40" fmla="*/ 1642533 h 3750733"/>
              <a:gd name="connsiteX41" fmla="*/ 108584 w 5080026"/>
              <a:gd name="connsiteY41" fmla="*/ 1998133 h 3750733"/>
              <a:gd name="connsiteX42" fmla="*/ 117050 w 5080026"/>
              <a:gd name="connsiteY42" fmla="*/ 2099733 h 3750733"/>
              <a:gd name="connsiteX43" fmla="*/ 125517 w 5080026"/>
              <a:gd name="connsiteY43" fmla="*/ 2243667 h 3750733"/>
              <a:gd name="connsiteX44" fmla="*/ 159384 w 5080026"/>
              <a:gd name="connsiteY44" fmla="*/ 2362200 h 3750733"/>
              <a:gd name="connsiteX45" fmla="*/ 49317 w 5080026"/>
              <a:gd name="connsiteY45" fmla="*/ 2624667 h 3750733"/>
              <a:gd name="connsiteX46" fmla="*/ 40850 w 5080026"/>
              <a:gd name="connsiteY46" fmla="*/ 2802467 h 3750733"/>
              <a:gd name="connsiteX47" fmla="*/ 32384 w 5080026"/>
              <a:gd name="connsiteY47" fmla="*/ 2921000 h 3750733"/>
              <a:gd name="connsiteX48" fmla="*/ 100117 w 5080026"/>
              <a:gd name="connsiteY48" fmla="*/ 3098800 h 3750733"/>
              <a:gd name="connsiteX49" fmla="*/ 133984 w 5080026"/>
              <a:gd name="connsiteY49" fmla="*/ 3141133 h 3750733"/>
              <a:gd name="connsiteX50" fmla="*/ 286384 w 5080026"/>
              <a:gd name="connsiteY50" fmla="*/ 3395133 h 3750733"/>
              <a:gd name="connsiteX51" fmla="*/ 362584 w 5080026"/>
              <a:gd name="connsiteY51" fmla="*/ 3505200 h 3750733"/>
              <a:gd name="connsiteX52" fmla="*/ 455717 w 5080026"/>
              <a:gd name="connsiteY52" fmla="*/ 3556000 h 3750733"/>
              <a:gd name="connsiteX53" fmla="*/ 616584 w 5080026"/>
              <a:gd name="connsiteY53" fmla="*/ 3632200 h 3750733"/>
              <a:gd name="connsiteX54" fmla="*/ 929850 w 5080026"/>
              <a:gd name="connsiteY54" fmla="*/ 3716867 h 3750733"/>
              <a:gd name="connsiteX55" fmla="*/ 1073784 w 5080026"/>
              <a:gd name="connsiteY55" fmla="*/ 3742267 h 3750733"/>
              <a:gd name="connsiteX56" fmla="*/ 1361650 w 5080026"/>
              <a:gd name="connsiteY56" fmla="*/ 3750733 h 3750733"/>
              <a:gd name="connsiteX57" fmla="*/ 1649517 w 5080026"/>
              <a:gd name="connsiteY57" fmla="*/ 3691467 h 3750733"/>
              <a:gd name="connsiteX58" fmla="*/ 1886584 w 5080026"/>
              <a:gd name="connsiteY58" fmla="*/ 3479800 h 3750733"/>
              <a:gd name="connsiteX59" fmla="*/ 1945850 w 5080026"/>
              <a:gd name="connsiteY59" fmla="*/ 3395133 h 3750733"/>
              <a:gd name="connsiteX60" fmla="*/ 1996650 w 5080026"/>
              <a:gd name="connsiteY60" fmla="*/ 3335867 h 3750733"/>
              <a:gd name="connsiteX61" fmla="*/ 2318384 w 5080026"/>
              <a:gd name="connsiteY61" fmla="*/ 3183467 h 3750733"/>
              <a:gd name="connsiteX62" fmla="*/ 2394584 w 5080026"/>
              <a:gd name="connsiteY62" fmla="*/ 3141133 h 3750733"/>
              <a:gd name="connsiteX63" fmla="*/ 2944917 w 5080026"/>
              <a:gd name="connsiteY63" fmla="*/ 2853267 h 3750733"/>
              <a:gd name="connsiteX64" fmla="*/ 3376717 w 5080026"/>
              <a:gd name="connsiteY64" fmla="*/ 2827867 h 3750733"/>
              <a:gd name="connsiteX65" fmla="*/ 3469850 w 5080026"/>
              <a:gd name="connsiteY65" fmla="*/ 2802467 h 3750733"/>
              <a:gd name="connsiteX66" fmla="*/ 3529117 w 5080026"/>
              <a:gd name="connsiteY66" fmla="*/ 2794000 h 3750733"/>
              <a:gd name="connsiteX67" fmla="*/ 3639184 w 5080026"/>
              <a:gd name="connsiteY67" fmla="*/ 2768600 h 3750733"/>
              <a:gd name="connsiteX68" fmla="*/ 3757717 w 5080026"/>
              <a:gd name="connsiteY68" fmla="*/ 2734733 h 3750733"/>
              <a:gd name="connsiteX69" fmla="*/ 3986317 w 5080026"/>
              <a:gd name="connsiteY69" fmla="*/ 2692400 h 3750733"/>
              <a:gd name="connsiteX70" fmla="*/ 4485850 w 5080026"/>
              <a:gd name="connsiteY70" fmla="*/ 2675467 h 3750733"/>
              <a:gd name="connsiteX71" fmla="*/ 4604384 w 5080026"/>
              <a:gd name="connsiteY71" fmla="*/ 2641600 h 3750733"/>
              <a:gd name="connsiteX72" fmla="*/ 4672117 w 5080026"/>
              <a:gd name="connsiteY72" fmla="*/ 2590800 h 3750733"/>
              <a:gd name="connsiteX73" fmla="*/ 4790650 w 5080026"/>
              <a:gd name="connsiteY73" fmla="*/ 2506133 h 3750733"/>
              <a:gd name="connsiteX74" fmla="*/ 4892250 w 5080026"/>
              <a:gd name="connsiteY74" fmla="*/ 2404533 h 3750733"/>
              <a:gd name="connsiteX75" fmla="*/ 5002317 w 5080026"/>
              <a:gd name="connsiteY75" fmla="*/ 2201333 h 3750733"/>
              <a:gd name="connsiteX76" fmla="*/ 5044650 w 5080026"/>
              <a:gd name="connsiteY76" fmla="*/ 2116667 h 3750733"/>
              <a:gd name="connsiteX77" fmla="*/ 5070050 w 5080026"/>
              <a:gd name="connsiteY77" fmla="*/ 2023533 h 3750733"/>
              <a:gd name="connsiteX78" fmla="*/ 5070050 w 5080026"/>
              <a:gd name="connsiteY78" fmla="*/ 1769533 h 3750733"/>
              <a:gd name="connsiteX79" fmla="*/ 5019250 w 5080026"/>
              <a:gd name="connsiteY79" fmla="*/ 1498600 h 3750733"/>
              <a:gd name="connsiteX80" fmla="*/ 4993850 w 5080026"/>
              <a:gd name="connsiteY80" fmla="*/ 1261533 h 3750733"/>
              <a:gd name="connsiteX81" fmla="*/ 4976917 w 5080026"/>
              <a:gd name="connsiteY81" fmla="*/ 1159933 h 3750733"/>
              <a:gd name="connsiteX82" fmla="*/ 4841450 w 5080026"/>
              <a:gd name="connsiteY82" fmla="*/ 1083733 h 3750733"/>
              <a:gd name="connsiteX83" fmla="*/ 4621317 w 5080026"/>
              <a:gd name="connsiteY83" fmla="*/ 999067 h 3750733"/>
              <a:gd name="connsiteX84" fmla="*/ 4511250 w 5080026"/>
              <a:gd name="connsiteY84" fmla="*/ 905933 h 3750733"/>
              <a:gd name="connsiteX85" fmla="*/ 4274184 w 5080026"/>
              <a:gd name="connsiteY85" fmla="*/ 795867 h 3750733"/>
              <a:gd name="connsiteX86" fmla="*/ 4147184 w 5080026"/>
              <a:gd name="connsiteY86" fmla="*/ 711200 h 3750733"/>
              <a:gd name="connsiteX87" fmla="*/ 4062517 w 5080026"/>
              <a:gd name="connsiteY87" fmla="*/ 660400 h 3750733"/>
              <a:gd name="connsiteX88" fmla="*/ 4037117 w 5080026"/>
              <a:gd name="connsiteY88" fmla="*/ 635000 h 3750733"/>
              <a:gd name="connsiteX89" fmla="*/ 3977850 w 5080026"/>
              <a:gd name="connsiteY89" fmla="*/ 584200 h 3750733"/>
              <a:gd name="connsiteX90" fmla="*/ 3867784 w 5080026"/>
              <a:gd name="connsiteY90" fmla="*/ 508000 h 3750733"/>
              <a:gd name="connsiteX91" fmla="*/ 3681517 w 5080026"/>
              <a:gd name="connsiteY91" fmla="*/ 440267 h 3750733"/>
              <a:gd name="connsiteX92" fmla="*/ 3588384 w 5080026"/>
              <a:gd name="connsiteY92" fmla="*/ 381000 h 3750733"/>
              <a:gd name="connsiteX93" fmla="*/ 3554517 w 5080026"/>
              <a:gd name="connsiteY93" fmla="*/ 372533 h 3750733"/>
              <a:gd name="connsiteX94" fmla="*/ 3495250 w 5080026"/>
              <a:gd name="connsiteY94" fmla="*/ 347133 h 3750733"/>
              <a:gd name="connsiteX95" fmla="*/ 3300517 w 5080026"/>
              <a:gd name="connsiteY95" fmla="*/ 237067 h 3750733"/>
              <a:gd name="connsiteX96" fmla="*/ 3139650 w 5080026"/>
              <a:gd name="connsiteY96" fmla="*/ 211667 h 3750733"/>
              <a:gd name="connsiteX97" fmla="*/ 2987250 w 5080026"/>
              <a:gd name="connsiteY97" fmla="*/ 152400 h 3750733"/>
              <a:gd name="connsiteX98" fmla="*/ 2902584 w 5080026"/>
              <a:gd name="connsiteY98" fmla="*/ 101600 h 3750733"/>
              <a:gd name="connsiteX99" fmla="*/ 2733250 w 5080026"/>
              <a:gd name="connsiteY99" fmla="*/ 59267 h 3750733"/>
              <a:gd name="connsiteX100" fmla="*/ 2623184 w 5080026"/>
              <a:gd name="connsiteY100" fmla="*/ 8467 h 3750733"/>
              <a:gd name="connsiteX101" fmla="*/ 2589317 w 5080026"/>
              <a:gd name="connsiteY101" fmla="*/ 33867 h 3750733"/>
              <a:gd name="connsiteX102" fmla="*/ 2546984 w 5080026"/>
              <a:gd name="connsiteY102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269450 w 5080026"/>
              <a:gd name="connsiteY36" fmla="*/ 1219200 h 3750733"/>
              <a:gd name="connsiteX37" fmla="*/ 235584 w 5080026"/>
              <a:gd name="connsiteY37" fmla="*/ 1388533 h 3750733"/>
              <a:gd name="connsiteX38" fmla="*/ 117050 w 5080026"/>
              <a:gd name="connsiteY38" fmla="*/ 1515533 h 3750733"/>
              <a:gd name="connsiteX39" fmla="*/ 74717 w 5080026"/>
              <a:gd name="connsiteY39" fmla="*/ 1642533 h 3750733"/>
              <a:gd name="connsiteX40" fmla="*/ 108584 w 5080026"/>
              <a:gd name="connsiteY40" fmla="*/ 1998133 h 3750733"/>
              <a:gd name="connsiteX41" fmla="*/ 117050 w 5080026"/>
              <a:gd name="connsiteY41" fmla="*/ 2099733 h 3750733"/>
              <a:gd name="connsiteX42" fmla="*/ 125517 w 5080026"/>
              <a:gd name="connsiteY42" fmla="*/ 2243667 h 3750733"/>
              <a:gd name="connsiteX43" fmla="*/ 159384 w 5080026"/>
              <a:gd name="connsiteY43" fmla="*/ 2362200 h 3750733"/>
              <a:gd name="connsiteX44" fmla="*/ 49317 w 5080026"/>
              <a:gd name="connsiteY44" fmla="*/ 2624667 h 3750733"/>
              <a:gd name="connsiteX45" fmla="*/ 40850 w 5080026"/>
              <a:gd name="connsiteY45" fmla="*/ 2802467 h 3750733"/>
              <a:gd name="connsiteX46" fmla="*/ 32384 w 5080026"/>
              <a:gd name="connsiteY46" fmla="*/ 2921000 h 3750733"/>
              <a:gd name="connsiteX47" fmla="*/ 100117 w 5080026"/>
              <a:gd name="connsiteY47" fmla="*/ 3098800 h 3750733"/>
              <a:gd name="connsiteX48" fmla="*/ 133984 w 5080026"/>
              <a:gd name="connsiteY48" fmla="*/ 3141133 h 3750733"/>
              <a:gd name="connsiteX49" fmla="*/ 286384 w 5080026"/>
              <a:gd name="connsiteY49" fmla="*/ 3395133 h 3750733"/>
              <a:gd name="connsiteX50" fmla="*/ 362584 w 5080026"/>
              <a:gd name="connsiteY50" fmla="*/ 3505200 h 3750733"/>
              <a:gd name="connsiteX51" fmla="*/ 455717 w 5080026"/>
              <a:gd name="connsiteY51" fmla="*/ 3556000 h 3750733"/>
              <a:gd name="connsiteX52" fmla="*/ 616584 w 5080026"/>
              <a:gd name="connsiteY52" fmla="*/ 3632200 h 3750733"/>
              <a:gd name="connsiteX53" fmla="*/ 929850 w 5080026"/>
              <a:gd name="connsiteY53" fmla="*/ 3716867 h 3750733"/>
              <a:gd name="connsiteX54" fmla="*/ 1073784 w 5080026"/>
              <a:gd name="connsiteY54" fmla="*/ 3742267 h 3750733"/>
              <a:gd name="connsiteX55" fmla="*/ 1361650 w 5080026"/>
              <a:gd name="connsiteY55" fmla="*/ 3750733 h 3750733"/>
              <a:gd name="connsiteX56" fmla="*/ 1649517 w 5080026"/>
              <a:gd name="connsiteY56" fmla="*/ 3691467 h 3750733"/>
              <a:gd name="connsiteX57" fmla="*/ 1886584 w 5080026"/>
              <a:gd name="connsiteY57" fmla="*/ 3479800 h 3750733"/>
              <a:gd name="connsiteX58" fmla="*/ 1945850 w 5080026"/>
              <a:gd name="connsiteY58" fmla="*/ 3395133 h 3750733"/>
              <a:gd name="connsiteX59" fmla="*/ 1996650 w 5080026"/>
              <a:gd name="connsiteY59" fmla="*/ 3335867 h 3750733"/>
              <a:gd name="connsiteX60" fmla="*/ 2318384 w 5080026"/>
              <a:gd name="connsiteY60" fmla="*/ 3183467 h 3750733"/>
              <a:gd name="connsiteX61" fmla="*/ 2394584 w 5080026"/>
              <a:gd name="connsiteY61" fmla="*/ 3141133 h 3750733"/>
              <a:gd name="connsiteX62" fmla="*/ 2944917 w 5080026"/>
              <a:gd name="connsiteY62" fmla="*/ 2853267 h 3750733"/>
              <a:gd name="connsiteX63" fmla="*/ 3376717 w 5080026"/>
              <a:gd name="connsiteY63" fmla="*/ 2827867 h 3750733"/>
              <a:gd name="connsiteX64" fmla="*/ 3469850 w 5080026"/>
              <a:gd name="connsiteY64" fmla="*/ 2802467 h 3750733"/>
              <a:gd name="connsiteX65" fmla="*/ 3529117 w 5080026"/>
              <a:gd name="connsiteY65" fmla="*/ 2794000 h 3750733"/>
              <a:gd name="connsiteX66" fmla="*/ 3639184 w 5080026"/>
              <a:gd name="connsiteY66" fmla="*/ 2768600 h 3750733"/>
              <a:gd name="connsiteX67" fmla="*/ 3757717 w 5080026"/>
              <a:gd name="connsiteY67" fmla="*/ 2734733 h 3750733"/>
              <a:gd name="connsiteX68" fmla="*/ 3986317 w 5080026"/>
              <a:gd name="connsiteY68" fmla="*/ 2692400 h 3750733"/>
              <a:gd name="connsiteX69" fmla="*/ 4485850 w 5080026"/>
              <a:gd name="connsiteY69" fmla="*/ 2675467 h 3750733"/>
              <a:gd name="connsiteX70" fmla="*/ 4604384 w 5080026"/>
              <a:gd name="connsiteY70" fmla="*/ 2641600 h 3750733"/>
              <a:gd name="connsiteX71" fmla="*/ 4672117 w 5080026"/>
              <a:gd name="connsiteY71" fmla="*/ 2590800 h 3750733"/>
              <a:gd name="connsiteX72" fmla="*/ 4790650 w 5080026"/>
              <a:gd name="connsiteY72" fmla="*/ 2506133 h 3750733"/>
              <a:gd name="connsiteX73" fmla="*/ 4892250 w 5080026"/>
              <a:gd name="connsiteY73" fmla="*/ 2404533 h 3750733"/>
              <a:gd name="connsiteX74" fmla="*/ 5002317 w 5080026"/>
              <a:gd name="connsiteY74" fmla="*/ 2201333 h 3750733"/>
              <a:gd name="connsiteX75" fmla="*/ 5044650 w 5080026"/>
              <a:gd name="connsiteY75" fmla="*/ 2116667 h 3750733"/>
              <a:gd name="connsiteX76" fmla="*/ 5070050 w 5080026"/>
              <a:gd name="connsiteY76" fmla="*/ 2023533 h 3750733"/>
              <a:gd name="connsiteX77" fmla="*/ 5070050 w 5080026"/>
              <a:gd name="connsiteY77" fmla="*/ 1769533 h 3750733"/>
              <a:gd name="connsiteX78" fmla="*/ 5019250 w 5080026"/>
              <a:gd name="connsiteY78" fmla="*/ 1498600 h 3750733"/>
              <a:gd name="connsiteX79" fmla="*/ 4993850 w 5080026"/>
              <a:gd name="connsiteY79" fmla="*/ 1261533 h 3750733"/>
              <a:gd name="connsiteX80" fmla="*/ 4976917 w 5080026"/>
              <a:gd name="connsiteY80" fmla="*/ 1159933 h 3750733"/>
              <a:gd name="connsiteX81" fmla="*/ 4841450 w 5080026"/>
              <a:gd name="connsiteY81" fmla="*/ 1083733 h 3750733"/>
              <a:gd name="connsiteX82" fmla="*/ 4621317 w 5080026"/>
              <a:gd name="connsiteY82" fmla="*/ 999067 h 3750733"/>
              <a:gd name="connsiteX83" fmla="*/ 4511250 w 5080026"/>
              <a:gd name="connsiteY83" fmla="*/ 905933 h 3750733"/>
              <a:gd name="connsiteX84" fmla="*/ 4274184 w 5080026"/>
              <a:gd name="connsiteY84" fmla="*/ 795867 h 3750733"/>
              <a:gd name="connsiteX85" fmla="*/ 4147184 w 5080026"/>
              <a:gd name="connsiteY85" fmla="*/ 711200 h 3750733"/>
              <a:gd name="connsiteX86" fmla="*/ 4062517 w 5080026"/>
              <a:gd name="connsiteY86" fmla="*/ 660400 h 3750733"/>
              <a:gd name="connsiteX87" fmla="*/ 4037117 w 5080026"/>
              <a:gd name="connsiteY87" fmla="*/ 635000 h 3750733"/>
              <a:gd name="connsiteX88" fmla="*/ 3977850 w 5080026"/>
              <a:gd name="connsiteY88" fmla="*/ 584200 h 3750733"/>
              <a:gd name="connsiteX89" fmla="*/ 3867784 w 5080026"/>
              <a:gd name="connsiteY89" fmla="*/ 508000 h 3750733"/>
              <a:gd name="connsiteX90" fmla="*/ 3681517 w 5080026"/>
              <a:gd name="connsiteY90" fmla="*/ 440267 h 3750733"/>
              <a:gd name="connsiteX91" fmla="*/ 3588384 w 5080026"/>
              <a:gd name="connsiteY91" fmla="*/ 381000 h 3750733"/>
              <a:gd name="connsiteX92" fmla="*/ 3554517 w 5080026"/>
              <a:gd name="connsiteY92" fmla="*/ 372533 h 3750733"/>
              <a:gd name="connsiteX93" fmla="*/ 3495250 w 5080026"/>
              <a:gd name="connsiteY93" fmla="*/ 347133 h 3750733"/>
              <a:gd name="connsiteX94" fmla="*/ 3300517 w 5080026"/>
              <a:gd name="connsiteY94" fmla="*/ 237067 h 3750733"/>
              <a:gd name="connsiteX95" fmla="*/ 3139650 w 5080026"/>
              <a:gd name="connsiteY95" fmla="*/ 211667 h 3750733"/>
              <a:gd name="connsiteX96" fmla="*/ 2987250 w 5080026"/>
              <a:gd name="connsiteY96" fmla="*/ 152400 h 3750733"/>
              <a:gd name="connsiteX97" fmla="*/ 2902584 w 5080026"/>
              <a:gd name="connsiteY97" fmla="*/ 101600 h 3750733"/>
              <a:gd name="connsiteX98" fmla="*/ 2733250 w 5080026"/>
              <a:gd name="connsiteY98" fmla="*/ 59267 h 3750733"/>
              <a:gd name="connsiteX99" fmla="*/ 2623184 w 5080026"/>
              <a:gd name="connsiteY99" fmla="*/ 8467 h 3750733"/>
              <a:gd name="connsiteX100" fmla="*/ 2589317 w 5080026"/>
              <a:gd name="connsiteY100" fmla="*/ 33867 h 3750733"/>
              <a:gd name="connsiteX101" fmla="*/ 2546984 w 5080026"/>
              <a:gd name="connsiteY101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269450 w 5080026"/>
              <a:gd name="connsiteY36" fmla="*/ 1219200 h 3750733"/>
              <a:gd name="connsiteX37" fmla="*/ 117050 w 5080026"/>
              <a:gd name="connsiteY37" fmla="*/ 1515533 h 3750733"/>
              <a:gd name="connsiteX38" fmla="*/ 74717 w 5080026"/>
              <a:gd name="connsiteY38" fmla="*/ 1642533 h 3750733"/>
              <a:gd name="connsiteX39" fmla="*/ 108584 w 5080026"/>
              <a:gd name="connsiteY39" fmla="*/ 1998133 h 3750733"/>
              <a:gd name="connsiteX40" fmla="*/ 117050 w 5080026"/>
              <a:gd name="connsiteY40" fmla="*/ 2099733 h 3750733"/>
              <a:gd name="connsiteX41" fmla="*/ 125517 w 5080026"/>
              <a:gd name="connsiteY41" fmla="*/ 2243667 h 3750733"/>
              <a:gd name="connsiteX42" fmla="*/ 159384 w 5080026"/>
              <a:gd name="connsiteY42" fmla="*/ 2362200 h 3750733"/>
              <a:gd name="connsiteX43" fmla="*/ 49317 w 5080026"/>
              <a:gd name="connsiteY43" fmla="*/ 2624667 h 3750733"/>
              <a:gd name="connsiteX44" fmla="*/ 40850 w 5080026"/>
              <a:gd name="connsiteY44" fmla="*/ 2802467 h 3750733"/>
              <a:gd name="connsiteX45" fmla="*/ 32384 w 5080026"/>
              <a:gd name="connsiteY45" fmla="*/ 2921000 h 3750733"/>
              <a:gd name="connsiteX46" fmla="*/ 100117 w 5080026"/>
              <a:gd name="connsiteY46" fmla="*/ 3098800 h 3750733"/>
              <a:gd name="connsiteX47" fmla="*/ 133984 w 5080026"/>
              <a:gd name="connsiteY47" fmla="*/ 3141133 h 3750733"/>
              <a:gd name="connsiteX48" fmla="*/ 286384 w 5080026"/>
              <a:gd name="connsiteY48" fmla="*/ 3395133 h 3750733"/>
              <a:gd name="connsiteX49" fmla="*/ 362584 w 5080026"/>
              <a:gd name="connsiteY49" fmla="*/ 3505200 h 3750733"/>
              <a:gd name="connsiteX50" fmla="*/ 455717 w 5080026"/>
              <a:gd name="connsiteY50" fmla="*/ 3556000 h 3750733"/>
              <a:gd name="connsiteX51" fmla="*/ 616584 w 5080026"/>
              <a:gd name="connsiteY51" fmla="*/ 3632200 h 3750733"/>
              <a:gd name="connsiteX52" fmla="*/ 929850 w 5080026"/>
              <a:gd name="connsiteY52" fmla="*/ 3716867 h 3750733"/>
              <a:gd name="connsiteX53" fmla="*/ 1073784 w 5080026"/>
              <a:gd name="connsiteY53" fmla="*/ 3742267 h 3750733"/>
              <a:gd name="connsiteX54" fmla="*/ 1361650 w 5080026"/>
              <a:gd name="connsiteY54" fmla="*/ 3750733 h 3750733"/>
              <a:gd name="connsiteX55" fmla="*/ 1649517 w 5080026"/>
              <a:gd name="connsiteY55" fmla="*/ 3691467 h 3750733"/>
              <a:gd name="connsiteX56" fmla="*/ 1886584 w 5080026"/>
              <a:gd name="connsiteY56" fmla="*/ 3479800 h 3750733"/>
              <a:gd name="connsiteX57" fmla="*/ 1945850 w 5080026"/>
              <a:gd name="connsiteY57" fmla="*/ 3395133 h 3750733"/>
              <a:gd name="connsiteX58" fmla="*/ 1996650 w 5080026"/>
              <a:gd name="connsiteY58" fmla="*/ 3335867 h 3750733"/>
              <a:gd name="connsiteX59" fmla="*/ 2318384 w 5080026"/>
              <a:gd name="connsiteY59" fmla="*/ 3183467 h 3750733"/>
              <a:gd name="connsiteX60" fmla="*/ 2394584 w 5080026"/>
              <a:gd name="connsiteY60" fmla="*/ 3141133 h 3750733"/>
              <a:gd name="connsiteX61" fmla="*/ 2944917 w 5080026"/>
              <a:gd name="connsiteY61" fmla="*/ 2853267 h 3750733"/>
              <a:gd name="connsiteX62" fmla="*/ 3376717 w 5080026"/>
              <a:gd name="connsiteY62" fmla="*/ 2827867 h 3750733"/>
              <a:gd name="connsiteX63" fmla="*/ 3469850 w 5080026"/>
              <a:gd name="connsiteY63" fmla="*/ 2802467 h 3750733"/>
              <a:gd name="connsiteX64" fmla="*/ 3529117 w 5080026"/>
              <a:gd name="connsiteY64" fmla="*/ 2794000 h 3750733"/>
              <a:gd name="connsiteX65" fmla="*/ 3639184 w 5080026"/>
              <a:gd name="connsiteY65" fmla="*/ 2768600 h 3750733"/>
              <a:gd name="connsiteX66" fmla="*/ 3757717 w 5080026"/>
              <a:gd name="connsiteY66" fmla="*/ 2734733 h 3750733"/>
              <a:gd name="connsiteX67" fmla="*/ 3986317 w 5080026"/>
              <a:gd name="connsiteY67" fmla="*/ 2692400 h 3750733"/>
              <a:gd name="connsiteX68" fmla="*/ 4485850 w 5080026"/>
              <a:gd name="connsiteY68" fmla="*/ 2675467 h 3750733"/>
              <a:gd name="connsiteX69" fmla="*/ 4604384 w 5080026"/>
              <a:gd name="connsiteY69" fmla="*/ 2641600 h 3750733"/>
              <a:gd name="connsiteX70" fmla="*/ 4672117 w 5080026"/>
              <a:gd name="connsiteY70" fmla="*/ 2590800 h 3750733"/>
              <a:gd name="connsiteX71" fmla="*/ 4790650 w 5080026"/>
              <a:gd name="connsiteY71" fmla="*/ 2506133 h 3750733"/>
              <a:gd name="connsiteX72" fmla="*/ 4892250 w 5080026"/>
              <a:gd name="connsiteY72" fmla="*/ 2404533 h 3750733"/>
              <a:gd name="connsiteX73" fmla="*/ 5002317 w 5080026"/>
              <a:gd name="connsiteY73" fmla="*/ 2201333 h 3750733"/>
              <a:gd name="connsiteX74" fmla="*/ 5044650 w 5080026"/>
              <a:gd name="connsiteY74" fmla="*/ 2116667 h 3750733"/>
              <a:gd name="connsiteX75" fmla="*/ 5070050 w 5080026"/>
              <a:gd name="connsiteY75" fmla="*/ 2023533 h 3750733"/>
              <a:gd name="connsiteX76" fmla="*/ 5070050 w 5080026"/>
              <a:gd name="connsiteY76" fmla="*/ 1769533 h 3750733"/>
              <a:gd name="connsiteX77" fmla="*/ 5019250 w 5080026"/>
              <a:gd name="connsiteY77" fmla="*/ 1498600 h 3750733"/>
              <a:gd name="connsiteX78" fmla="*/ 4993850 w 5080026"/>
              <a:gd name="connsiteY78" fmla="*/ 1261533 h 3750733"/>
              <a:gd name="connsiteX79" fmla="*/ 4976917 w 5080026"/>
              <a:gd name="connsiteY79" fmla="*/ 1159933 h 3750733"/>
              <a:gd name="connsiteX80" fmla="*/ 4841450 w 5080026"/>
              <a:gd name="connsiteY80" fmla="*/ 1083733 h 3750733"/>
              <a:gd name="connsiteX81" fmla="*/ 4621317 w 5080026"/>
              <a:gd name="connsiteY81" fmla="*/ 999067 h 3750733"/>
              <a:gd name="connsiteX82" fmla="*/ 4511250 w 5080026"/>
              <a:gd name="connsiteY82" fmla="*/ 905933 h 3750733"/>
              <a:gd name="connsiteX83" fmla="*/ 4274184 w 5080026"/>
              <a:gd name="connsiteY83" fmla="*/ 795867 h 3750733"/>
              <a:gd name="connsiteX84" fmla="*/ 4147184 w 5080026"/>
              <a:gd name="connsiteY84" fmla="*/ 711200 h 3750733"/>
              <a:gd name="connsiteX85" fmla="*/ 4062517 w 5080026"/>
              <a:gd name="connsiteY85" fmla="*/ 660400 h 3750733"/>
              <a:gd name="connsiteX86" fmla="*/ 4037117 w 5080026"/>
              <a:gd name="connsiteY86" fmla="*/ 635000 h 3750733"/>
              <a:gd name="connsiteX87" fmla="*/ 3977850 w 5080026"/>
              <a:gd name="connsiteY87" fmla="*/ 584200 h 3750733"/>
              <a:gd name="connsiteX88" fmla="*/ 3867784 w 5080026"/>
              <a:gd name="connsiteY88" fmla="*/ 508000 h 3750733"/>
              <a:gd name="connsiteX89" fmla="*/ 3681517 w 5080026"/>
              <a:gd name="connsiteY89" fmla="*/ 440267 h 3750733"/>
              <a:gd name="connsiteX90" fmla="*/ 3588384 w 5080026"/>
              <a:gd name="connsiteY90" fmla="*/ 381000 h 3750733"/>
              <a:gd name="connsiteX91" fmla="*/ 3554517 w 5080026"/>
              <a:gd name="connsiteY91" fmla="*/ 372533 h 3750733"/>
              <a:gd name="connsiteX92" fmla="*/ 3495250 w 5080026"/>
              <a:gd name="connsiteY92" fmla="*/ 347133 h 3750733"/>
              <a:gd name="connsiteX93" fmla="*/ 3300517 w 5080026"/>
              <a:gd name="connsiteY93" fmla="*/ 237067 h 3750733"/>
              <a:gd name="connsiteX94" fmla="*/ 3139650 w 5080026"/>
              <a:gd name="connsiteY94" fmla="*/ 211667 h 3750733"/>
              <a:gd name="connsiteX95" fmla="*/ 2987250 w 5080026"/>
              <a:gd name="connsiteY95" fmla="*/ 152400 h 3750733"/>
              <a:gd name="connsiteX96" fmla="*/ 2902584 w 5080026"/>
              <a:gd name="connsiteY96" fmla="*/ 101600 h 3750733"/>
              <a:gd name="connsiteX97" fmla="*/ 2733250 w 5080026"/>
              <a:gd name="connsiteY97" fmla="*/ 59267 h 3750733"/>
              <a:gd name="connsiteX98" fmla="*/ 2623184 w 5080026"/>
              <a:gd name="connsiteY98" fmla="*/ 8467 h 3750733"/>
              <a:gd name="connsiteX99" fmla="*/ 2589317 w 5080026"/>
              <a:gd name="connsiteY99" fmla="*/ 33867 h 3750733"/>
              <a:gd name="connsiteX100" fmla="*/ 2546984 w 5080026"/>
              <a:gd name="connsiteY100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117050 w 5080026"/>
              <a:gd name="connsiteY39" fmla="*/ 2099733 h 3750733"/>
              <a:gd name="connsiteX40" fmla="*/ 125517 w 5080026"/>
              <a:gd name="connsiteY40" fmla="*/ 2243667 h 3750733"/>
              <a:gd name="connsiteX41" fmla="*/ 159384 w 5080026"/>
              <a:gd name="connsiteY41" fmla="*/ 2362200 h 3750733"/>
              <a:gd name="connsiteX42" fmla="*/ 49317 w 5080026"/>
              <a:gd name="connsiteY42" fmla="*/ 2624667 h 3750733"/>
              <a:gd name="connsiteX43" fmla="*/ 40850 w 5080026"/>
              <a:gd name="connsiteY43" fmla="*/ 2802467 h 3750733"/>
              <a:gd name="connsiteX44" fmla="*/ 32384 w 5080026"/>
              <a:gd name="connsiteY44" fmla="*/ 2921000 h 3750733"/>
              <a:gd name="connsiteX45" fmla="*/ 100117 w 5080026"/>
              <a:gd name="connsiteY45" fmla="*/ 3098800 h 3750733"/>
              <a:gd name="connsiteX46" fmla="*/ 133984 w 5080026"/>
              <a:gd name="connsiteY46" fmla="*/ 3141133 h 3750733"/>
              <a:gd name="connsiteX47" fmla="*/ 286384 w 5080026"/>
              <a:gd name="connsiteY47" fmla="*/ 3395133 h 3750733"/>
              <a:gd name="connsiteX48" fmla="*/ 362584 w 5080026"/>
              <a:gd name="connsiteY48" fmla="*/ 3505200 h 3750733"/>
              <a:gd name="connsiteX49" fmla="*/ 455717 w 5080026"/>
              <a:gd name="connsiteY49" fmla="*/ 3556000 h 3750733"/>
              <a:gd name="connsiteX50" fmla="*/ 616584 w 5080026"/>
              <a:gd name="connsiteY50" fmla="*/ 3632200 h 3750733"/>
              <a:gd name="connsiteX51" fmla="*/ 929850 w 5080026"/>
              <a:gd name="connsiteY51" fmla="*/ 3716867 h 3750733"/>
              <a:gd name="connsiteX52" fmla="*/ 1073784 w 5080026"/>
              <a:gd name="connsiteY52" fmla="*/ 3742267 h 3750733"/>
              <a:gd name="connsiteX53" fmla="*/ 1361650 w 5080026"/>
              <a:gd name="connsiteY53" fmla="*/ 3750733 h 3750733"/>
              <a:gd name="connsiteX54" fmla="*/ 1649517 w 5080026"/>
              <a:gd name="connsiteY54" fmla="*/ 3691467 h 3750733"/>
              <a:gd name="connsiteX55" fmla="*/ 1886584 w 5080026"/>
              <a:gd name="connsiteY55" fmla="*/ 3479800 h 3750733"/>
              <a:gd name="connsiteX56" fmla="*/ 1945850 w 5080026"/>
              <a:gd name="connsiteY56" fmla="*/ 3395133 h 3750733"/>
              <a:gd name="connsiteX57" fmla="*/ 1996650 w 5080026"/>
              <a:gd name="connsiteY57" fmla="*/ 3335867 h 3750733"/>
              <a:gd name="connsiteX58" fmla="*/ 2318384 w 5080026"/>
              <a:gd name="connsiteY58" fmla="*/ 3183467 h 3750733"/>
              <a:gd name="connsiteX59" fmla="*/ 2394584 w 5080026"/>
              <a:gd name="connsiteY59" fmla="*/ 3141133 h 3750733"/>
              <a:gd name="connsiteX60" fmla="*/ 2944917 w 5080026"/>
              <a:gd name="connsiteY60" fmla="*/ 2853267 h 3750733"/>
              <a:gd name="connsiteX61" fmla="*/ 3376717 w 5080026"/>
              <a:gd name="connsiteY61" fmla="*/ 2827867 h 3750733"/>
              <a:gd name="connsiteX62" fmla="*/ 3469850 w 5080026"/>
              <a:gd name="connsiteY62" fmla="*/ 2802467 h 3750733"/>
              <a:gd name="connsiteX63" fmla="*/ 3529117 w 5080026"/>
              <a:gd name="connsiteY63" fmla="*/ 2794000 h 3750733"/>
              <a:gd name="connsiteX64" fmla="*/ 3639184 w 5080026"/>
              <a:gd name="connsiteY64" fmla="*/ 2768600 h 3750733"/>
              <a:gd name="connsiteX65" fmla="*/ 3757717 w 5080026"/>
              <a:gd name="connsiteY65" fmla="*/ 2734733 h 3750733"/>
              <a:gd name="connsiteX66" fmla="*/ 3986317 w 5080026"/>
              <a:gd name="connsiteY66" fmla="*/ 2692400 h 3750733"/>
              <a:gd name="connsiteX67" fmla="*/ 4485850 w 5080026"/>
              <a:gd name="connsiteY67" fmla="*/ 2675467 h 3750733"/>
              <a:gd name="connsiteX68" fmla="*/ 4604384 w 5080026"/>
              <a:gd name="connsiteY68" fmla="*/ 2641600 h 3750733"/>
              <a:gd name="connsiteX69" fmla="*/ 4672117 w 5080026"/>
              <a:gd name="connsiteY69" fmla="*/ 2590800 h 3750733"/>
              <a:gd name="connsiteX70" fmla="*/ 4790650 w 5080026"/>
              <a:gd name="connsiteY70" fmla="*/ 2506133 h 3750733"/>
              <a:gd name="connsiteX71" fmla="*/ 4892250 w 5080026"/>
              <a:gd name="connsiteY71" fmla="*/ 2404533 h 3750733"/>
              <a:gd name="connsiteX72" fmla="*/ 5002317 w 5080026"/>
              <a:gd name="connsiteY72" fmla="*/ 2201333 h 3750733"/>
              <a:gd name="connsiteX73" fmla="*/ 5044650 w 5080026"/>
              <a:gd name="connsiteY73" fmla="*/ 2116667 h 3750733"/>
              <a:gd name="connsiteX74" fmla="*/ 5070050 w 5080026"/>
              <a:gd name="connsiteY74" fmla="*/ 2023533 h 3750733"/>
              <a:gd name="connsiteX75" fmla="*/ 5070050 w 5080026"/>
              <a:gd name="connsiteY75" fmla="*/ 1769533 h 3750733"/>
              <a:gd name="connsiteX76" fmla="*/ 5019250 w 5080026"/>
              <a:gd name="connsiteY76" fmla="*/ 1498600 h 3750733"/>
              <a:gd name="connsiteX77" fmla="*/ 4993850 w 5080026"/>
              <a:gd name="connsiteY77" fmla="*/ 1261533 h 3750733"/>
              <a:gd name="connsiteX78" fmla="*/ 4976917 w 5080026"/>
              <a:gd name="connsiteY78" fmla="*/ 1159933 h 3750733"/>
              <a:gd name="connsiteX79" fmla="*/ 4841450 w 5080026"/>
              <a:gd name="connsiteY79" fmla="*/ 1083733 h 3750733"/>
              <a:gd name="connsiteX80" fmla="*/ 4621317 w 5080026"/>
              <a:gd name="connsiteY80" fmla="*/ 999067 h 3750733"/>
              <a:gd name="connsiteX81" fmla="*/ 4511250 w 5080026"/>
              <a:gd name="connsiteY81" fmla="*/ 905933 h 3750733"/>
              <a:gd name="connsiteX82" fmla="*/ 4274184 w 5080026"/>
              <a:gd name="connsiteY82" fmla="*/ 795867 h 3750733"/>
              <a:gd name="connsiteX83" fmla="*/ 4147184 w 5080026"/>
              <a:gd name="connsiteY83" fmla="*/ 711200 h 3750733"/>
              <a:gd name="connsiteX84" fmla="*/ 4062517 w 5080026"/>
              <a:gd name="connsiteY84" fmla="*/ 660400 h 3750733"/>
              <a:gd name="connsiteX85" fmla="*/ 4037117 w 5080026"/>
              <a:gd name="connsiteY85" fmla="*/ 635000 h 3750733"/>
              <a:gd name="connsiteX86" fmla="*/ 3977850 w 5080026"/>
              <a:gd name="connsiteY86" fmla="*/ 584200 h 3750733"/>
              <a:gd name="connsiteX87" fmla="*/ 3867784 w 5080026"/>
              <a:gd name="connsiteY87" fmla="*/ 508000 h 3750733"/>
              <a:gd name="connsiteX88" fmla="*/ 3681517 w 5080026"/>
              <a:gd name="connsiteY88" fmla="*/ 440267 h 3750733"/>
              <a:gd name="connsiteX89" fmla="*/ 3588384 w 5080026"/>
              <a:gd name="connsiteY89" fmla="*/ 381000 h 3750733"/>
              <a:gd name="connsiteX90" fmla="*/ 3554517 w 5080026"/>
              <a:gd name="connsiteY90" fmla="*/ 372533 h 3750733"/>
              <a:gd name="connsiteX91" fmla="*/ 3495250 w 5080026"/>
              <a:gd name="connsiteY91" fmla="*/ 347133 h 3750733"/>
              <a:gd name="connsiteX92" fmla="*/ 3300517 w 5080026"/>
              <a:gd name="connsiteY92" fmla="*/ 237067 h 3750733"/>
              <a:gd name="connsiteX93" fmla="*/ 3139650 w 5080026"/>
              <a:gd name="connsiteY93" fmla="*/ 211667 h 3750733"/>
              <a:gd name="connsiteX94" fmla="*/ 2987250 w 5080026"/>
              <a:gd name="connsiteY94" fmla="*/ 152400 h 3750733"/>
              <a:gd name="connsiteX95" fmla="*/ 2902584 w 5080026"/>
              <a:gd name="connsiteY95" fmla="*/ 101600 h 3750733"/>
              <a:gd name="connsiteX96" fmla="*/ 2733250 w 5080026"/>
              <a:gd name="connsiteY96" fmla="*/ 59267 h 3750733"/>
              <a:gd name="connsiteX97" fmla="*/ 2623184 w 5080026"/>
              <a:gd name="connsiteY97" fmla="*/ 8467 h 3750733"/>
              <a:gd name="connsiteX98" fmla="*/ 2589317 w 5080026"/>
              <a:gd name="connsiteY98" fmla="*/ 33867 h 3750733"/>
              <a:gd name="connsiteX99" fmla="*/ 2546984 w 5080026"/>
              <a:gd name="connsiteY99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117050 w 5080026"/>
              <a:gd name="connsiteY39" fmla="*/ 2099733 h 3750733"/>
              <a:gd name="connsiteX40" fmla="*/ 125517 w 5080026"/>
              <a:gd name="connsiteY40" fmla="*/ 2243667 h 3750733"/>
              <a:gd name="connsiteX41" fmla="*/ 49317 w 5080026"/>
              <a:gd name="connsiteY41" fmla="*/ 2624667 h 3750733"/>
              <a:gd name="connsiteX42" fmla="*/ 40850 w 5080026"/>
              <a:gd name="connsiteY42" fmla="*/ 2802467 h 3750733"/>
              <a:gd name="connsiteX43" fmla="*/ 32384 w 5080026"/>
              <a:gd name="connsiteY43" fmla="*/ 2921000 h 3750733"/>
              <a:gd name="connsiteX44" fmla="*/ 100117 w 5080026"/>
              <a:gd name="connsiteY44" fmla="*/ 3098800 h 3750733"/>
              <a:gd name="connsiteX45" fmla="*/ 133984 w 5080026"/>
              <a:gd name="connsiteY45" fmla="*/ 3141133 h 3750733"/>
              <a:gd name="connsiteX46" fmla="*/ 286384 w 5080026"/>
              <a:gd name="connsiteY46" fmla="*/ 3395133 h 3750733"/>
              <a:gd name="connsiteX47" fmla="*/ 362584 w 5080026"/>
              <a:gd name="connsiteY47" fmla="*/ 3505200 h 3750733"/>
              <a:gd name="connsiteX48" fmla="*/ 455717 w 5080026"/>
              <a:gd name="connsiteY48" fmla="*/ 3556000 h 3750733"/>
              <a:gd name="connsiteX49" fmla="*/ 616584 w 5080026"/>
              <a:gd name="connsiteY49" fmla="*/ 3632200 h 3750733"/>
              <a:gd name="connsiteX50" fmla="*/ 929850 w 5080026"/>
              <a:gd name="connsiteY50" fmla="*/ 3716867 h 3750733"/>
              <a:gd name="connsiteX51" fmla="*/ 1073784 w 5080026"/>
              <a:gd name="connsiteY51" fmla="*/ 3742267 h 3750733"/>
              <a:gd name="connsiteX52" fmla="*/ 1361650 w 5080026"/>
              <a:gd name="connsiteY52" fmla="*/ 3750733 h 3750733"/>
              <a:gd name="connsiteX53" fmla="*/ 1649517 w 5080026"/>
              <a:gd name="connsiteY53" fmla="*/ 3691467 h 3750733"/>
              <a:gd name="connsiteX54" fmla="*/ 1886584 w 5080026"/>
              <a:gd name="connsiteY54" fmla="*/ 3479800 h 3750733"/>
              <a:gd name="connsiteX55" fmla="*/ 1945850 w 5080026"/>
              <a:gd name="connsiteY55" fmla="*/ 3395133 h 3750733"/>
              <a:gd name="connsiteX56" fmla="*/ 1996650 w 5080026"/>
              <a:gd name="connsiteY56" fmla="*/ 3335867 h 3750733"/>
              <a:gd name="connsiteX57" fmla="*/ 2318384 w 5080026"/>
              <a:gd name="connsiteY57" fmla="*/ 3183467 h 3750733"/>
              <a:gd name="connsiteX58" fmla="*/ 2394584 w 5080026"/>
              <a:gd name="connsiteY58" fmla="*/ 3141133 h 3750733"/>
              <a:gd name="connsiteX59" fmla="*/ 2944917 w 5080026"/>
              <a:gd name="connsiteY59" fmla="*/ 2853267 h 3750733"/>
              <a:gd name="connsiteX60" fmla="*/ 3376717 w 5080026"/>
              <a:gd name="connsiteY60" fmla="*/ 2827867 h 3750733"/>
              <a:gd name="connsiteX61" fmla="*/ 3469850 w 5080026"/>
              <a:gd name="connsiteY61" fmla="*/ 2802467 h 3750733"/>
              <a:gd name="connsiteX62" fmla="*/ 3529117 w 5080026"/>
              <a:gd name="connsiteY62" fmla="*/ 2794000 h 3750733"/>
              <a:gd name="connsiteX63" fmla="*/ 3639184 w 5080026"/>
              <a:gd name="connsiteY63" fmla="*/ 2768600 h 3750733"/>
              <a:gd name="connsiteX64" fmla="*/ 3757717 w 5080026"/>
              <a:gd name="connsiteY64" fmla="*/ 2734733 h 3750733"/>
              <a:gd name="connsiteX65" fmla="*/ 3986317 w 5080026"/>
              <a:gd name="connsiteY65" fmla="*/ 2692400 h 3750733"/>
              <a:gd name="connsiteX66" fmla="*/ 4485850 w 5080026"/>
              <a:gd name="connsiteY66" fmla="*/ 2675467 h 3750733"/>
              <a:gd name="connsiteX67" fmla="*/ 4604384 w 5080026"/>
              <a:gd name="connsiteY67" fmla="*/ 2641600 h 3750733"/>
              <a:gd name="connsiteX68" fmla="*/ 4672117 w 5080026"/>
              <a:gd name="connsiteY68" fmla="*/ 2590800 h 3750733"/>
              <a:gd name="connsiteX69" fmla="*/ 4790650 w 5080026"/>
              <a:gd name="connsiteY69" fmla="*/ 2506133 h 3750733"/>
              <a:gd name="connsiteX70" fmla="*/ 4892250 w 5080026"/>
              <a:gd name="connsiteY70" fmla="*/ 2404533 h 3750733"/>
              <a:gd name="connsiteX71" fmla="*/ 5002317 w 5080026"/>
              <a:gd name="connsiteY71" fmla="*/ 2201333 h 3750733"/>
              <a:gd name="connsiteX72" fmla="*/ 5044650 w 5080026"/>
              <a:gd name="connsiteY72" fmla="*/ 2116667 h 3750733"/>
              <a:gd name="connsiteX73" fmla="*/ 5070050 w 5080026"/>
              <a:gd name="connsiteY73" fmla="*/ 2023533 h 3750733"/>
              <a:gd name="connsiteX74" fmla="*/ 5070050 w 5080026"/>
              <a:gd name="connsiteY74" fmla="*/ 1769533 h 3750733"/>
              <a:gd name="connsiteX75" fmla="*/ 5019250 w 5080026"/>
              <a:gd name="connsiteY75" fmla="*/ 1498600 h 3750733"/>
              <a:gd name="connsiteX76" fmla="*/ 4993850 w 5080026"/>
              <a:gd name="connsiteY76" fmla="*/ 1261533 h 3750733"/>
              <a:gd name="connsiteX77" fmla="*/ 4976917 w 5080026"/>
              <a:gd name="connsiteY77" fmla="*/ 1159933 h 3750733"/>
              <a:gd name="connsiteX78" fmla="*/ 4841450 w 5080026"/>
              <a:gd name="connsiteY78" fmla="*/ 1083733 h 3750733"/>
              <a:gd name="connsiteX79" fmla="*/ 4621317 w 5080026"/>
              <a:gd name="connsiteY79" fmla="*/ 999067 h 3750733"/>
              <a:gd name="connsiteX80" fmla="*/ 4511250 w 5080026"/>
              <a:gd name="connsiteY80" fmla="*/ 905933 h 3750733"/>
              <a:gd name="connsiteX81" fmla="*/ 4274184 w 5080026"/>
              <a:gd name="connsiteY81" fmla="*/ 795867 h 3750733"/>
              <a:gd name="connsiteX82" fmla="*/ 4147184 w 5080026"/>
              <a:gd name="connsiteY82" fmla="*/ 711200 h 3750733"/>
              <a:gd name="connsiteX83" fmla="*/ 4062517 w 5080026"/>
              <a:gd name="connsiteY83" fmla="*/ 660400 h 3750733"/>
              <a:gd name="connsiteX84" fmla="*/ 4037117 w 5080026"/>
              <a:gd name="connsiteY84" fmla="*/ 635000 h 3750733"/>
              <a:gd name="connsiteX85" fmla="*/ 3977850 w 5080026"/>
              <a:gd name="connsiteY85" fmla="*/ 584200 h 3750733"/>
              <a:gd name="connsiteX86" fmla="*/ 3867784 w 5080026"/>
              <a:gd name="connsiteY86" fmla="*/ 508000 h 3750733"/>
              <a:gd name="connsiteX87" fmla="*/ 3681517 w 5080026"/>
              <a:gd name="connsiteY87" fmla="*/ 440267 h 3750733"/>
              <a:gd name="connsiteX88" fmla="*/ 3588384 w 5080026"/>
              <a:gd name="connsiteY88" fmla="*/ 381000 h 3750733"/>
              <a:gd name="connsiteX89" fmla="*/ 3554517 w 5080026"/>
              <a:gd name="connsiteY89" fmla="*/ 372533 h 3750733"/>
              <a:gd name="connsiteX90" fmla="*/ 3495250 w 5080026"/>
              <a:gd name="connsiteY90" fmla="*/ 347133 h 3750733"/>
              <a:gd name="connsiteX91" fmla="*/ 3300517 w 5080026"/>
              <a:gd name="connsiteY91" fmla="*/ 237067 h 3750733"/>
              <a:gd name="connsiteX92" fmla="*/ 3139650 w 5080026"/>
              <a:gd name="connsiteY92" fmla="*/ 211667 h 3750733"/>
              <a:gd name="connsiteX93" fmla="*/ 2987250 w 5080026"/>
              <a:gd name="connsiteY93" fmla="*/ 152400 h 3750733"/>
              <a:gd name="connsiteX94" fmla="*/ 2902584 w 5080026"/>
              <a:gd name="connsiteY94" fmla="*/ 101600 h 3750733"/>
              <a:gd name="connsiteX95" fmla="*/ 2733250 w 5080026"/>
              <a:gd name="connsiteY95" fmla="*/ 59267 h 3750733"/>
              <a:gd name="connsiteX96" fmla="*/ 2623184 w 5080026"/>
              <a:gd name="connsiteY96" fmla="*/ 8467 h 3750733"/>
              <a:gd name="connsiteX97" fmla="*/ 2589317 w 5080026"/>
              <a:gd name="connsiteY97" fmla="*/ 33867 h 3750733"/>
              <a:gd name="connsiteX98" fmla="*/ 2546984 w 5080026"/>
              <a:gd name="connsiteY98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117050 w 5080026"/>
              <a:gd name="connsiteY39" fmla="*/ 2099733 h 3750733"/>
              <a:gd name="connsiteX40" fmla="*/ 49317 w 5080026"/>
              <a:gd name="connsiteY40" fmla="*/ 2624667 h 3750733"/>
              <a:gd name="connsiteX41" fmla="*/ 40850 w 5080026"/>
              <a:gd name="connsiteY41" fmla="*/ 2802467 h 3750733"/>
              <a:gd name="connsiteX42" fmla="*/ 32384 w 5080026"/>
              <a:gd name="connsiteY42" fmla="*/ 2921000 h 3750733"/>
              <a:gd name="connsiteX43" fmla="*/ 100117 w 5080026"/>
              <a:gd name="connsiteY43" fmla="*/ 3098800 h 3750733"/>
              <a:gd name="connsiteX44" fmla="*/ 133984 w 5080026"/>
              <a:gd name="connsiteY44" fmla="*/ 3141133 h 3750733"/>
              <a:gd name="connsiteX45" fmla="*/ 286384 w 5080026"/>
              <a:gd name="connsiteY45" fmla="*/ 3395133 h 3750733"/>
              <a:gd name="connsiteX46" fmla="*/ 362584 w 5080026"/>
              <a:gd name="connsiteY46" fmla="*/ 3505200 h 3750733"/>
              <a:gd name="connsiteX47" fmla="*/ 455717 w 5080026"/>
              <a:gd name="connsiteY47" fmla="*/ 3556000 h 3750733"/>
              <a:gd name="connsiteX48" fmla="*/ 616584 w 5080026"/>
              <a:gd name="connsiteY48" fmla="*/ 3632200 h 3750733"/>
              <a:gd name="connsiteX49" fmla="*/ 929850 w 5080026"/>
              <a:gd name="connsiteY49" fmla="*/ 3716867 h 3750733"/>
              <a:gd name="connsiteX50" fmla="*/ 1073784 w 5080026"/>
              <a:gd name="connsiteY50" fmla="*/ 3742267 h 3750733"/>
              <a:gd name="connsiteX51" fmla="*/ 1361650 w 5080026"/>
              <a:gd name="connsiteY51" fmla="*/ 3750733 h 3750733"/>
              <a:gd name="connsiteX52" fmla="*/ 1649517 w 5080026"/>
              <a:gd name="connsiteY52" fmla="*/ 3691467 h 3750733"/>
              <a:gd name="connsiteX53" fmla="*/ 1886584 w 5080026"/>
              <a:gd name="connsiteY53" fmla="*/ 3479800 h 3750733"/>
              <a:gd name="connsiteX54" fmla="*/ 1945850 w 5080026"/>
              <a:gd name="connsiteY54" fmla="*/ 3395133 h 3750733"/>
              <a:gd name="connsiteX55" fmla="*/ 1996650 w 5080026"/>
              <a:gd name="connsiteY55" fmla="*/ 3335867 h 3750733"/>
              <a:gd name="connsiteX56" fmla="*/ 2318384 w 5080026"/>
              <a:gd name="connsiteY56" fmla="*/ 3183467 h 3750733"/>
              <a:gd name="connsiteX57" fmla="*/ 2394584 w 5080026"/>
              <a:gd name="connsiteY57" fmla="*/ 3141133 h 3750733"/>
              <a:gd name="connsiteX58" fmla="*/ 2944917 w 5080026"/>
              <a:gd name="connsiteY58" fmla="*/ 2853267 h 3750733"/>
              <a:gd name="connsiteX59" fmla="*/ 3376717 w 5080026"/>
              <a:gd name="connsiteY59" fmla="*/ 2827867 h 3750733"/>
              <a:gd name="connsiteX60" fmla="*/ 3469850 w 5080026"/>
              <a:gd name="connsiteY60" fmla="*/ 2802467 h 3750733"/>
              <a:gd name="connsiteX61" fmla="*/ 3529117 w 5080026"/>
              <a:gd name="connsiteY61" fmla="*/ 2794000 h 3750733"/>
              <a:gd name="connsiteX62" fmla="*/ 3639184 w 5080026"/>
              <a:gd name="connsiteY62" fmla="*/ 2768600 h 3750733"/>
              <a:gd name="connsiteX63" fmla="*/ 3757717 w 5080026"/>
              <a:gd name="connsiteY63" fmla="*/ 2734733 h 3750733"/>
              <a:gd name="connsiteX64" fmla="*/ 3986317 w 5080026"/>
              <a:gd name="connsiteY64" fmla="*/ 2692400 h 3750733"/>
              <a:gd name="connsiteX65" fmla="*/ 4485850 w 5080026"/>
              <a:gd name="connsiteY65" fmla="*/ 2675467 h 3750733"/>
              <a:gd name="connsiteX66" fmla="*/ 4604384 w 5080026"/>
              <a:gd name="connsiteY66" fmla="*/ 2641600 h 3750733"/>
              <a:gd name="connsiteX67" fmla="*/ 4672117 w 5080026"/>
              <a:gd name="connsiteY67" fmla="*/ 2590800 h 3750733"/>
              <a:gd name="connsiteX68" fmla="*/ 4790650 w 5080026"/>
              <a:gd name="connsiteY68" fmla="*/ 2506133 h 3750733"/>
              <a:gd name="connsiteX69" fmla="*/ 4892250 w 5080026"/>
              <a:gd name="connsiteY69" fmla="*/ 2404533 h 3750733"/>
              <a:gd name="connsiteX70" fmla="*/ 5002317 w 5080026"/>
              <a:gd name="connsiteY70" fmla="*/ 2201333 h 3750733"/>
              <a:gd name="connsiteX71" fmla="*/ 5044650 w 5080026"/>
              <a:gd name="connsiteY71" fmla="*/ 2116667 h 3750733"/>
              <a:gd name="connsiteX72" fmla="*/ 5070050 w 5080026"/>
              <a:gd name="connsiteY72" fmla="*/ 2023533 h 3750733"/>
              <a:gd name="connsiteX73" fmla="*/ 5070050 w 5080026"/>
              <a:gd name="connsiteY73" fmla="*/ 1769533 h 3750733"/>
              <a:gd name="connsiteX74" fmla="*/ 5019250 w 5080026"/>
              <a:gd name="connsiteY74" fmla="*/ 1498600 h 3750733"/>
              <a:gd name="connsiteX75" fmla="*/ 4993850 w 5080026"/>
              <a:gd name="connsiteY75" fmla="*/ 1261533 h 3750733"/>
              <a:gd name="connsiteX76" fmla="*/ 4976917 w 5080026"/>
              <a:gd name="connsiteY76" fmla="*/ 1159933 h 3750733"/>
              <a:gd name="connsiteX77" fmla="*/ 4841450 w 5080026"/>
              <a:gd name="connsiteY77" fmla="*/ 1083733 h 3750733"/>
              <a:gd name="connsiteX78" fmla="*/ 4621317 w 5080026"/>
              <a:gd name="connsiteY78" fmla="*/ 999067 h 3750733"/>
              <a:gd name="connsiteX79" fmla="*/ 4511250 w 5080026"/>
              <a:gd name="connsiteY79" fmla="*/ 905933 h 3750733"/>
              <a:gd name="connsiteX80" fmla="*/ 4274184 w 5080026"/>
              <a:gd name="connsiteY80" fmla="*/ 795867 h 3750733"/>
              <a:gd name="connsiteX81" fmla="*/ 4147184 w 5080026"/>
              <a:gd name="connsiteY81" fmla="*/ 711200 h 3750733"/>
              <a:gd name="connsiteX82" fmla="*/ 4062517 w 5080026"/>
              <a:gd name="connsiteY82" fmla="*/ 660400 h 3750733"/>
              <a:gd name="connsiteX83" fmla="*/ 4037117 w 5080026"/>
              <a:gd name="connsiteY83" fmla="*/ 635000 h 3750733"/>
              <a:gd name="connsiteX84" fmla="*/ 3977850 w 5080026"/>
              <a:gd name="connsiteY84" fmla="*/ 584200 h 3750733"/>
              <a:gd name="connsiteX85" fmla="*/ 3867784 w 5080026"/>
              <a:gd name="connsiteY85" fmla="*/ 508000 h 3750733"/>
              <a:gd name="connsiteX86" fmla="*/ 3681517 w 5080026"/>
              <a:gd name="connsiteY86" fmla="*/ 440267 h 3750733"/>
              <a:gd name="connsiteX87" fmla="*/ 3588384 w 5080026"/>
              <a:gd name="connsiteY87" fmla="*/ 381000 h 3750733"/>
              <a:gd name="connsiteX88" fmla="*/ 3554517 w 5080026"/>
              <a:gd name="connsiteY88" fmla="*/ 372533 h 3750733"/>
              <a:gd name="connsiteX89" fmla="*/ 3495250 w 5080026"/>
              <a:gd name="connsiteY89" fmla="*/ 347133 h 3750733"/>
              <a:gd name="connsiteX90" fmla="*/ 3300517 w 5080026"/>
              <a:gd name="connsiteY90" fmla="*/ 237067 h 3750733"/>
              <a:gd name="connsiteX91" fmla="*/ 3139650 w 5080026"/>
              <a:gd name="connsiteY91" fmla="*/ 211667 h 3750733"/>
              <a:gd name="connsiteX92" fmla="*/ 2987250 w 5080026"/>
              <a:gd name="connsiteY92" fmla="*/ 152400 h 3750733"/>
              <a:gd name="connsiteX93" fmla="*/ 2902584 w 5080026"/>
              <a:gd name="connsiteY93" fmla="*/ 101600 h 3750733"/>
              <a:gd name="connsiteX94" fmla="*/ 2733250 w 5080026"/>
              <a:gd name="connsiteY94" fmla="*/ 59267 h 3750733"/>
              <a:gd name="connsiteX95" fmla="*/ 2623184 w 5080026"/>
              <a:gd name="connsiteY95" fmla="*/ 8467 h 3750733"/>
              <a:gd name="connsiteX96" fmla="*/ 2589317 w 5080026"/>
              <a:gd name="connsiteY96" fmla="*/ 33867 h 3750733"/>
              <a:gd name="connsiteX97" fmla="*/ 2546984 w 5080026"/>
              <a:gd name="connsiteY97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49317 w 5080026"/>
              <a:gd name="connsiteY39" fmla="*/ 2624667 h 3750733"/>
              <a:gd name="connsiteX40" fmla="*/ 40850 w 5080026"/>
              <a:gd name="connsiteY40" fmla="*/ 2802467 h 3750733"/>
              <a:gd name="connsiteX41" fmla="*/ 32384 w 5080026"/>
              <a:gd name="connsiteY41" fmla="*/ 2921000 h 3750733"/>
              <a:gd name="connsiteX42" fmla="*/ 100117 w 5080026"/>
              <a:gd name="connsiteY42" fmla="*/ 3098800 h 3750733"/>
              <a:gd name="connsiteX43" fmla="*/ 133984 w 5080026"/>
              <a:gd name="connsiteY43" fmla="*/ 3141133 h 3750733"/>
              <a:gd name="connsiteX44" fmla="*/ 286384 w 5080026"/>
              <a:gd name="connsiteY44" fmla="*/ 3395133 h 3750733"/>
              <a:gd name="connsiteX45" fmla="*/ 362584 w 5080026"/>
              <a:gd name="connsiteY45" fmla="*/ 3505200 h 3750733"/>
              <a:gd name="connsiteX46" fmla="*/ 455717 w 5080026"/>
              <a:gd name="connsiteY46" fmla="*/ 3556000 h 3750733"/>
              <a:gd name="connsiteX47" fmla="*/ 616584 w 5080026"/>
              <a:gd name="connsiteY47" fmla="*/ 3632200 h 3750733"/>
              <a:gd name="connsiteX48" fmla="*/ 929850 w 5080026"/>
              <a:gd name="connsiteY48" fmla="*/ 3716867 h 3750733"/>
              <a:gd name="connsiteX49" fmla="*/ 1073784 w 5080026"/>
              <a:gd name="connsiteY49" fmla="*/ 3742267 h 3750733"/>
              <a:gd name="connsiteX50" fmla="*/ 1361650 w 5080026"/>
              <a:gd name="connsiteY50" fmla="*/ 3750733 h 3750733"/>
              <a:gd name="connsiteX51" fmla="*/ 1649517 w 5080026"/>
              <a:gd name="connsiteY51" fmla="*/ 3691467 h 3750733"/>
              <a:gd name="connsiteX52" fmla="*/ 1886584 w 5080026"/>
              <a:gd name="connsiteY52" fmla="*/ 3479800 h 3750733"/>
              <a:gd name="connsiteX53" fmla="*/ 1945850 w 5080026"/>
              <a:gd name="connsiteY53" fmla="*/ 3395133 h 3750733"/>
              <a:gd name="connsiteX54" fmla="*/ 1996650 w 5080026"/>
              <a:gd name="connsiteY54" fmla="*/ 3335867 h 3750733"/>
              <a:gd name="connsiteX55" fmla="*/ 2318384 w 5080026"/>
              <a:gd name="connsiteY55" fmla="*/ 3183467 h 3750733"/>
              <a:gd name="connsiteX56" fmla="*/ 2394584 w 5080026"/>
              <a:gd name="connsiteY56" fmla="*/ 3141133 h 3750733"/>
              <a:gd name="connsiteX57" fmla="*/ 2944917 w 5080026"/>
              <a:gd name="connsiteY57" fmla="*/ 2853267 h 3750733"/>
              <a:gd name="connsiteX58" fmla="*/ 3376717 w 5080026"/>
              <a:gd name="connsiteY58" fmla="*/ 2827867 h 3750733"/>
              <a:gd name="connsiteX59" fmla="*/ 3469850 w 5080026"/>
              <a:gd name="connsiteY59" fmla="*/ 2802467 h 3750733"/>
              <a:gd name="connsiteX60" fmla="*/ 3529117 w 5080026"/>
              <a:gd name="connsiteY60" fmla="*/ 2794000 h 3750733"/>
              <a:gd name="connsiteX61" fmla="*/ 3639184 w 5080026"/>
              <a:gd name="connsiteY61" fmla="*/ 2768600 h 3750733"/>
              <a:gd name="connsiteX62" fmla="*/ 3757717 w 5080026"/>
              <a:gd name="connsiteY62" fmla="*/ 2734733 h 3750733"/>
              <a:gd name="connsiteX63" fmla="*/ 3986317 w 5080026"/>
              <a:gd name="connsiteY63" fmla="*/ 2692400 h 3750733"/>
              <a:gd name="connsiteX64" fmla="*/ 4485850 w 5080026"/>
              <a:gd name="connsiteY64" fmla="*/ 2675467 h 3750733"/>
              <a:gd name="connsiteX65" fmla="*/ 4604384 w 5080026"/>
              <a:gd name="connsiteY65" fmla="*/ 2641600 h 3750733"/>
              <a:gd name="connsiteX66" fmla="*/ 4672117 w 5080026"/>
              <a:gd name="connsiteY66" fmla="*/ 2590800 h 3750733"/>
              <a:gd name="connsiteX67" fmla="*/ 4790650 w 5080026"/>
              <a:gd name="connsiteY67" fmla="*/ 2506133 h 3750733"/>
              <a:gd name="connsiteX68" fmla="*/ 4892250 w 5080026"/>
              <a:gd name="connsiteY68" fmla="*/ 2404533 h 3750733"/>
              <a:gd name="connsiteX69" fmla="*/ 5002317 w 5080026"/>
              <a:gd name="connsiteY69" fmla="*/ 2201333 h 3750733"/>
              <a:gd name="connsiteX70" fmla="*/ 5044650 w 5080026"/>
              <a:gd name="connsiteY70" fmla="*/ 2116667 h 3750733"/>
              <a:gd name="connsiteX71" fmla="*/ 5070050 w 5080026"/>
              <a:gd name="connsiteY71" fmla="*/ 2023533 h 3750733"/>
              <a:gd name="connsiteX72" fmla="*/ 5070050 w 5080026"/>
              <a:gd name="connsiteY72" fmla="*/ 1769533 h 3750733"/>
              <a:gd name="connsiteX73" fmla="*/ 5019250 w 5080026"/>
              <a:gd name="connsiteY73" fmla="*/ 1498600 h 3750733"/>
              <a:gd name="connsiteX74" fmla="*/ 4993850 w 5080026"/>
              <a:gd name="connsiteY74" fmla="*/ 1261533 h 3750733"/>
              <a:gd name="connsiteX75" fmla="*/ 4976917 w 5080026"/>
              <a:gd name="connsiteY75" fmla="*/ 1159933 h 3750733"/>
              <a:gd name="connsiteX76" fmla="*/ 4841450 w 5080026"/>
              <a:gd name="connsiteY76" fmla="*/ 1083733 h 3750733"/>
              <a:gd name="connsiteX77" fmla="*/ 4621317 w 5080026"/>
              <a:gd name="connsiteY77" fmla="*/ 999067 h 3750733"/>
              <a:gd name="connsiteX78" fmla="*/ 4511250 w 5080026"/>
              <a:gd name="connsiteY78" fmla="*/ 905933 h 3750733"/>
              <a:gd name="connsiteX79" fmla="*/ 4274184 w 5080026"/>
              <a:gd name="connsiteY79" fmla="*/ 795867 h 3750733"/>
              <a:gd name="connsiteX80" fmla="*/ 4147184 w 5080026"/>
              <a:gd name="connsiteY80" fmla="*/ 711200 h 3750733"/>
              <a:gd name="connsiteX81" fmla="*/ 4062517 w 5080026"/>
              <a:gd name="connsiteY81" fmla="*/ 660400 h 3750733"/>
              <a:gd name="connsiteX82" fmla="*/ 4037117 w 5080026"/>
              <a:gd name="connsiteY82" fmla="*/ 635000 h 3750733"/>
              <a:gd name="connsiteX83" fmla="*/ 3977850 w 5080026"/>
              <a:gd name="connsiteY83" fmla="*/ 584200 h 3750733"/>
              <a:gd name="connsiteX84" fmla="*/ 3867784 w 5080026"/>
              <a:gd name="connsiteY84" fmla="*/ 508000 h 3750733"/>
              <a:gd name="connsiteX85" fmla="*/ 3681517 w 5080026"/>
              <a:gd name="connsiteY85" fmla="*/ 440267 h 3750733"/>
              <a:gd name="connsiteX86" fmla="*/ 3588384 w 5080026"/>
              <a:gd name="connsiteY86" fmla="*/ 381000 h 3750733"/>
              <a:gd name="connsiteX87" fmla="*/ 3554517 w 5080026"/>
              <a:gd name="connsiteY87" fmla="*/ 372533 h 3750733"/>
              <a:gd name="connsiteX88" fmla="*/ 3495250 w 5080026"/>
              <a:gd name="connsiteY88" fmla="*/ 347133 h 3750733"/>
              <a:gd name="connsiteX89" fmla="*/ 3300517 w 5080026"/>
              <a:gd name="connsiteY89" fmla="*/ 237067 h 3750733"/>
              <a:gd name="connsiteX90" fmla="*/ 3139650 w 5080026"/>
              <a:gd name="connsiteY90" fmla="*/ 211667 h 3750733"/>
              <a:gd name="connsiteX91" fmla="*/ 2987250 w 5080026"/>
              <a:gd name="connsiteY91" fmla="*/ 152400 h 3750733"/>
              <a:gd name="connsiteX92" fmla="*/ 2902584 w 5080026"/>
              <a:gd name="connsiteY92" fmla="*/ 101600 h 3750733"/>
              <a:gd name="connsiteX93" fmla="*/ 2733250 w 5080026"/>
              <a:gd name="connsiteY93" fmla="*/ 59267 h 3750733"/>
              <a:gd name="connsiteX94" fmla="*/ 2623184 w 5080026"/>
              <a:gd name="connsiteY94" fmla="*/ 8467 h 3750733"/>
              <a:gd name="connsiteX95" fmla="*/ 2589317 w 5080026"/>
              <a:gd name="connsiteY95" fmla="*/ 33867 h 3750733"/>
              <a:gd name="connsiteX96" fmla="*/ 2546984 w 5080026"/>
              <a:gd name="connsiteY96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49317 w 5080026"/>
              <a:gd name="connsiteY39" fmla="*/ 2624667 h 3750733"/>
              <a:gd name="connsiteX40" fmla="*/ 40850 w 5080026"/>
              <a:gd name="connsiteY40" fmla="*/ 2802467 h 3750733"/>
              <a:gd name="connsiteX41" fmla="*/ 32384 w 5080026"/>
              <a:gd name="connsiteY41" fmla="*/ 2921000 h 3750733"/>
              <a:gd name="connsiteX42" fmla="*/ 100117 w 5080026"/>
              <a:gd name="connsiteY42" fmla="*/ 3098800 h 3750733"/>
              <a:gd name="connsiteX43" fmla="*/ 133984 w 5080026"/>
              <a:gd name="connsiteY43" fmla="*/ 3141133 h 3750733"/>
              <a:gd name="connsiteX44" fmla="*/ 286384 w 5080026"/>
              <a:gd name="connsiteY44" fmla="*/ 3395133 h 3750733"/>
              <a:gd name="connsiteX45" fmla="*/ 362584 w 5080026"/>
              <a:gd name="connsiteY45" fmla="*/ 3505200 h 3750733"/>
              <a:gd name="connsiteX46" fmla="*/ 455717 w 5080026"/>
              <a:gd name="connsiteY46" fmla="*/ 3556000 h 3750733"/>
              <a:gd name="connsiteX47" fmla="*/ 616584 w 5080026"/>
              <a:gd name="connsiteY47" fmla="*/ 3632200 h 3750733"/>
              <a:gd name="connsiteX48" fmla="*/ 929850 w 5080026"/>
              <a:gd name="connsiteY48" fmla="*/ 3716867 h 3750733"/>
              <a:gd name="connsiteX49" fmla="*/ 1073784 w 5080026"/>
              <a:gd name="connsiteY49" fmla="*/ 3742267 h 3750733"/>
              <a:gd name="connsiteX50" fmla="*/ 1361650 w 5080026"/>
              <a:gd name="connsiteY50" fmla="*/ 3750733 h 3750733"/>
              <a:gd name="connsiteX51" fmla="*/ 1649517 w 5080026"/>
              <a:gd name="connsiteY51" fmla="*/ 3691467 h 3750733"/>
              <a:gd name="connsiteX52" fmla="*/ 1886584 w 5080026"/>
              <a:gd name="connsiteY52" fmla="*/ 3479800 h 3750733"/>
              <a:gd name="connsiteX53" fmla="*/ 1945850 w 5080026"/>
              <a:gd name="connsiteY53" fmla="*/ 3395133 h 3750733"/>
              <a:gd name="connsiteX54" fmla="*/ 1996650 w 5080026"/>
              <a:gd name="connsiteY54" fmla="*/ 3335867 h 3750733"/>
              <a:gd name="connsiteX55" fmla="*/ 2318384 w 5080026"/>
              <a:gd name="connsiteY55" fmla="*/ 3183467 h 3750733"/>
              <a:gd name="connsiteX56" fmla="*/ 2394584 w 5080026"/>
              <a:gd name="connsiteY56" fmla="*/ 3141133 h 3750733"/>
              <a:gd name="connsiteX57" fmla="*/ 2944917 w 5080026"/>
              <a:gd name="connsiteY57" fmla="*/ 2853267 h 3750733"/>
              <a:gd name="connsiteX58" fmla="*/ 3376717 w 5080026"/>
              <a:gd name="connsiteY58" fmla="*/ 2827867 h 3750733"/>
              <a:gd name="connsiteX59" fmla="*/ 3469850 w 5080026"/>
              <a:gd name="connsiteY59" fmla="*/ 2802467 h 3750733"/>
              <a:gd name="connsiteX60" fmla="*/ 3529117 w 5080026"/>
              <a:gd name="connsiteY60" fmla="*/ 2794000 h 3750733"/>
              <a:gd name="connsiteX61" fmla="*/ 3639184 w 5080026"/>
              <a:gd name="connsiteY61" fmla="*/ 2768600 h 3750733"/>
              <a:gd name="connsiteX62" fmla="*/ 3757717 w 5080026"/>
              <a:gd name="connsiteY62" fmla="*/ 2734733 h 3750733"/>
              <a:gd name="connsiteX63" fmla="*/ 3986317 w 5080026"/>
              <a:gd name="connsiteY63" fmla="*/ 2692400 h 3750733"/>
              <a:gd name="connsiteX64" fmla="*/ 4485850 w 5080026"/>
              <a:gd name="connsiteY64" fmla="*/ 2675467 h 3750733"/>
              <a:gd name="connsiteX65" fmla="*/ 4604384 w 5080026"/>
              <a:gd name="connsiteY65" fmla="*/ 2641600 h 3750733"/>
              <a:gd name="connsiteX66" fmla="*/ 4672117 w 5080026"/>
              <a:gd name="connsiteY66" fmla="*/ 2590800 h 3750733"/>
              <a:gd name="connsiteX67" fmla="*/ 4790650 w 5080026"/>
              <a:gd name="connsiteY67" fmla="*/ 2506133 h 3750733"/>
              <a:gd name="connsiteX68" fmla="*/ 4892250 w 5080026"/>
              <a:gd name="connsiteY68" fmla="*/ 2404533 h 3750733"/>
              <a:gd name="connsiteX69" fmla="*/ 5002317 w 5080026"/>
              <a:gd name="connsiteY69" fmla="*/ 2201333 h 3750733"/>
              <a:gd name="connsiteX70" fmla="*/ 5044650 w 5080026"/>
              <a:gd name="connsiteY70" fmla="*/ 2116667 h 3750733"/>
              <a:gd name="connsiteX71" fmla="*/ 5070050 w 5080026"/>
              <a:gd name="connsiteY71" fmla="*/ 2023533 h 3750733"/>
              <a:gd name="connsiteX72" fmla="*/ 5070050 w 5080026"/>
              <a:gd name="connsiteY72" fmla="*/ 1769533 h 3750733"/>
              <a:gd name="connsiteX73" fmla="*/ 5019250 w 5080026"/>
              <a:gd name="connsiteY73" fmla="*/ 1498600 h 3750733"/>
              <a:gd name="connsiteX74" fmla="*/ 4993850 w 5080026"/>
              <a:gd name="connsiteY74" fmla="*/ 1261533 h 3750733"/>
              <a:gd name="connsiteX75" fmla="*/ 4976917 w 5080026"/>
              <a:gd name="connsiteY75" fmla="*/ 1159933 h 3750733"/>
              <a:gd name="connsiteX76" fmla="*/ 4841450 w 5080026"/>
              <a:gd name="connsiteY76" fmla="*/ 1083733 h 3750733"/>
              <a:gd name="connsiteX77" fmla="*/ 4621317 w 5080026"/>
              <a:gd name="connsiteY77" fmla="*/ 999067 h 3750733"/>
              <a:gd name="connsiteX78" fmla="*/ 4511250 w 5080026"/>
              <a:gd name="connsiteY78" fmla="*/ 905933 h 3750733"/>
              <a:gd name="connsiteX79" fmla="*/ 4274184 w 5080026"/>
              <a:gd name="connsiteY79" fmla="*/ 795867 h 3750733"/>
              <a:gd name="connsiteX80" fmla="*/ 4147184 w 5080026"/>
              <a:gd name="connsiteY80" fmla="*/ 711200 h 3750733"/>
              <a:gd name="connsiteX81" fmla="*/ 4062517 w 5080026"/>
              <a:gd name="connsiteY81" fmla="*/ 660400 h 3750733"/>
              <a:gd name="connsiteX82" fmla="*/ 4037117 w 5080026"/>
              <a:gd name="connsiteY82" fmla="*/ 635000 h 3750733"/>
              <a:gd name="connsiteX83" fmla="*/ 3977850 w 5080026"/>
              <a:gd name="connsiteY83" fmla="*/ 584200 h 3750733"/>
              <a:gd name="connsiteX84" fmla="*/ 3867784 w 5080026"/>
              <a:gd name="connsiteY84" fmla="*/ 508000 h 3750733"/>
              <a:gd name="connsiteX85" fmla="*/ 3681517 w 5080026"/>
              <a:gd name="connsiteY85" fmla="*/ 440267 h 3750733"/>
              <a:gd name="connsiteX86" fmla="*/ 3588384 w 5080026"/>
              <a:gd name="connsiteY86" fmla="*/ 381000 h 3750733"/>
              <a:gd name="connsiteX87" fmla="*/ 3554517 w 5080026"/>
              <a:gd name="connsiteY87" fmla="*/ 372533 h 3750733"/>
              <a:gd name="connsiteX88" fmla="*/ 3300517 w 5080026"/>
              <a:gd name="connsiteY88" fmla="*/ 237067 h 3750733"/>
              <a:gd name="connsiteX89" fmla="*/ 3139650 w 5080026"/>
              <a:gd name="connsiteY89" fmla="*/ 211667 h 3750733"/>
              <a:gd name="connsiteX90" fmla="*/ 2987250 w 5080026"/>
              <a:gd name="connsiteY90" fmla="*/ 152400 h 3750733"/>
              <a:gd name="connsiteX91" fmla="*/ 2902584 w 5080026"/>
              <a:gd name="connsiteY91" fmla="*/ 101600 h 3750733"/>
              <a:gd name="connsiteX92" fmla="*/ 2733250 w 5080026"/>
              <a:gd name="connsiteY92" fmla="*/ 59267 h 3750733"/>
              <a:gd name="connsiteX93" fmla="*/ 2623184 w 5080026"/>
              <a:gd name="connsiteY93" fmla="*/ 8467 h 3750733"/>
              <a:gd name="connsiteX94" fmla="*/ 2589317 w 5080026"/>
              <a:gd name="connsiteY94" fmla="*/ 33867 h 3750733"/>
              <a:gd name="connsiteX95" fmla="*/ 2546984 w 5080026"/>
              <a:gd name="connsiteY95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49317 w 5080026"/>
              <a:gd name="connsiteY39" fmla="*/ 2624667 h 3750733"/>
              <a:gd name="connsiteX40" fmla="*/ 40850 w 5080026"/>
              <a:gd name="connsiteY40" fmla="*/ 2802467 h 3750733"/>
              <a:gd name="connsiteX41" fmla="*/ 32384 w 5080026"/>
              <a:gd name="connsiteY41" fmla="*/ 2921000 h 3750733"/>
              <a:gd name="connsiteX42" fmla="*/ 100117 w 5080026"/>
              <a:gd name="connsiteY42" fmla="*/ 3098800 h 3750733"/>
              <a:gd name="connsiteX43" fmla="*/ 133984 w 5080026"/>
              <a:gd name="connsiteY43" fmla="*/ 3141133 h 3750733"/>
              <a:gd name="connsiteX44" fmla="*/ 286384 w 5080026"/>
              <a:gd name="connsiteY44" fmla="*/ 3395133 h 3750733"/>
              <a:gd name="connsiteX45" fmla="*/ 362584 w 5080026"/>
              <a:gd name="connsiteY45" fmla="*/ 3505200 h 3750733"/>
              <a:gd name="connsiteX46" fmla="*/ 455717 w 5080026"/>
              <a:gd name="connsiteY46" fmla="*/ 3556000 h 3750733"/>
              <a:gd name="connsiteX47" fmla="*/ 616584 w 5080026"/>
              <a:gd name="connsiteY47" fmla="*/ 3632200 h 3750733"/>
              <a:gd name="connsiteX48" fmla="*/ 929850 w 5080026"/>
              <a:gd name="connsiteY48" fmla="*/ 3716867 h 3750733"/>
              <a:gd name="connsiteX49" fmla="*/ 1073784 w 5080026"/>
              <a:gd name="connsiteY49" fmla="*/ 3742267 h 3750733"/>
              <a:gd name="connsiteX50" fmla="*/ 1361650 w 5080026"/>
              <a:gd name="connsiteY50" fmla="*/ 3750733 h 3750733"/>
              <a:gd name="connsiteX51" fmla="*/ 1649517 w 5080026"/>
              <a:gd name="connsiteY51" fmla="*/ 3691467 h 3750733"/>
              <a:gd name="connsiteX52" fmla="*/ 1886584 w 5080026"/>
              <a:gd name="connsiteY52" fmla="*/ 3479800 h 3750733"/>
              <a:gd name="connsiteX53" fmla="*/ 1945850 w 5080026"/>
              <a:gd name="connsiteY53" fmla="*/ 3395133 h 3750733"/>
              <a:gd name="connsiteX54" fmla="*/ 1996650 w 5080026"/>
              <a:gd name="connsiteY54" fmla="*/ 3335867 h 3750733"/>
              <a:gd name="connsiteX55" fmla="*/ 2318384 w 5080026"/>
              <a:gd name="connsiteY55" fmla="*/ 3183467 h 3750733"/>
              <a:gd name="connsiteX56" fmla="*/ 2394584 w 5080026"/>
              <a:gd name="connsiteY56" fmla="*/ 3141133 h 3750733"/>
              <a:gd name="connsiteX57" fmla="*/ 2944917 w 5080026"/>
              <a:gd name="connsiteY57" fmla="*/ 2853267 h 3750733"/>
              <a:gd name="connsiteX58" fmla="*/ 3376717 w 5080026"/>
              <a:gd name="connsiteY58" fmla="*/ 2827867 h 3750733"/>
              <a:gd name="connsiteX59" fmla="*/ 3469850 w 5080026"/>
              <a:gd name="connsiteY59" fmla="*/ 2802467 h 3750733"/>
              <a:gd name="connsiteX60" fmla="*/ 3529117 w 5080026"/>
              <a:gd name="connsiteY60" fmla="*/ 2794000 h 3750733"/>
              <a:gd name="connsiteX61" fmla="*/ 3639184 w 5080026"/>
              <a:gd name="connsiteY61" fmla="*/ 2768600 h 3750733"/>
              <a:gd name="connsiteX62" fmla="*/ 3757717 w 5080026"/>
              <a:gd name="connsiteY62" fmla="*/ 2734733 h 3750733"/>
              <a:gd name="connsiteX63" fmla="*/ 3986317 w 5080026"/>
              <a:gd name="connsiteY63" fmla="*/ 2692400 h 3750733"/>
              <a:gd name="connsiteX64" fmla="*/ 4485850 w 5080026"/>
              <a:gd name="connsiteY64" fmla="*/ 2675467 h 3750733"/>
              <a:gd name="connsiteX65" fmla="*/ 4604384 w 5080026"/>
              <a:gd name="connsiteY65" fmla="*/ 2641600 h 3750733"/>
              <a:gd name="connsiteX66" fmla="*/ 4672117 w 5080026"/>
              <a:gd name="connsiteY66" fmla="*/ 2590800 h 3750733"/>
              <a:gd name="connsiteX67" fmla="*/ 4790650 w 5080026"/>
              <a:gd name="connsiteY67" fmla="*/ 2506133 h 3750733"/>
              <a:gd name="connsiteX68" fmla="*/ 4892250 w 5080026"/>
              <a:gd name="connsiteY68" fmla="*/ 2404533 h 3750733"/>
              <a:gd name="connsiteX69" fmla="*/ 5002317 w 5080026"/>
              <a:gd name="connsiteY69" fmla="*/ 2201333 h 3750733"/>
              <a:gd name="connsiteX70" fmla="*/ 5044650 w 5080026"/>
              <a:gd name="connsiteY70" fmla="*/ 2116667 h 3750733"/>
              <a:gd name="connsiteX71" fmla="*/ 5070050 w 5080026"/>
              <a:gd name="connsiteY71" fmla="*/ 2023533 h 3750733"/>
              <a:gd name="connsiteX72" fmla="*/ 5070050 w 5080026"/>
              <a:gd name="connsiteY72" fmla="*/ 1769533 h 3750733"/>
              <a:gd name="connsiteX73" fmla="*/ 5019250 w 5080026"/>
              <a:gd name="connsiteY73" fmla="*/ 1498600 h 3750733"/>
              <a:gd name="connsiteX74" fmla="*/ 4993850 w 5080026"/>
              <a:gd name="connsiteY74" fmla="*/ 1261533 h 3750733"/>
              <a:gd name="connsiteX75" fmla="*/ 4841450 w 5080026"/>
              <a:gd name="connsiteY75" fmla="*/ 1083733 h 3750733"/>
              <a:gd name="connsiteX76" fmla="*/ 4621317 w 5080026"/>
              <a:gd name="connsiteY76" fmla="*/ 999067 h 3750733"/>
              <a:gd name="connsiteX77" fmla="*/ 4511250 w 5080026"/>
              <a:gd name="connsiteY77" fmla="*/ 905933 h 3750733"/>
              <a:gd name="connsiteX78" fmla="*/ 4274184 w 5080026"/>
              <a:gd name="connsiteY78" fmla="*/ 795867 h 3750733"/>
              <a:gd name="connsiteX79" fmla="*/ 4147184 w 5080026"/>
              <a:gd name="connsiteY79" fmla="*/ 711200 h 3750733"/>
              <a:gd name="connsiteX80" fmla="*/ 4062517 w 5080026"/>
              <a:gd name="connsiteY80" fmla="*/ 660400 h 3750733"/>
              <a:gd name="connsiteX81" fmla="*/ 4037117 w 5080026"/>
              <a:gd name="connsiteY81" fmla="*/ 635000 h 3750733"/>
              <a:gd name="connsiteX82" fmla="*/ 3977850 w 5080026"/>
              <a:gd name="connsiteY82" fmla="*/ 584200 h 3750733"/>
              <a:gd name="connsiteX83" fmla="*/ 3867784 w 5080026"/>
              <a:gd name="connsiteY83" fmla="*/ 508000 h 3750733"/>
              <a:gd name="connsiteX84" fmla="*/ 3681517 w 5080026"/>
              <a:gd name="connsiteY84" fmla="*/ 440267 h 3750733"/>
              <a:gd name="connsiteX85" fmla="*/ 3588384 w 5080026"/>
              <a:gd name="connsiteY85" fmla="*/ 381000 h 3750733"/>
              <a:gd name="connsiteX86" fmla="*/ 3554517 w 5080026"/>
              <a:gd name="connsiteY86" fmla="*/ 372533 h 3750733"/>
              <a:gd name="connsiteX87" fmla="*/ 3300517 w 5080026"/>
              <a:gd name="connsiteY87" fmla="*/ 237067 h 3750733"/>
              <a:gd name="connsiteX88" fmla="*/ 3139650 w 5080026"/>
              <a:gd name="connsiteY88" fmla="*/ 211667 h 3750733"/>
              <a:gd name="connsiteX89" fmla="*/ 2987250 w 5080026"/>
              <a:gd name="connsiteY89" fmla="*/ 152400 h 3750733"/>
              <a:gd name="connsiteX90" fmla="*/ 2902584 w 5080026"/>
              <a:gd name="connsiteY90" fmla="*/ 101600 h 3750733"/>
              <a:gd name="connsiteX91" fmla="*/ 2733250 w 5080026"/>
              <a:gd name="connsiteY91" fmla="*/ 59267 h 3750733"/>
              <a:gd name="connsiteX92" fmla="*/ 2623184 w 5080026"/>
              <a:gd name="connsiteY92" fmla="*/ 8467 h 3750733"/>
              <a:gd name="connsiteX93" fmla="*/ 2589317 w 5080026"/>
              <a:gd name="connsiteY93" fmla="*/ 33867 h 3750733"/>
              <a:gd name="connsiteX94" fmla="*/ 2546984 w 5080026"/>
              <a:gd name="connsiteY94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49317 w 5080026"/>
              <a:gd name="connsiteY39" fmla="*/ 2624667 h 3750733"/>
              <a:gd name="connsiteX40" fmla="*/ 40850 w 5080026"/>
              <a:gd name="connsiteY40" fmla="*/ 2802467 h 3750733"/>
              <a:gd name="connsiteX41" fmla="*/ 32384 w 5080026"/>
              <a:gd name="connsiteY41" fmla="*/ 2921000 h 3750733"/>
              <a:gd name="connsiteX42" fmla="*/ 100117 w 5080026"/>
              <a:gd name="connsiteY42" fmla="*/ 3098800 h 3750733"/>
              <a:gd name="connsiteX43" fmla="*/ 133984 w 5080026"/>
              <a:gd name="connsiteY43" fmla="*/ 3141133 h 3750733"/>
              <a:gd name="connsiteX44" fmla="*/ 286384 w 5080026"/>
              <a:gd name="connsiteY44" fmla="*/ 3395133 h 3750733"/>
              <a:gd name="connsiteX45" fmla="*/ 362584 w 5080026"/>
              <a:gd name="connsiteY45" fmla="*/ 3505200 h 3750733"/>
              <a:gd name="connsiteX46" fmla="*/ 455717 w 5080026"/>
              <a:gd name="connsiteY46" fmla="*/ 3556000 h 3750733"/>
              <a:gd name="connsiteX47" fmla="*/ 616584 w 5080026"/>
              <a:gd name="connsiteY47" fmla="*/ 3632200 h 3750733"/>
              <a:gd name="connsiteX48" fmla="*/ 929850 w 5080026"/>
              <a:gd name="connsiteY48" fmla="*/ 3716867 h 3750733"/>
              <a:gd name="connsiteX49" fmla="*/ 1073784 w 5080026"/>
              <a:gd name="connsiteY49" fmla="*/ 3742267 h 3750733"/>
              <a:gd name="connsiteX50" fmla="*/ 1361650 w 5080026"/>
              <a:gd name="connsiteY50" fmla="*/ 3750733 h 3750733"/>
              <a:gd name="connsiteX51" fmla="*/ 1649517 w 5080026"/>
              <a:gd name="connsiteY51" fmla="*/ 3691467 h 3750733"/>
              <a:gd name="connsiteX52" fmla="*/ 1886584 w 5080026"/>
              <a:gd name="connsiteY52" fmla="*/ 3479800 h 3750733"/>
              <a:gd name="connsiteX53" fmla="*/ 1945850 w 5080026"/>
              <a:gd name="connsiteY53" fmla="*/ 3395133 h 3750733"/>
              <a:gd name="connsiteX54" fmla="*/ 1996650 w 5080026"/>
              <a:gd name="connsiteY54" fmla="*/ 3335867 h 3750733"/>
              <a:gd name="connsiteX55" fmla="*/ 2318384 w 5080026"/>
              <a:gd name="connsiteY55" fmla="*/ 3183467 h 3750733"/>
              <a:gd name="connsiteX56" fmla="*/ 2394584 w 5080026"/>
              <a:gd name="connsiteY56" fmla="*/ 3141133 h 3750733"/>
              <a:gd name="connsiteX57" fmla="*/ 2944917 w 5080026"/>
              <a:gd name="connsiteY57" fmla="*/ 2853267 h 3750733"/>
              <a:gd name="connsiteX58" fmla="*/ 3376717 w 5080026"/>
              <a:gd name="connsiteY58" fmla="*/ 2827867 h 3750733"/>
              <a:gd name="connsiteX59" fmla="*/ 3469850 w 5080026"/>
              <a:gd name="connsiteY59" fmla="*/ 2802467 h 3750733"/>
              <a:gd name="connsiteX60" fmla="*/ 3529117 w 5080026"/>
              <a:gd name="connsiteY60" fmla="*/ 2794000 h 3750733"/>
              <a:gd name="connsiteX61" fmla="*/ 3639184 w 5080026"/>
              <a:gd name="connsiteY61" fmla="*/ 2768600 h 3750733"/>
              <a:gd name="connsiteX62" fmla="*/ 3757717 w 5080026"/>
              <a:gd name="connsiteY62" fmla="*/ 2734733 h 3750733"/>
              <a:gd name="connsiteX63" fmla="*/ 3986317 w 5080026"/>
              <a:gd name="connsiteY63" fmla="*/ 2692400 h 3750733"/>
              <a:gd name="connsiteX64" fmla="*/ 4485850 w 5080026"/>
              <a:gd name="connsiteY64" fmla="*/ 2675467 h 3750733"/>
              <a:gd name="connsiteX65" fmla="*/ 4604384 w 5080026"/>
              <a:gd name="connsiteY65" fmla="*/ 2641600 h 3750733"/>
              <a:gd name="connsiteX66" fmla="*/ 4672117 w 5080026"/>
              <a:gd name="connsiteY66" fmla="*/ 2590800 h 3750733"/>
              <a:gd name="connsiteX67" fmla="*/ 4790650 w 5080026"/>
              <a:gd name="connsiteY67" fmla="*/ 2506133 h 3750733"/>
              <a:gd name="connsiteX68" fmla="*/ 4892250 w 5080026"/>
              <a:gd name="connsiteY68" fmla="*/ 2404533 h 3750733"/>
              <a:gd name="connsiteX69" fmla="*/ 5002317 w 5080026"/>
              <a:gd name="connsiteY69" fmla="*/ 2201333 h 3750733"/>
              <a:gd name="connsiteX70" fmla="*/ 5044650 w 5080026"/>
              <a:gd name="connsiteY70" fmla="*/ 2116667 h 3750733"/>
              <a:gd name="connsiteX71" fmla="*/ 5070050 w 5080026"/>
              <a:gd name="connsiteY71" fmla="*/ 2023533 h 3750733"/>
              <a:gd name="connsiteX72" fmla="*/ 5070050 w 5080026"/>
              <a:gd name="connsiteY72" fmla="*/ 1769533 h 3750733"/>
              <a:gd name="connsiteX73" fmla="*/ 5019250 w 5080026"/>
              <a:gd name="connsiteY73" fmla="*/ 1498600 h 3750733"/>
              <a:gd name="connsiteX74" fmla="*/ 4993850 w 5080026"/>
              <a:gd name="connsiteY74" fmla="*/ 1261533 h 3750733"/>
              <a:gd name="connsiteX75" fmla="*/ 4621317 w 5080026"/>
              <a:gd name="connsiteY75" fmla="*/ 999067 h 3750733"/>
              <a:gd name="connsiteX76" fmla="*/ 4511250 w 5080026"/>
              <a:gd name="connsiteY76" fmla="*/ 905933 h 3750733"/>
              <a:gd name="connsiteX77" fmla="*/ 4274184 w 5080026"/>
              <a:gd name="connsiteY77" fmla="*/ 795867 h 3750733"/>
              <a:gd name="connsiteX78" fmla="*/ 4147184 w 5080026"/>
              <a:gd name="connsiteY78" fmla="*/ 711200 h 3750733"/>
              <a:gd name="connsiteX79" fmla="*/ 4062517 w 5080026"/>
              <a:gd name="connsiteY79" fmla="*/ 660400 h 3750733"/>
              <a:gd name="connsiteX80" fmla="*/ 4037117 w 5080026"/>
              <a:gd name="connsiteY80" fmla="*/ 635000 h 3750733"/>
              <a:gd name="connsiteX81" fmla="*/ 3977850 w 5080026"/>
              <a:gd name="connsiteY81" fmla="*/ 584200 h 3750733"/>
              <a:gd name="connsiteX82" fmla="*/ 3867784 w 5080026"/>
              <a:gd name="connsiteY82" fmla="*/ 508000 h 3750733"/>
              <a:gd name="connsiteX83" fmla="*/ 3681517 w 5080026"/>
              <a:gd name="connsiteY83" fmla="*/ 440267 h 3750733"/>
              <a:gd name="connsiteX84" fmla="*/ 3588384 w 5080026"/>
              <a:gd name="connsiteY84" fmla="*/ 381000 h 3750733"/>
              <a:gd name="connsiteX85" fmla="*/ 3554517 w 5080026"/>
              <a:gd name="connsiteY85" fmla="*/ 372533 h 3750733"/>
              <a:gd name="connsiteX86" fmla="*/ 3300517 w 5080026"/>
              <a:gd name="connsiteY86" fmla="*/ 237067 h 3750733"/>
              <a:gd name="connsiteX87" fmla="*/ 3139650 w 5080026"/>
              <a:gd name="connsiteY87" fmla="*/ 211667 h 3750733"/>
              <a:gd name="connsiteX88" fmla="*/ 2987250 w 5080026"/>
              <a:gd name="connsiteY88" fmla="*/ 152400 h 3750733"/>
              <a:gd name="connsiteX89" fmla="*/ 2902584 w 5080026"/>
              <a:gd name="connsiteY89" fmla="*/ 101600 h 3750733"/>
              <a:gd name="connsiteX90" fmla="*/ 2733250 w 5080026"/>
              <a:gd name="connsiteY90" fmla="*/ 59267 h 3750733"/>
              <a:gd name="connsiteX91" fmla="*/ 2623184 w 5080026"/>
              <a:gd name="connsiteY91" fmla="*/ 8467 h 3750733"/>
              <a:gd name="connsiteX92" fmla="*/ 2589317 w 5080026"/>
              <a:gd name="connsiteY92" fmla="*/ 33867 h 3750733"/>
              <a:gd name="connsiteX93" fmla="*/ 2546984 w 5080026"/>
              <a:gd name="connsiteY93" fmla="*/ 0 h 3750733"/>
              <a:gd name="connsiteX0" fmla="*/ 2546984 w 5080026"/>
              <a:gd name="connsiteY0" fmla="*/ 0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49317 w 5080026"/>
              <a:gd name="connsiteY39" fmla="*/ 2624667 h 3750733"/>
              <a:gd name="connsiteX40" fmla="*/ 40850 w 5080026"/>
              <a:gd name="connsiteY40" fmla="*/ 2802467 h 3750733"/>
              <a:gd name="connsiteX41" fmla="*/ 32384 w 5080026"/>
              <a:gd name="connsiteY41" fmla="*/ 2921000 h 3750733"/>
              <a:gd name="connsiteX42" fmla="*/ 100117 w 5080026"/>
              <a:gd name="connsiteY42" fmla="*/ 3098800 h 3750733"/>
              <a:gd name="connsiteX43" fmla="*/ 133984 w 5080026"/>
              <a:gd name="connsiteY43" fmla="*/ 3141133 h 3750733"/>
              <a:gd name="connsiteX44" fmla="*/ 286384 w 5080026"/>
              <a:gd name="connsiteY44" fmla="*/ 3395133 h 3750733"/>
              <a:gd name="connsiteX45" fmla="*/ 362584 w 5080026"/>
              <a:gd name="connsiteY45" fmla="*/ 3505200 h 3750733"/>
              <a:gd name="connsiteX46" fmla="*/ 455717 w 5080026"/>
              <a:gd name="connsiteY46" fmla="*/ 3556000 h 3750733"/>
              <a:gd name="connsiteX47" fmla="*/ 616584 w 5080026"/>
              <a:gd name="connsiteY47" fmla="*/ 3632200 h 3750733"/>
              <a:gd name="connsiteX48" fmla="*/ 929850 w 5080026"/>
              <a:gd name="connsiteY48" fmla="*/ 3716867 h 3750733"/>
              <a:gd name="connsiteX49" fmla="*/ 1073784 w 5080026"/>
              <a:gd name="connsiteY49" fmla="*/ 3742267 h 3750733"/>
              <a:gd name="connsiteX50" fmla="*/ 1361650 w 5080026"/>
              <a:gd name="connsiteY50" fmla="*/ 3750733 h 3750733"/>
              <a:gd name="connsiteX51" fmla="*/ 1649517 w 5080026"/>
              <a:gd name="connsiteY51" fmla="*/ 3691467 h 3750733"/>
              <a:gd name="connsiteX52" fmla="*/ 1886584 w 5080026"/>
              <a:gd name="connsiteY52" fmla="*/ 3479800 h 3750733"/>
              <a:gd name="connsiteX53" fmla="*/ 1945850 w 5080026"/>
              <a:gd name="connsiteY53" fmla="*/ 3395133 h 3750733"/>
              <a:gd name="connsiteX54" fmla="*/ 1996650 w 5080026"/>
              <a:gd name="connsiteY54" fmla="*/ 3335867 h 3750733"/>
              <a:gd name="connsiteX55" fmla="*/ 2318384 w 5080026"/>
              <a:gd name="connsiteY55" fmla="*/ 3183467 h 3750733"/>
              <a:gd name="connsiteX56" fmla="*/ 2394584 w 5080026"/>
              <a:gd name="connsiteY56" fmla="*/ 3141133 h 3750733"/>
              <a:gd name="connsiteX57" fmla="*/ 2944917 w 5080026"/>
              <a:gd name="connsiteY57" fmla="*/ 2853267 h 3750733"/>
              <a:gd name="connsiteX58" fmla="*/ 3376717 w 5080026"/>
              <a:gd name="connsiteY58" fmla="*/ 2827867 h 3750733"/>
              <a:gd name="connsiteX59" fmla="*/ 3469850 w 5080026"/>
              <a:gd name="connsiteY59" fmla="*/ 2802467 h 3750733"/>
              <a:gd name="connsiteX60" fmla="*/ 3529117 w 5080026"/>
              <a:gd name="connsiteY60" fmla="*/ 2794000 h 3750733"/>
              <a:gd name="connsiteX61" fmla="*/ 3639184 w 5080026"/>
              <a:gd name="connsiteY61" fmla="*/ 2768600 h 3750733"/>
              <a:gd name="connsiteX62" fmla="*/ 3757717 w 5080026"/>
              <a:gd name="connsiteY62" fmla="*/ 2734733 h 3750733"/>
              <a:gd name="connsiteX63" fmla="*/ 3986317 w 5080026"/>
              <a:gd name="connsiteY63" fmla="*/ 2692400 h 3750733"/>
              <a:gd name="connsiteX64" fmla="*/ 4485850 w 5080026"/>
              <a:gd name="connsiteY64" fmla="*/ 2675467 h 3750733"/>
              <a:gd name="connsiteX65" fmla="*/ 4604384 w 5080026"/>
              <a:gd name="connsiteY65" fmla="*/ 2641600 h 3750733"/>
              <a:gd name="connsiteX66" fmla="*/ 4672117 w 5080026"/>
              <a:gd name="connsiteY66" fmla="*/ 2590800 h 3750733"/>
              <a:gd name="connsiteX67" fmla="*/ 4790650 w 5080026"/>
              <a:gd name="connsiteY67" fmla="*/ 2506133 h 3750733"/>
              <a:gd name="connsiteX68" fmla="*/ 4892250 w 5080026"/>
              <a:gd name="connsiteY68" fmla="*/ 2404533 h 3750733"/>
              <a:gd name="connsiteX69" fmla="*/ 5002317 w 5080026"/>
              <a:gd name="connsiteY69" fmla="*/ 2201333 h 3750733"/>
              <a:gd name="connsiteX70" fmla="*/ 5044650 w 5080026"/>
              <a:gd name="connsiteY70" fmla="*/ 2116667 h 3750733"/>
              <a:gd name="connsiteX71" fmla="*/ 5070050 w 5080026"/>
              <a:gd name="connsiteY71" fmla="*/ 2023533 h 3750733"/>
              <a:gd name="connsiteX72" fmla="*/ 5070050 w 5080026"/>
              <a:gd name="connsiteY72" fmla="*/ 1769533 h 3750733"/>
              <a:gd name="connsiteX73" fmla="*/ 5019250 w 5080026"/>
              <a:gd name="connsiteY73" fmla="*/ 1498600 h 3750733"/>
              <a:gd name="connsiteX74" fmla="*/ 4621317 w 5080026"/>
              <a:gd name="connsiteY74" fmla="*/ 999067 h 3750733"/>
              <a:gd name="connsiteX75" fmla="*/ 4511250 w 5080026"/>
              <a:gd name="connsiteY75" fmla="*/ 905933 h 3750733"/>
              <a:gd name="connsiteX76" fmla="*/ 4274184 w 5080026"/>
              <a:gd name="connsiteY76" fmla="*/ 795867 h 3750733"/>
              <a:gd name="connsiteX77" fmla="*/ 4147184 w 5080026"/>
              <a:gd name="connsiteY77" fmla="*/ 711200 h 3750733"/>
              <a:gd name="connsiteX78" fmla="*/ 4062517 w 5080026"/>
              <a:gd name="connsiteY78" fmla="*/ 660400 h 3750733"/>
              <a:gd name="connsiteX79" fmla="*/ 4037117 w 5080026"/>
              <a:gd name="connsiteY79" fmla="*/ 635000 h 3750733"/>
              <a:gd name="connsiteX80" fmla="*/ 3977850 w 5080026"/>
              <a:gd name="connsiteY80" fmla="*/ 584200 h 3750733"/>
              <a:gd name="connsiteX81" fmla="*/ 3867784 w 5080026"/>
              <a:gd name="connsiteY81" fmla="*/ 508000 h 3750733"/>
              <a:gd name="connsiteX82" fmla="*/ 3681517 w 5080026"/>
              <a:gd name="connsiteY82" fmla="*/ 440267 h 3750733"/>
              <a:gd name="connsiteX83" fmla="*/ 3588384 w 5080026"/>
              <a:gd name="connsiteY83" fmla="*/ 381000 h 3750733"/>
              <a:gd name="connsiteX84" fmla="*/ 3554517 w 5080026"/>
              <a:gd name="connsiteY84" fmla="*/ 372533 h 3750733"/>
              <a:gd name="connsiteX85" fmla="*/ 3300517 w 5080026"/>
              <a:gd name="connsiteY85" fmla="*/ 237067 h 3750733"/>
              <a:gd name="connsiteX86" fmla="*/ 3139650 w 5080026"/>
              <a:gd name="connsiteY86" fmla="*/ 211667 h 3750733"/>
              <a:gd name="connsiteX87" fmla="*/ 2987250 w 5080026"/>
              <a:gd name="connsiteY87" fmla="*/ 152400 h 3750733"/>
              <a:gd name="connsiteX88" fmla="*/ 2902584 w 5080026"/>
              <a:gd name="connsiteY88" fmla="*/ 101600 h 3750733"/>
              <a:gd name="connsiteX89" fmla="*/ 2733250 w 5080026"/>
              <a:gd name="connsiteY89" fmla="*/ 59267 h 3750733"/>
              <a:gd name="connsiteX90" fmla="*/ 2623184 w 5080026"/>
              <a:gd name="connsiteY90" fmla="*/ 8467 h 3750733"/>
              <a:gd name="connsiteX91" fmla="*/ 2589317 w 5080026"/>
              <a:gd name="connsiteY91" fmla="*/ 33867 h 3750733"/>
              <a:gd name="connsiteX92" fmla="*/ 2546984 w 5080026"/>
              <a:gd name="connsiteY92" fmla="*/ 0 h 3750733"/>
              <a:gd name="connsiteX0" fmla="*/ 2589317 w 5080026"/>
              <a:gd name="connsiteY0" fmla="*/ 33867 h 3750733"/>
              <a:gd name="connsiteX1" fmla="*/ 2546984 w 5080026"/>
              <a:gd name="connsiteY1" fmla="*/ 0 h 3750733"/>
              <a:gd name="connsiteX2" fmla="*/ 2377650 w 5080026"/>
              <a:gd name="connsiteY2" fmla="*/ 33867 h 3750733"/>
              <a:gd name="connsiteX3" fmla="*/ 2326850 w 5080026"/>
              <a:gd name="connsiteY3" fmla="*/ 67733 h 3750733"/>
              <a:gd name="connsiteX4" fmla="*/ 2276050 w 5080026"/>
              <a:gd name="connsiteY4" fmla="*/ 84667 h 3750733"/>
              <a:gd name="connsiteX5" fmla="*/ 2233717 w 5080026"/>
              <a:gd name="connsiteY5" fmla="*/ 101600 h 3750733"/>
              <a:gd name="connsiteX6" fmla="*/ 2191384 w 5080026"/>
              <a:gd name="connsiteY6" fmla="*/ 127000 h 3750733"/>
              <a:gd name="connsiteX7" fmla="*/ 2157517 w 5080026"/>
              <a:gd name="connsiteY7" fmla="*/ 152400 h 3750733"/>
              <a:gd name="connsiteX8" fmla="*/ 2038984 w 5080026"/>
              <a:gd name="connsiteY8" fmla="*/ 194733 h 3750733"/>
              <a:gd name="connsiteX9" fmla="*/ 1979717 w 5080026"/>
              <a:gd name="connsiteY9" fmla="*/ 211667 h 3750733"/>
              <a:gd name="connsiteX10" fmla="*/ 1886584 w 5080026"/>
              <a:gd name="connsiteY10" fmla="*/ 228600 h 3750733"/>
              <a:gd name="connsiteX11" fmla="*/ 1751117 w 5080026"/>
              <a:gd name="connsiteY11" fmla="*/ 279400 h 3750733"/>
              <a:gd name="connsiteX12" fmla="*/ 1708784 w 5080026"/>
              <a:gd name="connsiteY12" fmla="*/ 296333 h 3750733"/>
              <a:gd name="connsiteX13" fmla="*/ 1674917 w 5080026"/>
              <a:gd name="connsiteY13" fmla="*/ 304800 h 3750733"/>
              <a:gd name="connsiteX14" fmla="*/ 1641050 w 5080026"/>
              <a:gd name="connsiteY14" fmla="*/ 321733 h 3750733"/>
              <a:gd name="connsiteX15" fmla="*/ 1514050 w 5080026"/>
              <a:gd name="connsiteY15" fmla="*/ 355600 h 3750733"/>
              <a:gd name="connsiteX16" fmla="*/ 1429384 w 5080026"/>
              <a:gd name="connsiteY16" fmla="*/ 381000 h 3750733"/>
              <a:gd name="connsiteX17" fmla="*/ 1251584 w 5080026"/>
              <a:gd name="connsiteY17" fmla="*/ 457200 h 3750733"/>
              <a:gd name="connsiteX18" fmla="*/ 1200784 w 5080026"/>
              <a:gd name="connsiteY18" fmla="*/ 474133 h 3750733"/>
              <a:gd name="connsiteX19" fmla="*/ 1124584 w 5080026"/>
              <a:gd name="connsiteY19" fmla="*/ 516467 h 3750733"/>
              <a:gd name="connsiteX20" fmla="*/ 1090717 w 5080026"/>
              <a:gd name="connsiteY20" fmla="*/ 524933 h 3750733"/>
              <a:gd name="connsiteX21" fmla="*/ 1048384 w 5080026"/>
              <a:gd name="connsiteY21" fmla="*/ 541867 h 3750733"/>
              <a:gd name="connsiteX22" fmla="*/ 955250 w 5080026"/>
              <a:gd name="connsiteY22" fmla="*/ 558800 h 3750733"/>
              <a:gd name="connsiteX23" fmla="*/ 921384 w 5080026"/>
              <a:gd name="connsiteY23" fmla="*/ 575733 h 3750733"/>
              <a:gd name="connsiteX24" fmla="*/ 870584 w 5080026"/>
              <a:gd name="connsiteY24" fmla="*/ 592667 h 3750733"/>
              <a:gd name="connsiteX25" fmla="*/ 794384 w 5080026"/>
              <a:gd name="connsiteY25" fmla="*/ 635000 h 3750733"/>
              <a:gd name="connsiteX26" fmla="*/ 743584 w 5080026"/>
              <a:gd name="connsiteY26" fmla="*/ 677333 h 3750733"/>
              <a:gd name="connsiteX27" fmla="*/ 667384 w 5080026"/>
              <a:gd name="connsiteY27" fmla="*/ 719667 h 3750733"/>
              <a:gd name="connsiteX28" fmla="*/ 608117 w 5080026"/>
              <a:gd name="connsiteY28" fmla="*/ 787400 h 3750733"/>
              <a:gd name="connsiteX29" fmla="*/ 514984 w 5080026"/>
              <a:gd name="connsiteY29" fmla="*/ 855133 h 3750733"/>
              <a:gd name="connsiteX30" fmla="*/ 481117 w 5080026"/>
              <a:gd name="connsiteY30" fmla="*/ 880533 h 3750733"/>
              <a:gd name="connsiteX31" fmla="*/ 421850 w 5080026"/>
              <a:gd name="connsiteY31" fmla="*/ 905933 h 3750733"/>
              <a:gd name="connsiteX32" fmla="*/ 396450 w 5080026"/>
              <a:gd name="connsiteY32" fmla="*/ 931333 h 3750733"/>
              <a:gd name="connsiteX33" fmla="*/ 371050 w 5080026"/>
              <a:gd name="connsiteY33" fmla="*/ 965200 h 3750733"/>
              <a:gd name="connsiteX34" fmla="*/ 337184 w 5080026"/>
              <a:gd name="connsiteY34" fmla="*/ 990600 h 3750733"/>
              <a:gd name="connsiteX35" fmla="*/ 303317 w 5080026"/>
              <a:gd name="connsiteY35" fmla="*/ 1092200 h 3750733"/>
              <a:gd name="connsiteX36" fmla="*/ 117050 w 5080026"/>
              <a:gd name="connsiteY36" fmla="*/ 1515533 h 3750733"/>
              <a:gd name="connsiteX37" fmla="*/ 74717 w 5080026"/>
              <a:gd name="connsiteY37" fmla="*/ 1642533 h 3750733"/>
              <a:gd name="connsiteX38" fmla="*/ 108584 w 5080026"/>
              <a:gd name="connsiteY38" fmla="*/ 1998133 h 3750733"/>
              <a:gd name="connsiteX39" fmla="*/ 49317 w 5080026"/>
              <a:gd name="connsiteY39" fmla="*/ 2624667 h 3750733"/>
              <a:gd name="connsiteX40" fmla="*/ 40850 w 5080026"/>
              <a:gd name="connsiteY40" fmla="*/ 2802467 h 3750733"/>
              <a:gd name="connsiteX41" fmla="*/ 32384 w 5080026"/>
              <a:gd name="connsiteY41" fmla="*/ 2921000 h 3750733"/>
              <a:gd name="connsiteX42" fmla="*/ 100117 w 5080026"/>
              <a:gd name="connsiteY42" fmla="*/ 3098800 h 3750733"/>
              <a:gd name="connsiteX43" fmla="*/ 133984 w 5080026"/>
              <a:gd name="connsiteY43" fmla="*/ 3141133 h 3750733"/>
              <a:gd name="connsiteX44" fmla="*/ 286384 w 5080026"/>
              <a:gd name="connsiteY44" fmla="*/ 3395133 h 3750733"/>
              <a:gd name="connsiteX45" fmla="*/ 362584 w 5080026"/>
              <a:gd name="connsiteY45" fmla="*/ 3505200 h 3750733"/>
              <a:gd name="connsiteX46" fmla="*/ 455717 w 5080026"/>
              <a:gd name="connsiteY46" fmla="*/ 3556000 h 3750733"/>
              <a:gd name="connsiteX47" fmla="*/ 616584 w 5080026"/>
              <a:gd name="connsiteY47" fmla="*/ 3632200 h 3750733"/>
              <a:gd name="connsiteX48" fmla="*/ 929850 w 5080026"/>
              <a:gd name="connsiteY48" fmla="*/ 3716867 h 3750733"/>
              <a:gd name="connsiteX49" fmla="*/ 1073784 w 5080026"/>
              <a:gd name="connsiteY49" fmla="*/ 3742267 h 3750733"/>
              <a:gd name="connsiteX50" fmla="*/ 1361650 w 5080026"/>
              <a:gd name="connsiteY50" fmla="*/ 3750733 h 3750733"/>
              <a:gd name="connsiteX51" fmla="*/ 1649517 w 5080026"/>
              <a:gd name="connsiteY51" fmla="*/ 3691467 h 3750733"/>
              <a:gd name="connsiteX52" fmla="*/ 1886584 w 5080026"/>
              <a:gd name="connsiteY52" fmla="*/ 3479800 h 3750733"/>
              <a:gd name="connsiteX53" fmla="*/ 1945850 w 5080026"/>
              <a:gd name="connsiteY53" fmla="*/ 3395133 h 3750733"/>
              <a:gd name="connsiteX54" fmla="*/ 1996650 w 5080026"/>
              <a:gd name="connsiteY54" fmla="*/ 3335867 h 3750733"/>
              <a:gd name="connsiteX55" fmla="*/ 2318384 w 5080026"/>
              <a:gd name="connsiteY55" fmla="*/ 3183467 h 3750733"/>
              <a:gd name="connsiteX56" fmla="*/ 2394584 w 5080026"/>
              <a:gd name="connsiteY56" fmla="*/ 3141133 h 3750733"/>
              <a:gd name="connsiteX57" fmla="*/ 2944917 w 5080026"/>
              <a:gd name="connsiteY57" fmla="*/ 2853267 h 3750733"/>
              <a:gd name="connsiteX58" fmla="*/ 3376717 w 5080026"/>
              <a:gd name="connsiteY58" fmla="*/ 2827867 h 3750733"/>
              <a:gd name="connsiteX59" fmla="*/ 3469850 w 5080026"/>
              <a:gd name="connsiteY59" fmla="*/ 2802467 h 3750733"/>
              <a:gd name="connsiteX60" fmla="*/ 3529117 w 5080026"/>
              <a:gd name="connsiteY60" fmla="*/ 2794000 h 3750733"/>
              <a:gd name="connsiteX61" fmla="*/ 3639184 w 5080026"/>
              <a:gd name="connsiteY61" fmla="*/ 2768600 h 3750733"/>
              <a:gd name="connsiteX62" fmla="*/ 3757717 w 5080026"/>
              <a:gd name="connsiteY62" fmla="*/ 2734733 h 3750733"/>
              <a:gd name="connsiteX63" fmla="*/ 3986317 w 5080026"/>
              <a:gd name="connsiteY63" fmla="*/ 2692400 h 3750733"/>
              <a:gd name="connsiteX64" fmla="*/ 4485850 w 5080026"/>
              <a:gd name="connsiteY64" fmla="*/ 2675467 h 3750733"/>
              <a:gd name="connsiteX65" fmla="*/ 4604384 w 5080026"/>
              <a:gd name="connsiteY65" fmla="*/ 2641600 h 3750733"/>
              <a:gd name="connsiteX66" fmla="*/ 4672117 w 5080026"/>
              <a:gd name="connsiteY66" fmla="*/ 2590800 h 3750733"/>
              <a:gd name="connsiteX67" fmla="*/ 4790650 w 5080026"/>
              <a:gd name="connsiteY67" fmla="*/ 2506133 h 3750733"/>
              <a:gd name="connsiteX68" fmla="*/ 4892250 w 5080026"/>
              <a:gd name="connsiteY68" fmla="*/ 2404533 h 3750733"/>
              <a:gd name="connsiteX69" fmla="*/ 5002317 w 5080026"/>
              <a:gd name="connsiteY69" fmla="*/ 2201333 h 3750733"/>
              <a:gd name="connsiteX70" fmla="*/ 5044650 w 5080026"/>
              <a:gd name="connsiteY70" fmla="*/ 2116667 h 3750733"/>
              <a:gd name="connsiteX71" fmla="*/ 5070050 w 5080026"/>
              <a:gd name="connsiteY71" fmla="*/ 2023533 h 3750733"/>
              <a:gd name="connsiteX72" fmla="*/ 5070050 w 5080026"/>
              <a:gd name="connsiteY72" fmla="*/ 1769533 h 3750733"/>
              <a:gd name="connsiteX73" fmla="*/ 5019250 w 5080026"/>
              <a:gd name="connsiteY73" fmla="*/ 1498600 h 3750733"/>
              <a:gd name="connsiteX74" fmla="*/ 4621317 w 5080026"/>
              <a:gd name="connsiteY74" fmla="*/ 999067 h 3750733"/>
              <a:gd name="connsiteX75" fmla="*/ 4511250 w 5080026"/>
              <a:gd name="connsiteY75" fmla="*/ 905933 h 3750733"/>
              <a:gd name="connsiteX76" fmla="*/ 4274184 w 5080026"/>
              <a:gd name="connsiteY76" fmla="*/ 795867 h 3750733"/>
              <a:gd name="connsiteX77" fmla="*/ 4147184 w 5080026"/>
              <a:gd name="connsiteY77" fmla="*/ 711200 h 3750733"/>
              <a:gd name="connsiteX78" fmla="*/ 4062517 w 5080026"/>
              <a:gd name="connsiteY78" fmla="*/ 660400 h 3750733"/>
              <a:gd name="connsiteX79" fmla="*/ 4037117 w 5080026"/>
              <a:gd name="connsiteY79" fmla="*/ 635000 h 3750733"/>
              <a:gd name="connsiteX80" fmla="*/ 3977850 w 5080026"/>
              <a:gd name="connsiteY80" fmla="*/ 584200 h 3750733"/>
              <a:gd name="connsiteX81" fmla="*/ 3867784 w 5080026"/>
              <a:gd name="connsiteY81" fmla="*/ 508000 h 3750733"/>
              <a:gd name="connsiteX82" fmla="*/ 3681517 w 5080026"/>
              <a:gd name="connsiteY82" fmla="*/ 440267 h 3750733"/>
              <a:gd name="connsiteX83" fmla="*/ 3588384 w 5080026"/>
              <a:gd name="connsiteY83" fmla="*/ 381000 h 3750733"/>
              <a:gd name="connsiteX84" fmla="*/ 3554517 w 5080026"/>
              <a:gd name="connsiteY84" fmla="*/ 372533 h 3750733"/>
              <a:gd name="connsiteX85" fmla="*/ 3300517 w 5080026"/>
              <a:gd name="connsiteY85" fmla="*/ 237067 h 3750733"/>
              <a:gd name="connsiteX86" fmla="*/ 3139650 w 5080026"/>
              <a:gd name="connsiteY86" fmla="*/ 211667 h 3750733"/>
              <a:gd name="connsiteX87" fmla="*/ 2987250 w 5080026"/>
              <a:gd name="connsiteY87" fmla="*/ 152400 h 3750733"/>
              <a:gd name="connsiteX88" fmla="*/ 2902584 w 5080026"/>
              <a:gd name="connsiteY88" fmla="*/ 101600 h 3750733"/>
              <a:gd name="connsiteX89" fmla="*/ 2733250 w 5080026"/>
              <a:gd name="connsiteY89" fmla="*/ 59267 h 3750733"/>
              <a:gd name="connsiteX90" fmla="*/ 2623184 w 5080026"/>
              <a:gd name="connsiteY90" fmla="*/ 8467 h 3750733"/>
              <a:gd name="connsiteX91" fmla="*/ 2589317 w 5080026"/>
              <a:gd name="connsiteY91" fmla="*/ 33867 h 3750733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74717 w 5080026"/>
              <a:gd name="connsiteY37" fmla="*/ 1644437 h 3752637"/>
              <a:gd name="connsiteX38" fmla="*/ 108584 w 5080026"/>
              <a:gd name="connsiteY38" fmla="*/ 2000037 h 3752637"/>
              <a:gd name="connsiteX39" fmla="*/ 49317 w 5080026"/>
              <a:gd name="connsiteY39" fmla="*/ 2626571 h 3752637"/>
              <a:gd name="connsiteX40" fmla="*/ 40850 w 5080026"/>
              <a:gd name="connsiteY40" fmla="*/ 2804371 h 3752637"/>
              <a:gd name="connsiteX41" fmla="*/ 32384 w 5080026"/>
              <a:gd name="connsiteY41" fmla="*/ 2922904 h 3752637"/>
              <a:gd name="connsiteX42" fmla="*/ 100117 w 5080026"/>
              <a:gd name="connsiteY42" fmla="*/ 3100704 h 3752637"/>
              <a:gd name="connsiteX43" fmla="*/ 133984 w 5080026"/>
              <a:gd name="connsiteY43" fmla="*/ 3143037 h 3752637"/>
              <a:gd name="connsiteX44" fmla="*/ 286384 w 5080026"/>
              <a:gd name="connsiteY44" fmla="*/ 3397037 h 3752637"/>
              <a:gd name="connsiteX45" fmla="*/ 362584 w 5080026"/>
              <a:gd name="connsiteY45" fmla="*/ 3507104 h 3752637"/>
              <a:gd name="connsiteX46" fmla="*/ 455717 w 5080026"/>
              <a:gd name="connsiteY46" fmla="*/ 3557904 h 3752637"/>
              <a:gd name="connsiteX47" fmla="*/ 616584 w 5080026"/>
              <a:gd name="connsiteY47" fmla="*/ 3634104 h 3752637"/>
              <a:gd name="connsiteX48" fmla="*/ 929850 w 5080026"/>
              <a:gd name="connsiteY48" fmla="*/ 3718771 h 3752637"/>
              <a:gd name="connsiteX49" fmla="*/ 1073784 w 5080026"/>
              <a:gd name="connsiteY49" fmla="*/ 3744171 h 3752637"/>
              <a:gd name="connsiteX50" fmla="*/ 1361650 w 5080026"/>
              <a:gd name="connsiteY50" fmla="*/ 3752637 h 3752637"/>
              <a:gd name="connsiteX51" fmla="*/ 1649517 w 5080026"/>
              <a:gd name="connsiteY51" fmla="*/ 3693371 h 3752637"/>
              <a:gd name="connsiteX52" fmla="*/ 1886584 w 5080026"/>
              <a:gd name="connsiteY52" fmla="*/ 3481704 h 3752637"/>
              <a:gd name="connsiteX53" fmla="*/ 1945850 w 5080026"/>
              <a:gd name="connsiteY53" fmla="*/ 3397037 h 3752637"/>
              <a:gd name="connsiteX54" fmla="*/ 1996650 w 5080026"/>
              <a:gd name="connsiteY54" fmla="*/ 3337771 h 3752637"/>
              <a:gd name="connsiteX55" fmla="*/ 2318384 w 5080026"/>
              <a:gd name="connsiteY55" fmla="*/ 3185371 h 3752637"/>
              <a:gd name="connsiteX56" fmla="*/ 2394584 w 5080026"/>
              <a:gd name="connsiteY56" fmla="*/ 3143037 h 3752637"/>
              <a:gd name="connsiteX57" fmla="*/ 2944917 w 5080026"/>
              <a:gd name="connsiteY57" fmla="*/ 2855171 h 3752637"/>
              <a:gd name="connsiteX58" fmla="*/ 3376717 w 5080026"/>
              <a:gd name="connsiteY58" fmla="*/ 2829771 h 3752637"/>
              <a:gd name="connsiteX59" fmla="*/ 3469850 w 5080026"/>
              <a:gd name="connsiteY59" fmla="*/ 2804371 h 3752637"/>
              <a:gd name="connsiteX60" fmla="*/ 3529117 w 5080026"/>
              <a:gd name="connsiteY60" fmla="*/ 2795904 h 3752637"/>
              <a:gd name="connsiteX61" fmla="*/ 3639184 w 5080026"/>
              <a:gd name="connsiteY61" fmla="*/ 2770504 h 3752637"/>
              <a:gd name="connsiteX62" fmla="*/ 3757717 w 5080026"/>
              <a:gd name="connsiteY62" fmla="*/ 2736637 h 3752637"/>
              <a:gd name="connsiteX63" fmla="*/ 3986317 w 5080026"/>
              <a:gd name="connsiteY63" fmla="*/ 2694304 h 3752637"/>
              <a:gd name="connsiteX64" fmla="*/ 4485850 w 5080026"/>
              <a:gd name="connsiteY64" fmla="*/ 2677371 h 3752637"/>
              <a:gd name="connsiteX65" fmla="*/ 4604384 w 5080026"/>
              <a:gd name="connsiteY65" fmla="*/ 2643504 h 3752637"/>
              <a:gd name="connsiteX66" fmla="*/ 4672117 w 5080026"/>
              <a:gd name="connsiteY66" fmla="*/ 2592704 h 3752637"/>
              <a:gd name="connsiteX67" fmla="*/ 4790650 w 5080026"/>
              <a:gd name="connsiteY67" fmla="*/ 2508037 h 3752637"/>
              <a:gd name="connsiteX68" fmla="*/ 4892250 w 5080026"/>
              <a:gd name="connsiteY68" fmla="*/ 2406437 h 3752637"/>
              <a:gd name="connsiteX69" fmla="*/ 5002317 w 5080026"/>
              <a:gd name="connsiteY69" fmla="*/ 2203237 h 3752637"/>
              <a:gd name="connsiteX70" fmla="*/ 5044650 w 5080026"/>
              <a:gd name="connsiteY70" fmla="*/ 2118571 h 3752637"/>
              <a:gd name="connsiteX71" fmla="*/ 5070050 w 5080026"/>
              <a:gd name="connsiteY71" fmla="*/ 2025437 h 3752637"/>
              <a:gd name="connsiteX72" fmla="*/ 5070050 w 5080026"/>
              <a:gd name="connsiteY72" fmla="*/ 1771437 h 3752637"/>
              <a:gd name="connsiteX73" fmla="*/ 5019250 w 5080026"/>
              <a:gd name="connsiteY73" fmla="*/ 1500504 h 3752637"/>
              <a:gd name="connsiteX74" fmla="*/ 4621317 w 5080026"/>
              <a:gd name="connsiteY74" fmla="*/ 1000971 h 3752637"/>
              <a:gd name="connsiteX75" fmla="*/ 4511250 w 5080026"/>
              <a:gd name="connsiteY75" fmla="*/ 907837 h 3752637"/>
              <a:gd name="connsiteX76" fmla="*/ 4274184 w 5080026"/>
              <a:gd name="connsiteY76" fmla="*/ 797771 h 3752637"/>
              <a:gd name="connsiteX77" fmla="*/ 4147184 w 5080026"/>
              <a:gd name="connsiteY77" fmla="*/ 713104 h 3752637"/>
              <a:gd name="connsiteX78" fmla="*/ 4062517 w 5080026"/>
              <a:gd name="connsiteY78" fmla="*/ 662304 h 3752637"/>
              <a:gd name="connsiteX79" fmla="*/ 4037117 w 5080026"/>
              <a:gd name="connsiteY79" fmla="*/ 636904 h 3752637"/>
              <a:gd name="connsiteX80" fmla="*/ 3977850 w 5080026"/>
              <a:gd name="connsiteY80" fmla="*/ 586104 h 3752637"/>
              <a:gd name="connsiteX81" fmla="*/ 3867784 w 5080026"/>
              <a:gd name="connsiteY81" fmla="*/ 509904 h 3752637"/>
              <a:gd name="connsiteX82" fmla="*/ 3681517 w 5080026"/>
              <a:gd name="connsiteY82" fmla="*/ 442171 h 3752637"/>
              <a:gd name="connsiteX83" fmla="*/ 3588384 w 5080026"/>
              <a:gd name="connsiteY83" fmla="*/ 382904 h 3752637"/>
              <a:gd name="connsiteX84" fmla="*/ 3554517 w 5080026"/>
              <a:gd name="connsiteY84" fmla="*/ 374437 h 3752637"/>
              <a:gd name="connsiteX85" fmla="*/ 3300517 w 5080026"/>
              <a:gd name="connsiteY85" fmla="*/ 238971 h 3752637"/>
              <a:gd name="connsiteX86" fmla="*/ 3139650 w 5080026"/>
              <a:gd name="connsiteY86" fmla="*/ 213571 h 3752637"/>
              <a:gd name="connsiteX87" fmla="*/ 2987250 w 5080026"/>
              <a:gd name="connsiteY87" fmla="*/ 154304 h 3752637"/>
              <a:gd name="connsiteX88" fmla="*/ 2902584 w 5080026"/>
              <a:gd name="connsiteY88" fmla="*/ 103504 h 3752637"/>
              <a:gd name="connsiteX89" fmla="*/ 2733250 w 5080026"/>
              <a:gd name="connsiteY89" fmla="*/ 61171 h 3752637"/>
              <a:gd name="connsiteX90" fmla="*/ 2623184 w 5080026"/>
              <a:gd name="connsiteY90" fmla="*/ 10371 h 3752637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74717 w 5080026"/>
              <a:gd name="connsiteY37" fmla="*/ 1644437 h 3752637"/>
              <a:gd name="connsiteX38" fmla="*/ 108584 w 5080026"/>
              <a:gd name="connsiteY38" fmla="*/ 2000037 h 3752637"/>
              <a:gd name="connsiteX39" fmla="*/ 49317 w 5080026"/>
              <a:gd name="connsiteY39" fmla="*/ 2626571 h 3752637"/>
              <a:gd name="connsiteX40" fmla="*/ 40850 w 5080026"/>
              <a:gd name="connsiteY40" fmla="*/ 2804371 h 3752637"/>
              <a:gd name="connsiteX41" fmla="*/ 32384 w 5080026"/>
              <a:gd name="connsiteY41" fmla="*/ 2922904 h 3752637"/>
              <a:gd name="connsiteX42" fmla="*/ 100117 w 5080026"/>
              <a:gd name="connsiteY42" fmla="*/ 3100704 h 3752637"/>
              <a:gd name="connsiteX43" fmla="*/ 133984 w 5080026"/>
              <a:gd name="connsiteY43" fmla="*/ 3143037 h 3752637"/>
              <a:gd name="connsiteX44" fmla="*/ 286384 w 5080026"/>
              <a:gd name="connsiteY44" fmla="*/ 3397037 h 3752637"/>
              <a:gd name="connsiteX45" fmla="*/ 362584 w 5080026"/>
              <a:gd name="connsiteY45" fmla="*/ 3507104 h 3752637"/>
              <a:gd name="connsiteX46" fmla="*/ 455717 w 5080026"/>
              <a:gd name="connsiteY46" fmla="*/ 3557904 h 3752637"/>
              <a:gd name="connsiteX47" fmla="*/ 616584 w 5080026"/>
              <a:gd name="connsiteY47" fmla="*/ 3634104 h 3752637"/>
              <a:gd name="connsiteX48" fmla="*/ 929850 w 5080026"/>
              <a:gd name="connsiteY48" fmla="*/ 3718771 h 3752637"/>
              <a:gd name="connsiteX49" fmla="*/ 1073784 w 5080026"/>
              <a:gd name="connsiteY49" fmla="*/ 3744171 h 3752637"/>
              <a:gd name="connsiteX50" fmla="*/ 1361650 w 5080026"/>
              <a:gd name="connsiteY50" fmla="*/ 3752637 h 3752637"/>
              <a:gd name="connsiteX51" fmla="*/ 1649517 w 5080026"/>
              <a:gd name="connsiteY51" fmla="*/ 3693371 h 3752637"/>
              <a:gd name="connsiteX52" fmla="*/ 1886584 w 5080026"/>
              <a:gd name="connsiteY52" fmla="*/ 3481704 h 3752637"/>
              <a:gd name="connsiteX53" fmla="*/ 1945850 w 5080026"/>
              <a:gd name="connsiteY53" fmla="*/ 3397037 h 3752637"/>
              <a:gd name="connsiteX54" fmla="*/ 1996650 w 5080026"/>
              <a:gd name="connsiteY54" fmla="*/ 3337771 h 3752637"/>
              <a:gd name="connsiteX55" fmla="*/ 2318384 w 5080026"/>
              <a:gd name="connsiteY55" fmla="*/ 3185371 h 3752637"/>
              <a:gd name="connsiteX56" fmla="*/ 2394584 w 5080026"/>
              <a:gd name="connsiteY56" fmla="*/ 3143037 h 3752637"/>
              <a:gd name="connsiteX57" fmla="*/ 2944917 w 5080026"/>
              <a:gd name="connsiteY57" fmla="*/ 2855171 h 3752637"/>
              <a:gd name="connsiteX58" fmla="*/ 3376717 w 5080026"/>
              <a:gd name="connsiteY58" fmla="*/ 2829771 h 3752637"/>
              <a:gd name="connsiteX59" fmla="*/ 3469850 w 5080026"/>
              <a:gd name="connsiteY59" fmla="*/ 2804371 h 3752637"/>
              <a:gd name="connsiteX60" fmla="*/ 3529117 w 5080026"/>
              <a:gd name="connsiteY60" fmla="*/ 2795904 h 3752637"/>
              <a:gd name="connsiteX61" fmla="*/ 3639184 w 5080026"/>
              <a:gd name="connsiteY61" fmla="*/ 2770504 h 3752637"/>
              <a:gd name="connsiteX62" fmla="*/ 3757717 w 5080026"/>
              <a:gd name="connsiteY62" fmla="*/ 2736637 h 3752637"/>
              <a:gd name="connsiteX63" fmla="*/ 3986317 w 5080026"/>
              <a:gd name="connsiteY63" fmla="*/ 2694304 h 3752637"/>
              <a:gd name="connsiteX64" fmla="*/ 4485850 w 5080026"/>
              <a:gd name="connsiteY64" fmla="*/ 2677371 h 3752637"/>
              <a:gd name="connsiteX65" fmla="*/ 4604384 w 5080026"/>
              <a:gd name="connsiteY65" fmla="*/ 2643504 h 3752637"/>
              <a:gd name="connsiteX66" fmla="*/ 4672117 w 5080026"/>
              <a:gd name="connsiteY66" fmla="*/ 2592704 h 3752637"/>
              <a:gd name="connsiteX67" fmla="*/ 4790650 w 5080026"/>
              <a:gd name="connsiteY67" fmla="*/ 2508037 h 3752637"/>
              <a:gd name="connsiteX68" fmla="*/ 4892250 w 5080026"/>
              <a:gd name="connsiteY68" fmla="*/ 2406437 h 3752637"/>
              <a:gd name="connsiteX69" fmla="*/ 5002317 w 5080026"/>
              <a:gd name="connsiteY69" fmla="*/ 2203237 h 3752637"/>
              <a:gd name="connsiteX70" fmla="*/ 5044650 w 5080026"/>
              <a:gd name="connsiteY70" fmla="*/ 2118571 h 3752637"/>
              <a:gd name="connsiteX71" fmla="*/ 5070050 w 5080026"/>
              <a:gd name="connsiteY71" fmla="*/ 2025437 h 3752637"/>
              <a:gd name="connsiteX72" fmla="*/ 5070050 w 5080026"/>
              <a:gd name="connsiteY72" fmla="*/ 1771437 h 3752637"/>
              <a:gd name="connsiteX73" fmla="*/ 5019250 w 5080026"/>
              <a:gd name="connsiteY73" fmla="*/ 1500504 h 3752637"/>
              <a:gd name="connsiteX74" fmla="*/ 4621317 w 5080026"/>
              <a:gd name="connsiteY74" fmla="*/ 1000971 h 3752637"/>
              <a:gd name="connsiteX75" fmla="*/ 4511250 w 5080026"/>
              <a:gd name="connsiteY75" fmla="*/ 907837 h 3752637"/>
              <a:gd name="connsiteX76" fmla="*/ 4274184 w 5080026"/>
              <a:gd name="connsiteY76" fmla="*/ 797771 h 3752637"/>
              <a:gd name="connsiteX77" fmla="*/ 4147184 w 5080026"/>
              <a:gd name="connsiteY77" fmla="*/ 713104 h 3752637"/>
              <a:gd name="connsiteX78" fmla="*/ 4062517 w 5080026"/>
              <a:gd name="connsiteY78" fmla="*/ 662304 h 3752637"/>
              <a:gd name="connsiteX79" fmla="*/ 4037117 w 5080026"/>
              <a:gd name="connsiteY79" fmla="*/ 636904 h 3752637"/>
              <a:gd name="connsiteX80" fmla="*/ 3977850 w 5080026"/>
              <a:gd name="connsiteY80" fmla="*/ 586104 h 3752637"/>
              <a:gd name="connsiteX81" fmla="*/ 3867784 w 5080026"/>
              <a:gd name="connsiteY81" fmla="*/ 509904 h 3752637"/>
              <a:gd name="connsiteX82" fmla="*/ 3681517 w 5080026"/>
              <a:gd name="connsiteY82" fmla="*/ 442171 h 3752637"/>
              <a:gd name="connsiteX83" fmla="*/ 3588384 w 5080026"/>
              <a:gd name="connsiteY83" fmla="*/ 382904 h 3752637"/>
              <a:gd name="connsiteX84" fmla="*/ 3554517 w 5080026"/>
              <a:gd name="connsiteY84" fmla="*/ 374437 h 3752637"/>
              <a:gd name="connsiteX85" fmla="*/ 3300517 w 5080026"/>
              <a:gd name="connsiteY85" fmla="*/ 238971 h 3752637"/>
              <a:gd name="connsiteX86" fmla="*/ 2987250 w 5080026"/>
              <a:gd name="connsiteY86" fmla="*/ 154304 h 3752637"/>
              <a:gd name="connsiteX87" fmla="*/ 2902584 w 5080026"/>
              <a:gd name="connsiteY87" fmla="*/ 103504 h 3752637"/>
              <a:gd name="connsiteX88" fmla="*/ 2733250 w 5080026"/>
              <a:gd name="connsiteY88" fmla="*/ 61171 h 3752637"/>
              <a:gd name="connsiteX89" fmla="*/ 2623184 w 5080026"/>
              <a:gd name="connsiteY89" fmla="*/ 10371 h 3752637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74717 w 5080026"/>
              <a:gd name="connsiteY37" fmla="*/ 1644437 h 3752637"/>
              <a:gd name="connsiteX38" fmla="*/ 108584 w 5080026"/>
              <a:gd name="connsiteY38" fmla="*/ 2000037 h 3752637"/>
              <a:gd name="connsiteX39" fmla="*/ 49317 w 5080026"/>
              <a:gd name="connsiteY39" fmla="*/ 2626571 h 3752637"/>
              <a:gd name="connsiteX40" fmla="*/ 40850 w 5080026"/>
              <a:gd name="connsiteY40" fmla="*/ 2804371 h 3752637"/>
              <a:gd name="connsiteX41" fmla="*/ 32384 w 5080026"/>
              <a:gd name="connsiteY41" fmla="*/ 2922904 h 3752637"/>
              <a:gd name="connsiteX42" fmla="*/ 100117 w 5080026"/>
              <a:gd name="connsiteY42" fmla="*/ 3100704 h 3752637"/>
              <a:gd name="connsiteX43" fmla="*/ 133984 w 5080026"/>
              <a:gd name="connsiteY43" fmla="*/ 3143037 h 3752637"/>
              <a:gd name="connsiteX44" fmla="*/ 286384 w 5080026"/>
              <a:gd name="connsiteY44" fmla="*/ 3397037 h 3752637"/>
              <a:gd name="connsiteX45" fmla="*/ 362584 w 5080026"/>
              <a:gd name="connsiteY45" fmla="*/ 3507104 h 3752637"/>
              <a:gd name="connsiteX46" fmla="*/ 455717 w 5080026"/>
              <a:gd name="connsiteY46" fmla="*/ 3557904 h 3752637"/>
              <a:gd name="connsiteX47" fmla="*/ 616584 w 5080026"/>
              <a:gd name="connsiteY47" fmla="*/ 3634104 h 3752637"/>
              <a:gd name="connsiteX48" fmla="*/ 929850 w 5080026"/>
              <a:gd name="connsiteY48" fmla="*/ 3718771 h 3752637"/>
              <a:gd name="connsiteX49" fmla="*/ 1073784 w 5080026"/>
              <a:gd name="connsiteY49" fmla="*/ 3744171 h 3752637"/>
              <a:gd name="connsiteX50" fmla="*/ 1361650 w 5080026"/>
              <a:gd name="connsiteY50" fmla="*/ 3752637 h 3752637"/>
              <a:gd name="connsiteX51" fmla="*/ 1649517 w 5080026"/>
              <a:gd name="connsiteY51" fmla="*/ 3693371 h 3752637"/>
              <a:gd name="connsiteX52" fmla="*/ 1886584 w 5080026"/>
              <a:gd name="connsiteY52" fmla="*/ 3481704 h 3752637"/>
              <a:gd name="connsiteX53" fmla="*/ 1945850 w 5080026"/>
              <a:gd name="connsiteY53" fmla="*/ 3397037 h 3752637"/>
              <a:gd name="connsiteX54" fmla="*/ 1996650 w 5080026"/>
              <a:gd name="connsiteY54" fmla="*/ 3337771 h 3752637"/>
              <a:gd name="connsiteX55" fmla="*/ 2318384 w 5080026"/>
              <a:gd name="connsiteY55" fmla="*/ 3185371 h 3752637"/>
              <a:gd name="connsiteX56" fmla="*/ 2394584 w 5080026"/>
              <a:gd name="connsiteY56" fmla="*/ 3143037 h 3752637"/>
              <a:gd name="connsiteX57" fmla="*/ 2944917 w 5080026"/>
              <a:gd name="connsiteY57" fmla="*/ 2855171 h 3752637"/>
              <a:gd name="connsiteX58" fmla="*/ 3376717 w 5080026"/>
              <a:gd name="connsiteY58" fmla="*/ 2829771 h 3752637"/>
              <a:gd name="connsiteX59" fmla="*/ 3469850 w 5080026"/>
              <a:gd name="connsiteY59" fmla="*/ 2804371 h 3752637"/>
              <a:gd name="connsiteX60" fmla="*/ 3529117 w 5080026"/>
              <a:gd name="connsiteY60" fmla="*/ 2795904 h 3752637"/>
              <a:gd name="connsiteX61" fmla="*/ 3639184 w 5080026"/>
              <a:gd name="connsiteY61" fmla="*/ 2770504 h 3752637"/>
              <a:gd name="connsiteX62" fmla="*/ 3757717 w 5080026"/>
              <a:gd name="connsiteY62" fmla="*/ 2736637 h 3752637"/>
              <a:gd name="connsiteX63" fmla="*/ 3986317 w 5080026"/>
              <a:gd name="connsiteY63" fmla="*/ 2694304 h 3752637"/>
              <a:gd name="connsiteX64" fmla="*/ 4485850 w 5080026"/>
              <a:gd name="connsiteY64" fmla="*/ 2677371 h 3752637"/>
              <a:gd name="connsiteX65" fmla="*/ 4604384 w 5080026"/>
              <a:gd name="connsiteY65" fmla="*/ 2643504 h 3752637"/>
              <a:gd name="connsiteX66" fmla="*/ 4672117 w 5080026"/>
              <a:gd name="connsiteY66" fmla="*/ 2592704 h 3752637"/>
              <a:gd name="connsiteX67" fmla="*/ 4790650 w 5080026"/>
              <a:gd name="connsiteY67" fmla="*/ 2508037 h 3752637"/>
              <a:gd name="connsiteX68" fmla="*/ 4892250 w 5080026"/>
              <a:gd name="connsiteY68" fmla="*/ 2406437 h 3752637"/>
              <a:gd name="connsiteX69" fmla="*/ 5002317 w 5080026"/>
              <a:gd name="connsiteY69" fmla="*/ 2203237 h 3752637"/>
              <a:gd name="connsiteX70" fmla="*/ 5044650 w 5080026"/>
              <a:gd name="connsiteY70" fmla="*/ 2118571 h 3752637"/>
              <a:gd name="connsiteX71" fmla="*/ 5070050 w 5080026"/>
              <a:gd name="connsiteY71" fmla="*/ 2025437 h 3752637"/>
              <a:gd name="connsiteX72" fmla="*/ 5070050 w 5080026"/>
              <a:gd name="connsiteY72" fmla="*/ 1771437 h 3752637"/>
              <a:gd name="connsiteX73" fmla="*/ 5019250 w 5080026"/>
              <a:gd name="connsiteY73" fmla="*/ 1500504 h 3752637"/>
              <a:gd name="connsiteX74" fmla="*/ 4621317 w 5080026"/>
              <a:gd name="connsiteY74" fmla="*/ 1000971 h 3752637"/>
              <a:gd name="connsiteX75" fmla="*/ 4511250 w 5080026"/>
              <a:gd name="connsiteY75" fmla="*/ 907837 h 3752637"/>
              <a:gd name="connsiteX76" fmla="*/ 4274184 w 5080026"/>
              <a:gd name="connsiteY76" fmla="*/ 797771 h 3752637"/>
              <a:gd name="connsiteX77" fmla="*/ 4147184 w 5080026"/>
              <a:gd name="connsiteY77" fmla="*/ 713104 h 3752637"/>
              <a:gd name="connsiteX78" fmla="*/ 4062517 w 5080026"/>
              <a:gd name="connsiteY78" fmla="*/ 662304 h 3752637"/>
              <a:gd name="connsiteX79" fmla="*/ 4037117 w 5080026"/>
              <a:gd name="connsiteY79" fmla="*/ 636904 h 3752637"/>
              <a:gd name="connsiteX80" fmla="*/ 3977850 w 5080026"/>
              <a:gd name="connsiteY80" fmla="*/ 586104 h 3752637"/>
              <a:gd name="connsiteX81" fmla="*/ 3867784 w 5080026"/>
              <a:gd name="connsiteY81" fmla="*/ 509904 h 3752637"/>
              <a:gd name="connsiteX82" fmla="*/ 3681517 w 5080026"/>
              <a:gd name="connsiteY82" fmla="*/ 442171 h 3752637"/>
              <a:gd name="connsiteX83" fmla="*/ 3588384 w 5080026"/>
              <a:gd name="connsiteY83" fmla="*/ 382904 h 3752637"/>
              <a:gd name="connsiteX84" fmla="*/ 3554517 w 5080026"/>
              <a:gd name="connsiteY84" fmla="*/ 374437 h 3752637"/>
              <a:gd name="connsiteX85" fmla="*/ 3300517 w 5080026"/>
              <a:gd name="connsiteY85" fmla="*/ 238971 h 3752637"/>
              <a:gd name="connsiteX86" fmla="*/ 2902584 w 5080026"/>
              <a:gd name="connsiteY86" fmla="*/ 103504 h 3752637"/>
              <a:gd name="connsiteX87" fmla="*/ 2733250 w 5080026"/>
              <a:gd name="connsiteY87" fmla="*/ 61171 h 3752637"/>
              <a:gd name="connsiteX88" fmla="*/ 2623184 w 5080026"/>
              <a:gd name="connsiteY88" fmla="*/ 10371 h 3752637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74717 w 5080026"/>
              <a:gd name="connsiteY37" fmla="*/ 1644437 h 3752637"/>
              <a:gd name="connsiteX38" fmla="*/ 108584 w 5080026"/>
              <a:gd name="connsiteY38" fmla="*/ 2000037 h 3752637"/>
              <a:gd name="connsiteX39" fmla="*/ 49317 w 5080026"/>
              <a:gd name="connsiteY39" fmla="*/ 2626571 h 3752637"/>
              <a:gd name="connsiteX40" fmla="*/ 40850 w 5080026"/>
              <a:gd name="connsiteY40" fmla="*/ 2804371 h 3752637"/>
              <a:gd name="connsiteX41" fmla="*/ 32384 w 5080026"/>
              <a:gd name="connsiteY41" fmla="*/ 2922904 h 3752637"/>
              <a:gd name="connsiteX42" fmla="*/ 100117 w 5080026"/>
              <a:gd name="connsiteY42" fmla="*/ 3100704 h 3752637"/>
              <a:gd name="connsiteX43" fmla="*/ 133984 w 5080026"/>
              <a:gd name="connsiteY43" fmla="*/ 3143037 h 3752637"/>
              <a:gd name="connsiteX44" fmla="*/ 286384 w 5080026"/>
              <a:gd name="connsiteY44" fmla="*/ 3397037 h 3752637"/>
              <a:gd name="connsiteX45" fmla="*/ 362584 w 5080026"/>
              <a:gd name="connsiteY45" fmla="*/ 3507104 h 3752637"/>
              <a:gd name="connsiteX46" fmla="*/ 455717 w 5080026"/>
              <a:gd name="connsiteY46" fmla="*/ 3557904 h 3752637"/>
              <a:gd name="connsiteX47" fmla="*/ 616584 w 5080026"/>
              <a:gd name="connsiteY47" fmla="*/ 3634104 h 3752637"/>
              <a:gd name="connsiteX48" fmla="*/ 929850 w 5080026"/>
              <a:gd name="connsiteY48" fmla="*/ 3718771 h 3752637"/>
              <a:gd name="connsiteX49" fmla="*/ 1073784 w 5080026"/>
              <a:gd name="connsiteY49" fmla="*/ 3744171 h 3752637"/>
              <a:gd name="connsiteX50" fmla="*/ 1361650 w 5080026"/>
              <a:gd name="connsiteY50" fmla="*/ 3752637 h 3752637"/>
              <a:gd name="connsiteX51" fmla="*/ 1649517 w 5080026"/>
              <a:gd name="connsiteY51" fmla="*/ 3693371 h 3752637"/>
              <a:gd name="connsiteX52" fmla="*/ 1886584 w 5080026"/>
              <a:gd name="connsiteY52" fmla="*/ 3481704 h 3752637"/>
              <a:gd name="connsiteX53" fmla="*/ 1945850 w 5080026"/>
              <a:gd name="connsiteY53" fmla="*/ 3397037 h 3752637"/>
              <a:gd name="connsiteX54" fmla="*/ 1996650 w 5080026"/>
              <a:gd name="connsiteY54" fmla="*/ 3337771 h 3752637"/>
              <a:gd name="connsiteX55" fmla="*/ 2318384 w 5080026"/>
              <a:gd name="connsiteY55" fmla="*/ 3185371 h 3752637"/>
              <a:gd name="connsiteX56" fmla="*/ 2394584 w 5080026"/>
              <a:gd name="connsiteY56" fmla="*/ 3143037 h 3752637"/>
              <a:gd name="connsiteX57" fmla="*/ 2944917 w 5080026"/>
              <a:gd name="connsiteY57" fmla="*/ 2855171 h 3752637"/>
              <a:gd name="connsiteX58" fmla="*/ 3376717 w 5080026"/>
              <a:gd name="connsiteY58" fmla="*/ 2829771 h 3752637"/>
              <a:gd name="connsiteX59" fmla="*/ 3469850 w 5080026"/>
              <a:gd name="connsiteY59" fmla="*/ 2804371 h 3752637"/>
              <a:gd name="connsiteX60" fmla="*/ 3529117 w 5080026"/>
              <a:gd name="connsiteY60" fmla="*/ 2795904 h 3752637"/>
              <a:gd name="connsiteX61" fmla="*/ 3639184 w 5080026"/>
              <a:gd name="connsiteY61" fmla="*/ 2770504 h 3752637"/>
              <a:gd name="connsiteX62" fmla="*/ 3757717 w 5080026"/>
              <a:gd name="connsiteY62" fmla="*/ 2736637 h 3752637"/>
              <a:gd name="connsiteX63" fmla="*/ 3986317 w 5080026"/>
              <a:gd name="connsiteY63" fmla="*/ 2694304 h 3752637"/>
              <a:gd name="connsiteX64" fmla="*/ 4485850 w 5080026"/>
              <a:gd name="connsiteY64" fmla="*/ 2677371 h 3752637"/>
              <a:gd name="connsiteX65" fmla="*/ 4604384 w 5080026"/>
              <a:gd name="connsiteY65" fmla="*/ 2643504 h 3752637"/>
              <a:gd name="connsiteX66" fmla="*/ 4672117 w 5080026"/>
              <a:gd name="connsiteY66" fmla="*/ 2592704 h 3752637"/>
              <a:gd name="connsiteX67" fmla="*/ 4790650 w 5080026"/>
              <a:gd name="connsiteY67" fmla="*/ 2508037 h 3752637"/>
              <a:gd name="connsiteX68" fmla="*/ 4892250 w 5080026"/>
              <a:gd name="connsiteY68" fmla="*/ 2406437 h 3752637"/>
              <a:gd name="connsiteX69" fmla="*/ 5002317 w 5080026"/>
              <a:gd name="connsiteY69" fmla="*/ 2203237 h 3752637"/>
              <a:gd name="connsiteX70" fmla="*/ 5044650 w 5080026"/>
              <a:gd name="connsiteY70" fmla="*/ 2118571 h 3752637"/>
              <a:gd name="connsiteX71" fmla="*/ 5070050 w 5080026"/>
              <a:gd name="connsiteY71" fmla="*/ 2025437 h 3752637"/>
              <a:gd name="connsiteX72" fmla="*/ 5070050 w 5080026"/>
              <a:gd name="connsiteY72" fmla="*/ 1771437 h 3752637"/>
              <a:gd name="connsiteX73" fmla="*/ 5019250 w 5080026"/>
              <a:gd name="connsiteY73" fmla="*/ 1500504 h 3752637"/>
              <a:gd name="connsiteX74" fmla="*/ 4621317 w 5080026"/>
              <a:gd name="connsiteY74" fmla="*/ 1000971 h 3752637"/>
              <a:gd name="connsiteX75" fmla="*/ 4511250 w 5080026"/>
              <a:gd name="connsiteY75" fmla="*/ 907837 h 3752637"/>
              <a:gd name="connsiteX76" fmla="*/ 4274184 w 5080026"/>
              <a:gd name="connsiteY76" fmla="*/ 797771 h 3752637"/>
              <a:gd name="connsiteX77" fmla="*/ 4147184 w 5080026"/>
              <a:gd name="connsiteY77" fmla="*/ 713104 h 3752637"/>
              <a:gd name="connsiteX78" fmla="*/ 4062517 w 5080026"/>
              <a:gd name="connsiteY78" fmla="*/ 662304 h 3752637"/>
              <a:gd name="connsiteX79" fmla="*/ 4037117 w 5080026"/>
              <a:gd name="connsiteY79" fmla="*/ 636904 h 3752637"/>
              <a:gd name="connsiteX80" fmla="*/ 3977850 w 5080026"/>
              <a:gd name="connsiteY80" fmla="*/ 586104 h 3752637"/>
              <a:gd name="connsiteX81" fmla="*/ 3867784 w 5080026"/>
              <a:gd name="connsiteY81" fmla="*/ 509904 h 3752637"/>
              <a:gd name="connsiteX82" fmla="*/ 3681517 w 5080026"/>
              <a:gd name="connsiteY82" fmla="*/ 442171 h 3752637"/>
              <a:gd name="connsiteX83" fmla="*/ 3588384 w 5080026"/>
              <a:gd name="connsiteY83" fmla="*/ 382904 h 3752637"/>
              <a:gd name="connsiteX84" fmla="*/ 3554517 w 5080026"/>
              <a:gd name="connsiteY84" fmla="*/ 374437 h 3752637"/>
              <a:gd name="connsiteX85" fmla="*/ 3300517 w 5080026"/>
              <a:gd name="connsiteY85" fmla="*/ 238971 h 3752637"/>
              <a:gd name="connsiteX86" fmla="*/ 2902584 w 5080026"/>
              <a:gd name="connsiteY86" fmla="*/ 103504 h 3752637"/>
              <a:gd name="connsiteX87" fmla="*/ 2623184 w 5080026"/>
              <a:gd name="connsiteY87" fmla="*/ 10371 h 3752637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74717 w 5080026"/>
              <a:gd name="connsiteY37" fmla="*/ 1644437 h 3752637"/>
              <a:gd name="connsiteX38" fmla="*/ 108584 w 5080026"/>
              <a:gd name="connsiteY38" fmla="*/ 2000037 h 3752637"/>
              <a:gd name="connsiteX39" fmla="*/ 49317 w 5080026"/>
              <a:gd name="connsiteY39" fmla="*/ 2626571 h 3752637"/>
              <a:gd name="connsiteX40" fmla="*/ 40850 w 5080026"/>
              <a:gd name="connsiteY40" fmla="*/ 2804371 h 3752637"/>
              <a:gd name="connsiteX41" fmla="*/ 32384 w 5080026"/>
              <a:gd name="connsiteY41" fmla="*/ 2922904 h 3752637"/>
              <a:gd name="connsiteX42" fmla="*/ 100117 w 5080026"/>
              <a:gd name="connsiteY42" fmla="*/ 3100704 h 3752637"/>
              <a:gd name="connsiteX43" fmla="*/ 133984 w 5080026"/>
              <a:gd name="connsiteY43" fmla="*/ 3143037 h 3752637"/>
              <a:gd name="connsiteX44" fmla="*/ 286384 w 5080026"/>
              <a:gd name="connsiteY44" fmla="*/ 3397037 h 3752637"/>
              <a:gd name="connsiteX45" fmla="*/ 362584 w 5080026"/>
              <a:gd name="connsiteY45" fmla="*/ 3507104 h 3752637"/>
              <a:gd name="connsiteX46" fmla="*/ 455717 w 5080026"/>
              <a:gd name="connsiteY46" fmla="*/ 3557904 h 3752637"/>
              <a:gd name="connsiteX47" fmla="*/ 616584 w 5080026"/>
              <a:gd name="connsiteY47" fmla="*/ 3634104 h 3752637"/>
              <a:gd name="connsiteX48" fmla="*/ 929850 w 5080026"/>
              <a:gd name="connsiteY48" fmla="*/ 3718771 h 3752637"/>
              <a:gd name="connsiteX49" fmla="*/ 1073784 w 5080026"/>
              <a:gd name="connsiteY49" fmla="*/ 3744171 h 3752637"/>
              <a:gd name="connsiteX50" fmla="*/ 1361650 w 5080026"/>
              <a:gd name="connsiteY50" fmla="*/ 3752637 h 3752637"/>
              <a:gd name="connsiteX51" fmla="*/ 1649517 w 5080026"/>
              <a:gd name="connsiteY51" fmla="*/ 3693371 h 3752637"/>
              <a:gd name="connsiteX52" fmla="*/ 1886584 w 5080026"/>
              <a:gd name="connsiteY52" fmla="*/ 3481704 h 3752637"/>
              <a:gd name="connsiteX53" fmla="*/ 1945850 w 5080026"/>
              <a:gd name="connsiteY53" fmla="*/ 3397037 h 3752637"/>
              <a:gd name="connsiteX54" fmla="*/ 1996650 w 5080026"/>
              <a:gd name="connsiteY54" fmla="*/ 3337771 h 3752637"/>
              <a:gd name="connsiteX55" fmla="*/ 2318384 w 5080026"/>
              <a:gd name="connsiteY55" fmla="*/ 3185371 h 3752637"/>
              <a:gd name="connsiteX56" fmla="*/ 2394584 w 5080026"/>
              <a:gd name="connsiteY56" fmla="*/ 3143037 h 3752637"/>
              <a:gd name="connsiteX57" fmla="*/ 2944917 w 5080026"/>
              <a:gd name="connsiteY57" fmla="*/ 2855171 h 3752637"/>
              <a:gd name="connsiteX58" fmla="*/ 3376717 w 5080026"/>
              <a:gd name="connsiteY58" fmla="*/ 2829771 h 3752637"/>
              <a:gd name="connsiteX59" fmla="*/ 3469850 w 5080026"/>
              <a:gd name="connsiteY59" fmla="*/ 2804371 h 3752637"/>
              <a:gd name="connsiteX60" fmla="*/ 3529117 w 5080026"/>
              <a:gd name="connsiteY60" fmla="*/ 2795904 h 3752637"/>
              <a:gd name="connsiteX61" fmla="*/ 3639184 w 5080026"/>
              <a:gd name="connsiteY61" fmla="*/ 2770504 h 3752637"/>
              <a:gd name="connsiteX62" fmla="*/ 3757717 w 5080026"/>
              <a:gd name="connsiteY62" fmla="*/ 2736637 h 3752637"/>
              <a:gd name="connsiteX63" fmla="*/ 3986317 w 5080026"/>
              <a:gd name="connsiteY63" fmla="*/ 2694304 h 3752637"/>
              <a:gd name="connsiteX64" fmla="*/ 4485850 w 5080026"/>
              <a:gd name="connsiteY64" fmla="*/ 2677371 h 3752637"/>
              <a:gd name="connsiteX65" fmla="*/ 4604384 w 5080026"/>
              <a:gd name="connsiteY65" fmla="*/ 2643504 h 3752637"/>
              <a:gd name="connsiteX66" fmla="*/ 4672117 w 5080026"/>
              <a:gd name="connsiteY66" fmla="*/ 2592704 h 3752637"/>
              <a:gd name="connsiteX67" fmla="*/ 4790650 w 5080026"/>
              <a:gd name="connsiteY67" fmla="*/ 2508037 h 3752637"/>
              <a:gd name="connsiteX68" fmla="*/ 4892250 w 5080026"/>
              <a:gd name="connsiteY68" fmla="*/ 2406437 h 3752637"/>
              <a:gd name="connsiteX69" fmla="*/ 5002317 w 5080026"/>
              <a:gd name="connsiteY69" fmla="*/ 2203237 h 3752637"/>
              <a:gd name="connsiteX70" fmla="*/ 5044650 w 5080026"/>
              <a:gd name="connsiteY70" fmla="*/ 2118571 h 3752637"/>
              <a:gd name="connsiteX71" fmla="*/ 5070050 w 5080026"/>
              <a:gd name="connsiteY71" fmla="*/ 2025437 h 3752637"/>
              <a:gd name="connsiteX72" fmla="*/ 5070050 w 5080026"/>
              <a:gd name="connsiteY72" fmla="*/ 1771437 h 3752637"/>
              <a:gd name="connsiteX73" fmla="*/ 5019250 w 5080026"/>
              <a:gd name="connsiteY73" fmla="*/ 1500504 h 3752637"/>
              <a:gd name="connsiteX74" fmla="*/ 4621317 w 5080026"/>
              <a:gd name="connsiteY74" fmla="*/ 1000971 h 3752637"/>
              <a:gd name="connsiteX75" fmla="*/ 4511250 w 5080026"/>
              <a:gd name="connsiteY75" fmla="*/ 907837 h 3752637"/>
              <a:gd name="connsiteX76" fmla="*/ 4274184 w 5080026"/>
              <a:gd name="connsiteY76" fmla="*/ 797771 h 3752637"/>
              <a:gd name="connsiteX77" fmla="*/ 4147184 w 5080026"/>
              <a:gd name="connsiteY77" fmla="*/ 713104 h 3752637"/>
              <a:gd name="connsiteX78" fmla="*/ 4062517 w 5080026"/>
              <a:gd name="connsiteY78" fmla="*/ 662304 h 3752637"/>
              <a:gd name="connsiteX79" fmla="*/ 4037117 w 5080026"/>
              <a:gd name="connsiteY79" fmla="*/ 636904 h 3752637"/>
              <a:gd name="connsiteX80" fmla="*/ 3977850 w 5080026"/>
              <a:gd name="connsiteY80" fmla="*/ 586104 h 3752637"/>
              <a:gd name="connsiteX81" fmla="*/ 3867784 w 5080026"/>
              <a:gd name="connsiteY81" fmla="*/ 509904 h 3752637"/>
              <a:gd name="connsiteX82" fmla="*/ 3681517 w 5080026"/>
              <a:gd name="connsiteY82" fmla="*/ 442171 h 3752637"/>
              <a:gd name="connsiteX83" fmla="*/ 3588384 w 5080026"/>
              <a:gd name="connsiteY83" fmla="*/ 382904 h 3752637"/>
              <a:gd name="connsiteX84" fmla="*/ 3300517 w 5080026"/>
              <a:gd name="connsiteY84" fmla="*/ 238971 h 3752637"/>
              <a:gd name="connsiteX85" fmla="*/ 2902584 w 5080026"/>
              <a:gd name="connsiteY85" fmla="*/ 103504 h 3752637"/>
              <a:gd name="connsiteX86" fmla="*/ 2623184 w 5080026"/>
              <a:gd name="connsiteY86" fmla="*/ 10371 h 3752637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74717 w 5080026"/>
              <a:gd name="connsiteY37" fmla="*/ 1644437 h 3752637"/>
              <a:gd name="connsiteX38" fmla="*/ 108584 w 5080026"/>
              <a:gd name="connsiteY38" fmla="*/ 2000037 h 3752637"/>
              <a:gd name="connsiteX39" fmla="*/ 49317 w 5080026"/>
              <a:gd name="connsiteY39" fmla="*/ 2626571 h 3752637"/>
              <a:gd name="connsiteX40" fmla="*/ 40850 w 5080026"/>
              <a:gd name="connsiteY40" fmla="*/ 2804371 h 3752637"/>
              <a:gd name="connsiteX41" fmla="*/ 32384 w 5080026"/>
              <a:gd name="connsiteY41" fmla="*/ 2922904 h 3752637"/>
              <a:gd name="connsiteX42" fmla="*/ 100117 w 5080026"/>
              <a:gd name="connsiteY42" fmla="*/ 3100704 h 3752637"/>
              <a:gd name="connsiteX43" fmla="*/ 133984 w 5080026"/>
              <a:gd name="connsiteY43" fmla="*/ 3143037 h 3752637"/>
              <a:gd name="connsiteX44" fmla="*/ 286384 w 5080026"/>
              <a:gd name="connsiteY44" fmla="*/ 3397037 h 3752637"/>
              <a:gd name="connsiteX45" fmla="*/ 362584 w 5080026"/>
              <a:gd name="connsiteY45" fmla="*/ 3507104 h 3752637"/>
              <a:gd name="connsiteX46" fmla="*/ 455717 w 5080026"/>
              <a:gd name="connsiteY46" fmla="*/ 3557904 h 3752637"/>
              <a:gd name="connsiteX47" fmla="*/ 616584 w 5080026"/>
              <a:gd name="connsiteY47" fmla="*/ 3634104 h 3752637"/>
              <a:gd name="connsiteX48" fmla="*/ 929850 w 5080026"/>
              <a:gd name="connsiteY48" fmla="*/ 3718771 h 3752637"/>
              <a:gd name="connsiteX49" fmla="*/ 1073784 w 5080026"/>
              <a:gd name="connsiteY49" fmla="*/ 3744171 h 3752637"/>
              <a:gd name="connsiteX50" fmla="*/ 1361650 w 5080026"/>
              <a:gd name="connsiteY50" fmla="*/ 3752637 h 3752637"/>
              <a:gd name="connsiteX51" fmla="*/ 1649517 w 5080026"/>
              <a:gd name="connsiteY51" fmla="*/ 3693371 h 3752637"/>
              <a:gd name="connsiteX52" fmla="*/ 1886584 w 5080026"/>
              <a:gd name="connsiteY52" fmla="*/ 3481704 h 3752637"/>
              <a:gd name="connsiteX53" fmla="*/ 1945850 w 5080026"/>
              <a:gd name="connsiteY53" fmla="*/ 3397037 h 3752637"/>
              <a:gd name="connsiteX54" fmla="*/ 1996650 w 5080026"/>
              <a:gd name="connsiteY54" fmla="*/ 3337771 h 3752637"/>
              <a:gd name="connsiteX55" fmla="*/ 2318384 w 5080026"/>
              <a:gd name="connsiteY55" fmla="*/ 3185371 h 3752637"/>
              <a:gd name="connsiteX56" fmla="*/ 2394584 w 5080026"/>
              <a:gd name="connsiteY56" fmla="*/ 3143037 h 3752637"/>
              <a:gd name="connsiteX57" fmla="*/ 2944917 w 5080026"/>
              <a:gd name="connsiteY57" fmla="*/ 2855171 h 3752637"/>
              <a:gd name="connsiteX58" fmla="*/ 3376717 w 5080026"/>
              <a:gd name="connsiteY58" fmla="*/ 2829771 h 3752637"/>
              <a:gd name="connsiteX59" fmla="*/ 3469850 w 5080026"/>
              <a:gd name="connsiteY59" fmla="*/ 2804371 h 3752637"/>
              <a:gd name="connsiteX60" fmla="*/ 3529117 w 5080026"/>
              <a:gd name="connsiteY60" fmla="*/ 2795904 h 3752637"/>
              <a:gd name="connsiteX61" fmla="*/ 3639184 w 5080026"/>
              <a:gd name="connsiteY61" fmla="*/ 2770504 h 3752637"/>
              <a:gd name="connsiteX62" fmla="*/ 3757717 w 5080026"/>
              <a:gd name="connsiteY62" fmla="*/ 2736637 h 3752637"/>
              <a:gd name="connsiteX63" fmla="*/ 3986317 w 5080026"/>
              <a:gd name="connsiteY63" fmla="*/ 2694304 h 3752637"/>
              <a:gd name="connsiteX64" fmla="*/ 4485850 w 5080026"/>
              <a:gd name="connsiteY64" fmla="*/ 2677371 h 3752637"/>
              <a:gd name="connsiteX65" fmla="*/ 4604384 w 5080026"/>
              <a:gd name="connsiteY65" fmla="*/ 2643504 h 3752637"/>
              <a:gd name="connsiteX66" fmla="*/ 4672117 w 5080026"/>
              <a:gd name="connsiteY66" fmla="*/ 2592704 h 3752637"/>
              <a:gd name="connsiteX67" fmla="*/ 4790650 w 5080026"/>
              <a:gd name="connsiteY67" fmla="*/ 2508037 h 3752637"/>
              <a:gd name="connsiteX68" fmla="*/ 4892250 w 5080026"/>
              <a:gd name="connsiteY68" fmla="*/ 2406437 h 3752637"/>
              <a:gd name="connsiteX69" fmla="*/ 5002317 w 5080026"/>
              <a:gd name="connsiteY69" fmla="*/ 2203237 h 3752637"/>
              <a:gd name="connsiteX70" fmla="*/ 5044650 w 5080026"/>
              <a:gd name="connsiteY70" fmla="*/ 2118571 h 3752637"/>
              <a:gd name="connsiteX71" fmla="*/ 5070050 w 5080026"/>
              <a:gd name="connsiteY71" fmla="*/ 2025437 h 3752637"/>
              <a:gd name="connsiteX72" fmla="*/ 5070050 w 5080026"/>
              <a:gd name="connsiteY72" fmla="*/ 1771437 h 3752637"/>
              <a:gd name="connsiteX73" fmla="*/ 5019250 w 5080026"/>
              <a:gd name="connsiteY73" fmla="*/ 1500504 h 3752637"/>
              <a:gd name="connsiteX74" fmla="*/ 4621317 w 5080026"/>
              <a:gd name="connsiteY74" fmla="*/ 1000971 h 3752637"/>
              <a:gd name="connsiteX75" fmla="*/ 4511250 w 5080026"/>
              <a:gd name="connsiteY75" fmla="*/ 907837 h 3752637"/>
              <a:gd name="connsiteX76" fmla="*/ 4274184 w 5080026"/>
              <a:gd name="connsiteY76" fmla="*/ 797771 h 3752637"/>
              <a:gd name="connsiteX77" fmla="*/ 4147184 w 5080026"/>
              <a:gd name="connsiteY77" fmla="*/ 713104 h 3752637"/>
              <a:gd name="connsiteX78" fmla="*/ 4062517 w 5080026"/>
              <a:gd name="connsiteY78" fmla="*/ 662304 h 3752637"/>
              <a:gd name="connsiteX79" fmla="*/ 4037117 w 5080026"/>
              <a:gd name="connsiteY79" fmla="*/ 636904 h 3752637"/>
              <a:gd name="connsiteX80" fmla="*/ 3977850 w 5080026"/>
              <a:gd name="connsiteY80" fmla="*/ 586104 h 3752637"/>
              <a:gd name="connsiteX81" fmla="*/ 3867784 w 5080026"/>
              <a:gd name="connsiteY81" fmla="*/ 509904 h 3752637"/>
              <a:gd name="connsiteX82" fmla="*/ 3588384 w 5080026"/>
              <a:gd name="connsiteY82" fmla="*/ 382904 h 3752637"/>
              <a:gd name="connsiteX83" fmla="*/ 3300517 w 5080026"/>
              <a:gd name="connsiteY83" fmla="*/ 238971 h 3752637"/>
              <a:gd name="connsiteX84" fmla="*/ 2902584 w 5080026"/>
              <a:gd name="connsiteY84" fmla="*/ 103504 h 3752637"/>
              <a:gd name="connsiteX85" fmla="*/ 2623184 w 5080026"/>
              <a:gd name="connsiteY85" fmla="*/ 10371 h 3752637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74717 w 5080026"/>
              <a:gd name="connsiteY37" fmla="*/ 1644437 h 3752637"/>
              <a:gd name="connsiteX38" fmla="*/ 108584 w 5080026"/>
              <a:gd name="connsiteY38" fmla="*/ 2000037 h 3752637"/>
              <a:gd name="connsiteX39" fmla="*/ 49317 w 5080026"/>
              <a:gd name="connsiteY39" fmla="*/ 2626571 h 3752637"/>
              <a:gd name="connsiteX40" fmla="*/ 40850 w 5080026"/>
              <a:gd name="connsiteY40" fmla="*/ 2804371 h 3752637"/>
              <a:gd name="connsiteX41" fmla="*/ 32384 w 5080026"/>
              <a:gd name="connsiteY41" fmla="*/ 2922904 h 3752637"/>
              <a:gd name="connsiteX42" fmla="*/ 100117 w 5080026"/>
              <a:gd name="connsiteY42" fmla="*/ 3100704 h 3752637"/>
              <a:gd name="connsiteX43" fmla="*/ 133984 w 5080026"/>
              <a:gd name="connsiteY43" fmla="*/ 3143037 h 3752637"/>
              <a:gd name="connsiteX44" fmla="*/ 286384 w 5080026"/>
              <a:gd name="connsiteY44" fmla="*/ 3397037 h 3752637"/>
              <a:gd name="connsiteX45" fmla="*/ 362584 w 5080026"/>
              <a:gd name="connsiteY45" fmla="*/ 3507104 h 3752637"/>
              <a:gd name="connsiteX46" fmla="*/ 455717 w 5080026"/>
              <a:gd name="connsiteY46" fmla="*/ 3557904 h 3752637"/>
              <a:gd name="connsiteX47" fmla="*/ 616584 w 5080026"/>
              <a:gd name="connsiteY47" fmla="*/ 3634104 h 3752637"/>
              <a:gd name="connsiteX48" fmla="*/ 929850 w 5080026"/>
              <a:gd name="connsiteY48" fmla="*/ 3718771 h 3752637"/>
              <a:gd name="connsiteX49" fmla="*/ 1073784 w 5080026"/>
              <a:gd name="connsiteY49" fmla="*/ 3744171 h 3752637"/>
              <a:gd name="connsiteX50" fmla="*/ 1361650 w 5080026"/>
              <a:gd name="connsiteY50" fmla="*/ 3752637 h 3752637"/>
              <a:gd name="connsiteX51" fmla="*/ 1649517 w 5080026"/>
              <a:gd name="connsiteY51" fmla="*/ 3693371 h 3752637"/>
              <a:gd name="connsiteX52" fmla="*/ 1886584 w 5080026"/>
              <a:gd name="connsiteY52" fmla="*/ 3481704 h 3752637"/>
              <a:gd name="connsiteX53" fmla="*/ 1945850 w 5080026"/>
              <a:gd name="connsiteY53" fmla="*/ 3397037 h 3752637"/>
              <a:gd name="connsiteX54" fmla="*/ 1996650 w 5080026"/>
              <a:gd name="connsiteY54" fmla="*/ 3337771 h 3752637"/>
              <a:gd name="connsiteX55" fmla="*/ 2318384 w 5080026"/>
              <a:gd name="connsiteY55" fmla="*/ 3185371 h 3752637"/>
              <a:gd name="connsiteX56" fmla="*/ 2394584 w 5080026"/>
              <a:gd name="connsiteY56" fmla="*/ 3143037 h 3752637"/>
              <a:gd name="connsiteX57" fmla="*/ 2944917 w 5080026"/>
              <a:gd name="connsiteY57" fmla="*/ 2855171 h 3752637"/>
              <a:gd name="connsiteX58" fmla="*/ 3376717 w 5080026"/>
              <a:gd name="connsiteY58" fmla="*/ 2829771 h 3752637"/>
              <a:gd name="connsiteX59" fmla="*/ 3469850 w 5080026"/>
              <a:gd name="connsiteY59" fmla="*/ 2804371 h 3752637"/>
              <a:gd name="connsiteX60" fmla="*/ 3529117 w 5080026"/>
              <a:gd name="connsiteY60" fmla="*/ 2795904 h 3752637"/>
              <a:gd name="connsiteX61" fmla="*/ 3639184 w 5080026"/>
              <a:gd name="connsiteY61" fmla="*/ 2770504 h 3752637"/>
              <a:gd name="connsiteX62" fmla="*/ 3757717 w 5080026"/>
              <a:gd name="connsiteY62" fmla="*/ 2736637 h 3752637"/>
              <a:gd name="connsiteX63" fmla="*/ 3986317 w 5080026"/>
              <a:gd name="connsiteY63" fmla="*/ 2694304 h 3752637"/>
              <a:gd name="connsiteX64" fmla="*/ 4485850 w 5080026"/>
              <a:gd name="connsiteY64" fmla="*/ 2677371 h 3752637"/>
              <a:gd name="connsiteX65" fmla="*/ 4604384 w 5080026"/>
              <a:gd name="connsiteY65" fmla="*/ 2643504 h 3752637"/>
              <a:gd name="connsiteX66" fmla="*/ 4672117 w 5080026"/>
              <a:gd name="connsiteY66" fmla="*/ 2592704 h 3752637"/>
              <a:gd name="connsiteX67" fmla="*/ 4790650 w 5080026"/>
              <a:gd name="connsiteY67" fmla="*/ 2508037 h 3752637"/>
              <a:gd name="connsiteX68" fmla="*/ 4892250 w 5080026"/>
              <a:gd name="connsiteY68" fmla="*/ 2406437 h 3752637"/>
              <a:gd name="connsiteX69" fmla="*/ 5002317 w 5080026"/>
              <a:gd name="connsiteY69" fmla="*/ 2203237 h 3752637"/>
              <a:gd name="connsiteX70" fmla="*/ 5044650 w 5080026"/>
              <a:gd name="connsiteY70" fmla="*/ 2118571 h 3752637"/>
              <a:gd name="connsiteX71" fmla="*/ 5070050 w 5080026"/>
              <a:gd name="connsiteY71" fmla="*/ 2025437 h 3752637"/>
              <a:gd name="connsiteX72" fmla="*/ 5070050 w 5080026"/>
              <a:gd name="connsiteY72" fmla="*/ 1771437 h 3752637"/>
              <a:gd name="connsiteX73" fmla="*/ 5019250 w 5080026"/>
              <a:gd name="connsiteY73" fmla="*/ 1500504 h 3752637"/>
              <a:gd name="connsiteX74" fmla="*/ 4621317 w 5080026"/>
              <a:gd name="connsiteY74" fmla="*/ 1000971 h 3752637"/>
              <a:gd name="connsiteX75" fmla="*/ 4511250 w 5080026"/>
              <a:gd name="connsiteY75" fmla="*/ 907837 h 3752637"/>
              <a:gd name="connsiteX76" fmla="*/ 4274184 w 5080026"/>
              <a:gd name="connsiteY76" fmla="*/ 797771 h 3752637"/>
              <a:gd name="connsiteX77" fmla="*/ 4147184 w 5080026"/>
              <a:gd name="connsiteY77" fmla="*/ 713104 h 3752637"/>
              <a:gd name="connsiteX78" fmla="*/ 4062517 w 5080026"/>
              <a:gd name="connsiteY78" fmla="*/ 662304 h 3752637"/>
              <a:gd name="connsiteX79" fmla="*/ 3977850 w 5080026"/>
              <a:gd name="connsiteY79" fmla="*/ 586104 h 3752637"/>
              <a:gd name="connsiteX80" fmla="*/ 3867784 w 5080026"/>
              <a:gd name="connsiteY80" fmla="*/ 509904 h 3752637"/>
              <a:gd name="connsiteX81" fmla="*/ 3588384 w 5080026"/>
              <a:gd name="connsiteY81" fmla="*/ 382904 h 3752637"/>
              <a:gd name="connsiteX82" fmla="*/ 3300517 w 5080026"/>
              <a:gd name="connsiteY82" fmla="*/ 238971 h 3752637"/>
              <a:gd name="connsiteX83" fmla="*/ 2902584 w 5080026"/>
              <a:gd name="connsiteY83" fmla="*/ 103504 h 3752637"/>
              <a:gd name="connsiteX84" fmla="*/ 2623184 w 5080026"/>
              <a:gd name="connsiteY84" fmla="*/ 10371 h 3752637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74717 w 5080026"/>
              <a:gd name="connsiteY37" fmla="*/ 1644437 h 3752637"/>
              <a:gd name="connsiteX38" fmla="*/ 108584 w 5080026"/>
              <a:gd name="connsiteY38" fmla="*/ 2000037 h 3752637"/>
              <a:gd name="connsiteX39" fmla="*/ 49317 w 5080026"/>
              <a:gd name="connsiteY39" fmla="*/ 2626571 h 3752637"/>
              <a:gd name="connsiteX40" fmla="*/ 40850 w 5080026"/>
              <a:gd name="connsiteY40" fmla="*/ 2804371 h 3752637"/>
              <a:gd name="connsiteX41" fmla="*/ 32384 w 5080026"/>
              <a:gd name="connsiteY41" fmla="*/ 2922904 h 3752637"/>
              <a:gd name="connsiteX42" fmla="*/ 100117 w 5080026"/>
              <a:gd name="connsiteY42" fmla="*/ 3100704 h 3752637"/>
              <a:gd name="connsiteX43" fmla="*/ 133984 w 5080026"/>
              <a:gd name="connsiteY43" fmla="*/ 3143037 h 3752637"/>
              <a:gd name="connsiteX44" fmla="*/ 286384 w 5080026"/>
              <a:gd name="connsiteY44" fmla="*/ 3397037 h 3752637"/>
              <a:gd name="connsiteX45" fmla="*/ 362584 w 5080026"/>
              <a:gd name="connsiteY45" fmla="*/ 3507104 h 3752637"/>
              <a:gd name="connsiteX46" fmla="*/ 455717 w 5080026"/>
              <a:gd name="connsiteY46" fmla="*/ 3557904 h 3752637"/>
              <a:gd name="connsiteX47" fmla="*/ 616584 w 5080026"/>
              <a:gd name="connsiteY47" fmla="*/ 3634104 h 3752637"/>
              <a:gd name="connsiteX48" fmla="*/ 929850 w 5080026"/>
              <a:gd name="connsiteY48" fmla="*/ 3718771 h 3752637"/>
              <a:gd name="connsiteX49" fmla="*/ 1073784 w 5080026"/>
              <a:gd name="connsiteY49" fmla="*/ 3744171 h 3752637"/>
              <a:gd name="connsiteX50" fmla="*/ 1361650 w 5080026"/>
              <a:gd name="connsiteY50" fmla="*/ 3752637 h 3752637"/>
              <a:gd name="connsiteX51" fmla="*/ 1649517 w 5080026"/>
              <a:gd name="connsiteY51" fmla="*/ 3693371 h 3752637"/>
              <a:gd name="connsiteX52" fmla="*/ 1886584 w 5080026"/>
              <a:gd name="connsiteY52" fmla="*/ 3481704 h 3752637"/>
              <a:gd name="connsiteX53" fmla="*/ 1945850 w 5080026"/>
              <a:gd name="connsiteY53" fmla="*/ 3397037 h 3752637"/>
              <a:gd name="connsiteX54" fmla="*/ 1996650 w 5080026"/>
              <a:gd name="connsiteY54" fmla="*/ 3337771 h 3752637"/>
              <a:gd name="connsiteX55" fmla="*/ 2318384 w 5080026"/>
              <a:gd name="connsiteY55" fmla="*/ 3185371 h 3752637"/>
              <a:gd name="connsiteX56" fmla="*/ 2394584 w 5080026"/>
              <a:gd name="connsiteY56" fmla="*/ 3143037 h 3752637"/>
              <a:gd name="connsiteX57" fmla="*/ 2944917 w 5080026"/>
              <a:gd name="connsiteY57" fmla="*/ 2855171 h 3752637"/>
              <a:gd name="connsiteX58" fmla="*/ 3376717 w 5080026"/>
              <a:gd name="connsiteY58" fmla="*/ 2829771 h 3752637"/>
              <a:gd name="connsiteX59" fmla="*/ 3469850 w 5080026"/>
              <a:gd name="connsiteY59" fmla="*/ 2804371 h 3752637"/>
              <a:gd name="connsiteX60" fmla="*/ 3529117 w 5080026"/>
              <a:gd name="connsiteY60" fmla="*/ 2795904 h 3752637"/>
              <a:gd name="connsiteX61" fmla="*/ 3639184 w 5080026"/>
              <a:gd name="connsiteY61" fmla="*/ 2770504 h 3752637"/>
              <a:gd name="connsiteX62" fmla="*/ 3757717 w 5080026"/>
              <a:gd name="connsiteY62" fmla="*/ 2736637 h 3752637"/>
              <a:gd name="connsiteX63" fmla="*/ 3986317 w 5080026"/>
              <a:gd name="connsiteY63" fmla="*/ 2694304 h 3752637"/>
              <a:gd name="connsiteX64" fmla="*/ 4485850 w 5080026"/>
              <a:gd name="connsiteY64" fmla="*/ 2677371 h 3752637"/>
              <a:gd name="connsiteX65" fmla="*/ 4604384 w 5080026"/>
              <a:gd name="connsiteY65" fmla="*/ 2643504 h 3752637"/>
              <a:gd name="connsiteX66" fmla="*/ 4672117 w 5080026"/>
              <a:gd name="connsiteY66" fmla="*/ 2592704 h 3752637"/>
              <a:gd name="connsiteX67" fmla="*/ 4790650 w 5080026"/>
              <a:gd name="connsiteY67" fmla="*/ 2508037 h 3752637"/>
              <a:gd name="connsiteX68" fmla="*/ 4892250 w 5080026"/>
              <a:gd name="connsiteY68" fmla="*/ 2406437 h 3752637"/>
              <a:gd name="connsiteX69" fmla="*/ 5002317 w 5080026"/>
              <a:gd name="connsiteY69" fmla="*/ 2203237 h 3752637"/>
              <a:gd name="connsiteX70" fmla="*/ 5044650 w 5080026"/>
              <a:gd name="connsiteY70" fmla="*/ 2118571 h 3752637"/>
              <a:gd name="connsiteX71" fmla="*/ 5070050 w 5080026"/>
              <a:gd name="connsiteY71" fmla="*/ 2025437 h 3752637"/>
              <a:gd name="connsiteX72" fmla="*/ 5070050 w 5080026"/>
              <a:gd name="connsiteY72" fmla="*/ 1771437 h 3752637"/>
              <a:gd name="connsiteX73" fmla="*/ 5019250 w 5080026"/>
              <a:gd name="connsiteY73" fmla="*/ 1500504 h 3752637"/>
              <a:gd name="connsiteX74" fmla="*/ 4621317 w 5080026"/>
              <a:gd name="connsiteY74" fmla="*/ 1000971 h 3752637"/>
              <a:gd name="connsiteX75" fmla="*/ 4511250 w 5080026"/>
              <a:gd name="connsiteY75" fmla="*/ 907837 h 3752637"/>
              <a:gd name="connsiteX76" fmla="*/ 4147184 w 5080026"/>
              <a:gd name="connsiteY76" fmla="*/ 713104 h 3752637"/>
              <a:gd name="connsiteX77" fmla="*/ 4062517 w 5080026"/>
              <a:gd name="connsiteY77" fmla="*/ 662304 h 3752637"/>
              <a:gd name="connsiteX78" fmla="*/ 3977850 w 5080026"/>
              <a:gd name="connsiteY78" fmla="*/ 586104 h 3752637"/>
              <a:gd name="connsiteX79" fmla="*/ 3867784 w 5080026"/>
              <a:gd name="connsiteY79" fmla="*/ 509904 h 3752637"/>
              <a:gd name="connsiteX80" fmla="*/ 3588384 w 5080026"/>
              <a:gd name="connsiteY80" fmla="*/ 382904 h 3752637"/>
              <a:gd name="connsiteX81" fmla="*/ 3300517 w 5080026"/>
              <a:gd name="connsiteY81" fmla="*/ 238971 h 3752637"/>
              <a:gd name="connsiteX82" fmla="*/ 2902584 w 5080026"/>
              <a:gd name="connsiteY82" fmla="*/ 103504 h 3752637"/>
              <a:gd name="connsiteX83" fmla="*/ 2623184 w 5080026"/>
              <a:gd name="connsiteY83" fmla="*/ 10371 h 3752637"/>
              <a:gd name="connsiteX0" fmla="*/ 2623184 w 5080026"/>
              <a:gd name="connsiteY0" fmla="*/ 10371 h 3752637"/>
              <a:gd name="connsiteX1" fmla="*/ 2546984 w 5080026"/>
              <a:gd name="connsiteY1" fmla="*/ 1904 h 3752637"/>
              <a:gd name="connsiteX2" fmla="*/ 2377650 w 5080026"/>
              <a:gd name="connsiteY2" fmla="*/ 35771 h 3752637"/>
              <a:gd name="connsiteX3" fmla="*/ 2326850 w 5080026"/>
              <a:gd name="connsiteY3" fmla="*/ 69637 h 3752637"/>
              <a:gd name="connsiteX4" fmla="*/ 2276050 w 5080026"/>
              <a:gd name="connsiteY4" fmla="*/ 86571 h 3752637"/>
              <a:gd name="connsiteX5" fmla="*/ 2233717 w 5080026"/>
              <a:gd name="connsiteY5" fmla="*/ 103504 h 3752637"/>
              <a:gd name="connsiteX6" fmla="*/ 2191384 w 5080026"/>
              <a:gd name="connsiteY6" fmla="*/ 128904 h 3752637"/>
              <a:gd name="connsiteX7" fmla="*/ 2157517 w 5080026"/>
              <a:gd name="connsiteY7" fmla="*/ 154304 h 3752637"/>
              <a:gd name="connsiteX8" fmla="*/ 2038984 w 5080026"/>
              <a:gd name="connsiteY8" fmla="*/ 196637 h 3752637"/>
              <a:gd name="connsiteX9" fmla="*/ 1979717 w 5080026"/>
              <a:gd name="connsiteY9" fmla="*/ 213571 h 3752637"/>
              <a:gd name="connsiteX10" fmla="*/ 1886584 w 5080026"/>
              <a:gd name="connsiteY10" fmla="*/ 230504 h 3752637"/>
              <a:gd name="connsiteX11" fmla="*/ 1751117 w 5080026"/>
              <a:gd name="connsiteY11" fmla="*/ 281304 h 3752637"/>
              <a:gd name="connsiteX12" fmla="*/ 1708784 w 5080026"/>
              <a:gd name="connsiteY12" fmla="*/ 298237 h 3752637"/>
              <a:gd name="connsiteX13" fmla="*/ 1674917 w 5080026"/>
              <a:gd name="connsiteY13" fmla="*/ 306704 h 3752637"/>
              <a:gd name="connsiteX14" fmla="*/ 1641050 w 5080026"/>
              <a:gd name="connsiteY14" fmla="*/ 323637 h 3752637"/>
              <a:gd name="connsiteX15" fmla="*/ 1514050 w 5080026"/>
              <a:gd name="connsiteY15" fmla="*/ 357504 h 3752637"/>
              <a:gd name="connsiteX16" fmla="*/ 1429384 w 5080026"/>
              <a:gd name="connsiteY16" fmla="*/ 382904 h 3752637"/>
              <a:gd name="connsiteX17" fmla="*/ 1251584 w 5080026"/>
              <a:gd name="connsiteY17" fmla="*/ 459104 h 3752637"/>
              <a:gd name="connsiteX18" fmla="*/ 1200784 w 5080026"/>
              <a:gd name="connsiteY18" fmla="*/ 476037 h 3752637"/>
              <a:gd name="connsiteX19" fmla="*/ 1124584 w 5080026"/>
              <a:gd name="connsiteY19" fmla="*/ 518371 h 3752637"/>
              <a:gd name="connsiteX20" fmla="*/ 1090717 w 5080026"/>
              <a:gd name="connsiteY20" fmla="*/ 526837 h 3752637"/>
              <a:gd name="connsiteX21" fmla="*/ 1048384 w 5080026"/>
              <a:gd name="connsiteY21" fmla="*/ 543771 h 3752637"/>
              <a:gd name="connsiteX22" fmla="*/ 955250 w 5080026"/>
              <a:gd name="connsiteY22" fmla="*/ 560704 h 3752637"/>
              <a:gd name="connsiteX23" fmla="*/ 921384 w 5080026"/>
              <a:gd name="connsiteY23" fmla="*/ 577637 h 3752637"/>
              <a:gd name="connsiteX24" fmla="*/ 870584 w 5080026"/>
              <a:gd name="connsiteY24" fmla="*/ 594571 h 3752637"/>
              <a:gd name="connsiteX25" fmla="*/ 794384 w 5080026"/>
              <a:gd name="connsiteY25" fmla="*/ 636904 h 3752637"/>
              <a:gd name="connsiteX26" fmla="*/ 743584 w 5080026"/>
              <a:gd name="connsiteY26" fmla="*/ 679237 h 3752637"/>
              <a:gd name="connsiteX27" fmla="*/ 667384 w 5080026"/>
              <a:gd name="connsiteY27" fmla="*/ 721571 h 3752637"/>
              <a:gd name="connsiteX28" fmla="*/ 608117 w 5080026"/>
              <a:gd name="connsiteY28" fmla="*/ 789304 h 3752637"/>
              <a:gd name="connsiteX29" fmla="*/ 514984 w 5080026"/>
              <a:gd name="connsiteY29" fmla="*/ 857037 h 3752637"/>
              <a:gd name="connsiteX30" fmla="*/ 481117 w 5080026"/>
              <a:gd name="connsiteY30" fmla="*/ 882437 h 3752637"/>
              <a:gd name="connsiteX31" fmla="*/ 421850 w 5080026"/>
              <a:gd name="connsiteY31" fmla="*/ 907837 h 3752637"/>
              <a:gd name="connsiteX32" fmla="*/ 396450 w 5080026"/>
              <a:gd name="connsiteY32" fmla="*/ 933237 h 3752637"/>
              <a:gd name="connsiteX33" fmla="*/ 371050 w 5080026"/>
              <a:gd name="connsiteY33" fmla="*/ 967104 h 3752637"/>
              <a:gd name="connsiteX34" fmla="*/ 337184 w 5080026"/>
              <a:gd name="connsiteY34" fmla="*/ 992504 h 3752637"/>
              <a:gd name="connsiteX35" fmla="*/ 303317 w 5080026"/>
              <a:gd name="connsiteY35" fmla="*/ 1094104 h 3752637"/>
              <a:gd name="connsiteX36" fmla="*/ 117050 w 5080026"/>
              <a:gd name="connsiteY36" fmla="*/ 1517437 h 3752637"/>
              <a:gd name="connsiteX37" fmla="*/ 108584 w 5080026"/>
              <a:gd name="connsiteY37" fmla="*/ 2000037 h 3752637"/>
              <a:gd name="connsiteX38" fmla="*/ 49317 w 5080026"/>
              <a:gd name="connsiteY38" fmla="*/ 2626571 h 3752637"/>
              <a:gd name="connsiteX39" fmla="*/ 40850 w 5080026"/>
              <a:gd name="connsiteY39" fmla="*/ 2804371 h 3752637"/>
              <a:gd name="connsiteX40" fmla="*/ 32384 w 5080026"/>
              <a:gd name="connsiteY40" fmla="*/ 2922904 h 3752637"/>
              <a:gd name="connsiteX41" fmla="*/ 100117 w 5080026"/>
              <a:gd name="connsiteY41" fmla="*/ 3100704 h 3752637"/>
              <a:gd name="connsiteX42" fmla="*/ 133984 w 5080026"/>
              <a:gd name="connsiteY42" fmla="*/ 3143037 h 3752637"/>
              <a:gd name="connsiteX43" fmla="*/ 286384 w 5080026"/>
              <a:gd name="connsiteY43" fmla="*/ 3397037 h 3752637"/>
              <a:gd name="connsiteX44" fmla="*/ 362584 w 5080026"/>
              <a:gd name="connsiteY44" fmla="*/ 3507104 h 3752637"/>
              <a:gd name="connsiteX45" fmla="*/ 455717 w 5080026"/>
              <a:gd name="connsiteY45" fmla="*/ 3557904 h 3752637"/>
              <a:gd name="connsiteX46" fmla="*/ 616584 w 5080026"/>
              <a:gd name="connsiteY46" fmla="*/ 3634104 h 3752637"/>
              <a:gd name="connsiteX47" fmla="*/ 929850 w 5080026"/>
              <a:gd name="connsiteY47" fmla="*/ 3718771 h 3752637"/>
              <a:gd name="connsiteX48" fmla="*/ 1073784 w 5080026"/>
              <a:gd name="connsiteY48" fmla="*/ 3744171 h 3752637"/>
              <a:gd name="connsiteX49" fmla="*/ 1361650 w 5080026"/>
              <a:gd name="connsiteY49" fmla="*/ 3752637 h 3752637"/>
              <a:gd name="connsiteX50" fmla="*/ 1649517 w 5080026"/>
              <a:gd name="connsiteY50" fmla="*/ 3693371 h 3752637"/>
              <a:gd name="connsiteX51" fmla="*/ 1886584 w 5080026"/>
              <a:gd name="connsiteY51" fmla="*/ 3481704 h 3752637"/>
              <a:gd name="connsiteX52" fmla="*/ 1945850 w 5080026"/>
              <a:gd name="connsiteY52" fmla="*/ 3397037 h 3752637"/>
              <a:gd name="connsiteX53" fmla="*/ 1996650 w 5080026"/>
              <a:gd name="connsiteY53" fmla="*/ 3337771 h 3752637"/>
              <a:gd name="connsiteX54" fmla="*/ 2318384 w 5080026"/>
              <a:gd name="connsiteY54" fmla="*/ 3185371 h 3752637"/>
              <a:gd name="connsiteX55" fmla="*/ 2394584 w 5080026"/>
              <a:gd name="connsiteY55" fmla="*/ 3143037 h 3752637"/>
              <a:gd name="connsiteX56" fmla="*/ 2944917 w 5080026"/>
              <a:gd name="connsiteY56" fmla="*/ 2855171 h 3752637"/>
              <a:gd name="connsiteX57" fmla="*/ 3376717 w 5080026"/>
              <a:gd name="connsiteY57" fmla="*/ 2829771 h 3752637"/>
              <a:gd name="connsiteX58" fmla="*/ 3469850 w 5080026"/>
              <a:gd name="connsiteY58" fmla="*/ 2804371 h 3752637"/>
              <a:gd name="connsiteX59" fmla="*/ 3529117 w 5080026"/>
              <a:gd name="connsiteY59" fmla="*/ 2795904 h 3752637"/>
              <a:gd name="connsiteX60" fmla="*/ 3639184 w 5080026"/>
              <a:gd name="connsiteY60" fmla="*/ 2770504 h 3752637"/>
              <a:gd name="connsiteX61" fmla="*/ 3757717 w 5080026"/>
              <a:gd name="connsiteY61" fmla="*/ 2736637 h 3752637"/>
              <a:gd name="connsiteX62" fmla="*/ 3986317 w 5080026"/>
              <a:gd name="connsiteY62" fmla="*/ 2694304 h 3752637"/>
              <a:gd name="connsiteX63" fmla="*/ 4485850 w 5080026"/>
              <a:gd name="connsiteY63" fmla="*/ 2677371 h 3752637"/>
              <a:gd name="connsiteX64" fmla="*/ 4604384 w 5080026"/>
              <a:gd name="connsiteY64" fmla="*/ 2643504 h 3752637"/>
              <a:gd name="connsiteX65" fmla="*/ 4672117 w 5080026"/>
              <a:gd name="connsiteY65" fmla="*/ 2592704 h 3752637"/>
              <a:gd name="connsiteX66" fmla="*/ 4790650 w 5080026"/>
              <a:gd name="connsiteY66" fmla="*/ 2508037 h 3752637"/>
              <a:gd name="connsiteX67" fmla="*/ 4892250 w 5080026"/>
              <a:gd name="connsiteY67" fmla="*/ 2406437 h 3752637"/>
              <a:gd name="connsiteX68" fmla="*/ 5002317 w 5080026"/>
              <a:gd name="connsiteY68" fmla="*/ 2203237 h 3752637"/>
              <a:gd name="connsiteX69" fmla="*/ 5044650 w 5080026"/>
              <a:gd name="connsiteY69" fmla="*/ 2118571 h 3752637"/>
              <a:gd name="connsiteX70" fmla="*/ 5070050 w 5080026"/>
              <a:gd name="connsiteY70" fmla="*/ 2025437 h 3752637"/>
              <a:gd name="connsiteX71" fmla="*/ 5070050 w 5080026"/>
              <a:gd name="connsiteY71" fmla="*/ 1771437 h 3752637"/>
              <a:gd name="connsiteX72" fmla="*/ 5019250 w 5080026"/>
              <a:gd name="connsiteY72" fmla="*/ 1500504 h 3752637"/>
              <a:gd name="connsiteX73" fmla="*/ 4621317 w 5080026"/>
              <a:gd name="connsiteY73" fmla="*/ 1000971 h 3752637"/>
              <a:gd name="connsiteX74" fmla="*/ 4511250 w 5080026"/>
              <a:gd name="connsiteY74" fmla="*/ 907837 h 3752637"/>
              <a:gd name="connsiteX75" fmla="*/ 4147184 w 5080026"/>
              <a:gd name="connsiteY75" fmla="*/ 713104 h 3752637"/>
              <a:gd name="connsiteX76" fmla="*/ 4062517 w 5080026"/>
              <a:gd name="connsiteY76" fmla="*/ 662304 h 3752637"/>
              <a:gd name="connsiteX77" fmla="*/ 3977850 w 5080026"/>
              <a:gd name="connsiteY77" fmla="*/ 586104 h 3752637"/>
              <a:gd name="connsiteX78" fmla="*/ 3867784 w 5080026"/>
              <a:gd name="connsiteY78" fmla="*/ 509904 h 3752637"/>
              <a:gd name="connsiteX79" fmla="*/ 3588384 w 5080026"/>
              <a:gd name="connsiteY79" fmla="*/ 382904 h 3752637"/>
              <a:gd name="connsiteX80" fmla="*/ 3300517 w 5080026"/>
              <a:gd name="connsiteY80" fmla="*/ 238971 h 3752637"/>
              <a:gd name="connsiteX81" fmla="*/ 2902584 w 5080026"/>
              <a:gd name="connsiteY81" fmla="*/ 103504 h 3752637"/>
              <a:gd name="connsiteX82" fmla="*/ 2623184 w 5080026"/>
              <a:gd name="connsiteY82" fmla="*/ 10371 h 3752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5080026" h="3752637">
                <a:moveTo>
                  <a:pt x="2623184" y="10371"/>
                </a:moveTo>
                <a:cubicBezTo>
                  <a:pt x="2592140" y="493"/>
                  <a:pt x="2587906" y="-2329"/>
                  <a:pt x="2546984" y="1904"/>
                </a:cubicBezTo>
                <a:cubicBezTo>
                  <a:pt x="2514638" y="6880"/>
                  <a:pt x="2418351" y="16986"/>
                  <a:pt x="2377650" y="35771"/>
                </a:cubicBezTo>
                <a:cubicBezTo>
                  <a:pt x="2359172" y="44299"/>
                  <a:pt x="2345053" y="60536"/>
                  <a:pt x="2326850" y="69637"/>
                </a:cubicBezTo>
                <a:cubicBezTo>
                  <a:pt x="2310885" y="77619"/>
                  <a:pt x="2292825" y="80471"/>
                  <a:pt x="2276050" y="86571"/>
                </a:cubicBezTo>
                <a:cubicBezTo>
                  <a:pt x="2261767" y="91765"/>
                  <a:pt x="2247310" y="96707"/>
                  <a:pt x="2233717" y="103504"/>
                </a:cubicBezTo>
                <a:cubicBezTo>
                  <a:pt x="2218998" y="110863"/>
                  <a:pt x="2205076" y="119776"/>
                  <a:pt x="2191384" y="128904"/>
                </a:cubicBezTo>
                <a:cubicBezTo>
                  <a:pt x="2179643" y="136731"/>
                  <a:pt x="2170138" y="147993"/>
                  <a:pt x="2157517" y="154304"/>
                </a:cubicBezTo>
                <a:cubicBezTo>
                  <a:pt x="2087491" y="189317"/>
                  <a:pt x="2092598" y="182015"/>
                  <a:pt x="2038984" y="196637"/>
                </a:cubicBezTo>
                <a:cubicBezTo>
                  <a:pt x="2019162" y="202043"/>
                  <a:pt x="1999650" y="208588"/>
                  <a:pt x="1979717" y="213571"/>
                </a:cubicBezTo>
                <a:cubicBezTo>
                  <a:pt x="1956063" y="219484"/>
                  <a:pt x="1909214" y="226732"/>
                  <a:pt x="1886584" y="230504"/>
                </a:cubicBezTo>
                <a:cubicBezTo>
                  <a:pt x="1672353" y="316197"/>
                  <a:pt x="1897104" y="228219"/>
                  <a:pt x="1751117" y="281304"/>
                </a:cubicBezTo>
                <a:cubicBezTo>
                  <a:pt x="1736834" y="286498"/>
                  <a:pt x="1723202" y="293431"/>
                  <a:pt x="1708784" y="298237"/>
                </a:cubicBezTo>
                <a:cubicBezTo>
                  <a:pt x="1697745" y="301917"/>
                  <a:pt x="1685813" y="302618"/>
                  <a:pt x="1674917" y="306704"/>
                </a:cubicBezTo>
                <a:cubicBezTo>
                  <a:pt x="1663099" y="311136"/>
                  <a:pt x="1652912" y="319324"/>
                  <a:pt x="1641050" y="323637"/>
                </a:cubicBezTo>
                <a:cubicBezTo>
                  <a:pt x="1593289" y="341005"/>
                  <a:pt x="1563337" y="342339"/>
                  <a:pt x="1514050" y="357504"/>
                </a:cubicBezTo>
                <a:cubicBezTo>
                  <a:pt x="1410609" y="389331"/>
                  <a:pt x="1531829" y="362414"/>
                  <a:pt x="1429384" y="382904"/>
                </a:cubicBezTo>
                <a:cubicBezTo>
                  <a:pt x="1370117" y="408304"/>
                  <a:pt x="1312755" y="438714"/>
                  <a:pt x="1251584" y="459104"/>
                </a:cubicBezTo>
                <a:cubicBezTo>
                  <a:pt x="1234651" y="464748"/>
                  <a:pt x="1217033" y="468651"/>
                  <a:pt x="1200784" y="476037"/>
                </a:cubicBezTo>
                <a:cubicBezTo>
                  <a:pt x="1149998" y="499121"/>
                  <a:pt x="1171351" y="500833"/>
                  <a:pt x="1124584" y="518371"/>
                </a:cubicBezTo>
                <a:cubicBezTo>
                  <a:pt x="1113689" y="522457"/>
                  <a:pt x="1101756" y="523157"/>
                  <a:pt x="1090717" y="526837"/>
                </a:cubicBezTo>
                <a:cubicBezTo>
                  <a:pt x="1076299" y="531643"/>
                  <a:pt x="1062941" y="539404"/>
                  <a:pt x="1048384" y="543771"/>
                </a:cubicBezTo>
                <a:cubicBezTo>
                  <a:pt x="1033603" y="548205"/>
                  <a:pt x="967296" y="558696"/>
                  <a:pt x="955250" y="560704"/>
                </a:cubicBezTo>
                <a:cubicBezTo>
                  <a:pt x="943961" y="566348"/>
                  <a:pt x="933102" y="572950"/>
                  <a:pt x="921384" y="577637"/>
                </a:cubicBezTo>
                <a:cubicBezTo>
                  <a:pt x="904811" y="584266"/>
                  <a:pt x="885436" y="584670"/>
                  <a:pt x="870584" y="594571"/>
                </a:cubicBezTo>
                <a:cubicBezTo>
                  <a:pt x="812358" y="633387"/>
                  <a:pt x="839091" y="622001"/>
                  <a:pt x="794384" y="636904"/>
                </a:cubicBezTo>
                <a:cubicBezTo>
                  <a:pt x="771034" y="660254"/>
                  <a:pt x="771090" y="663519"/>
                  <a:pt x="743584" y="679237"/>
                </a:cubicBezTo>
                <a:cubicBezTo>
                  <a:pt x="713306" y="696539"/>
                  <a:pt x="696670" y="698793"/>
                  <a:pt x="667384" y="721571"/>
                </a:cubicBezTo>
                <a:cubicBezTo>
                  <a:pt x="569883" y="797404"/>
                  <a:pt x="690522" y="714390"/>
                  <a:pt x="608117" y="789304"/>
                </a:cubicBezTo>
                <a:cubicBezTo>
                  <a:pt x="561062" y="832081"/>
                  <a:pt x="553476" y="829543"/>
                  <a:pt x="514984" y="857037"/>
                </a:cubicBezTo>
                <a:cubicBezTo>
                  <a:pt x="503501" y="865239"/>
                  <a:pt x="493083" y="874958"/>
                  <a:pt x="481117" y="882437"/>
                </a:cubicBezTo>
                <a:cubicBezTo>
                  <a:pt x="457200" y="897385"/>
                  <a:pt x="446544" y="899606"/>
                  <a:pt x="421850" y="907837"/>
                </a:cubicBezTo>
                <a:cubicBezTo>
                  <a:pt x="413383" y="916304"/>
                  <a:pt x="404242" y="924146"/>
                  <a:pt x="396450" y="933237"/>
                </a:cubicBezTo>
                <a:cubicBezTo>
                  <a:pt x="387267" y="943951"/>
                  <a:pt x="381028" y="957126"/>
                  <a:pt x="371050" y="967104"/>
                </a:cubicBezTo>
                <a:cubicBezTo>
                  <a:pt x="361072" y="977082"/>
                  <a:pt x="348473" y="984037"/>
                  <a:pt x="337184" y="992504"/>
                </a:cubicBezTo>
                <a:cubicBezTo>
                  <a:pt x="313456" y="1039958"/>
                  <a:pt x="340006" y="1006615"/>
                  <a:pt x="303317" y="1094104"/>
                </a:cubicBezTo>
                <a:cubicBezTo>
                  <a:pt x="266628" y="1181593"/>
                  <a:pt x="149505" y="1366448"/>
                  <a:pt x="117050" y="1517437"/>
                </a:cubicBezTo>
                <a:cubicBezTo>
                  <a:pt x="84595" y="1668426"/>
                  <a:pt x="119873" y="1815181"/>
                  <a:pt x="108584" y="2000037"/>
                </a:cubicBezTo>
                <a:cubicBezTo>
                  <a:pt x="97295" y="2184893"/>
                  <a:pt x="60606" y="2492515"/>
                  <a:pt x="49317" y="2626571"/>
                </a:cubicBezTo>
                <a:cubicBezTo>
                  <a:pt x="46495" y="2685838"/>
                  <a:pt x="48209" y="2745495"/>
                  <a:pt x="40850" y="2804371"/>
                </a:cubicBezTo>
                <a:cubicBezTo>
                  <a:pt x="26631" y="2918122"/>
                  <a:pt x="-38289" y="2628435"/>
                  <a:pt x="32384" y="2922904"/>
                </a:cubicBezTo>
                <a:cubicBezTo>
                  <a:pt x="33667" y="2928249"/>
                  <a:pt x="82923" y="3071229"/>
                  <a:pt x="100117" y="3100704"/>
                </a:cubicBezTo>
                <a:cubicBezTo>
                  <a:pt x="109223" y="3116313"/>
                  <a:pt x="124406" y="3127713"/>
                  <a:pt x="133984" y="3143037"/>
                </a:cubicBezTo>
                <a:cubicBezTo>
                  <a:pt x="209672" y="3264137"/>
                  <a:pt x="215161" y="3294160"/>
                  <a:pt x="286384" y="3397037"/>
                </a:cubicBezTo>
                <a:cubicBezTo>
                  <a:pt x="311784" y="3433726"/>
                  <a:pt x="326886" y="3480330"/>
                  <a:pt x="362584" y="3507104"/>
                </a:cubicBezTo>
                <a:cubicBezTo>
                  <a:pt x="419065" y="3549465"/>
                  <a:pt x="375225" y="3520754"/>
                  <a:pt x="455717" y="3557904"/>
                </a:cubicBezTo>
                <a:cubicBezTo>
                  <a:pt x="509590" y="3582768"/>
                  <a:pt x="561205" y="3612804"/>
                  <a:pt x="616584" y="3634104"/>
                </a:cubicBezTo>
                <a:cubicBezTo>
                  <a:pt x="691004" y="3662727"/>
                  <a:pt x="847423" y="3701801"/>
                  <a:pt x="929850" y="3718771"/>
                </a:cubicBezTo>
                <a:cubicBezTo>
                  <a:pt x="977568" y="3728595"/>
                  <a:pt x="1025214" y="3740362"/>
                  <a:pt x="1073784" y="3744171"/>
                </a:cubicBezTo>
                <a:cubicBezTo>
                  <a:pt x="1169487" y="3751677"/>
                  <a:pt x="1265695" y="3749815"/>
                  <a:pt x="1361650" y="3752637"/>
                </a:cubicBezTo>
                <a:cubicBezTo>
                  <a:pt x="1457606" y="3732882"/>
                  <a:pt x="1562460" y="3738303"/>
                  <a:pt x="1649517" y="3693371"/>
                </a:cubicBezTo>
                <a:cubicBezTo>
                  <a:pt x="1743655" y="3644784"/>
                  <a:pt x="1834026" y="3573684"/>
                  <a:pt x="1886584" y="3481704"/>
                </a:cubicBezTo>
                <a:cubicBezTo>
                  <a:pt x="2016465" y="3254406"/>
                  <a:pt x="1856960" y="3521479"/>
                  <a:pt x="1945850" y="3397037"/>
                </a:cubicBezTo>
                <a:cubicBezTo>
                  <a:pt x="1973666" y="3358095"/>
                  <a:pt x="1947576" y="3362308"/>
                  <a:pt x="1996650" y="3337771"/>
                </a:cubicBezTo>
                <a:cubicBezTo>
                  <a:pt x="2102790" y="3284701"/>
                  <a:pt x="2214650" y="3243002"/>
                  <a:pt x="2318384" y="3185371"/>
                </a:cubicBezTo>
                <a:cubicBezTo>
                  <a:pt x="2343784" y="3171260"/>
                  <a:pt x="2370517" y="3159318"/>
                  <a:pt x="2394584" y="3143037"/>
                </a:cubicBezTo>
                <a:cubicBezTo>
                  <a:pt x="2637032" y="2979027"/>
                  <a:pt x="2620468" y="2939810"/>
                  <a:pt x="2944917" y="2855171"/>
                </a:cubicBezTo>
                <a:cubicBezTo>
                  <a:pt x="2978491" y="2846412"/>
                  <a:pt x="3316053" y="2832528"/>
                  <a:pt x="3376717" y="2829771"/>
                </a:cubicBezTo>
                <a:cubicBezTo>
                  <a:pt x="3412138" y="2794348"/>
                  <a:pt x="3384380" y="2815054"/>
                  <a:pt x="3469850" y="2804371"/>
                </a:cubicBezTo>
                <a:cubicBezTo>
                  <a:pt x="3489652" y="2801896"/>
                  <a:pt x="3509361" y="2798726"/>
                  <a:pt x="3529117" y="2795904"/>
                </a:cubicBezTo>
                <a:cubicBezTo>
                  <a:pt x="3667670" y="2749721"/>
                  <a:pt x="3485303" y="2807143"/>
                  <a:pt x="3639184" y="2770504"/>
                </a:cubicBezTo>
                <a:cubicBezTo>
                  <a:pt x="3679159" y="2760986"/>
                  <a:pt x="3717852" y="2746603"/>
                  <a:pt x="3757717" y="2736637"/>
                </a:cubicBezTo>
                <a:cubicBezTo>
                  <a:pt x="3801569" y="2725674"/>
                  <a:pt x="3938261" y="2696974"/>
                  <a:pt x="3986317" y="2694304"/>
                </a:cubicBezTo>
                <a:cubicBezTo>
                  <a:pt x="4152667" y="2685063"/>
                  <a:pt x="4485850" y="2677371"/>
                  <a:pt x="4485850" y="2677371"/>
                </a:cubicBezTo>
                <a:cubicBezTo>
                  <a:pt x="4527192" y="2670480"/>
                  <a:pt x="4568470" y="2667447"/>
                  <a:pt x="4604384" y="2643504"/>
                </a:cubicBezTo>
                <a:cubicBezTo>
                  <a:pt x="4627866" y="2627849"/>
                  <a:pt x="4648861" y="2608693"/>
                  <a:pt x="4672117" y="2592704"/>
                </a:cubicBezTo>
                <a:cubicBezTo>
                  <a:pt x="4742351" y="2544418"/>
                  <a:pt x="4732801" y="2562672"/>
                  <a:pt x="4790650" y="2508037"/>
                </a:cubicBezTo>
                <a:cubicBezTo>
                  <a:pt x="4825470" y="2475151"/>
                  <a:pt x="4869439" y="2448550"/>
                  <a:pt x="4892250" y="2406437"/>
                </a:cubicBezTo>
                <a:cubicBezTo>
                  <a:pt x="4928939" y="2338704"/>
                  <a:pt x="4966275" y="2271317"/>
                  <a:pt x="5002317" y="2203237"/>
                </a:cubicBezTo>
                <a:cubicBezTo>
                  <a:pt x="5017080" y="2175351"/>
                  <a:pt x="5036348" y="2149012"/>
                  <a:pt x="5044650" y="2118571"/>
                </a:cubicBezTo>
                <a:lnTo>
                  <a:pt x="5070050" y="2025437"/>
                </a:lnTo>
                <a:cubicBezTo>
                  <a:pt x="5079621" y="1920165"/>
                  <a:pt x="5086629" y="1892227"/>
                  <a:pt x="5070050" y="1771437"/>
                </a:cubicBezTo>
                <a:cubicBezTo>
                  <a:pt x="5057555" y="1680406"/>
                  <a:pt x="5094039" y="1628915"/>
                  <a:pt x="5019250" y="1500504"/>
                </a:cubicBezTo>
                <a:cubicBezTo>
                  <a:pt x="4944461" y="1372093"/>
                  <a:pt x="4705984" y="1099749"/>
                  <a:pt x="4621317" y="1000971"/>
                </a:cubicBezTo>
                <a:cubicBezTo>
                  <a:pt x="4536650" y="902193"/>
                  <a:pt x="4590272" y="955815"/>
                  <a:pt x="4511250" y="907837"/>
                </a:cubicBezTo>
                <a:cubicBezTo>
                  <a:pt x="4432228" y="859859"/>
                  <a:pt x="4221973" y="754026"/>
                  <a:pt x="4147184" y="713104"/>
                </a:cubicBezTo>
                <a:cubicBezTo>
                  <a:pt x="4072395" y="672182"/>
                  <a:pt x="4090739" y="683471"/>
                  <a:pt x="4062517" y="662304"/>
                </a:cubicBezTo>
                <a:cubicBezTo>
                  <a:pt x="4034295" y="641137"/>
                  <a:pt x="4010306" y="611504"/>
                  <a:pt x="3977850" y="586104"/>
                </a:cubicBezTo>
                <a:cubicBezTo>
                  <a:pt x="3945395" y="560704"/>
                  <a:pt x="3932695" y="543771"/>
                  <a:pt x="3867784" y="509904"/>
                </a:cubicBezTo>
                <a:cubicBezTo>
                  <a:pt x="3802873" y="476037"/>
                  <a:pt x="3682929" y="428060"/>
                  <a:pt x="3588384" y="382904"/>
                </a:cubicBezTo>
                <a:cubicBezTo>
                  <a:pt x="3493840" y="337749"/>
                  <a:pt x="3414817" y="285538"/>
                  <a:pt x="3300517" y="238971"/>
                </a:cubicBezTo>
                <a:cubicBezTo>
                  <a:pt x="3186217" y="192404"/>
                  <a:pt x="3015473" y="141604"/>
                  <a:pt x="2902584" y="103504"/>
                </a:cubicBezTo>
                <a:cubicBezTo>
                  <a:pt x="2789695" y="65404"/>
                  <a:pt x="2682451" y="27304"/>
                  <a:pt x="2623184" y="10371"/>
                </a:cubicBezTo>
                <a:close/>
              </a:path>
            </a:pathLst>
          </a:custGeom>
          <a:solidFill>
            <a:schemeClr val="bg1"/>
          </a:solidFill>
          <a:ln w="28575">
            <a:solidFill>
              <a:schemeClr val="accent2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6157869-ED3F-6EA8-1ED4-218A794B3AA0}"/>
              </a:ext>
            </a:extLst>
          </p:cNvPr>
          <p:cNvSpPr/>
          <p:nvPr/>
        </p:nvSpPr>
        <p:spPr>
          <a:xfrm rot="5400000">
            <a:off x="2589315" y="1054984"/>
            <a:ext cx="4992894" cy="6124061"/>
          </a:xfrm>
          <a:custGeom>
            <a:avLst/>
            <a:gdLst>
              <a:gd name="csX0" fmla="*/ 0 w 4992894"/>
              <a:gd name="csY0" fmla="*/ 3062031 h 6124061"/>
              <a:gd name="csX1" fmla="*/ 2496447 w 4992894"/>
              <a:gd name="csY1" fmla="*/ 0 h 6124061"/>
              <a:gd name="csX2" fmla="*/ 4992894 w 4992894"/>
              <a:gd name="csY2" fmla="*/ 3062031 h 6124061"/>
              <a:gd name="csX3" fmla="*/ 2496447 w 4992894"/>
              <a:gd name="csY3" fmla="*/ 6124062 h 6124061"/>
              <a:gd name="csX4" fmla="*/ 0 w 4992894"/>
              <a:gd name="csY4" fmla="*/ 3062031 h 61240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992894" h="6124061" extrusionOk="0">
                <a:moveTo>
                  <a:pt x="0" y="3062031"/>
                </a:moveTo>
                <a:cubicBezTo>
                  <a:pt x="-24968" y="1469028"/>
                  <a:pt x="1278672" y="259492"/>
                  <a:pt x="2496447" y="0"/>
                </a:cubicBezTo>
                <a:cubicBezTo>
                  <a:pt x="3936751" y="76966"/>
                  <a:pt x="4678768" y="1537356"/>
                  <a:pt x="4992894" y="3062031"/>
                </a:cubicBezTo>
                <a:cubicBezTo>
                  <a:pt x="5039383" y="4813109"/>
                  <a:pt x="3884247" y="6047644"/>
                  <a:pt x="2496447" y="6124062"/>
                </a:cubicBezTo>
                <a:cubicBezTo>
                  <a:pt x="1386581" y="6293545"/>
                  <a:pt x="117513" y="4989511"/>
                  <a:pt x="0" y="3062031"/>
                </a:cubicBezTo>
                <a:close/>
              </a:path>
            </a:pathLst>
          </a:custGeom>
          <a:noFill/>
          <a:ln w="28575">
            <a:prstDash val="sysDash"/>
            <a:extLst>
              <a:ext uri="{C807C97D-BFC1-408E-A445-0C87EB9F89A2}">
                <ask:lineSketchStyleProps xmlns:ask="http://schemas.microsoft.com/office/drawing/2018/sketchyshapes" sd="4243355398">
                  <a:prstGeom prst="ellipse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spcFirstLastPara="1" numCol="1" rtlCol="0" anchor="ctr">
            <a:prstTxWarp prst="textArchUp">
              <a:avLst>
                <a:gd name="adj" fmla="val 11204420"/>
              </a:avLst>
            </a:prstTxWarp>
          </a:bodyPr>
          <a:lstStyle/>
          <a:p>
            <a:pPr algn="ctr"/>
            <a:r>
              <a:rPr lang="en-NZ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Generic Subdomains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2D55F02-0DCF-AC7B-BAF9-EEC9FE255283}"/>
              </a:ext>
            </a:extLst>
          </p:cNvPr>
          <p:cNvSpPr/>
          <p:nvPr/>
        </p:nvSpPr>
        <p:spPr>
          <a:xfrm>
            <a:off x="322217" y="296091"/>
            <a:ext cx="11574410" cy="646292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 anchorCtr="0">
            <a:prstTxWarp prst="textArchUp">
              <a:avLst>
                <a:gd name="adj" fmla="val 12677112"/>
              </a:avLst>
            </a:prstTxWarp>
          </a:bodyPr>
          <a:lstStyle/>
          <a:p>
            <a:pPr algn="ctr"/>
            <a:r>
              <a:rPr lang="en-NZ" sz="2800" dirty="0">
                <a:solidFill>
                  <a:schemeClr val="tx1"/>
                </a:solidFill>
              </a:rPr>
              <a:t>      The “Domain” is “Car Sharing”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C9CF7DC-6FF9-1ED2-F7EA-34070BDEE3C2}"/>
              </a:ext>
            </a:extLst>
          </p:cNvPr>
          <p:cNvGrpSpPr/>
          <p:nvPr/>
        </p:nvGrpSpPr>
        <p:grpSpPr>
          <a:xfrm>
            <a:off x="3717126" y="3330581"/>
            <a:ext cx="1603169" cy="1302328"/>
            <a:chOff x="3098664" y="3008808"/>
            <a:chExt cx="1603169" cy="1302328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1A04A27-2567-2A27-4415-FE137B3C253B}"/>
                </a:ext>
              </a:extLst>
            </p:cNvPr>
            <p:cNvSpPr/>
            <p:nvPr/>
          </p:nvSpPr>
          <p:spPr>
            <a:xfrm>
              <a:off x="3098664" y="3008808"/>
              <a:ext cx="1603169" cy="1302328"/>
            </a:xfrm>
            <a:custGeom>
              <a:avLst/>
              <a:gdLst>
                <a:gd name="csX0" fmla="*/ 0 w 1603169"/>
                <a:gd name="csY0" fmla="*/ 651164 h 1302328"/>
                <a:gd name="csX1" fmla="*/ 801585 w 1603169"/>
                <a:gd name="csY1" fmla="*/ 0 h 1302328"/>
                <a:gd name="csX2" fmla="*/ 1603170 w 1603169"/>
                <a:gd name="csY2" fmla="*/ 651164 h 1302328"/>
                <a:gd name="csX3" fmla="*/ 801585 w 1603169"/>
                <a:gd name="csY3" fmla="*/ 1302328 h 1302328"/>
                <a:gd name="csX4" fmla="*/ 0 w 1603169"/>
                <a:gd name="csY4" fmla="*/ 651164 h 13023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03169" h="1302328" extrusionOk="0">
                  <a:moveTo>
                    <a:pt x="0" y="651164"/>
                  </a:moveTo>
                  <a:cubicBezTo>
                    <a:pt x="1010" y="308382"/>
                    <a:pt x="344055" y="-3084"/>
                    <a:pt x="801585" y="0"/>
                  </a:cubicBezTo>
                  <a:cubicBezTo>
                    <a:pt x="1179795" y="-52616"/>
                    <a:pt x="1567140" y="282884"/>
                    <a:pt x="1603170" y="651164"/>
                  </a:cubicBezTo>
                  <a:cubicBezTo>
                    <a:pt x="1536482" y="1114072"/>
                    <a:pt x="1350591" y="1307889"/>
                    <a:pt x="801585" y="1302328"/>
                  </a:cubicBezTo>
                  <a:cubicBezTo>
                    <a:pt x="313978" y="1285785"/>
                    <a:pt x="992" y="957490"/>
                    <a:pt x="0" y="651164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2343261054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prstTxWarp prst="textArchUp">
                <a:avLst/>
              </a:prstTxWarp>
            </a:bodyPr>
            <a:lstStyle/>
            <a:p>
              <a:pPr algn="ctr"/>
              <a:r>
                <a:rPr lang="en-NZ" sz="1200" dirty="0" err="1">
                  <a:solidFill>
                    <a:schemeClr val="tx1"/>
                  </a:solidFill>
                </a:rPr>
                <a:t>UserProfiles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271986B-7E68-2A3B-56D1-6233088D031E}"/>
                </a:ext>
              </a:extLst>
            </p:cNvPr>
            <p:cNvSpPr/>
            <p:nvPr/>
          </p:nvSpPr>
          <p:spPr>
            <a:xfrm>
              <a:off x="3426881" y="3411693"/>
              <a:ext cx="985494" cy="163016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>
                  <a:solidFill>
                    <a:schemeClr val="accent1">
                      <a:lumMod val="75000"/>
                    </a:schemeClr>
                  </a:solidFill>
                </a:rPr>
                <a:t>Profiles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C5F426D-5EEB-63A5-209F-FE1982164DA5}"/>
              </a:ext>
            </a:extLst>
          </p:cNvPr>
          <p:cNvGrpSpPr/>
          <p:nvPr/>
        </p:nvGrpSpPr>
        <p:grpSpPr>
          <a:xfrm>
            <a:off x="2448685" y="2454431"/>
            <a:ext cx="1603169" cy="1302328"/>
            <a:chOff x="1895300" y="2092430"/>
            <a:chExt cx="1603169" cy="1302328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7446B54-85A8-1358-580D-A2DD9B57DA09}"/>
                </a:ext>
              </a:extLst>
            </p:cNvPr>
            <p:cNvSpPr/>
            <p:nvPr/>
          </p:nvSpPr>
          <p:spPr>
            <a:xfrm>
              <a:off x="1895300" y="2092430"/>
              <a:ext cx="1603169" cy="1302328"/>
            </a:xfrm>
            <a:custGeom>
              <a:avLst/>
              <a:gdLst>
                <a:gd name="csX0" fmla="*/ 0 w 1603169"/>
                <a:gd name="csY0" fmla="*/ 651164 h 1302328"/>
                <a:gd name="csX1" fmla="*/ 801585 w 1603169"/>
                <a:gd name="csY1" fmla="*/ 0 h 1302328"/>
                <a:gd name="csX2" fmla="*/ 1603170 w 1603169"/>
                <a:gd name="csY2" fmla="*/ 651164 h 1302328"/>
                <a:gd name="csX3" fmla="*/ 801585 w 1603169"/>
                <a:gd name="csY3" fmla="*/ 1302328 h 1302328"/>
                <a:gd name="csX4" fmla="*/ 0 w 1603169"/>
                <a:gd name="csY4" fmla="*/ 651164 h 13023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03169" h="1302328" extrusionOk="0">
                  <a:moveTo>
                    <a:pt x="0" y="651164"/>
                  </a:moveTo>
                  <a:cubicBezTo>
                    <a:pt x="-8950" y="295347"/>
                    <a:pt x="444089" y="55719"/>
                    <a:pt x="801585" y="0"/>
                  </a:cubicBezTo>
                  <a:cubicBezTo>
                    <a:pt x="1304306" y="-62381"/>
                    <a:pt x="1542983" y="300968"/>
                    <a:pt x="1603170" y="651164"/>
                  </a:cubicBezTo>
                  <a:cubicBezTo>
                    <a:pt x="1572783" y="1025806"/>
                    <a:pt x="1205489" y="1242621"/>
                    <a:pt x="801585" y="1302328"/>
                  </a:cubicBezTo>
                  <a:cubicBezTo>
                    <a:pt x="360085" y="1283715"/>
                    <a:pt x="-29629" y="982532"/>
                    <a:pt x="0" y="651164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2781262624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prstTxWarp prst="textArchUp">
                <a:avLst/>
              </a:prstTxWarp>
            </a:bodyPr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End Users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63BC0AE-A564-AA79-29BD-0CB2A8AB2017}"/>
                </a:ext>
              </a:extLst>
            </p:cNvPr>
            <p:cNvSpPr/>
            <p:nvPr/>
          </p:nvSpPr>
          <p:spPr>
            <a:xfrm>
              <a:off x="2309835" y="2521922"/>
              <a:ext cx="815369" cy="140545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 err="1">
                  <a:solidFill>
                    <a:schemeClr val="accent1">
                      <a:lumMod val="75000"/>
                    </a:schemeClr>
                  </a:solidFill>
                </a:rPr>
                <a:t>EndUsers</a:t>
              </a:r>
              <a:endParaRPr lang="en-NZ" sz="11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63964E59-66FB-C6BF-1282-1024ED10498A}"/>
                </a:ext>
              </a:extLst>
            </p:cNvPr>
            <p:cNvSpPr/>
            <p:nvPr/>
          </p:nvSpPr>
          <p:spPr>
            <a:xfrm>
              <a:off x="2190697" y="2802190"/>
              <a:ext cx="1012372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050" dirty="0">
                  <a:solidFill>
                    <a:schemeClr val="accent1">
                      <a:lumMod val="75000"/>
                    </a:schemeClr>
                  </a:solidFill>
                </a:rPr>
                <a:t>Memberships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5B285C3-17E3-DC28-6F6F-149F301AA293}"/>
              </a:ext>
            </a:extLst>
          </p:cNvPr>
          <p:cNvGrpSpPr/>
          <p:nvPr/>
        </p:nvGrpSpPr>
        <p:grpSpPr>
          <a:xfrm>
            <a:off x="4060409" y="1898261"/>
            <a:ext cx="1603169" cy="1302328"/>
            <a:chOff x="3468781" y="1677991"/>
            <a:chExt cx="1603169" cy="1302328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8A2904A-0A9E-A06F-CB21-B13804ECA39D}"/>
                </a:ext>
              </a:extLst>
            </p:cNvPr>
            <p:cNvSpPr/>
            <p:nvPr/>
          </p:nvSpPr>
          <p:spPr>
            <a:xfrm>
              <a:off x="3468781" y="1677991"/>
              <a:ext cx="1603169" cy="1302328"/>
            </a:xfrm>
            <a:custGeom>
              <a:avLst/>
              <a:gdLst>
                <a:gd name="csX0" fmla="*/ 0 w 1603169"/>
                <a:gd name="csY0" fmla="*/ 651164 h 1302328"/>
                <a:gd name="csX1" fmla="*/ 801585 w 1603169"/>
                <a:gd name="csY1" fmla="*/ 0 h 1302328"/>
                <a:gd name="csX2" fmla="*/ 1603170 w 1603169"/>
                <a:gd name="csY2" fmla="*/ 651164 h 1302328"/>
                <a:gd name="csX3" fmla="*/ 801585 w 1603169"/>
                <a:gd name="csY3" fmla="*/ 1302328 h 1302328"/>
                <a:gd name="csX4" fmla="*/ 0 w 1603169"/>
                <a:gd name="csY4" fmla="*/ 651164 h 13023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03169" h="1302328" extrusionOk="0">
                  <a:moveTo>
                    <a:pt x="0" y="651164"/>
                  </a:moveTo>
                  <a:cubicBezTo>
                    <a:pt x="-54498" y="351592"/>
                    <a:pt x="421179" y="30301"/>
                    <a:pt x="801585" y="0"/>
                  </a:cubicBezTo>
                  <a:cubicBezTo>
                    <a:pt x="1191521" y="-13884"/>
                    <a:pt x="1613043" y="208884"/>
                    <a:pt x="1603170" y="651164"/>
                  </a:cubicBezTo>
                  <a:cubicBezTo>
                    <a:pt x="1567562" y="979702"/>
                    <a:pt x="1336390" y="1312872"/>
                    <a:pt x="801585" y="1302328"/>
                  </a:cubicBezTo>
                  <a:cubicBezTo>
                    <a:pt x="310596" y="1303466"/>
                    <a:pt x="103818" y="1004985"/>
                    <a:pt x="0" y="651164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2864466342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prstTxWarp prst="textArchUp">
                <a:avLst/>
              </a:prstTxWarp>
            </a:bodyPr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Organizations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9DA5D99B-2E04-00DE-BC6B-C44F917D4150}"/>
                </a:ext>
              </a:extLst>
            </p:cNvPr>
            <p:cNvSpPr/>
            <p:nvPr/>
          </p:nvSpPr>
          <p:spPr>
            <a:xfrm>
              <a:off x="3739950" y="2124344"/>
              <a:ext cx="1140747" cy="157407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>
                  <a:solidFill>
                    <a:schemeClr val="accent1">
                      <a:lumMod val="75000"/>
                    </a:schemeClr>
                  </a:solidFill>
                </a:rPr>
                <a:t>Organizations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B4BF1257-A030-458F-8795-29EF5E0481F3}"/>
                </a:ext>
              </a:extLst>
            </p:cNvPr>
            <p:cNvSpPr/>
            <p:nvPr/>
          </p:nvSpPr>
          <p:spPr>
            <a:xfrm>
              <a:off x="3915095" y="2329155"/>
              <a:ext cx="740229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>
                  <a:solidFill>
                    <a:schemeClr val="accent1">
                      <a:lumMod val="75000"/>
                    </a:schemeClr>
                  </a:solidFill>
                </a:rPr>
                <a:t>Settings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2C3F509-8BDC-373C-4F75-922095321DBD}"/>
              </a:ext>
            </a:extLst>
          </p:cNvPr>
          <p:cNvGrpSpPr/>
          <p:nvPr/>
        </p:nvGrpSpPr>
        <p:grpSpPr>
          <a:xfrm>
            <a:off x="5374035" y="4702708"/>
            <a:ext cx="1603169" cy="1302328"/>
            <a:chOff x="6256315" y="3299361"/>
            <a:chExt cx="1603169" cy="1302328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542631C-7D78-14D8-9D6B-98C3C75FBDF7}"/>
                </a:ext>
              </a:extLst>
            </p:cNvPr>
            <p:cNvSpPr/>
            <p:nvPr/>
          </p:nvSpPr>
          <p:spPr>
            <a:xfrm>
              <a:off x="6256315" y="3299361"/>
              <a:ext cx="1603169" cy="1302328"/>
            </a:xfrm>
            <a:custGeom>
              <a:avLst/>
              <a:gdLst>
                <a:gd name="csX0" fmla="*/ 0 w 1603169"/>
                <a:gd name="csY0" fmla="*/ 651164 h 1302328"/>
                <a:gd name="csX1" fmla="*/ 801585 w 1603169"/>
                <a:gd name="csY1" fmla="*/ 0 h 1302328"/>
                <a:gd name="csX2" fmla="*/ 1603170 w 1603169"/>
                <a:gd name="csY2" fmla="*/ 651164 h 1302328"/>
                <a:gd name="csX3" fmla="*/ 801585 w 1603169"/>
                <a:gd name="csY3" fmla="*/ 1302328 h 1302328"/>
                <a:gd name="csX4" fmla="*/ 0 w 1603169"/>
                <a:gd name="csY4" fmla="*/ 651164 h 13023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03169" h="1302328" extrusionOk="0">
                  <a:moveTo>
                    <a:pt x="0" y="651164"/>
                  </a:moveTo>
                  <a:cubicBezTo>
                    <a:pt x="1010" y="308382"/>
                    <a:pt x="344055" y="-3084"/>
                    <a:pt x="801585" y="0"/>
                  </a:cubicBezTo>
                  <a:cubicBezTo>
                    <a:pt x="1179795" y="-52616"/>
                    <a:pt x="1567140" y="282884"/>
                    <a:pt x="1603170" y="651164"/>
                  </a:cubicBezTo>
                  <a:cubicBezTo>
                    <a:pt x="1536482" y="1114072"/>
                    <a:pt x="1350591" y="1307889"/>
                    <a:pt x="801585" y="1302328"/>
                  </a:cubicBezTo>
                  <a:cubicBezTo>
                    <a:pt x="313978" y="1285785"/>
                    <a:pt x="992" y="957490"/>
                    <a:pt x="0" y="651164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2343261054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prstTxWarp prst="textArchUp">
                <a:avLst/>
              </a:prstTxWarp>
            </a:bodyPr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Ancillary</a:t>
              </a: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94EF2312-D097-F237-AF6B-4BE4B3A2B7D7}"/>
                </a:ext>
              </a:extLst>
            </p:cNvPr>
            <p:cNvSpPr/>
            <p:nvPr/>
          </p:nvSpPr>
          <p:spPr>
            <a:xfrm>
              <a:off x="6509664" y="3691647"/>
              <a:ext cx="1165742" cy="178128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 err="1">
                  <a:solidFill>
                    <a:schemeClr val="accent1">
                      <a:lumMod val="75000"/>
                    </a:schemeClr>
                  </a:solidFill>
                </a:rPr>
                <a:t>EmailDeliveries</a:t>
              </a:r>
              <a:endParaRPr lang="en-NZ" sz="11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3B950794-5715-DF7E-4DF8-5AFB491C0A4A}"/>
                </a:ext>
              </a:extLst>
            </p:cNvPr>
            <p:cNvSpPr/>
            <p:nvPr/>
          </p:nvSpPr>
          <p:spPr>
            <a:xfrm>
              <a:off x="6687783" y="3959234"/>
              <a:ext cx="740229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>
                  <a:solidFill>
                    <a:schemeClr val="accent1">
                      <a:lumMod val="75000"/>
                    </a:schemeClr>
                  </a:solidFill>
                </a:rPr>
                <a:t>Audits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B8FC1244-05E7-C8F5-FC7B-50342A03142A}"/>
              </a:ext>
            </a:extLst>
          </p:cNvPr>
          <p:cNvSpPr txBox="1"/>
          <p:nvPr/>
        </p:nvSpPr>
        <p:spPr>
          <a:xfrm>
            <a:off x="9986233" y="178678"/>
            <a:ext cx="2133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Subdomains</a:t>
            </a:r>
            <a:endParaRPr lang="en-NZ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F6C615A-1F71-04B5-298D-735222AE62A8}"/>
              </a:ext>
            </a:extLst>
          </p:cNvPr>
          <p:cNvCxnSpPr>
            <a:cxnSpLocks/>
            <a:stCxn id="26" idx="1"/>
            <a:endCxn id="5" idx="6"/>
          </p:cNvCxnSpPr>
          <p:nvPr/>
        </p:nvCxnSpPr>
        <p:spPr>
          <a:xfrm flipH="1">
            <a:off x="5663578" y="332567"/>
            <a:ext cx="4322655" cy="221685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0D515F8-48C8-80CB-175A-92B71C13F89E}"/>
              </a:ext>
            </a:extLst>
          </p:cNvPr>
          <p:cNvCxnSpPr>
            <a:cxnSpLocks/>
            <a:stCxn id="26" idx="1"/>
            <a:endCxn id="6" idx="7"/>
          </p:cNvCxnSpPr>
          <p:nvPr/>
        </p:nvCxnSpPr>
        <p:spPr>
          <a:xfrm flipH="1">
            <a:off x="5085516" y="332567"/>
            <a:ext cx="4900717" cy="31887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21AC734-B461-D853-E5EC-0A5B003171EB}"/>
              </a:ext>
            </a:extLst>
          </p:cNvPr>
          <p:cNvCxnSpPr>
            <a:cxnSpLocks/>
            <a:stCxn id="26" idx="1"/>
            <a:endCxn id="12" idx="0"/>
          </p:cNvCxnSpPr>
          <p:nvPr/>
        </p:nvCxnSpPr>
        <p:spPr>
          <a:xfrm flipH="1">
            <a:off x="9493691" y="332567"/>
            <a:ext cx="492542" cy="191316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203E390-D4DE-189A-F03C-E4834647498F}"/>
              </a:ext>
            </a:extLst>
          </p:cNvPr>
          <p:cNvSpPr txBox="1"/>
          <p:nvPr/>
        </p:nvSpPr>
        <p:spPr>
          <a:xfrm>
            <a:off x="685466" y="544726"/>
            <a:ext cx="136127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solidFill>
                  <a:schemeClr val="accent1">
                    <a:lumMod val="75000"/>
                  </a:schemeClr>
                </a:solidFill>
              </a:rPr>
              <a:t>Child </a:t>
            </a:r>
          </a:p>
          <a:p>
            <a:r>
              <a:rPr lang="en-NZ" sz="1400" dirty="0">
                <a:solidFill>
                  <a:schemeClr val="accent1">
                    <a:lumMod val="75000"/>
                  </a:schemeClr>
                </a:solidFill>
              </a:rPr>
              <a:t>Entities</a:t>
            </a:r>
          </a:p>
          <a:p>
            <a:r>
              <a:rPr lang="en-NZ" sz="1400" dirty="0">
                <a:solidFill>
                  <a:schemeClr val="accent1">
                    <a:lumMod val="75000"/>
                  </a:schemeClr>
                </a:solidFill>
              </a:rPr>
              <a:t>/ </a:t>
            </a:r>
            <a:r>
              <a:rPr lang="en-NZ" sz="1400" dirty="0" err="1">
                <a:solidFill>
                  <a:schemeClr val="accent1">
                    <a:lumMod val="75000"/>
                  </a:schemeClr>
                </a:solidFill>
              </a:rPr>
              <a:t>ValueObjects</a:t>
            </a:r>
            <a:endParaRPr lang="en-NZ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4731752-9136-14DB-52EC-E586888C5FC8}"/>
              </a:ext>
            </a:extLst>
          </p:cNvPr>
          <p:cNvCxnSpPr>
            <a:cxnSpLocks/>
            <a:endCxn id="10" idx="1"/>
          </p:cNvCxnSpPr>
          <p:nvPr/>
        </p:nvCxnSpPr>
        <p:spPr>
          <a:xfrm>
            <a:off x="1961627" y="1448007"/>
            <a:ext cx="782455" cy="1805249"/>
          </a:xfrm>
          <a:prstGeom prst="straightConnector1">
            <a:avLst/>
          </a:prstGeom>
          <a:ln w="127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1CC163-2443-8C0F-3ABE-6D9D4C144135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961627" y="1448007"/>
            <a:ext cx="2369951" cy="975311"/>
          </a:xfrm>
          <a:prstGeom prst="straightConnector1">
            <a:avLst/>
          </a:prstGeom>
          <a:ln w="127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068ED1-F960-1D35-3E94-9841E8BC6F19}"/>
              </a:ext>
            </a:extLst>
          </p:cNvPr>
          <p:cNvGrpSpPr/>
          <p:nvPr/>
        </p:nvGrpSpPr>
        <p:grpSpPr>
          <a:xfrm>
            <a:off x="8692106" y="2245730"/>
            <a:ext cx="1603169" cy="1302328"/>
            <a:chOff x="7353793" y="1862003"/>
            <a:chExt cx="1603169" cy="1302328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82DB54A-D035-FF26-8A3B-02398D6F175F}"/>
                </a:ext>
              </a:extLst>
            </p:cNvPr>
            <p:cNvSpPr/>
            <p:nvPr/>
          </p:nvSpPr>
          <p:spPr>
            <a:xfrm>
              <a:off x="7353793" y="1862003"/>
              <a:ext cx="1603169" cy="1302328"/>
            </a:xfrm>
            <a:custGeom>
              <a:avLst/>
              <a:gdLst>
                <a:gd name="csX0" fmla="*/ 0 w 1603169"/>
                <a:gd name="csY0" fmla="*/ 651164 h 1302328"/>
                <a:gd name="csX1" fmla="*/ 801585 w 1603169"/>
                <a:gd name="csY1" fmla="*/ 0 h 1302328"/>
                <a:gd name="csX2" fmla="*/ 1603170 w 1603169"/>
                <a:gd name="csY2" fmla="*/ 651164 h 1302328"/>
                <a:gd name="csX3" fmla="*/ 801585 w 1603169"/>
                <a:gd name="csY3" fmla="*/ 1302328 h 1302328"/>
                <a:gd name="csX4" fmla="*/ 0 w 1603169"/>
                <a:gd name="csY4" fmla="*/ 651164 h 13023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03169" h="1302328" extrusionOk="0">
                  <a:moveTo>
                    <a:pt x="0" y="651164"/>
                  </a:moveTo>
                  <a:cubicBezTo>
                    <a:pt x="-31357" y="316332"/>
                    <a:pt x="470356" y="21659"/>
                    <a:pt x="801585" y="0"/>
                  </a:cubicBezTo>
                  <a:cubicBezTo>
                    <a:pt x="1185981" y="-69422"/>
                    <a:pt x="1606843" y="284302"/>
                    <a:pt x="1603170" y="651164"/>
                  </a:cubicBezTo>
                  <a:cubicBezTo>
                    <a:pt x="1612515" y="1016844"/>
                    <a:pt x="1191363" y="1266559"/>
                    <a:pt x="801585" y="1302328"/>
                  </a:cubicBezTo>
                  <a:cubicBezTo>
                    <a:pt x="375506" y="1284047"/>
                    <a:pt x="-38419" y="1101839"/>
                    <a:pt x="0" y="651164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302522493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prstTxWarp prst="textArchUp">
                <a:avLst/>
              </a:prstTxWarp>
            </a:bodyPr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Cars</a:t>
              </a: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1A1961CF-CAA2-0945-DCBA-EA7B29086DD3}"/>
                </a:ext>
              </a:extLst>
            </p:cNvPr>
            <p:cNvSpPr/>
            <p:nvPr/>
          </p:nvSpPr>
          <p:spPr>
            <a:xfrm>
              <a:off x="7609111" y="2184606"/>
              <a:ext cx="1146961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 err="1">
                  <a:solidFill>
                    <a:schemeClr val="accent1">
                      <a:lumMod val="75000"/>
                    </a:schemeClr>
                  </a:solidFill>
                </a:rPr>
                <a:t>Unavailabilities</a:t>
              </a:r>
              <a:endParaRPr lang="en-NZ" sz="11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ECE0B036-ADDE-7D53-9D61-E3B3EEDBAFA3}"/>
                </a:ext>
              </a:extLst>
            </p:cNvPr>
            <p:cNvSpPr/>
            <p:nvPr/>
          </p:nvSpPr>
          <p:spPr>
            <a:xfrm>
              <a:off x="7609111" y="2409938"/>
              <a:ext cx="1146961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>
                  <a:solidFill>
                    <a:schemeClr val="accent1">
                      <a:lumMod val="75000"/>
                    </a:schemeClr>
                  </a:solidFill>
                </a:rPr>
                <a:t>Jurisdictions</a:t>
              </a:r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7E1DA563-A4F6-AF87-131F-62827756EA82}"/>
                </a:ext>
              </a:extLst>
            </p:cNvPr>
            <p:cNvSpPr/>
            <p:nvPr/>
          </p:nvSpPr>
          <p:spPr>
            <a:xfrm>
              <a:off x="7609110" y="2644393"/>
              <a:ext cx="1146961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 err="1">
                  <a:solidFill>
                    <a:schemeClr val="accent1">
                      <a:lumMod val="75000"/>
                    </a:schemeClr>
                  </a:solidFill>
                </a:rPr>
                <a:t>TimeSlots</a:t>
              </a:r>
              <a:endParaRPr lang="en-NZ" sz="11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9C57F56-98AE-0A4D-0FDF-F289B0C6AE57}"/>
              </a:ext>
            </a:extLst>
          </p:cNvPr>
          <p:cNvGrpSpPr/>
          <p:nvPr/>
        </p:nvGrpSpPr>
        <p:grpSpPr>
          <a:xfrm>
            <a:off x="5425464" y="3093966"/>
            <a:ext cx="1603169" cy="1302328"/>
            <a:chOff x="4776550" y="2624644"/>
            <a:chExt cx="1603169" cy="1302328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6A7861B-6939-C95D-D962-E03EA657771F}"/>
                </a:ext>
              </a:extLst>
            </p:cNvPr>
            <p:cNvSpPr/>
            <p:nvPr/>
          </p:nvSpPr>
          <p:spPr>
            <a:xfrm>
              <a:off x="4776550" y="2624644"/>
              <a:ext cx="1603169" cy="1302328"/>
            </a:xfrm>
            <a:custGeom>
              <a:avLst/>
              <a:gdLst>
                <a:gd name="csX0" fmla="*/ 0 w 1603169"/>
                <a:gd name="csY0" fmla="*/ 651164 h 1302328"/>
                <a:gd name="csX1" fmla="*/ 801585 w 1603169"/>
                <a:gd name="csY1" fmla="*/ 0 h 1302328"/>
                <a:gd name="csX2" fmla="*/ 1603170 w 1603169"/>
                <a:gd name="csY2" fmla="*/ 651164 h 1302328"/>
                <a:gd name="csX3" fmla="*/ 801585 w 1603169"/>
                <a:gd name="csY3" fmla="*/ 1302328 h 1302328"/>
                <a:gd name="csX4" fmla="*/ 0 w 1603169"/>
                <a:gd name="csY4" fmla="*/ 651164 h 13023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03169" h="1302328" extrusionOk="0">
                  <a:moveTo>
                    <a:pt x="0" y="651164"/>
                  </a:moveTo>
                  <a:cubicBezTo>
                    <a:pt x="1010" y="308382"/>
                    <a:pt x="344055" y="-3084"/>
                    <a:pt x="801585" y="0"/>
                  </a:cubicBezTo>
                  <a:cubicBezTo>
                    <a:pt x="1179795" y="-52616"/>
                    <a:pt x="1567140" y="282884"/>
                    <a:pt x="1603170" y="651164"/>
                  </a:cubicBezTo>
                  <a:cubicBezTo>
                    <a:pt x="1536482" y="1114072"/>
                    <a:pt x="1350591" y="1307889"/>
                    <a:pt x="801585" y="1302328"/>
                  </a:cubicBezTo>
                  <a:cubicBezTo>
                    <a:pt x="313978" y="1285785"/>
                    <a:pt x="992" y="957490"/>
                    <a:pt x="0" y="651164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2343261054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prstTxWarp prst="textArchUp">
                <a:avLst/>
              </a:prstTxWarp>
            </a:bodyPr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Subscriptions</a:t>
              </a: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CBB61A0A-FBFD-1A59-D9E7-129EF711E15D}"/>
                </a:ext>
              </a:extLst>
            </p:cNvPr>
            <p:cNvSpPr/>
            <p:nvPr/>
          </p:nvSpPr>
          <p:spPr>
            <a:xfrm>
              <a:off x="4970601" y="3087048"/>
              <a:ext cx="1042562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>
                  <a:solidFill>
                    <a:schemeClr val="accent1">
                      <a:lumMod val="75000"/>
                    </a:schemeClr>
                  </a:solidFill>
                </a:rPr>
                <a:t>Billing</a:t>
              </a:r>
            </a:p>
          </p:txBody>
        </p:sp>
      </p:grpSp>
      <p:sp>
        <p:nvSpPr>
          <p:cNvPr id="25" name="Oval 24">
            <a:extLst>
              <a:ext uri="{FF2B5EF4-FFF2-40B4-BE49-F238E27FC236}">
                <a16:creationId xmlns:a16="http://schemas.microsoft.com/office/drawing/2014/main" id="{D64D5818-28C8-0857-357A-ECBB69D62F3B}"/>
              </a:ext>
            </a:extLst>
          </p:cNvPr>
          <p:cNvSpPr/>
          <p:nvPr/>
        </p:nvSpPr>
        <p:spPr>
          <a:xfrm>
            <a:off x="3376990" y="5590848"/>
            <a:ext cx="845461" cy="750724"/>
          </a:xfrm>
          <a:custGeom>
            <a:avLst/>
            <a:gdLst>
              <a:gd name="csX0" fmla="*/ 0 w 845461"/>
              <a:gd name="csY0" fmla="*/ 375362 h 750724"/>
              <a:gd name="csX1" fmla="*/ 422731 w 845461"/>
              <a:gd name="csY1" fmla="*/ 0 h 750724"/>
              <a:gd name="csX2" fmla="*/ 845462 w 845461"/>
              <a:gd name="csY2" fmla="*/ 375362 h 750724"/>
              <a:gd name="csX3" fmla="*/ 422731 w 845461"/>
              <a:gd name="csY3" fmla="*/ 750724 h 750724"/>
              <a:gd name="csX4" fmla="*/ 0 w 845461"/>
              <a:gd name="csY4" fmla="*/ 375362 h 7507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45461" h="750724" extrusionOk="0">
                <a:moveTo>
                  <a:pt x="0" y="375362"/>
                </a:moveTo>
                <a:cubicBezTo>
                  <a:pt x="3212" y="221662"/>
                  <a:pt x="161871" y="-5698"/>
                  <a:pt x="422731" y="0"/>
                </a:cubicBezTo>
                <a:cubicBezTo>
                  <a:pt x="614161" y="-34297"/>
                  <a:pt x="809607" y="159445"/>
                  <a:pt x="845462" y="375362"/>
                </a:cubicBezTo>
                <a:cubicBezTo>
                  <a:pt x="831294" y="604612"/>
                  <a:pt x="714235" y="753760"/>
                  <a:pt x="422731" y="750724"/>
                </a:cubicBezTo>
                <a:cubicBezTo>
                  <a:pt x="168403" y="743039"/>
                  <a:pt x="885" y="535133"/>
                  <a:pt x="0" y="375362"/>
                </a:cubicBezTo>
                <a:close/>
              </a:path>
            </a:pathLst>
          </a:custGeom>
          <a:noFill/>
          <a:ln>
            <a:solidFill>
              <a:schemeClr val="tx1"/>
            </a:solidFill>
            <a:prstDash val="dash"/>
            <a:extLst>
              <a:ext uri="{C807C97D-BFC1-408E-A445-0C87EB9F89A2}">
                <ask:lineSketchStyleProps xmlns:ask="http://schemas.microsoft.com/office/drawing/2018/sketchyshapes" sd="2343261054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prstTxWarp prst="textArchUp">
              <a:avLst/>
            </a:prstTxWarp>
          </a:bodyPr>
          <a:lstStyle/>
          <a:p>
            <a:pPr algn="ctr"/>
            <a:r>
              <a:rPr lang="en-NZ" sz="1200" dirty="0">
                <a:solidFill>
                  <a:schemeClr val="tx1"/>
                </a:solidFill>
              </a:rPr>
              <a:t>Images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042D0CC7-AFE0-65D3-9661-CC46BCF36ADC}"/>
              </a:ext>
            </a:extLst>
          </p:cNvPr>
          <p:cNvGrpSpPr/>
          <p:nvPr/>
        </p:nvGrpSpPr>
        <p:grpSpPr>
          <a:xfrm>
            <a:off x="8692106" y="3616747"/>
            <a:ext cx="1603169" cy="1302328"/>
            <a:chOff x="8040582" y="3164331"/>
            <a:chExt cx="1603169" cy="1302328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9CC44FB-A2AD-ABA1-155E-9B1D25368BBB}"/>
                </a:ext>
              </a:extLst>
            </p:cNvPr>
            <p:cNvSpPr/>
            <p:nvPr/>
          </p:nvSpPr>
          <p:spPr>
            <a:xfrm>
              <a:off x="8040582" y="3164331"/>
              <a:ext cx="1603169" cy="1302328"/>
            </a:xfrm>
            <a:custGeom>
              <a:avLst/>
              <a:gdLst>
                <a:gd name="csX0" fmla="*/ 0 w 1603169"/>
                <a:gd name="csY0" fmla="*/ 651164 h 1302328"/>
                <a:gd name="csX1" fmla="*/ 801585 w 1603169"/>
                <a:gd name="csY1" fmla="*/ 0 h 1302328"/>
                <a:gd name="csX2" fmla="*/ 1603170 w 1603169"/>
                <a:gd name="csY2" fmla="*/ 651164 h 1302328"/>
                <a:gd name="csX3" fmla="*/ 801585 w 1603169"/>
                <a:gd name="csY3" fmla="*/ 1302328 h 1302328"/>
                <a:gd name="csX4" fmla="*/ 0 w 1603169"/>
                <a:gd name="csY4" fmla="*/ 651164 h 13023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03169" h="1302328" extrusionOk="0">
                  <a:moveTo>
                    <a:pt x="0" y="651164"/>
                  </a:moveTo>
                  <a:cubicBezTo>
                    <a:pt x="66848" y="286749"/>
                    <a:pt x="390136" y="-25216"/>
                    <a:pt x="801585" y="0"/>
                  </a:cubicBezTo>
                  <a:cubicBezTo>
                    <a:pt x="1321747" y="-56375"/>
                    <a:pt x="1624488" y="284155"/>
                    <a:pt x="1603170" y="651164"/>
                  </a:cubicBezTo>
                  <a:cubicBezTo>
                    <a:pt x="1642398" y="1093760"/>
                    <a:pt x="1223597" y="1368542"/>
                    <a:pt x="801585" y="1302328"/>
                  </a:cubicBezTo>
                  <a:cubicBezTo>
                    <a:pt x="391940" y="1226827"/>
                    <a:pt x="85854" y="965181"/>
                    <a:pt x="0" y="651164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2441640028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prstTxWarp prst="textArchUp">
                <a:avLst/>
              </a:prstTxWarp>
            </a:bodyPr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Bookings</a:t>
              </a:r>
            </a:p>
          </p:txBody>
        </p:sp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948D6117-DAEC-36CE-0BC2-B70046042587}"/>
                </a:ext>
              </a:extLst>
            </p:cNvPr>
            <p:cNvSpPr/>
            <p:nvPr/>
          </p:nvSpPr>
          <p:spPr>
            <a:xfrm>
              <a:off x="8304808" y="3559879"/>
              <a:ext cx="1146961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>
                  <a:solidFill>
                    <a:schemeClr val="accent1">
                      <a:lumMod val="75000"/>
                    </a:schemeClr>
                  </a:solidFill>
                </a:rPr>
                <a:t>Trips</a:t>
              </a:r>
            </a:p>
          </p:txBody>
        </p:sp>
      </p:grpSp>
      <p:sp>
        <p:nvSpPr>
          <p:cNvPr id="51" name="Oval 50">
            <a:extLst>
              <a:ext uri="{FF2B5EF4-FFF2-40B4-BE49-F238E27FC236}">
                <a16:creationId xmlns:a16="http://schemas.microsoft.com/office/drawing/2014/main" id="{D8AECE8F-3F39-F586-85FC-D67D6D139AB4}"/>
              </a:ext>
            </a:extLst>
          </p:cNvPr>
          <p:cNvSpPr/>
          <p:nvPr/>
        </p:nvSpPr>
        <p:spPr>
          <a:xfrm rot="5400000">
            <a:off x="8086893" y="1600193"/>
            <a:ext cx="3594375" cy="3422250"/>
          </a:xfrm>
          <a:custGeom>
            <a:avLst/>
            <a:gdLst>
              <a:gd name="csX0" fmla="*/ 0 w 3594375"/>
              <a:gd name="csY0" fmla="*/ 1711125 h 3422250"/>
              <a:gd name="csX1" fmla="*/ 1797188 w 3594375"/>
              <a:gd name="csY1" fmla="*/ 0 h 3422250"/>
              <a:gd name="csX2" fmla="*/ 3594376 w 3594375"/>
              <a:gd name="csY2" fmla="*/ 1711125 h 3422250"/>
              <a:gd name="csX3" fmla="*/ 1797188 w 3594375"/>
              <a:gd name="csY3" fmla="*/ 3422250 h 3422250"/>
              <a:gd name="csX4" fmla="*/ 0 w 3594375"/>
              <a:gd name="csY4" fmla="*/ 1711125 h 3422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594375" h="3422250" extrusionOk="0">
                <a:moveTo>
                  <a:pt x="0" y="1711125"/>
                </a:moveTo>
                <a:cubicBezTo>
                  <a:pt x="-48737" y="795103"/>
                  <a:pt x="866010" y="-72520"/>
                  <a:pt x="1797188" y="0"/>
                </a:cubicBezTo>
                <a:cubicBezTo>
                  <a:pt x="2912661" y="137420"/>
                  <a:pt x="3723676" y="893394"/>
                  <a:pt x="3594376" y="1711125"/>
                </a:cubicBezTo>
                <a:cubicBezTo>
                  <a:pt x="3670162" y="2606125"/>
                  <a:pt x="2738901" y="3479459"/>
                  <a:pt x="1797188" y="3422250"/>
                </a:cubicBezTo>
                <a:cubicBezTo>
                  <a:pt x="685494" y="3462997"/>
                  <a:pt x="-66768" y="2794000"/>
                  <a:pt x="0" y="1711125"/>
                </a:cubicBezTo>
                <a:close/>
              </a:path>
            </a:pathLst>
          </a:custGeom>
          <a:noFill/>
          <a:ln w="28575">
            <a:prstDash val="sysDash"/>
            <a:extLst>
              <a:ext uri="{C807C97D-BFC1-408E-A445-0C87EB9F89A2}">
                <ask:lineSketchStyleProps xmlns:ask="http://schemas.microsoft.com/office/drawing/2018/sketchyshapes" sd="2845485804">
                  <a:prstGeom prst="ellipse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prstTxWarp prst="textArchUp">
              <a:avLst>
                <a:gd name="adj" fmla="val 10820264"/>
              </a:avLst>
            </a:prstTxWarp>
          </a:bodyPr>
          <a:lstStyle/>
          <a:p>
            <a:pPr algn="ctr"/>
            <a:r>
              <a:rPr lang="en-NZ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Core Subdomains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77FE49BF-CEE2-3D4B-5E73-74B9FAE996E3}"/>
              </a:ext>
            </a:extLst>
          </p:cNvPr>
          <p:cNvGrpSpPr/>
          <p:nvPr/>
        </p:nvGrpSpPr>
        <p:grpSpPr>
          <a:xfrm>
            <a:off x="2300596" y="4052226"/>
            <a:ext cx="1603169" cy="1302328"/>
            <a:chOff x="2300596" y="4052226"/>
            <a:chExt cx="1603169" cy="1302328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9346C45-3A4E-506E-A050-95875F19EF08}"/>
                </a:ext>
              </a:extLst>
            </p:cNvPr>
            <p:cNvSpPr/>
            <p:nvPr/>
          </p:nvSpPr>
          <p:spPr>
            <a:xfrm>
              <a:off x="2300596" y="4052226"/>
              <a:ext cx="1603169" cy="1302328"/>
            </a:xfrm>
            <a:custGeom>
              <a:avLst/>
              <a:gdLst>
                <a:gd name="csX0" fmla="*/ 0 w 1603169"/>
                <a:gd name="csY0" fmla="*/ 651164 h 1302328"/>
                <a:gd name="csX1" fmla="*/ 801585 w 1603169"/>
                <a:gd name="csY1" fmla="*/ 0 h 1302328"/>
                <a:gd name="csX2" fmla="*/ 1603170 w 1603169"/>
                <a:gd name="csY2" fmla="*/ 651164 h 1302328"/>
                <a:gd name="csX3" fmla="*/ 801585 w 1603169"/>
                <a:gd name="csY3" fmla="*/ 1302328 h 1302328"/>
                <a:gd name="csX4" fmla="*/ 0 w 1603169"/>
                <a:gd name="csY4" fmla="*/ 651164 h 13023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03169" h="1302328" extrusionOk="0">
                  <a:moveTo>
                    <a:pt x="0" y="651164"/>
                  </a:moveTo>
                  <a:cubicBezTo>
                    <a:pt x="1010" y="308382"/>
                    <a:pt x="344055" y="-3084"/>
                    <a:pt x="801585" y="0"/>
                  </a:cubicBezTo>
                  <a:cubicBezTo>
                    <a:pt x="1179795" y="-52616"/>
                    <a:pt x="1567140" y="282884"/>
                    <a:pt x="1603170" y="651164"/>
                  </a:cubicBezTo>
                  <a:cubicBezTo>
                    <a:pt x="1536482" y="1114072"/>
                    <a:pt x="1350591" y="1307889"/>
                    <a:pt x="801585" y="1302328"/>
                  </a:cubicBezTo>
                  <a:cubicBezTo>
                    <a:pt x="313978" y="1285785"/>
                    <a:pt x="992" y="957490"/>
                    <a:pt x="0" y="651164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2343261054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prstTxWarp prst="textArchUp">
                <a:avLst/>
              </a:prstTxWarp>
            </a:bodyPr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Identities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6ADCF4DC-1340-3895-D2E3-88BBAB23E1F1}"/>
                </a:ext>
              </a:extLst>
            </p:cNvPr>
            <p:cNvSpPr/>
            <p:nvPr/>
          </p:nvSpPr>
          <p:spPr>
            <a:xfrm>
              <a:off x="2564317" y="4525261"/>
              <a:ext cx="1042562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 err="1">
                  <a:solidFill>
                    <a:schemeClr val="accent1">
                      <a:lumMod val="75000"/>
                    </a:schemeClr>
                  </a:solidFill>
                </a:rPr>
                <a:t>SSOUsers</a:t>
              </a:r>
              <a:endParaRPr lang="en-NZ" sz="11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C1DDACAC-2037-CEBD-FB87-114AF5F902DF}"/>
                </a:ext>
              </a:extLst>
            </p:cNvPr>
            <p:cNvSpPr/>
            <p:nvPr/>
          </p:nvSpPr>
          <p:spPr>
            <a:xfrm>
              <a:off x="2564317" y="4761778"/>
              <a:ext cx="1042562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 err="1">
                  <a:solidFill>
                    <a:schemeClr val="accent1">
                      <a:lumMod val="75000"/>
                    </a:schemeClr>
                  </a:solidFill>
                </a:rPr>
                <a:t>PwdCreds</a:t>
              </a:r>
              <a:endParaRPr lang="en-NZ" sz="11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47BC159C-482C-32F5-996A-EFD66D22C558}"/>
                </a:ext>
              </a:extLst>
            </p:cNvPr>
            <p:cNvSpPr/>
            <p:nvPr/>
          </p:nvSpPr>
          <p:spPr>
            <a:xfrm>
              <a:off x="2564317" y="4998296"/>
              <a:ext cx="1042562" cy="178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NZ" sz="1100" dirty="0" err="1">
                  <a:solidFill>
                    <a:schemeClr val="accent1">
                      <a:lumMod val="75000"/>
                    </a:schemeClr>
                  </a:solidFill>
                </a:rPr>
                <a:t>APIKeys</a:t>
              </a:r>
              <a:endParaRPr lang="en-NZ" sz="11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6EDC39A2-C211-7254-DF40-2FC0F1D1AE9F}"/>
              </a:ext>
            </a:extLst>
          </p:cNvPr>
          <p:cNvSpPr txBox="1"/>
          <p:nvPr/>
        </p:nvSpPr>
        <p:spPr>
          <a:xfrm>
            <a:off x="7481625" y="131475"/>
            <a:ext cx="16546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solidFill>
                  <a:schemeClr val="accent2"/>
                </a:solidFill>
              </a:rPr>
              <a:t>Bounded Contexts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880C53E-D6B8-44CA-CDAF-D1DE5A0F9F04}"/>
              </a:ext>
            </a:extLst>
          </p:cNvPr>
          <p:cNvCxnSpPr>
            <a:cxnSpLocks/>
            <a:stCxn id="24" idx="2"/>
            <a:endCxn id="14" idx="79"/>
          </p:cNvCxnSpPr>
          <p:nvPr/>
        </p:nvCxnSpPr>
        <p:spPr>
          <a:xfrm flipH="1">
            <a:off x="5810993" y="439252"/>
            <a:ext cx="2497942" cy="1706565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A45A8E51-4335-2F6C-DD90-414BF94EDB07}"/>
              </a:ext>
            </a:extLst>
          </p:cNvPr>
          <p:cNvSpPr/>
          <p:nvPr/>
        </p:nvSpPr>
        <p:spPr>
          <a:xfrm>
            <a:off x="8274231" y="1687760"/>
            <a:ext cx="3142665" cy="3334978"/>
          </a:xfrm>
          <a:custGeom>
            <a:avLst/>
            <a:gdLst>
              <a:gd name="csX0" fmla="*/ 0 w 3142665"/>
              <a:gd name="csY0" fmla="*/ 1667489 h 3334978"/>
              <a:gd name="csX1" fmla="*/ 1571333 w 3142665"/>
              <a:gd name="csY1" fmla="*/ 0 h 3334978"/>
              <a:gd name="csX2" fmla="*/ 3142666 w 3142665"/>
              <a:gd name="csY2" fmla="*/ 1667489 h 3334978"/>
              <a:gd name="csX3" fmla="*/ 1571333 w 3142665"/>
              <a:gd name="csY3" fmla="*/ 3334978 h 3334978"/>
              <a:gd name="csX4" fmla="*/ 0 w 3142665"/>
              <a:gd name="csY4" fmla="*/ 1667489 h 33349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42665" h="3334978" extrusionOk="0">
                <a:moveTo>
                  <a:pt x="0" y="1667489"/>
                </a:moveTo>
                <a:cubicBezTo>
                  <a:pt x="-73679" y="875826"/>
                  <a:pt x="667316" y="-14946"/>
                  <a:pt x="1571333" y="0"/>
                </a:cubicBezTo>
                <a:cubicBezTo>
                  <a:pt x="2525707" y="-12777"/>
                  <a:pt x="3064154" y="889557"/>
                  <a:pt x="3142666" y="1667489"/>
                </a:cubicBezTo>
                <a:cubicBezTo>
                  <a:pt x="3065385" y="2614248"/>
                  <a:pt x="2405801" y="3374421"/>
                  <a:pt x="1571333" y="3334978"/>
                </a:cubicBezTo>
                <a:cubicBezTo>
                  <a:pt x="736247" y="3313792"/>
                  <a:pt x="-12435" y="2591270"/>
                  <a:pt x="0" y="1667489"/>
                </a:cubicBezTo>
                <a:close/>
              </a:path>
            </a:pathLst>
          </a:custGeom>
          <a:noFill/>
          <a:ln w="28575">
            <a:solidFill>
              <a:schemeClr val="accent2"/>
            </a:solidFill>
            <a:prstDash val="lgDashDot"/>
            <a:extLst>
              <a:ext uri="{C807C97D-BFC1-408E-A445-0C87EB9F89A2}">
                <ask:lineSketchStyleProps xmlns:ask="http://schemas.microsoft.com/office/drawing/2018/sketchyshapes" sd="981765707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F2A2FB9-4D4C-8DAF-4A46-D6336174742E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8308935" y="439252"/>
            <a:ext cx="349320" cy="187343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C37DF0B9-FD02-D3FC-018B-16E7018B2213}"/>
              </a:ext>
            </a:extLst>
          </p:cNvPr>
          <p:cNvSpPr/>
          <p:nvPr/>
        </p:nvSpPr>
        <p:spPr>
          <a:xfrm>
            <a:off x="4191274" y="5514470"/>
            <a:ext cx="1428241" cy="939968"/>
          </a:xfrm>
          <a:custGeom>
            <a:avLst/>
            <a:gdLst>
              <a:gd name="csX0" fmla="*/ 0 w 1428241"/>
              <a:gd name="csY0" fmla="*/ 469984 h 939968"/>
              <a:gd name="csX1" fmla="*/ 714121 w 1428241"/>
              <a:gd name="csY1" fmla="*/ 0 h 939968"/>
              <a:gd name="csX2" fmla="*/ 1428242 w 1428241"/>
              <a:gd name="csY2" fmla="*/ 469984 h 939968"/>
              <a:gd name="csX3" fmla="*/ 714121 w 1428241"/>
              <a:gd name="csY3" fmla="*/ 939968 h 939968"/>
              <a:gd name="csX4" fmla="*/ 0 w 1428241"/>
              <a:gd name="csY4" fmla="*/ 469984 h 9399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28241" h="939968" extrusionOk="0">
                <a:moveTo>
                  <a:pt x="0" y="469984"/>
                </a:moveTo>
                <a:cubicBezTo>
                  <a:pt x="5787" y="306990"/>
                  <a:pt x="297586" y="-4605"/>
                  <a:pt x="714121" y="0"/>
                </a:cubicBezTo>
                <a:cubicBezTo>
                  <a:pt x="1089879" y="-15207"/>
                  <a:pt x="1406418" y="205179"/>
                  <a:pt x="1428242" y="469984"/>
                </a:cubicBezTo>
                <a:cubicBezTo>
                  <a:pt x="1386643" y="793974"/>
                  <a:pt x="1118448" y="940487"/>
                  <a:pt x="714121" y="939968"/>
                </a:cubicBezTo>
                <a:cubicBezTo>
                  <a:pt x="249436" y="914074"/>
                  <a:pt x="277" y="714676"/>
                  <a:pt x="0" y="469984"/>
                </a:cubicBezTo>
                <a:close/>
              </a:path>
            </a:pathLst>
          </a:custGeom>
          <a:noFill/>
          <a:ln>
            <a:solidFill>
              <a:schemeClr val="tx1"/>
            </a:solidFill>
            <a:prstDash val="dash"/>
            <a:extLst>
              <a:ext uri="{C807C97D-BFC1-408E-A445-0C87EB9F89A2}">
                <ask:lineSketchStyleProps xmlns:ask="http://schemas.microsoft.com/office/drawing/2018/sketchyshapes" sd="2343261054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prstTxWarp prst="textArchUp">
              <a:avLst/>
            </a:prstTxWarp>
          </a:bodyPr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EventNotifications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8DE486F-5EF8-ED0C-D51E-DCA4693FD79B}"/>
              </a:ext>
            </a:extLst>
          </p:cNvPr>
          <p:cNvSpPr/>
          <p:nvPr/>
        </p:nvSpPr>
        <p:spPr>
          <a:xfrm>
            <a:off x="4349809" y="6001688"/>
            <a:ext cx="1104283" cy="15796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Z" sz="1100" dirty="0" err="1">
                <a:solidFill>
                  <a:schemeClr val="accent1">
                    <a:lumMod val="75000"/>
                  </a:schemeClr>
                </a:solidFill>
              </a:rPr>
              <a:t>DomainEvents</a:t>
            </a:r>
            <a:endParaRPr lang="en-NZ" sz="11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03857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05DD857F-9244-6C00-1FFF-625B1AECCB2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36288748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3A45E4F-EE80-4E3D-F316-8C8CAF1A9947}"/>
              </a:ext>
            </a:extLst>
          </p:cNvPr>
          <p:cNvSpPr txBox="1"/>
          <p:nvPr/>
        </p:nvSpPr>
        <p:spPr>
          <a:xfrm>
            <a:off x="500333" y="350334"/>
            <a:ext cx="36663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Use case in an Aggregate</a:t>
            </a:r>
          </a:p>
        </p:txBody>
      </p:sp>
    </p:spTree>
    <p:extLst>
      <p:ext uri="{BB962C8B-B14F-4D97-AF65-F5344CB8AC3E}">
        <p14:creationId xmlns:p14="http://schemas.microsoft.com/office/powerpoint/2010/main" val="3442882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05DD857F-9244-6C00-1FFF-625B1AECCB2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22675402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5583F9D6-9AC4-4C23-B908-DA125900B2BD}"/>
              </a:ext>
            </a:extLst>
          </p:cNvPr>
          <p:cNvSpPr txBox="1"/>
          <p:nvPr/>
        </p:nvSpPr>
        <p:spPr>
          <a:xfrm>
            <a:off x="500333" y="350334"/>
            <a:ext cx="40671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Use case in an Aggregate</a:t>
            </a:r>
          </a:p>
          <a:p>
            <a:r>
              <a:rPr lang="en-NZ" sz="2400" dirty="0"/>
              <a:t>with child/descendant Entity</a:t>
            </a:r>
          </a:p>
        </p:txBody>
      </p:sp>
      <p:sp>
        <p:nvSpPr>
          <p:cNvPr id="3" name="Callout: Line 2">
            <a:extLst>
              <a:ext uri="{FF2B5EF4-FFF2-40B4-BE49-F238E27FC236}">
                <a16:creationId xmlns:a16="http://schemas.microsoft.com/office/drawing/2014/main" id="{46E83BC9-4D14-FDDF-5DFE-CA0143078B4E}"/>
              </a:ext>
            </a:extLst>
          </p:cNvPr>
          <p:cNvSpPr/>
          <p:nvPr/>
        </p:nvSpPr>
        <p:spPr>
          <a:xfrm>
            <a:off x="4567472" y="2796540"/>
            <a:ext cx="964648" cy="365760"/>
          </a:xfrm>
          <a:prstGeom prst="borderCallout1">
            <a:avLst>
              <a:gd name="adj1" fmla="val 18750"/>
              <a:gd name="adj2" fmla="val -8333"/>
              <a:gd name="adj3" fmla="val 14910"/>
              <a:gd name="adj4" fmla="val -41529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Don’t relay event back to entity</a:t>
            </a:r>
          </a:p>
        </p:txBody>
      </p:sp>
    </p:spTree>
    <p:extLst>
      <p:ext uri="{BB962C8B-B14F-4D97-AF65-F5344CB8AC3E}">
        <p14:creationId xmlns:p14="http://schemas.microsoft.com/office/powerpoint/2010/main" val="3863514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659EA068-0CA6-54E1-8381-C0B140C6D489}"/>
              </a:ext>
            </a:extLst>
          </p:cNvPr>
          <p:cNvSpPr/>
          <p:nvPr/>
        </p:nvSpPr>
        <p:spPr>
          <a:xfrm>
            <a:off x="8433263" y="49738"/>
            <a:ext cx="3668202" cy="675852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751463A-EE83-B017-ED23-84C2DDA67FE5}"/>
              </a:ext>
            </a:extLst>
          </p:cNvPr>
          <p:cNvSpPr/>
          <p:nvPr/>
        </p:nvSpPr>
        <p:spPr>
          <a:xfrm>
            <a:off x="6506389" y="49738"/>
            <a:ext cx="1807723" cy="675852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2890711-ABCF-347F-F4DE-3E54A5F83424}"/>
              </a:ext>
            </a:extLst>
          </p:cNvPr>
          <p:cNvSpPr/>
          <p:nvPr/>
        </p:nvSpPr>
        <p:spPr>
          <a:xfrm>
            <a:off x="2211289" y="49738"/>
            <a:ext cx="4175949" cy="675852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7279044-48AE-EE9C-4D26-67B15268FF0D}"/>
              </a:ext>
            </a:extLst>
          </p:cNvPr>
          <p:cNvSpPr/>
          <p:nvPr/>
        </p:nvSpPr>
        <p:spPr>
          <a:xfrm>
            <a:off x="98094" y="5409000"/>
            <a:ext cx="1674891" cy="878186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>
                <a:solidFill>
                  <a:schemeClr val="tx1"/>
                </a:solidFill>
              </a:rPr>
              <a:t>An</a:t>
            </a:r>
          </a:p>
          <a:p>
            <a:pPr algn="ctr"/>
            <a:r>
              <a:rPr lang="en-NZ" dirty="0">
                <a:solidFill>
                  <a:schemeClr val="tx1"/>
                </a:solidFill>
              </a:rPr>
              <a:t>Aggregate</a:t>
            </a:r>
          </a:p>
          <a:p>
            <a:pPr algn="ctr"/>
            <a:r>
              <a:rPr lang="en-NZ" sz="1400" dirty="0">
                <a:solidFill>
                  <a:schemeClr val="tx1"/>
                </a:solidFill>
              </a:rPr>
              <a:t>(Domain)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E52875-3CB4-95D6-573E-295ECCDA040A}"/>
              </a:ext>
            </a:extLst>
          </p:cNvPr>
          <p:cNvSpPr/>
          <p:nvPr/>
        </p:nvSpPr>
        <p:spPr>
          <a:xfrm>
            <a:off x="98094" y="2749988"/>
            <a:ext cx="1674891" cy="1836346"/>
          </a:xfrm>
          <a:prstGeom prst="roundRect">
            <a:avLst/>
          </a:prstGeom>
          <a:solidFill>
            <a:schemeClr val="accent6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>
                <a:solidFill>
                  <a:schemeClr val="tx1"/>
                </a:solidFill>
              </a:rPr>
              <a:t>An Application</a:t>
            </a:r>
          </a:p>
          <a:p>
            <a:pPr algn="ctr"/>
            <a:r>
              <a:rPr lang="en-NZ" sz="1400" dirty="0">
                <a:solidFill>
                  <a:schemeClr val="tx1"/>
                </a:solidFill>
              </a:rPr>
              <a:t>(Application)</a:t>
            </a:r>
            <a:endParaRPr lang="en-NZ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436A49E-1123-16EC-EA46-922A597C0126}"/>
              </a:ext>
            </a:extLst>
          </p:cNvPr>
          <p:cNvSpPr/>
          <p:nvPr/>
        </p:nvSpPr>
        <p:spPr>
          <a:xfrm>
            <a:off x="2719060" y="3229068"/>
            <a:ext cx="1674891" cy="8781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A Repository</a:t>
            </a:r>
          </a:p>
          <a:p>
            <a:pPr algn="ctr"/>
            <a:r>
              <a:rPr lang="en-NZ" sz="1400" dirty="0"/>
              <a:t>(Infrastructure)</a:t>
            </a:r>
            <a:endParaRPr lang="en-NZ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1979482-FD86-1FE6-09EE-213BB28E3045}"/>
              </a:ext>
            </a:extLst>
          </p:cNvPr>
          <p:cNvSpPr/>
          <p:nvPr/>
        </p:nvSpPr>
        <p:spPr>
          <a:xfrm>
            <a:off x="4645937" y="2153216"/>
            <a:ext cx="1674891" cy="8781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NZ" dirty="0"/>
              <a:t>A Read</a:t>
            </a:r>
          </a:p>
          <a:p>
            <a:r>
              <a:rPr lang="en-NZ" dirty="0"/>
              <a:t>Model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DFC6095-A061-501F-8612-1DFF75CAFC68}"/>
              </a:ext>
            </a:extLst>
          </p:cNvPr>
          <p:cNvSpPr/>
          <p:nvPr/>
        </p:nvSpPr>
        <p:spPr>
          <a:xfrm>
            <a:off x="4645937" y="3229068"/>
            <a:ext cx="1674891" cy="8781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NZ" dirty="0"/>
              <a:t>A State</a:t>
            </a:r>
          </a:p>
          <a:p>
            <a:r>
              <a:rPr lang="en-NZ" dirty="0"/>
              <a:t>Store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CCBE166-C05E-A58A-EE8D-F990C8FB1437}"/>
              </a:ext>
            </a:extLst>
          </p:cNvPr>
          <p:cNvSpPr/>
          <p:nvPr/>
        </p:nvSpPr>
        <p:spPr>
          <a:xfrm>
            <a:off x="4645936" y="4381874"/>
            <a:ext cx="1674891" cy="8781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NZ" dirty="0"/>
              <a:t>An</a:t>
            </a:r>
          </a:p>
          <a:p>
            <a:r>
              <a:rPr lang="en-NZ" dirty="0"/>
              <a:t>Other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8A2A2D4-9215-B2DD-A115-526771C7DEA8}"/>
              </a:ext>
            </a:extLst>
          </p:cNvPr>
          <p:cNvSpPr/>
          <p:nvPr/>
        </p:nvSpPr>
        <p:spPr>
          <a:xfrm>
            <a:off x="6572818" y="360534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Relational DB</a:t>
            </a:r>
          </a:p>
          <a:p>
            <a:pPr algn="ctr"/>
            <a:r>
              <a:rPr lang="en-NZ" sz="1400" dirty="0"/>
              <a:t>Table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05E1B3F-73FC-EBA6-F26A-6DF3F954EED6}"/>
              </a:ext>
            </a:extLst>
          </p:cNvPr>
          <p:cNvSpPr/>
          <p:nvPr/>
        </p:nvSpPr>
        <p:spPr>
          <a:xfrm>
            <a:off x="6572811" y="926353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NoSQL Document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2AFA9A0-C2D2-0F55-44FF-44D41488BFE1}"/>
              </a:ext>
            </a:extLst>
          </p:cNvPr>
          <p:cNvSpPr/>
          <p:nvPr/>
        </p:nvSpPr>
        <p:spPr>
          <a:xfrm>
            <a:off x="6572816" y="1639260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Event Stream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DD84871-CA80-9332-E2B6-A4B62ED953C1}"/>
              </a:ext>
            </a:extLst>
          </p:cNvPr>
          <p:cNvSpPr/>
          <p:nvPr/>
        </p:nvSpPr>
        <p:spPr>
          <a:xfrm>
            <a:off x="6572815" y="2771758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Message Queue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2661DCC-19F9-5173-9339-4ABE77C2BBF5}"/>
              </a:ext>
            </a:extLst>
          </p:cNvPr>
          <p:cNvSpPr/>
          <p:nvPr/>
        </p:nvSpPr>
        <p:spPr>
          <a:xfrm>
            <a:off x="6572814" y="3390782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Blob Container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E98C418-C9D0-329A-1509-4301428367E0}"/>
              </a:ext>
            </a:extLst>
          </p:cNvPr>
          <p:cNvSpPr/>
          <p:nvPr/>
        </p:nvSpPr>
        <p:spPr>
          <a:xfrm>
            <a:off x="6572814" y="4009806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Data Lake Container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CE3E0C3-63EE-AD02-C042-B5628011C632}"/>
              </a:ext>
            </a:extLst>
          </p:cNvPr>
          <p:cNvSpPr/>
          <p:nvPr/>
        </p:nvSpPr>
        <p:spPr>
          <a:xfrm>
            <a:off x="6572813" y="4646934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Cache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7D607E3-861B-5B09-07E8-AF26711ED3BE}"/>
              </a:ext>
            </a:extLst>
          </p:cNvPr>
          <p:cNvSpPr/>
          <p:nvPr/>
        </p:nvSpPr>
        <p:spPr>
          <a:xfrm>
            <a:off x="6572813" y="5218894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File System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CD7A99A-B9F4-8E5B-33C0-CDCA6B931977}"/>
              </a:ext>
            </a:extLst>
          </p:cNvPr>
          <p:cNvSpPr/>
          <p:nvPr/>
        </p:nvSpPr>
        <p:spPr>
          <a:xfrm>
            <a:off x="6572813" y="5778319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In-Memory</a:t>
            </a:r>
          </a:p>
        </p:txBody>
      </p:sp>
      <p:sp>
        <p:nvSpPr>
          <p:cNvPr id="37" name="Arrow: Left-Right 36">
            <a:extLst>
              <a:ext uri="{FF2B5EF4-FFF2-40B4-BE49-F238E27FC236}">
                <a16:creationId xmlns:a16="http://schemas.microsoft.com/office/drawing/2014/main" id="{EC01BCEF-1D66-BE6A-4B3C-4FC5F2686E07}"/>
              </a:ext>
            </a:extLst>
          </p:cNvPr>
          <p:cNvSpPr/>
          <p:nvPr/>
        </p:nvSpPr>
        <p:spPr>
          <a:xfrm>
            <a:off x="1750345" y="3439165"/>
            <a:ext cx="956641" cy="505489"/>
          </a:xfrm>
          <a:prstGeom prst="leftRightArrow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Data</a:t>
            </a:r>
          </a:p>
        </p:txBody>
      </p:sp>
      <p:sp>
        <p:nvSpPr>
          <p:cNvPr id="38" name="Arrow: Left-Right 37">
            <a:extLst>
              <a:ext uri="{FF2B5EF4-FFF2-40B4-BE49-F238E27FC236}">
                <a16:creationId xmlns:a16="http://schemas.microsoft.com/office/drawing/2014/main" id="{CC94D965-0F50-34FF-AE39-3330B40D7467}"/>
              </a:ext>
            </a:extLst>
          </p:cNvPr>
          <p:cNvSpPr/>
          <p:nvPr/>
        </p:nvSpPr>
        <p:spPr>
          <a:xfrm rot="5400000">
            <a:off x="457218" y="4744923"/>
            <a:ext cx="956641" cy="505489"/>
          </a:xfrm>
          <a:prstGeom prst="leftRightArrow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Data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8237A27-3E88-C131-1B6E-77AD39CA2CF8}"/>
              </a:ext>
            </a:extLst>
          </p:cNvPr>
          <p:cNvCxnSpPr>
            <a:stCxn id="5" idx="1"/>
            <a:endCxn id="4" idx="0"/>
          </p:cNvCxnSpPr>
          <p:nvPr/>
        </p:nvCxnSpPr>
        <p:spPr>
          <a:xfrm rot="10800000" flipV="1">
            <a:off x="3556507" y="2592308"/>
            <a:ext cx="1089431" cy="636759"/>
          </a:xfrm>
          <a:prstGeom prst="curvedConnector2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39">
            <a:extLst>
              <a:ext uri="{FF2B5EF4-FFF2-40B4-BE49-F238E27FC236}">
                <a16:creationId xmlns:a16="http://schemas.microsoft.com/office/drawing/2014/main" id="{926665D4-477A-BC49-FBCA-2C4F1AF92F08}"/>
              </a:ext>
            </a:extLst>
          </p:cNvPr>
          <p:cNvCxnSpPr>
            <a:cxnSpLocks/>
            <a:stCxn id="4" idx="2"/>
            <a:endCxn id="13" idx="1"/>
          </p:cNvCxnSpPr>
          <p:nvPr/>
        </p:nvCxnSpPr>
        <p:spPr>
          <a:xfrm rot="16200000" flipH="1">
            <a:off x="3744365" y="3919395"/>
            <a:ext cx="713713" cy="1089430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39">
            <a:extLst>
              <a:ext uri="{FF2B5EF4-FFF2-40B4-BE49-F238E27FC236}">
                <a16:creationId xmlns:a16="http://schemas.microsoft.com/office/drawing/2014/main" id="{183D10A8-90A8-1A68-C072-7E74DF9DBB61}"/>
              </a:ext>
            </a:extLst>
          </p:cNvPr>
          <p:cNvCxnSpPr>
            <a:cxnSpLocks/>
            <a:stCxn id="4" idx="2"/>
            <a:endCxn id="6" idx="1"/>
          </p:cNvCxnSpPr>
          <p:nvPr/>
        </p:nvCxnSpPr>
        <p:spPr>
          <a:xfrm rot="5400000" flipH="1" flipV="1">
            <a:off x="3881674" y="3342992"/>
            <a:ext cx="439093" cy="1089431"/>
          </a:xfrm>
          <a:prstGeom prst="curvedConnector4">
            <a:avLst>
              <a:gd name="adj1" fmla="val -52062"/>
              <a:gd name="adj2" fmla="val 8843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39">
            <a:extLst>
              <a:ext uri="{FF2B5EF4-FFF2-40B4-BE49-F238E27FC236}">
                <a16:creationId xmlns:a16="http://schemas.microsoft.com/office/drawing/2014/main" id="{3D06F82C-67EE-B379-1B04-82899DA6342E}"/>
              </a:ext>
            </a:extLst>
          </p:cNvPr>
          <p:cNvCxnSpPr>
            <a:cxnSpLocks/>
            <a:stCxn id="5" idx="0"/>
            <a:endCxn id="7" idx="1"/>
          </p:cNvCxnSpPr>
          <p:nvPr/>
        </p:nvCxnSpPr>
        <p:spPr>
          <a:xfrm rot="5400000" flipH="1" flipV="1">
            <a:off x="5242584" y="822983"/>
            <a:ext cx="1571032" cy="1089435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39">
            <a:extLst>
              <a:ext uri="{FF2B5EF4-FFF2-40B4-BE49-F238E27FC236}">
                <a16:creationId xmlns:a16="http://schemas.microsoft.com/office/drawing/2014/main" id="{011DF46B-3C86-EFCA-23C3-2577861E173A}"/>
              </a:ext>
            </a:extLst>
          </p:cNvPr>
          <p:cNvCxnSpPr>
            <a:cxnSpLocks/>
            <a:stCxn id="5" idx="0"/>
            <a:endCxn id="8" idx="1"/>
          </p:cNvCxnSpPr>
          <p:nvPr/>
        </p:nvCxnSpPr>
        <p:spPr>
          <a:xfrm rot="5400000" flipH="1" flipV="1">
            <a:off x="5525491" y="1105896"/>
            <a:ext cx="1005213" cy="1089428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39">
            <a:extLst>
              <a:ext uri="{FF2B5EF4-FFF2-40B4-BE49-F238E27FC236}">
                <a16:creationId xmlns:a16="http://schemas.microsoft.com/office/drawing/2014/main" id="{43570EDA-E875-625A-B914-6E55C5B6C0E4}"/>
              </a:ext>
            </a:extLst>
          </p:cNvPr>
          <p:cNvCxnSpPr>
            <a:cxnSpLocks/>
            <a:stCxn id="13" idx="0"/>
            <a:endCxn id="11" idx="1"/>
          </p:cNvCxnSpPr>
          <p:nvPr/>
        </p:nvCxnSpPr>
        <p:spPr>
          <a:xfrm rot="5400000" flipH="1" flipV="1">
            <a:off x="5643377" y="3452437"/>
            <a:ext cx="769442" cy="1089432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39">
            <a:extLst>
              <a:ext uri="{FF2B5EF4-FFF2-40B4-BE49-F238E27FC236}">
                <a16:creationId xmlns:a16="http://schemas.microsoft.com/office/drawing/2014/main" id="{507ECA46-249D-18CB-A877-A3FDDD4F0329}"/>
              </a:ext>
            </a:extLst>
          </p:cNvPr>
          <p:cNvCxnSpPr>
            <a:cxnSpLocks/>
            <a:stCxn id="13" idx="0"/>
            <a:endCxn id="10" idx="1"/>
          </p:cNvCxnSpPr>
          <p:nvPr/>
        </p:nvCxnSpPr>
        <p:spPr>
          <a:xfrm rot="5400000" flipH="1" flipV="1">
            <a:off x="5333865" y="3142925"/>
            <a:ext cx="1388466" cy="1089433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39">
            <a:extLst>
              <a:ext uri="{FF2B5EF4-FFF2-40B4-BE49-F238E27FC236}">
                <a16:creationId xmlns:a16="http://schemas.microsoft.com/office/drawing/2014/main" id="{6690BCE0-8A73-2DDD-17B4-34306823F0B9}"/>
              </a:ext>
            </a:extLst>
          </p:cNvPr>
          <p:cNvCxnSpPr>
            <a:cxnSpLocks/>
            <a:stCxn id="13" idx="2"/>
            <a:endCxn id="14" idx="1"/>
          </p:cNvCxnSpPr>
          <p:nvPr/>
        </p:nvCxnSpPr>
        <p:spPr>
          <a:xfrm rot="5400000" flipH="1" flipV="1">
            <a:off x="5832359" y="4519606"/>
            <a:ext cx="391476" cy="1089431"/>
          </a:xfrm>
          <a:prstGeom prst="curvedConnector4">
            <a:avLst>
              <a:gd name="adj1" fmla="val -58394"/>
              <a:gd name="adj2" fmla="val 8843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39">
            <a:extLst>
              <a:ext uri="{FF2B5EF4-FFF2-40B4-BE49-F238E27FC236}">
                <a16:creationId xmlns:a16="http://schemas.microsoft.com/office/drawing/2014/main" id="{7F4AAE5B-A8B4-6157-7771-C4659223E9BF}"/>
              </a:ext>
            </a:extLst>
          </p:cNvPr>
          <p:cNvCxnSpPr>
            <a:cxnSpLocks/>
            <a:stCxn id="13" idx="2"/>
            <a:endCxn id="15" idx="1"/>
          </p:cNvCxnSpPr>
          <p:nvPr/>
        </p:nvCxnSpPr>
        <p:spPr>
          <a:xfrm rot="16200000" flipH="1">
            <a:off x="5937855" y="4805586"/>
            <a:ext cx="180484" cy="1089431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39">
            <a:extLst>
              <a:ext uri="{FF2B5EF4-FFF2-40B4-BE49-F238E27FC236}">
                <a16:creationId xmlns:a16="http://schemas.microsoft.com/office/drawing/2014/main" id="{32AC623C-CD4C-89D8-1CB4-365E36D92C9A}"/>
              </a:ext>
            </a:extLst>
          </p:cNvPr>
          <p:cNvCxnSpPr>
            <a:cxnSpLocks/>
            <a:stCxn id="13" idx="2"/>
            <a:endCxn id="16" idx="1"/>
          </p:cNvCxnSpPr>
          <p:nvPr/>
        </p:nvCxnSpPr>
        <p:spPr>
          <a:xfrm rot="16200000" flipH="1">
            <a:off x="5658143" y="5085298"/>
            <a:ext cx="739909" cy="1089431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39">
            <a:extLst>
              <a:ext uri="{FF2B5EF4-FFF2-40B4-BE49-F238E27FC236}">
                <a16:creationId xmlns:a16="http://schemas.microsoft.com/office/drawing/2014/main" id="{6C80AE49-5C51-6E1B-4BE4-8B7DFB610699}"/>
              </a:ext>
            </a:extLst>
          </p:cNvPr>
          <p:cNvCxnSpPr>
            <a:cxnSpLocks/>
            <a:stCxn id="6" idx="0"/>
            <a:endCxn id="7" idx="1"/>
          </p:cNvCxnSpPr>
          <p:nvPr/>
        </p:nvCxnSpPr>
        <p:spPr>
          <a:xfrm rot="5400000" flipH="1" flipV="1">
            <a:off x="4704658" y="1360909"/>
            <a:ext cx="2646884" cy="1089435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39">
            <a:extLst>
              <a:ext uri="{FF2B5EF4-FFF2-40B4-BE49-F238E27FC236}">
                <a16:creationId xmlns:a16="http://schemas.microsoft.com/office/drawing/2014/main" id="{E7CD5D9A-8652-B3A8-FA0E-037D59DE02BD}"/>
              </a:ext>
            </a:extLst>
          </p:cNvPr>
          <p:cNvCxnSpPr>
            <a:cxnSpLocks/>
            <a:stCxn id="6" idx="0"/>
            <a:endCxn id="8" idx="1"/>
          </p:cNvCxnSpPr>
          <p:nvPr/>
        </p:nvCxnSpPr>
        <p:spPr>
          <a:xfrm rot="5400000" flipH="1" flipV="1">
            <a:off x="4987565" y="1643822"/>
            <a:ext cx="2081065" cy="1089428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39">
            <a:extLst>
              <a:ext uri="{FF2B5EF4-FFF2-40B4-BE49-F238E27FC236}">
                <a16:creationId xmlns:a16="http://schemas.microsoft.com/office/drawing/2014/main" id="{6DCEF274-E56C-E288-93CB-C97BEDE24A79}"/>
              </a:ext>
            </a:extLst>
          </p:cNvPr>
          <p:cNvCxnSpPr>
            <a:cxnSpLocks/>
            <a:stCxn id="6" idx="0"/>
            <a:endCxn id="9" idx="1"/>
          </p:cNvCxnSpPr>
          <p:nvPr/>
        </p:nvCxnSpPr>
        <p:spPr>
          <a:xfrm rot="5400000" flipH="1" flipV="1">
            <a:off x="5344020" y="2000273"/>
            <a:ext cx="1368158" cy="1089433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39">
            <a:extLst>
              <a:ext uri="{FF2B5EF4-FFF2-40B4-BE49-F238E27FC236}">
                <a16:creationId xmlns:a16="http://schemas.microsoft.com/office/drawing/2014/main" id="{CA86C6EF-AE26-F304-798D-D82348749E31}"/>
              </a:ext>
            </a:extLst>
          </p:cNvPr>
          <p:cNvCxnSpPr>
            <a:cxnSpLocks/>
            <a:stCxn id="13" idx="0"/>
            <a:endCxn id="12" idx="1"/>
          </p:cNvCxnSpPr>
          <p:nvPr/>
        </p:nvCxnSpPr>
        <p:spPr>
          <a:xfrm rot="5400000" flipH="1" flipV="1">
            <a:off x="5952889" y="3761949"/>
            <a:ext cx="150418" cy="1089432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39">
            <a:extLst>
              <a:ext uri="{FF2B5EF4-FFF2-40B4-BE49-F238E27FC236}">
                <a16:creationId xmlns:a16="http://schemas.microsoft.com/office/drawing/2014/main" id="{6BCA36A0-191C-518E-CF48-5A1EEEF14478}"/>
              </a:ext>
            </a:extLst>
          </p:cNvPr>
          <p:cNvCxnSpPr>
            <a:cxnSpLocks/>
            <a:stCxn id="7" idx="0"/>
            <a:endCxn id="18" idx="1"/>
          </p:cNvCxnSpPr>
          <p:nvPr/>
        </p:nvCxnSpPr>
        <p:spPr>
          <a:xfrm rot="16200000" flipH="1">
            <a:off x="7925244" y="-154447"/>
            <a:ext cx="59473" cy="1089434"/>
          </a:xfrm>
          <a:prstGeom prst="curvedConnector4">
            <a:avLst>
              <a:gd name="adj1" fmla="val -384376"/>
              <a:gd name="adj2" fmla="val 8843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39">
            <a:extLst>
              <a:ext uri="{FF2B5EF4-FFF2-40B4-BE49-F238E27FC236}">
                <a16:creationId xmlns:a16="http://schemas.microsoft.com/office/drawing/2014/main" id="{1AF610F7-BD08-1BCC-4296-8B231B469004}"/>
              </a:ext>
            </a:extLst>
          </p:cNvPr>
          <p:cNvCxnSpPr>
            <a:cxnSpLocks/>
            <a:stCxn id="7" idx="0"/>
            <a:endCxn id="27" idx="0"/>
          </p:cNvCxnSpPr>
          <p:nvPr/>
        </p:nvCxnSpPr>
        <p:spPr>
          <a:xfrm rot="5400000" flipH="1" flipV="1">
            <a:off x="9225318" y="-1611748"/>
            <a:ext cx="157228" cy="3787336"/>
          </a:xfrm>
          <a:prstGeom prst="curvedConnector3">
            <a:avLst>
              <a:gd name="adj1" fmla="val 166639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39">
            <a:extLst>
              <a:ext uri="{FF2B5EF4-FFF2-40B4-BE49-F238E27FC236}">
                <a16:creationId xmlns:a16="http://schemas.microsoft.com/office/drawing/2014/main" id="{F790768B-D52D-C6F3-CA0F-C2ACB1D11AAC}"/>
              </a:ext>
            </a:extLst>
          </p:cNvPr>
          <p:cNvCxnSpPr>
            <a:cxnSpLocks/>
            <a:stCxn id="8" idx="0"/>
            <a:endCxn id="19" idx="1"/>
          </p:cNvCxnSpPr>
          <p:nvPr/>
        </p:nvCxnSpPr>
        <p:spPr>
          <a:xfrm rot="16200000" flipH="1">
            <a:off x="7848929" y="487681"/>
            <a:ext cx="212096" cy="1089441"/>
          </a:xfrm>
          <a:prstGeom prst="curvedConnector4">
            <a:avLst>
              <a:gd name="adj1" fmla="val -107781"/>
              <a:gd name="adj2" fmla="val 8843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39">
            <a:extLst>
              <a:ext uri="{FF2B5EF4-FFF2-40B4-BE49-F238E27FC236}">
                <a16:creationId xmlns:a16="http://schemas.microsoft.com/office/drawing/2014/main" id="{0378CA61-F950-ABCD-095F-1DED3AABB41C}"/>
              </a:ext>
            </a:extLst>
          </p:cNvPr>
          <p:cNvCxnSpPr>
            <a:cxnSpLocks/>
            <a:stCxn id="9" idx="0"/>
            <a:endCxn id="100" idx="1"/>
          </p:cNvCxnSpPr>
          <p:nvPr/>
        </p:nvCxnSpPr>
        <p:spPr>
          <a:xfrm rot="16200000" flipH="1">
            <a:off x="8309208" y="740313"/>
            <a:ext cx="224035" cy="2021928"/>
          </a:xfrm>
          <a:prstGeom prst="curvedConnector4">
            <a:avLst>
              <a:gd name="adj1" fmla="val -102038"/>
              <a:gd name="adj2" fmla="val 70709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56F02A74-E8A7-1178-0DDB-1B0CDE0B6615}"/>
              </a:ext>
            </a:extLst>
          </p:cNvPr>
          <p:cNvGrpSpPr/>
          <p:nvPr/>
        </p:nvGrpSpPr>
        <p:grpSpPr>
          <a:xfrm>
            <a:off x="8499688" y="203306"/>
            <a:ext cx="3535365" cy="6049376"/>
            <a:chOff x="8499688" y="65290"/>
            <a:chExt cx="3535365" cy="6049376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3A62CF77-DD43-9209-6484-F9248C95D5B7}"/>
                </a:ext>
              </a:extLst>
            </p:cNvPr>
            <p:cNvSpPr/>
            <p:nvPr/>
          </p:nvSpPr>
          <p:spPr>
            <a:xfrm>
              <a:off x="8499698" y="65290"/>
              <a:ext cx="1674891" cy="433402"/>
            </a:xfrm>
            <a:prstGeom prst="roundRect">
              <a:avLst/>
            </a:prstGeom>
            <a:solidFill>
              <a:srgbClr val="1B82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Azure SQL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F9E12F5A-B48E-0EF5-E005-B037EBDD884A}"/>
                </a:ext>
              </a:extLst>
            </p:cNvPr>
            <p:cNvSpPr/>
            <p:nvPr/>
          </p:nvSpPr>
          <p:spPr>
            <a:xfrm>
              <a:off x="8499698" y="783732"/>
              <a:ext cx="1674891" cy="433402"/>
            </a:xfrm>
            <a:prstGeom prst="roundRect">
              <a:avLst/>
            </a:prstGeom>
            <a:solidFill>
              <a:srgbClr val="1B82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Azure table Storage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244043B7-A784-7F5E-15C2-B7A38B14F124}"/>
                </a:ext>
              </a:extLst>
            </p:cNvPr>
            <p:cNvSpPr/>
            <p:nvPr/>
          </p:nvSpPr>
          <p:spPr>
            <a:xfrm>
              <a:off x="8499688" y="2640427"/>
              <a:ext cx="1674891" cy="433402"/>
            </a:xfrm>
            <a:prstGeom prst="roundRect">
              <a:avLst/>
            </a:prstGeom>
            <a:solidFill>
              <a:srgbClr val="1B82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Azure Queues</a:t>
              </a: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B3C1D526-BA15-13C4-8444-7D1AFB5C608D}"/>
                </a:ext>
              </a:extLst>
            </p:cNvPr>
            <p:cNvSpPr/>
            <p:nvPr/>
          </p:nvSpPr>
          <p:spPr>
            <a:xfrm>
              <a:off x="8499688" y="3270470"/>
              <a:ext cx="1674891" cy="433402"/>
            </a:xfrm>
            <a:prstGeom prst="roundRect">
              <a:avLst/>
            </a:prstGeom>
            <a:solidFill>
              <a:srgbClr val="1B82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Azure Blob Storage</a:t>
              </a: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C399CBD5-59C8-327F-231A-0B943A3C739A}"/>
                </a:ext>
              </a:extLst>
            </p:cNvPr>
            <p:cNvSpPr/>
            <p:nvPr/>
          </p:nvSpPr>
          <p:spPr>
            <a:xfrm>
              <a:off x="8499688" y="3876739"/>
              <a:ext cx="1674891" cy="433402"/>
            </a:xfrm>
            <a:prstGeom prst="roundRect">
              <a:avLst/>
            </a:prstGeom>
            <a:solidFill>
              <a:srgbClr val="1B82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Azure Data Lake</a:t>
              </a: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187CA4B0-C6AC-12D0-863B-6F525E30E97E}"/>
                </a:ext>
              </a:extLst>
            </p:cNvPr>
            <p:cNvSpPr/>
            <p:nvPr/>
          </p:nvSpPr>
          <p:spPr>
            <a:xfrm>
              <a:off x="9432190" y="4595017"/>
              <a:ext cx="1674891" cy="433402"/>
            </a:xfrm>
            <a:prstGeom prst="round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Redis Cache</a:t>
              </a: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5827A866-CDAA-6AC5-E34C-DE8468C9B40C}"/>
                </a:ext>
              </a:extLst>
            </p:cNvPr>
            <p:cNvSpPr/>
            <p:nvPr/>
          </p:nvSpPr>
          <p:spPr>
            <a:xfrm>
              <a:off x="9432190" y="5094383"/>
              <a:ext cx="1674891" cy="47436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>
                  <a:solidFill>
                    <a:schemeClr val="tx1"/>
                  </a:solidFill>
                </a:rPr>
                <a:t>JSON Files</a:t>
              </a:r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35558495-57A0-8612-C076-B23910CB6308}"/>
                </a:ext>
              </a:extLst>
            </p:cNvPr>
            <p:cNvSpPr/>
            <p:nvPr/>
          </p:nvSpPr>
          <p:spPr>
            <a:xfrm>
              <a:off x="9432190" y="5640303"/>
              <a:ext cx="1674891" cy="47436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>
                  <a:solidFill>
                    <a:schemeClr val="tx1"/>
                  </a:solidFill>
                </a:rPr>
                <a:t>In-Memory DB</a:t>
              </a:r>
            </a:p>
          </p:txBody>
        </p:sp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E33C7769-7975-08D4-3872-606F7A776FF4}"/>
                </a:ext>
              </a:extLst>
            </p:cNvPr>
            <p:cNvSpPr/>
            <p:nvPr/>
          </p:nvSpPr>
          <p:spPr>
            <a:xfrm>
              <a:off x="10360154" y="65290"/>
              <a:ext cx="1674891" cy="433402"/>
            </a:xfrm>
            <a:prstGeom prst="roundRect">
              <a:avLst/>
            </a:prstGeom>
            <a:solidFill>
              <a:srgbClr val="33679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600" dirty="0"/>
                <a:t>RDS/Postgres?</a:t>
              </a:r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F7EFA7B9-89F9-BFD5-BE97-33E378632F44}"/>
                </a:ext>
              </a:extLst>
            </p:cNvPr>
            <p:cNvSpPr/>
            <p:nvPr/>
          </p:nvSpPr>
          <p:spPr>
            <a:xfrm>
              <a:off x="10360162" y="783732"/>
              <a:ext cx="1674891" cy="433402"/>
            </a:xfrm>
            <a:prstGeom prst="roundRect">
              <a:avLst/>
            </a:prstGeom>
            <a:solidFill>
              <a:srgbClr val="FF99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>
                  <a:solidFill>
                    <a:schemeClr val="tx1"/>
                  </a:solidFill>
                </a:rPr>
                <a:t>Dynamo DB</a:t>
              </a:r>
            </a:p>
          </p:txBody>
        </p: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05913876-EAD5-B971-62A5-D2FCA89A025C}"/>
                </a:ext>
              </a:extLst>
            </p:cNvPr>
            <p:cNvSpPr/>
            <p:nvPr/>
          </p:nvSpPr>
          <p:spPr>
            <a:xfrm>
              <a:off x="10360144" y="2639498"/>
              <a:ext cx="1674891" cy="433402"/>
            </a:xfrm>
            <a:prstGeom prst="roundRect">
              <a:avLst/>
            </a:prstGeom>
            <a:solidFill>
              <a:srgbClr val="FF99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>
                  <a:solidFill>
                    <a:schemeClr val="tx1"/>
                  </a:solidFill>
                </a:rPr>
                <a:t>SQS</a:t>
              </a:r>
            </a:p>
          </p:txBody>
        </p: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4DB15FE7-BB07-78EE-0E9D-1DB98BE95295}"/>
                </a:ext>
              </a:extLst>
            </p:cNvPr>
            <p:cNvSpPr/>
            <p:nvPr/>
          </p:nvSpPr>
          <p:spPr>
            <a:xfrm>
              <a:off x="10360142" y="3270470"/>
              <a:ext cx="1674891" cy="433402"/>
            </a:xfrm>
            <a:prstGeom prst="roundRect">
              <a:avLst/>
            </a:prstGeom>
            <a:solidFill>
              <a:srgbClr val="FF99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>
                  <a:solidFill>
                    <a:schemeClr val="tx1"/>
                  </a:solidFill>
                </a:rPr>
                <a:t>S3 Buckets</a:t>
              </a:r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10F13271-84E9-7D7A-4966-E4C515FC1AFC}"/>
                </a:ext>
              </a:extLst>
            </p:cNvPr>
            <p:cNvSpPr/>
            <p:nvPr/>
          </p:nvSpPr>
          <p:spPr>
            <a:xfrm>
              <a:off x="10360142" y="3876739"/>
              <a:ext cx="1674891" cy="433402"/>
            </a:xfrm>
            <a:prstGeom prst="roundRect">
              <a:avLst/>
            </a:prstGeom>
            <a:solidFill>
              <a:srgbClr val="FF99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>
                  <a:solidFill>
                    <a:schemeClr val="tx1"/>
                  </a:solidFill>
                </a:rPr>
                <a:t>S3 Buckets</a:t>
              </a:r>
            </a:p>
          </p:txBody>
        </p:sp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B1D9955E-10C7-E85C-94AA-EFF431BF8008}"/>
                </a:ext>
              </a:extLst>
            </p:cNvPr>
            <p:cNvSpPr/>
            <p:nvPr/>
          </p:nvSpPr>
          <p:spPr>
            <a:xfrm>
              <a:off x="9432190" y="1508578"/>
              <a:ext cx="1674891" cy="433402"/>
            </a:xfrm>
            <a:prstGeom prst="roundRect">
              <a:avLst/>
            </a:prstGeom>
            <a:solidFill>
              <a:srgbClr val="5AB55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 err="1">
                  <a:solidFill>
                    <a:schemeClr val="tx1"/>
                  </a:solidFill>
                </a:rPr>
                <a:t>EventStore</a:t>
              </a:r>
              <a:r>
                <a:rPr lang="en-NZ" dirty="0">
                  <a:solidFill>
                    <a:schemeClr val="tx1"/>
                  </a:solidFill>
                </a:rPr>
                <a:t> DB</a:t>
              </a:r>
            </a:p>
          </p:txBody>
        </p:sp>
      </p:grpSp>
      <p:cxnSp>
        <p:nvCxnSpPr>
          <p:cNvPr id="111" name="Straight Arrow Connector 39">
            <a:extLst>
              <a:ext uri="{FF2B5EF4-FFF2-40B4-BE49-F238E27FC236}">
                <a16:creationId xmlns:a16="http://schemas.microsoft.com/office/drawing/2014/main" id="{386A7152-D4DF-92A0-A9E0-A69F42592836}"/>
              </a:ext>
            </a:extLst>
          </p:cNvPr>
          <p:cNvCxnSpPr>
            <a:cxnSpLocks/>
            <a:stCxn id="11" idx="0"/>
            <a:endCxn id="30" idx="0"/>
          </p:cNvCxnSpPr>
          <p:nvPr/>
        </p:nvCxnSpPr>
        <p:spPr>
          <a:xfrm rot="16200000" flipH="1">
            <a:off x="9295072" y="1505970"/>
            <a:ext cx="17704" cy="3787328"/>
          </a:xfrm>
          <a:prstGeom prst="curvedConnector3">
            <a:avLst>
              <a:gd name="adj1" fmla="val -1291234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39">
            <a:extLst>
              <a:ext uri="{FF2B5EF4-FFF2-40B4-BE49-F238E27FC236}">
                <a16:creationId xmlns:a16="http://schemas.microsoft.com/office/drawing/2014/main" id="{22124474-5FD7-F4BA-E89B-675C2D7A6FE2}"/>
              </a:ext>
            </a:extLst>
          </p:cNvPr>
          <p:cNvCxnSpPr>
            <a:cxnSpLocks/>
            <a:stCxn id="12" idx="0"/>
            <a:endCxn id="31" idx="0"/>
          </p:cNvCxnSpPr>
          <p:nvPr/>
        </p:nvCxnSpPr>
        <p:spPr>
          <a:xfrm rot="16200000" flipH="1">
            <a:off x="9301449" y="2118616"/>
            <a:ext cx="4949" cy="3787328"/>
          </a:xfrm>
          <a:prstGeom prst="curvedConnector3">
            <a:avLst>
              <a:gd name="adj1" fmla="val -461911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39">
            <a:extLst>
              <a:ext uri="{FF2B5EF4-FFF2-40B4-BE49-F238E27FC236}">
                <a16:creationId xmlns:a16="http://schemas.microsoft.com/office/drawing/2014/main" id="{04BE5DC8-E7DE-CB94-D6D7-C25E77623F9E}"/>
              </a:ext>
            </a:extLst>
          </p:cNvPr>
          <p:cNvCxnSpPr>
            <a:cxnSpLocks/>
            <a:stCxn id="11" idx="0"/>
            <a:endCxn id="21" idx="1"/>
          </p:cNvCxnSpPr>
          <p:nvPr/>
        </p:nvCxnSpPr>
        <p:spPr>
          <a:xfrm rot="16200000" flipH="1">
            <a:off x="7837771" y="2963270"/>
            <a:ext cx="234405" cy="1089428"/>
          </a:xfrm>
          <a:prstGeom prst="curvedConnector4">
            <a:avLst>
              <a:gd name="adj1" fmla="val -97524"/>
              <a:gd name="adj2" fmla="val 8843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39">
            <a:extLst>
              <a:ext uri="{FF2B5EF4-FFF2-40B4-BE49-F238E27FC236}">
                <a16:creationId xmlns:a16="http://schemas.microsoft.com/office/drawing/2014/main" id="{BCD143D8-B3AF-721C-77C5-3779AE6FC192}"/>
              </a:ext>
            </a:extLst>
          </p:cNvPr>
          <p:cNvCxnSpPr>
            <a:cxnSpLocks/>
            <a:stCxn id="12" idx="0"/>
            <a:endCxn id="22" idx="1"/>
          </p:cNvCxnSpPr>
          <p:nvPr/>
        </p:nvCxnSpPr>
        <p:spPr>
          <a:xfrm rot="16200000" flipH="1">
            <a:off x="7844149" y="3575917"/>
            <a:ext cx="221650" cy="1089428"/>
          </a:xfrm>
          <a:prstGeom prst="curvedConnector4">
            <a:avLst>
              <a:gd name="adj1" fmla="val -103136"/>
              <a:gd name="adj2" fmla="val 8843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39">
            <a:extLst>
              <a:ext uri="{FF2B5EF4-FFF2-40B4-BE49-F238E27FC236}">
                <a16:creationId xmlns:a16="http://schemas.microsoft.com/office/drawing/2014/main" id="{D3CBE9A6-AEDE-BB4A-C53B-8765D86F5BC4}"/>
              </a:ext>
            </a:extLst>
          </p:cNvPr>
          <p:cNvCxnSpPr>
            <a:cxnSpLocks/>
            <a:stCxn id="14" idx="0"/>
            <a:endCxn id="23" idx="1"/>
          </p:cNvCxnSpPr>
          <p:nvPr/>
        </p:nvCxnSpPr>
        <p:spPr>
          <a:xfrm rot="16200000" flipH="1">
            <a:off x="8269824" y="3787369"/>
            <a:ext cx="302800" cy="2021931"/>
          </a:xfrm>
          <a:prstGeom prst="curvedConnector4">
            <a:avLst>
              <a:gd name="adj1" fmla="val -75495"/>
              <a:gd name="adj2" fmla="val 70709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39">
            <a:extLst>
              <a:ext uri="{FF2B5EF4-FFF2-40B4-BE49-F238E27FC236}">
                <a16:creationId xmlns:a16="http://schemas.microsoft.com/office/drawing/2014/main" id="{B0FBE401-D16F-3EAB-0D9B-9A30DABDB021}"/>
              </a:ext>
            </a:extLst>
          </p:cNvPr>
          <p:cNvCxnSpPr>
            <a:cxnSpLocks/>
            <a:stCxn id="15" idx="0"/>
            <a:endCxn id="24" idx="1"/>
          </p:cNvCxnSpPr>
          <p:nvPr/>
        </p:nvCxnSpPr>
        <p:spPr>
          <a:xfrm rot="16200000" flipH="1">
            <a:off x="8295880" y="4333272"/>
            <a:ext cx="250687" cy="2021931"/>
          </a:xfrm>
          <a:prstGeom prst="curvedConnector4">
            <a:avLst>
              <a:gd name="adj1" fmla="val -91189"/>
              <a:gd name="adj2" fmla="val 70709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39">
            <a:extLst>
              <a:ext uri="{FF2B5EF4-FFF2-40B4-BE49-F238E27FC236}">
                <a16:creationId xmlns:a16="http://schemas.microsoft.com/office/drawing/2014/main" id="{395E6B40-4166-9C2F-9F20-30D1DB324E72}"/>
              </a:ext>
            </a:extLst>
          </p:cNvPr>
          <p:cNvCxnSpPr>
            <a:cxnSpLocks/>
            <a:stCxn id="16" idx="0"/>
            <a:endCxn id="25" idx="1"/>
          </p:cNvCxnSpPr>
          <p:nvPr/>
        </p:nvCxnSpPr>
        <p:spPr>
          <a:xfrm rot="16200000" flipH="1">
            <a:off x="8302633" y="4885945"/>
            <a:ext cx="237182" cy="2021931"/>
          </a:xfrm>
          <a:prstGeom prst="curvedConnector4">
            <a:avLst>
              <a:gd name="adj1" fmla="val -96382"/>
              <a:gd name="adj2" fmla="val 70709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268D2FB-EBCD-2D45-5E84-37D40D39D470}"/>
              </a:ext>
            </a:extLst>
          </p:cNvPr>
          <p:cNvSpPr txBox="1"/>
          <p:nvPr/>
        </p:nvSpPr>
        <p:spPr>
          <a:xfrm>
            <a:off x="8433263" y="6531263"/>
            <a:ext cx="3668202" cy="27699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NZ" sz="1200" dirty="0"/>
              <a:t>Technologies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9FBE828-3B63-0D5C-FC81-56CD51FC6D1B}"/>
              </a:ext>
            </a:extLst>
          </p:cNvPr>
          <p:cNvSpPr txBox="1"/>
          <p:nvPr/>
        </p:nvSpPr>
        <p:spPr>
          <a:xfrm>
            <a:off x="6506389" y="6350117"/>
            <a:ext cx="1807723" cy="46166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NZ" sz="1200" dirty="0"/>
              <a:t>Implementation (Adapters)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55CB15-BAE3-7724-582A-5DC19D3648A2}"/>
              </a:ext>
            </a:extLst>
          </p:cNvPr>
          <p:cNvSpPr txBox="1"/>
          <p:nvPr/>
        </p:nvSpPr>
        <p:spPr>
          <a:xfrm>
            <a:off x="2211289" y="6531263"/>
            <a:ext cx="4175949" cy="27699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NZ" sz="1200" dirty="0"/>
              <a:t>Abstractions (Ports)</a:t>
            </a:r>
          </a:p>
        </p:txBody>
      </p:sp>
      <p:cxnSp>
        <p:nvCxnSpPr>
          <p:cNvPr id="95" name="Straight Arrow Connector 39">
            <a:extLst>
              <a:ext uri="{FF2B5EF4-FFF2-40B4-BE49-F238E27FC236}">
                <a16:creationId xmlns:a16="http://schemas.microsoft.com/office/drawing/2014/main" id="{0953DDAC-04E2-A175-1EA2-A58F5254BA51}"/>
              </a:ext>
            </a:extLst>
          </p:cNvPr>
          <p:cNvCxnSpPr>
            <a:cxnSpLocks/>
            <a:stCxn id="8" idx="0"/>
            <a:endCxn id="28" idx="0"/>
          </p:cNvCxnSpPr>
          <p:nvPr/>
        </p:nvCxnSpPr>
        <p:spPr>
          <a:xfrm rot="5400000" flipH="1" flipV="1">
            <a:off x="9301630" y="-969624"/>
            <a:ext cx="4605" cy="3787351"/>
          </a:xfrm>
          <a:prstGeom prst="curvedConnector3">
            <a:avLst>
              <a:gd name="adj1" fmla="val 5064169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Arrow: Right 47">
            <a:extLst>
              <a:ext uri="{FF2B5EF4-FFF2-40B4-BE49-F238E27FC236}">
                <a16:creationId xmlns:a16="http://schemas.microsoft.com/office/drawing/2014/main" id="{D6BD6BF8-4625-78FF-D917-AF96CDA1316A}"/>
              </a:ext>
            </a:extLst>
          </p:cNvPr>
          <p:cNvSpPr/>
          <p:nvPr/>
        </p:nvSpPr>
        <p:spPr>
          <a:xfrm rot="5400000">
            <a:off x="129848" y="1718037"/>
            <a:ext cx="1611379" cy="651812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A Use Case</a:t>
            </a:r>
          </a:p>
        </p:txBody>
      </p:sp>
      <p:sp>
        <p:nvSpPr>
          <p:cNvPr id="112" name="Rectangle: Rounded Corners 111">
            <a:extLst>
              <a:ext uri="{FF2B5EF4-FFF2-40B4-BE49-F238E27FC236}">
                <a16:creationId xmlns:a16="http://schemas.microsoft.com/office/drawing/2014/main" id="{3A7ECB4A-3974-ED67-7DF7-D30DB0EF39D0}"/>
              </a:ext>
            </a:extLst>
          </p:cNvPr>
          <p:cNvSpPr/>
          <p:nvPr/>
        </p:nvSpPr>
        <p:spPr>
          <a:xfrm>
            <a:off x="6572798" y="2209830"/>
            <a:ext cx="1674891" cy="4433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Message Bus</a:t>
            </a:r>
          </a:p>
        </p:txBody>
      </p:sp>
      <p:cxnSp>
        <p:nvCxnSpPr>
          <p:cNvPr id="113" name="Straight Arrow Connector 39">
            <a:extLst>
              <a:ext uri="{FF2B5EF4-FFF2-40B4-BE49-F238E27FC236}">
                <a16:creationId xmlns:a16="http://schemas.microsoft.com/office/drawing/2014/main" id="{7019B84A-27ED-E36F-E4C1-4BC829808378}"/>
              </a:ext>
            </a:extLst>
          </p:cNvPr>
          <p:cNvCxnSpPr>
            <a:cxnSpLocks/>
            <a:stCxn id="13" idx="0"/>
            <a:endCxn id="112" idx="1"/>
          </p:cNvCxnSpPr>
          <p:nvPr/>
        </p:nvCxnSpPr>
        <p:spPr>
          <a:xfrm rot="5400000" flipH="1" flipV="1">
            <a:off x="5052893" y="2861969"/>
            <a:ext cx="1950394" cy="1089416"/>
          </a:xfrm>
          <a:prstGeom prst="curvedConnector2">
            <a:avLst/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71019D3A-216F-9A4F-ACC1-D309ABBA872B}"/>
              </a:ext>
            </a:extLst>
          </p:cNvPr>
          <p:cNvSpPr/>
          <p:nvPr/>
        </p:nvSpPr>
        <p:spPr>
          <a:xfrm>
            <a:off x="8499688" y="2214779"/>
            <a:ext cx="1674891" cy="433402"/>
          </a:xfrm>
          <a:prstGeom prst="roundRect">
            <a:avLst/>
          </a:prstGeom>
          <a:solidFill>
            <a:srgbClr val="1B82C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Azure Service Bus</a:t>
            </a:r>
          </a:p>
        </p:txBody>
      </p:sp>
      <p:sp>
        <p:nvSpPr>
          <p:cNvPr id="130" name="Rectangle: Rounded Corners 129">
            <a:extLst>
              <a:ext uri="{FF2B5EF4-FFF2-40B4-BE49-F238E27FC236}">
                <a16:creationId xmlns:a16="http://schemas.microsoft.com/office/drawing/2014/main" id="{9FE25D9C-FE35-563A-139E-688FFF2D6B14}"/>
              </a:ext>
            </a:extLst>
          </p:cNvPr>
          <p:cNvSpPr/>
          <p:nvPr/>
        </p:nvSpPr>
        <p:spPr>
          <a:xfrm>
            <a:off x="10360144" y="2213850"/>
            <a:ext cx="1674891" cy="433402"/>
          </a:xfrm>
          <a:prstGeom prst="roundRect">
            <a:avLst/>
          </a:prstGeom>
          <a:solidFill>
            <a:srgbClr val="FF99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>
                <a:solidFill>
                  <a:schemeClr val="tx1"/>
                </a:solidFill>
              </a:rPr>
              <a:t>SNS</a:t>
            </a:r>
          </a:p>
        </p:txBody>
      </p:sp>
      <p:cxnSp>
        <p:nvCxnSpPr>
          <p:cNvPr id="105" name="Straight Arrow Connector 39">
            <a:extLst>
              <a:ext uri="{FF2B5EF4-FFF2-40B4-BE49-F238E27FC236}">
                <a16:creationId xmlns:a16="http://schemas.microsoft.com/office/drawing/2014/main" id="{397B8062-1CD0-F68B-D2C9-34786723730C}"/>
              </a:ext>
            </a:extLst>
          </p:cNvPr>
          <p:cNvCxnSpPr>
            <a:cxnSpLocks/>
            <a:stCxn id="10" idx="0"/>
            <a:endCxn id="20" idx="1"/>
          </p:cNvCxnSpPr>
          <p:nvPr/>
        </p:nvCxnSpPr>
        <p:spPr>
          <a:xfrm rot="16200000" flipH="1">
            <a:off x="7843281" y="2338738"/>
            <a:ext cx="223386" cy="1089427"/>
          </a:xfrm>
          <a:prstGeom prst="curvedConnector4">
            <a:avLst>
              <a:gd name="adj1" fmla="val -102334"/>
              <a:gd name="adj2" fmla="val 8843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39">
            <a:extLst>
              <a:ext uri="{FF2B5EF4-FFF2-40B4-BE49-F238E27FC236}">
                <a16:creationId xmlns:a16="http://schemas.microsoft.com/office/drawing/2014/main" id="{91C25A74-1280-85DB-0BE9-FF1AB834C8C2}"/>
              </a:ext>
            </a:extLst>
          </p:cNvPr>
          <p:cNvCxnSpPr>
            <a:cxnSpLocks/>
            <a:stCxn id="10" idx="0"/>
            <a:endCxn id="29" idx="0"/>
          </p:cNvCxnSpPr>
          <p:nvPr/>
        </p:nvCxnSpPr>
        <p:spPr>
          <a:xfrm rot="16200000" flipH="1">
            <a:off x="9301047" y="880972"/>
            <a:ext cx="5756" cy="3787329"/>
          </a:xfrm>
          <a:prstGeom prst="curvedConnector3">
            <a:avLst>
              <a:gd name="adj1" fmla="val -3971508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39">
            <a:extLst>
              <a:ext uri="{FF2B5EF4-FFF2-40B4-BE49-F238E27FC236}">
                <a16:creationId xmlns:a16="http://schemas.microsoft.com/office/drawing/2014/main" id="{029AEF2C-8194-2AEB-9FC8-AA0955B84DCA}"/>
              </a:ext>
            </a:extLst>
          </p:cNvPr>
          <p:cNvCxnSpPr>
            <a:cxnSpLocks/>
            <a:stCxn id="112" idx="0"/>
            <a:endCxn id="128" idx="1"/>
          </p:cNvCxnSpPr>
          <p:nvPr/>
        </p:nvCxnSpPr>
        <p:spPr>
          <a:xfrm rot="16200000" flipH="1">
            <a:off x="7844141" y="1775933"/>
            <a:ext cx="221650" cy="1089444"/>
          </a:xfrm>
          <a:prstGeom prst="curvedConnector4">
            <a:avLst>
              <a:gd name="adj1" fmla="val -103136"/>
              <a:gd name="adj2" fmla="val 88434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39">
            <a:extLst>
              <a:ext uri="{FF2B5EF4-FFF2-40B4-BE49-F238E27FC236}">
                <a16:creationId xmlns:a16="http://schemas.microsoft.com/office/drawing/2014/main" id="{E997BD5E-2FC2-EF51-63EE-40E369FAE4B0}"/>
              </a:ext>
            </a:extLst>
          </p:cNvPr>
          <p:cNvCxnSpPr>
            <a:cxnSpLocks/>
            <a:stCxn id="112" idx="0"/>
            <a:endCxn id="130" idx="0"/>
          </p:cNvCxnSpPr>
          <p:nvPr/>
        </p:nvCxnSpPr>
        <p:spPr>
          <a:xfrm rot="16200000" flipH="1">
            <a:off x="9301907" y="318167"/>
            <a:ext cx="4020" cy="3787346"/>
          </a:xfrm>
          <a:prstGeom prst="curvedConnector3">
            <a:avLst>
              <a:gd name="adj1" fmla="val -3791045"/>
            </a:avLst>
          </a:prstGeom>
          <a:ln w="57150">
            <a:solidFill>
              <a:srgbClr val="7030A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82870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1E3027-60B6-4CF9-BBA3-0496767BF1C1}"/>
              </a:ext>
            </a:extLst>
          </p:cNvPr>
          <p:cNvSpPr txBox="1"/>
          <p:nvPr/>
        </p:nvSpPr>
        <p:spPr>
          <a:xfrm>
            <a:off x="189780" y="198408"/>
            <a:ext cx="48606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Snapshotting Persistence – Flows</a:t>
            </a:r>
          </a:p>
        </p:txBody>
      </p:sp>
      <p:sp>
        <p:nvSpPr>
          <p:cNvPr id="4" name="Flowchart: Magnetic Disk 3">
            <a:extLst>
              <a:ext uri="{FF2B5EF4-FFF2-40B4-BE49-F238E27FC236}">
                <a16:creationId xmlns:a16="http://schemas.microsoft.com/office/drawing/2014/main" id="{702DAB40-B886-4101-B309-C72141ACCD9D}"/>
              </a:ext>
            </a:extLst>
          </p:cNvPr>
          <p:cNvSpPr/>
          <p:nvPr/>
        </p:nvSpPr>
        <p:spPr>
          <a:xfrm>
            <a:off x="9943289" y="2717416"/>
            <a:ext cx="1854679" cy="128533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Read/Write</a:t>
            </a:r>
          </a:p>
          <a:p>
            <a:pPr algn="ctr"/>
            <a:r>
              <a:rPr lang="en-NZ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IDataStore</a:t>
            </a:r>
            <a:endParaRPr lang="en-NZ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5BE4E1A-A145-4568-8607-08E26FB0B510}"/>
              </a:ext>
            </a:extLst>
          </p:cNvPr>
          <p:cNvSpPr/>
          <p:nvPr/>
        </p:nvSpPr>
        <p:spPr>
          <a:xfrm>
            <a:off x="1710997" y="1052423"/>
            <a:ext cx="868301" cy="477040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/>
              <a:t>API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78325A-83EE-4718-B162-86D51927C665}"/>
              </a:ext>
            </a:extLst>
          </p:cNvPr>
          <p:cNvSpPr/>
          <p:nvPr/>
        </p:nvSpPr>
        <p:spPr>
          <a:xfrm>
            <a:off x="2579298" y="1052423"/>
            <a:ext cx="3516702" cy="4770407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/>
              <a:t>Application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401CA83-84D9-42AA-80EF-011FC5F388A9}"/>
              </a:ext>
            </a:extLst>
          </p:cNvPr>
          <p:cNvSpPr/>
          <p:nvPr/>
        </p:nvSpPr>
        <p:spPr>
          <a:xfrm>
            <a:off x="1797261" y="1526874"/>
            <a:ext cx="695773" cy="3770212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NZ" sz="1400" dirty="0"/>
              <a:t>Service A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F5C7A6E-27CF-4318-9A6E-BB6FAB9A79D8}"/>
              </a:ext>
            </a:extLst>
          </p:cNvPr>
          <p:cNvSpPr/>
          <p:nvPr/>
        </p:nvSpPr>
        <p:spPr>
          <a:xfrm>
            <a:off x="2751826" y="1526875"/>
            <a:ext cx="3257910" cy="4161911"/>
          </a:xfrm>
          <a:prstGeom prst="roundRect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400" dirty="0"/>
              <a:t>Application 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50248B-FDC9-4272-BF1C-EAD3E3A031AD}"/>
              </a:ext>
            </a:extLst>
          </p:cNvPr>
          <p:cNvSpPr txBox="1"/>
          <p:nvPr/>
        </p:nvSpPr>
        <p:spPr>
          <a:xfrm>
            <a:off x="2832047" y="1950232"/>
            <a:ext cx="30974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NZ" dirty="0"/>
              <a:t>Fetch Aggregate from Persistence</a:t>
            </a:r>
          </a:p>
          <a:p>
            <a:pPr marL="342900" indent="-342900">
              <a:buAutoNum type="arabicPeriod"/>
            </a:pPr>
            <a:r>
              <a:rPr lang="en-NZ" dirty="0"/>
              <a:t>Check existence</a:t>
            </a:r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r>
              <a:rPr lang="en-NZ" dirty="0"/>
              <a:t>Perform command on Aggregate (</a:t>
            </a:r>
            <a:r>
              <a:rPr lang="en-NZ" dirty="0" err="1"/>
              <a:t>TellDontAsk</a:t>
            </a:r>
            <a:r>
              <a:rPr lang="en-NZ" dirty="0"/>
              <a:t>)</a:t>
            </a:r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r>
              <a:rPr lang="en-NZ" dirty="0"/>
              <a:t>Save Aggregate back to Repository</a:t>
            </a:r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r>
              <a:rPr lang="en-NZ" dirty="0"/>
              <a:t>Map Aggregate to DTO</a:t>
            </a:r>
          </a:p>
          <a:p>
            <a:pPr marL="342900" indent="-342900">
              <a:buAutoNum type="arabicPeriod"/>
            </a:pPr>
            <a:r>
              <a:rPr lang="en-NZ" dirty="0"/>
              <a:t>Return DTO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CE3F26D-3B97-46B4-B36E-91DA75C7BD0E}"/>
              </a:ext>
            </a:extLst>
          </p:cNvPr>
          <p:cNvGrpSpPr/>
          <p:nvPr/>
        </p:nvGrpSpPr>
        <p:grpSpPr>
          <a:xfrm>
            <a:off x="6096000" y="2426393"/>
            <a:ext cx="2978988" cy="2003573"/>
            <a:chOff x="6096000" y="1052423"/>
            <a:chExt cx="2978988" cy="200357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45BD4A9-E6F7-4FDD-85C5-7F9BB53CB113}"/>
                </a:ext>
              </a:extLst>
            </p:cNvPr>
            <p:cNvSpPr/>
            <p:nvPr/>
          </p:nvSpPr>
          <p:spPr>
            <a:xfrm>
              <a:off x="6096000" y="1052423"/>
              <a:ext cx="2978988" cy="2003573"/>
            </a:xfrm>
            <a:prstGeom prst="roundRect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dirty="0">
                  <a:solidFill>
                    <a:schemeClr val="tx1"/>
                  </a:solidFill>
                </a:rPr>
                <a:t>Domain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6D8F995-F48B-4D44-A784-4EED6F777D08}"/>
                </a:ext>
              </a:extLst>
            </p:cNvPr>
            <p:cNvSpPr/>
            <p:nvPr/>
          </p:nvSpPr>
          <p:spPr>
            <a:xfrm>
              <a:off x="6182264" y="1526874"/>
              <a:ext cx="2795332" cy="1499172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Aggregate A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4B7F7D1-B32E-4B0B-9941-593079A0B900}"/>
                </a:ext>
              </a:extLst>
            </p:cNvPr>
            <p:cNvSpPr txBox="1"/>
            <p:nvPr/>
          </p:nvSpPr>
          <p:spPr>
            <a:xfrm>
              <a:off x="6268528" y="1915064"/>
              <a:ext cx="1528021" cy="1123712"/>
            </a:xfrm>
            <a:prstGeom prst="round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NZ" sz="1200" dirty="0"/>
                <a:t>Perform operation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200" dirty="0"/>
                <a:t>Update internal state in memory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0A3092B-6285-4D1E-819E-8B948E615204}"/>
              </a:ext>
            </a:extLst>
          </p:cNvPr>
          <p:cNvGrpSpPr/>
          <p:nvPr/>
        </p:nvGrpSpPr>
        <p:grpSpPr>
          <a:xfrm>
            <a:off x="6102912" y="1052424"/>
            <a:ext cx="2972076" cy="1390926"/>
            <a:chOff x="6096000" y="1052424"/>
            <a:chExt cx="2978988" cy="1390926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1A974AD-EA9A-4717-9831-ED4DCAA6110E}"/>
                </a:ext>
              </a:extLst>
            </p:cNvPr>
            <p:cNvSpPr/>
            <p:nvPr/>
          </p:nvSpPr>
          <p:spPr>
            <a:xfrm>
              <a:off x="6096000" y="1052424"/>
              <a:ext cx="2978988" cy="139092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dirty="0"/>
                <a:t>Repository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841B5B1-A26A-4BD5-9C4B-35A378E388DE}"/>
                </a:ext>
              </a:extLst>
            </p:cNvPr>
            <p:cNvSpPr/>
            <p:nvPr/>
          </p:nvSpPr>
          <p:spPr>
            <a:xfrm>
              <a:off x="6182264" y="1526874"/>
              <a:ext cx="2806460" cy="783401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1400" dirty="0"/>
                <a:t>Repository A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AB74415-2091-4DA4-A657-E282507423A2}"/>
                </a:ext>
              </a:extLst>
            </p:cNvPr>
            <p:cNvSpPr txBox="1"/>
            <p:nvPr/>
          </p:nvSpPr>
          <p:spPr>
            <a:xfrm>
              <a:off x="6261616" y="1774701"/>
              <a:ext cx="2296537" cy="578882"/>
            </a:xfrm>
            <a:prstGeom prst="round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NZ" sz="1400" dirty="0"/>
                <a:t>Fetch property values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4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Rehydrate()</a:t>
              </a:r>
            </a:p>
          </p:txBody>
        </p:sp>
      </p:grp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6F57D34-C51D-4D4C-A7B2-7D86F95374E3}"/>
              </a:ext>
            </a:extLst>
          </p:cNvPr>
          <p:cNvCxnSpPr>
            <a:cxnSpLocks/>
          </p:cNvCxnSpPr>
          <p:nvPr/>
        </p:nvCxnSpPr>
        <p:spPr>
          <a:xfrm flipV="1">
            <a:off x="5640309" y="2128751"/>
            <a:ext cx="708440" cy="16359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96E0C74-0894-4160-AB1F-56B9CD10AABE}"/>
              </a:ext>
            </a:extLst>
          </p:cNvPr>
          <p:cNvCxnSpPr>
            <a:cxnSpLocks/>
            <a:stCxn id="25" idx="3"/>
            <a:endCxn id="4" idx="1"/>
          </p:cNvCxnSpPr>
          <p:nvPr/>
        </p:nvCxnSpPr>
        <p:spPr>
          <a:xfrm>
            <a:off x="8988924" y="1918575"/>
            <a:ext cx="1881705" cy="798841"/>
          </a:xfrm>
          <a:prstGeom prst="curvedConnector2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06C821F-EE17-4720-B5C7-02FA675A57A5}"/>
              </a:ext>
            </a:extLst>
          </p:cNvPr>
          <p:cNvCxnSpPr>
            <a:cxnSpLocks/>
          </p:cNvCxnSpPr>
          <p:nvPr/>
        </p:nvCxnSpPr>
        <p:spPr>
          <a:xfrm flipV="1">
            <a:off x="5523933" y="3095042"/>
            <a:ext cx="908991" cy="184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8E1D9CA-20EF-4749-84E1-363E5E880BAF}"/>
              </a:ext>
            </a:extLst>
          </p:cNvPr>
          <p:cNvCxnSpPr>
            <a:cxnSpLocks/>
          </p:cNvCxnSpPr>
          <p:nvPr/>
        </p:nvCxnSpPr>
        <p:spPr>
          <a:xfrm flipH="1" flipV="1">
            <a:off x="1935480" y="4867227"/>
            <a:ext cx="896567" cy="2649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B876481C-D4B1-43AB-A125-D9CDD6D1A9FE}"/>
              </a:ext>
            </a:extLst>
          </p:cNvPr>
          <p:cNvGrpSpPr/>
          <p:nvPr/>
        </p:nvGrpSpPr>
        <p:grpSpPr>
          <a:xfrm>
            <a:off x="6096000" y="4430935"/>
            <a:ext cx="2978988" cy="1390926"/>
            <a:chOff x="6096000" y="1052424"/>
            <a:chExt cx="2978988" cy="1390926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C7E7AE0B-79EF-4B32-AD1E-2F090589C662}"/>
                </a:ext>
              </a:extLst>
            </p:cNvPr>
            <p:cNvSpPr/>
            <p:nvPr/>
          </p:nvSpPr>
          <p:spPr>
            <a:xfrm>
              <a:off x="6096000" y="1052424"/>
              <a:ext cx="2978988" cy="139092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lang="en-NZ" dirty="0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59B34C9A-0277-438E-A39A-69EE5318AB27}"/>
                </a:ext>
              </a:extLst>
            </p:cNvPr>
            <p:cNvSpPr/>
            <p:nvPr/>
          </p:nvSpPr>
          <p:spPr>
            <a:xfrm>
              <a:off x="6182264" y="1197076"/>
              <a:ext cx="2806460" cy="1113200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1400" dirty="0"/>
                <a:t>Repository A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03EB316-4108-402E-BDAE-1D8349600191}"/>
                </a:ext>
              </a:extLst>
            </p:cNvPr>
            <p:cNvSpPr txBox="1"/>
            <p:nvPr/>
          </p:nvSpPr>
          <p:spPr>
            <a:xfrm>
              <a:off x="6216877" y="1488716"/>
              <a:ext cx="2403954" cy="578882"/>
            </a:xfrm>
            <a:prstGeom prst="round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NZ" sz="14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Dehydrate()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400" dirty="0"/>
                <a:t>Persist property values</a:t>
              </a:r>
            </a:p>
          </p:txBody>
        </p:sp>
      </p:grp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54233B16-F081-4FD1-B7D6-D237A56C0033}"/>
              </a:ext>
            </a:extLst>
          </p:cNvPr>
          <p:cNvCxnSpPr>
            <a:cxnSpLocks/>
            <a:stCxn id="61" idx="3"/>
            <a:endCxn id="4" idx="3"/>
          </p:cNvCxnSpPr>
          <p:nvPr/>
        </p:nvCxnSpPr>
        <p:spPr>
          <a:xfrm flipV="1">
            <a:off x="8988724" y="4002751"/>
            <a:ext cx="1881905" cy="1129436"/>
          </a:xfrm>
          <a:prstGeom prst="curvedConnector2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222149A-8DE6-48C4-B80F-0EB20819E429}"/>
              </a:ext>
            </a:extLst>
          </p:cNvPr>
          <p:cNvCxnSpPr>
            <a:cxnSpLocks/>
          </p:cNvCxnSpPr>
          <p:nvPr/>
        </p:nvCxnSpPr>
        <p:spPr>
          <a:xfrm>
            <a:off x="5460894" y="4142752"/>
            <a:ext cx="887855" cy="10794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CFC4D04F-3E44-423E-B91C-08883ED6AD38}"/>
              </a:ext>
            </a:extLst>
          </p:cNvPr>
          <p:cNvSpPr txBox="1"/>
          <p:nvPr/>
        </p:nvSpPr>
        <p:spPr>
          <a:xfrm>
            <a:off x="7459734" y="3260401"/>
            <a:ext cx="18546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NZ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Rehydrate()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NZ" sz="1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NZ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Dehydrate()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EDCCF837-26F4-4CF8-89FF-B3B0D9A404BF}"/>
              </a:ext>
            </a:extLst>
          </p:cNvPr>
          <p:cNvCxnSpPr>
            <a:cxnSpLocks/>
            <a:endCxn id="75" idx="0"/>
          </p:cNvCxnSpPr>
          <p:nvPr/>
        </p:nvCxnSpPr>
        <p:spPr>
          <a:xfrm rot="16200000" flipH="1">
            <a:off x="7619209" y="2492537"/>
            <a:ext cx="1027738" cy="507990"/>
          </a:xfrm>
          <a:prstGeom prst="curved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5">
            <a:extLst>
              <a:ext uri="{FF2B5EF4-FFF2-40B4-BE49-F238E27FC236}">
                <a16:creationId xmlns:a16="http://schemas.microsoft.com/office/drawing/2014/main" id="{A8426A4F-1BA6-41DD-A3B1-E5A9065BB8D8}"/>
              </a:ext>
            </a:extLst>
          </p:cNvPr>
          <p:cNvCxnSpPr>
            <a:cxnSpLocks/>
            <a:endCxn id="75" idx="2"/>
          </p:cNvCxnSpPr>
          <p:nvPr/>
        </p:nvCxnSpPr>
        <p:spPr>
          <a:xfrm rot="5400000" flipH="1" flipV="1">
            <a:off x="7571844" y="4213971"/>
            <a:ext cx="1122468" cy="507990"/>
          </a:xfrm>
          <a:prstGeom prst="curved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1C077BBC-7A47-14C0-A07C-BE709D8F4B0D}"/>
              </a:ext>
            </a:extLst>
          </p:cNvPr>
          <p:cNvSpPr/>
          <p:nvPr/>
        </p:nvSpPr>
        <p:spPr>
          <a:xfrm>
            <a:off x="258792" y="1799703"/>
            <a:ext cx="1452205" cy="651812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Command</a:t>
            </a:r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C23AC878-9999-689F-6BCA-BF26965CB2A8}"/>
              </a:ext>
            </a:extLst>
          </p:cNvPr>
          <p:cNvSpPr/>
          <p:nvPr/>
        </p:nvSpPr>
        <p:spPr>
          <a:xfrm flipH="1">
            <a:off x="258791" y="4518082"/>
            <a:ext cx="1452205" cy="698110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Response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ABEB04-B3E3-E2D5-DD00-BE939DAD0BD9}"/>
              </a:ext>
            </a:extLst>
          </p:cNvPr>
          <p:cNvGrpSpPr/>
          <p:nvPr/>
        </p:nvGrpSpPr>
        <p:grpSpPr>
          <a:xfrm>
            <a:off x="7657965" y="5107703"/>
            <a:ext cx="4147191" cy="1641517"/>
            <a:chOff x="7657965" y="5107703"/>
            <a:chExt cx="4147191" cy="1641517"/>
          </a:xfrm>
        </p:grpSpPr>
        <p:sp>
          <p:nvSpPr>
            <p:cNvPr id="15" name="Flowchart: Magnetic Disk 14">
              <a:extLst>
                <a:ext uri="{FF2B5EF4-FFF2-40B4-BE49-F238E27FC236}">
                  <a16:creationId xmlns:a16="http://schemas.microsoft.com/office/drawing/2014/main" id="{309FB6A0-C742-8936-39F4-3C931DCB085F}"/>
                </a:ext>
              </a:extLst>
            </p:cNvPr>
            <p:cNvSpPr/>
            <p:nvPr/>
          </p:nvSpPr>
          <p:spPr>
            <a:xfrm>
              <a:off x="9613353" y="5463885"/>
              <a:ext cx="868302" cy="1285335"/>
            </a:xfrm>
            <a:prstGeom prst="flowChartMagneticDisk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Read</a:t>
              </a:r>
            </a:p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Data Stores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07AEBDA-1F79-03EC-711D-B161D9E931C2}"/>
                </a:ext>
              </a:extLst>
            </p:cNvPr>
            <p:cNvSpPr txBox="1"/>
            <p:nvPr/>
          </p:nvSpPr>
          <p:spPr>
            <a:xfrm>
              <a:off x="7657965" y="6020963"/>
              <a:ext cx="196560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dirty="0"/>
                <a:t>1…n Projections /</a:t>
              </a:r>
            </a:p>
            <a:p>
              <a:r>
                <a:rPr lang="en-NZ" dirty="0"/>
                <a:t>Notifications</a:t>
              </a:r>
            </a:p>
          </p:txBody>
        </p:sp>
        <p:cxnSp>
          <p:nvCxnSpPr>
            <p:cNvPr id="17" name="Straight Arrow Connector 62">
              <a:extLst>
                <a:ext uri="{FF2B5EF4-FFF2-40B4-BE49-F238E27FC236}">
                  <a16:creationId xmlns:a16="http://schemas.microsoft.com/office/drawing/2014/main" id="{CBC023C7-ADCB-01E3-8303-3F70FBDAA493}"/>
                </a:ext>
              </a:extLst>
            </p:cNvPr>
            <p:cNvCxnSpPr>
              <a:cxnSpLocks/>
              <a:endCxn id="15" idx="0"/>
            </p:cNvCxnSpPr>
            <p:nvPr/>
          </p:nvCxnSpPr>
          <p:spPr>
            <a:xfrm>
              <a:off x="9074988" y="5297086"/>
              <a:ext cx="972516" cy="595244"/>
            </a:xfrm>
            <a:prstGeom prst="curvedConnector2">
              <a:avLst/>
            </a:prstGeom>
            <a:ln w="38100">
              <a:solidFill>
                <a:schemeClr val="tx1"/>
              </a:solidFill>
              <a:prstDash val="sysDot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lowchart: Magnetic Disk 18">
              <a:extLst>
                <a:ext uri="{FF2B5EF4-FFF2-40B4-BE49-F238E27FC236}">
                  <a16:creationId xmlns:a16="http://schemas.microsoft.com/office/drawing/2014/main" id="{21EEA014-365C-378D-5E3A-B52D3E350796}"/>
                </a:ext>
              </a:extLst>
            </p:cNvPr>
            <p:cNvSpPr/>
            <p:nvPr/>
          </p:nvSpPr>
          <p:spPr>
            <a:xfrm>
              <a:off x="10929666" y="6247793"/>
              <a:ext cx="868302" cy="496073"/>
            </a:xfrm>
            <a:prstGeom prst="flowChartMagneticDisk">
              <a:avLst/>
            </a:prstGeom>
            <a:solidFill>
              <a:schemeClr val="accent5">
                <a:lumMod val="75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21" name="Flowchart: Magnetic Disk 20">
              <a:extLst>
                <a:ext uri="{FF2B5EF4-FFF2-40B4-BE49-F238E27FC236}">
                  <a16:creationId xmlns:a16="http://schemas.microsoft.com/office/drawing/2014/main" id="{35E33AE9-1D94-760F-9B8E-61C16D5EF641}"/>
                </a:ext>
              </a:extLst>
            </p:cNvPr>
            <p:cNvSpPr/>
            <p:nvPr/>
          </p:nvSpPr>
          <p:spPr>
            <a:xfrm>
              <a:off x="10929666" y="5821861"/>
              <a:ext cx="868302" cy="496073"/>
            </a:xfrm>
            <a:prstGeom prst="flowChartMagneticDisk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Message Broker</a:t>
              </a:r>
            </a:p>
          </p:txBody>
        </p:sp>
        <p:sp>
          <p:nvSpPr>
            <p:cNvPr id="27" name="Flowchart: Magnetic Disk 26">
              <a:extLst>
                <a:ext uri="{FF2B5EF4-FFF2-40B4-BE49-F238E27FC236}">
                  <a16:creationId xmlns:a16="http://schemas.microsoft.com/office/drawing/2014/main" id="{7A2C6648-4753-A7B4-0141-756B3F8ABC39}"/>
                </a:ext>
              </a:extLst>
            </p:cNvPr>
            <p:cNvSpPr/>
            <p:nvPr/>
          </p:nvSpPr>
          <p:spPr>
            <a:xfrm>
              <a:off x="10936854" y="5396257"/>
              <a:ext cx="868302" cy="496073"/>
            </a:xfrm>
            <a:prstGeom prst="flowChartMagneticDisk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31" name="Straight Arrow Connector 62">
              <a:extLst>
                <a:ext uri="{FF2B5EF4-FFF2-40B4-BE49-F238E27FC236}">
                  <a16:creationId xmlns:a16="http://schemas.microsoft.com/office/drawing/2014/main" id="{21643506-4CE7-967C-A1A8-852D0E4ED5E3}"/>
                </a:ext>
              </a:extLst>
            </p:cNvPr>
            <p:cNvCxnSpPr>
              <a:cxnSpLocks/>
              <a:endCxn id="27" idx="0"/>
            </p:cNvCxnSpPr>
            <p:nvPr/>
          </p:nvCxnSpPr>
          <p:spPr>
            <a:xfrm>
              <a:off x="8988724" y="5107703"/>
              <a:ext cx="2382281" cy="453912"/>
            </a:xfrm>
            <a:prstGeom prst="curvedConnector2">
              <a:avLst/>
            </a:prstGeom>
            <a:ln w="38100">
              <a:solidFill>
                <a:schemeClr val="tx1"/>
              </a:solidFill>
              <a:prstDash val="sysDot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90981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1E3027-60B6-4CF9-BBA3-0496767BF1C1}"/>
              </a:ext>
            </a:extLst>
          </p:cNvPr>
          <p:cNvSpPr txBox="1"/>
          <p:nvPr/>
        </p:nvSpPr>
        <p:spPr>
          <a:xfrm>
            <a:off x="189780" y="198408"/>
            <a:ext cx="48974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 err="1"/>
              <a:t>EventSourcing</a:t>
            </a:r>
            <a:r>
              <a:rPr lang="en-NZ" sz="2400" dirty="0"/>
              <a:t> Persistence - Flows</a:t>
            </a:r>
          </a:p>
        </p:txBody>
      </p:sp>
      <p:sp>
        <p:nvSpPr>
          <p:cNvPr id="4" name="Flowchart: Magnetic Disk 3">
            <a:extLst>
              <a:ext uri="{FF2B5EF4-FFF2-40B4-BE49-F238E27FC236}">
                <a16:creationId xmlns:a16="http://schemas.microsoft.com/office/drawing/2014/main" id="{702DAB40-B886-4101-B309-C72141ACCD9D}"/>
              </a:ext>
            </a:extLst>
          </p:cNvPr>
          <p:cNvSpPr/>
          <p:nvPr/>
        </p:nvSpPr>
        <p:spPr>
          <a:xfrm>
            <a:off x="9943289" y="2201421"/>
            <a:ext cx="1854679" cy="128533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Event Store</a:t>
            </a:r>
          </a:p>
          <a:p>
            <a:pPr algn="ctr"/>
            <a:r>
              <a:rPr lang="en-NZ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IEventStore</a:t>
            </a:r>
            <a:endParaRPr lang="en-NZ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5BE4E1A-A145-4568-8607-08E26FB0B510}"/>
              </a:ext>
            </a:extLst>
          </p:cNvPr>
          <p:cNvSpPr/>
          <p:nvPr/>
        </p:nvSpPr>
        <p:spPr>
          <a:xfrm>
            <a:off x="1710997" y="1052423"/>
            <a:ext cx="868301" cy="477040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/>
              <a:t>API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78325A-83EE-4718-B162-86D51927C665}"/>
              </a:ext>
            </a:extLst>
          </p:cNvPr>
          <p:cNvSpPr/>
          <p:nvPr/>
        </p:nvSpPr>
        <p:spPr>
          <a:xfrm>
            <a:off x="2579298" y="1052423"/>
            <a:ext cx="3516702" cy="4770407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/>
              <a:t>Application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401CA83-84D9-42AA-80EF-011FC5F388A9}"/>
              </a:ext>
            </a:extLst>
          </p:cNvPr>
          <p:cNvSpPr/>
          <p:nvPr/>
        </p:nvSpPr>
        <p:spPr>
          <a:xfrm>
            <a:off x="1797261" y="1526874"/>
            <a:ext cx="695773" cy="3770212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NZ" sz="1400" dirty="0"/>
              <a:t>Service A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F5C7A6E-27CF-4318-9A6E-BB6FAB9A79D8}"/>
              </a:ext>
            </a:extLst>
          </p:cNvPr>
          <p:cNvSpPr/>
          <p:nvPr/>
        </p:nvSpPr>
        <p:spPr>
          <a:xfrm>
            <a:off x="2751826" y="1526875"/>
            <a:ext cx="3257910" cy="4161911"/>
          </a:xfrm>
          <a:prstGeom prst="roundRect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400" dirty="0"/>
              <a:t>Application 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50248B-FDC9-4272-BF1C-EAD3E3A031AD}"/>
              </a:ext>
            </a:extLst>
          </p:cNvPr>
          <p:cNvSpPr txBox="1"/>
          <p:nvPr/>
        </p:nvSpPr>
        <p:spPr>
          <a:xfrm>
            <a:off x="2832047" y="1959285"/>
            <a:ext cx="30974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NZ" dirty="0"/>
              <a:t>Fetch Aggregate from Persistence</a:t>
            </a:r>
          </a:p>
          <a:p>
            <a:pPr marL="342900" indent="-342900">
              <a:buAutoNum type="arabicPeriod"/>
            </a:pPr>
            <a:r>
              <a:rPr lang="en-NZ" dirty="0"/>
              <a:t>Check existence</a:t>
            </a:r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r>
              <a:rPr lang="en-NZ" dirty="0"/>
              <a:t>Perform command on Aggregate (</a:t>
            </a:r>
            <a:r>
              <a:rPr lang="en-NZ" dirty="0" err="1"/>
              <a:t>TellDontAsk</a:t>
            </a:r>
            <a:r>
              <a:rPr lang="en-NZ" dirty="0"/>
              <a:t>)</a:t>
            </a:r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r>
              <a:rPr lang="en-NZ" dirty="0"/>
              <a:t>Save Aggregate back to Repository</a:t>
            </a:r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r>
              <a:rPr lang="en-NZ" dirty="0"/>
              <a:t>Map Aggregate to DTO</a:t>
            </a:r>
          </a:p>
          <a:p>
            <a:pPr marL="342900" indent="-342900">
              <a:buAutoNum type="arabicPeriod"/>
            </a:pPr>
            <a:r>
              <a:rPr lang="en-NZ" dirty="0"/>
              <a:t>Return DTO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CE3F26D-3B97-46B4-B36E-91DA75C7BD0E}"/>
              </a:ext>
            </a:extLst>
          </p:cNvPr>
          <p:cNvGrpSpPr/>
          <p:nvPr/>
        </p:nvGrpSpPr>
        <p:grpSpPr>
          <a:xfrm>
            <a:off x="6096000" y="2426393"/>
            <a:ext cx="2978988" cy="2086406"/>
            <a:chOff x="6096000" y="1052423"/>
            <a:chExt cx="2978988" cy="208640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45BD4A9-E6F7-4FDD-85C5-7F9BB53CB113}"/>
                </a:ext>
              </a:extLst>
            </p:cNvPr>
            <p:cNvSpPr/>
            <p:nvPr/>
          </p:nvSpPr>
          <p:spPr>
            <a:xfrm>
              <a:off x="6096000" y="1052423"/>
              <a:ext cx="2978988" cy="2003573"/>
            </a:xfrm>
            <a:prstGeom prst="roundRect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dirty="0">
                  <a:solidFill>
                    <a:schemeClr val="tx1"/>
                  </a:solidFill>
                </a:rPr>
                <a:t>Domain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6D8F995-F48B-4D44-A784-4EED6F777D08}"/>
                </a:ext>
              </a:extLst>
            </p:cNvPr>
            <p:cNvSpPr/>
            <p:nvPr/>
          </p:nvSpPr>
          <p:spPr>
            <a:xfrm>
              <a:off x="6182264" y="1526874"/>
              <a:ext cx="2727477" cy="1499172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Aggregate A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4B7F7D1-B32E-4B0B-9941-593079A0B900}"/>
                </a:ext>
              </a:extLst>
            </p:cNvPr>
            <p:cNvSpPr txBox="1"/>
            <p:nvPr/>
          </p:nvSpPr>
          <p:spPr>
            <a:xfrm>
              <a:off x="6260056" y="1738029"/>
              <a:ext cx="1370008" cy="1400800"/>
            </a:xfrm>
            <a:prstGeom prst="round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NZ" sz="1100" dirty="0"/>
                <a:t>Raise Event(s)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100" dirty="0"/>
                <a:t>Update internal state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100" dirty="0"/>
                <a:t>Save Event(s)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0A3092B-6285-4D1E-819E-8B948E615204}"/>
              </a:ext>
            </a:extLst>
          </p:cNvPr>
          <p:cNvGrpSpPr/>
          <p:nvPr/>
        </p:nvGrpSpPr>
        <p:grpSpPr>
          <a:xfrm>
            <a:off x="6102912" y="1052424"/>
            <a:ext cx="2972076" cy="1390926"/>
            <a:chOff x="6096000" y="1052424"/>
            <a:chExt cx="2978988" cy="1390926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1A974AD-EA9A-4717-9831-ED4DCAA6110E}"/>
                </a:ext>
              </a:extLst>
            </p:cNvPr>
            <p:cNvSpPr/>
            <p:nvPr/>
          </p:nvSpPr>
          <p:spPr>
            <a:xfrm>
              <a:off x="6096000" y="1052424"/>
              <a:ext cx="2978988" cy="139092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dirty="0"/>
                <a:t>Repository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841B5B1-A26A-4BD5-9C4B-35A378E388DE}"/>
                </a:ext>
              </a:extLst>
            </p:cNvPr>
            <p:cNvSpPr/>
            <p:nvPr/>
          </p:nvSpPr>
          <p:spPr>
            <a:xfrm>
              <a:off x="6182264" y="1526874"/>
              <a:ext cx="2806460" cy="783401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1400" dirty="0"/>
                <a:t>Repository A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AB74415-2091-4DA4-A657-E282507423A2}"/>
                </a:ext>
              </a:extLst>
            </p:cNvPr>
            <p:cNvSpPr txBox="1"/>
            <p:nvPr/>
          </p:nvSpPr>
          <p:spPr>
            <a:xfrm>
              <a:off x="6262001" y="1731794"/>
              <a:ext cx="2217470" cy="664012"/>
            </a:xfrm>
            <a:prstGeom prst="round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NZ" sz="1100" dirty="0"/>
                <a:t>Fetch events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1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Rehydrate()</a:t>
              </a:r>
              <a:r>
                <a:rPr lang="en-NZ" sz="1100" dirty="0"/>
                <a:t> Aggregate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100" dirty="0"/>
                <a:t>Replay all events 1..n</a:t>
              </a:r>
            </a:p>
          </p:txBody>
        </p:sp>
      </p:grp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6F57D34-C51D-4D4C-A7B2-7D86F95374E3}"/>
              </a:ext>
            </a:extLst>
          </p:cNvPr>
          <p:cNvCxnSpPr>
            <a:cxnSpLocks/>
          </p:cNvCxnSpPr>
          <p:nvPr/>
        </p:nvCxnSpPr>
        <p:spPr>
          <a:xfrm flipV="1">
            <a:off x="5489387" y="2128751"/>
            <a:ext cx="859362" cy="1442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96E0C74-0894-4160-AB1F-56B9CD10AABE}"/>
              </a:ext>
            </a:extLst>
          </p:cNvPr>
          <p:cNvCxnSpPr>
            <a:cxnSpLocks/>
            <a:stCxn id="25" idx="3"/>
            <a:endCxn id="4" idx="1"/>
          </p:cNvCxnSpPr>
          <p:nvPr/>
        </p:nvCxnSpPr>
        <p:spPr>
          <a:xfrm>
            <a:off x="8988924" y="1918575"/>
            <a:ext cx="1881705" cy="282846"/>
          </a:xfrm>
          <a:prstGeom prst="curvedConnector2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06C821F-EE17-4720-B5C7-02FA675A57A5}"/>
              </a:ext>
            </a:extLst>
          </p:cNvPr>
          <p:cNvCxnSpPr>
            <a:cxnSpLocks/>
          </p:cNvCxnSpPr>
          <p:nvPr/>
        </p:nvCxnSpPr>
        <p:spPr>
          <a:xfrm flipV="1">
            <a:off x="5523933" y="3095042"/>
            <a:ext cx="908991" cy="184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8E1D9CA-20EF-4749-84E1-363E5E880BAF}"/>
              </a:ext>
            </a:extLst>
          </p:cNvPr>
          <p:cNvCxnSpPr>
            <a:cxnSpLocks/>
          </p:cNvCxnSpPr>
          <p:nvPr/>
        </p:nvCxnSpPr>
        <p:spPr>
          <a:xfrm flipH="1" flipV="1">
            <a:off x="1973009" y="4879138"/>
            <a:ext cx="859038" cy="33705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B876481C-D4B1-43AB-A125-D9CDD6D1A9FE}"/>
              </a:ext>
            </a:extLst>
          </p:cNvPr>
          <p:cNvGrpSpPr/>
          <p:nvPr/>
        </p:nvGrpSpPr>
        <p:grpSpPr>
          <a:xfrm>
            <a:off x="6096000" y="4430935"/>
            <a:ext cx="2978988" cy="1390926"/>
            <a:chOff x="6096000" y="1052424"/>
            <a:chExt cx="2978988" cy="1390926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C7E7AE0B-79EF-4B32-AD1E-2F090589C662}"/>
                </a:ext>
              </a:extLst>
            </p:cNvPr>
            <p:cNvSpPr/>
            <p:nvPr/>
          </p:nvSpPr>
          <p:spPr>
            <a:xfrm>
              <a:off x="6096000" y="1052424"/>
              <a:ext cx="2978988" cy="139092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lang="en-NZ" dirty="0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59B34C9A-0277-438E-A39A-69EE5318AB27}"/>
                </a:ext>
              </a:extLst>
            </p:cNvPr>
            <p:cNvSpPr/>
            <p:nvPr/>
          </p:nvSpPr>
          <p:spPr>
            <a:xfrm>
              <a:off x="6182264" y="1148108"/>
              <a:ext cx="2806460" cy="1162168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1400" dirty="0"/>
                <a:t>Repository A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03EB316-4108-402E-BDAE-1D8349600191}"/>
                </a:ext>
              </a:extLst>
            </p:cNvPr>
            <p:cNvSpPr txBox="1"/>
            <p:nvPr/>
          </p:nvSpPr>
          <p:spPr>
            <a:xfrm>
              <a:off x="6195724" y="1473725"/>
              <a:ext cx="2472582" cy="664012"/>
            </a:xfrm>
            <a:prstGeom prst="round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NZ" sz="1100" dirty="0"/>
                <a:t>Get Aggregate latest events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100" dirty="0"/>
                <a:t>Save latest events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100" dirty="0"/>
                <a:t>Publish events to event broker</a:t>
              </a:r>
            </a:p>
          </p:txBody>
        </p:sp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222149A-8DE6-48C4-B80F-0EB20819E429}"/>
              </a:ext>
            </a:extLst>
          </p:cNvPr>
          <p:cNvCxnSpPr>
            <a:cxnSpLocks/>
          </p:cNvCxnSpPr>
          <p:nvPr/>
        </p:nvCxnSpPr>
        <p:spPr>
          <a:xfrm>
            <a:off x="5350598" y="4282956"/>
            <a:ext cx="998151" cy="93923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CFC4D04F-3E44-423E-B91C-08883ED6AD38}"/>
              </a:ext>
            </a:extLst>
          </p:cNvPr>
          <p:cNvSpPr txBox="1"/>
          <p:nvPr/>
        </p:nvSpPr>
        <p:spPr>
          <a:xfrm>
            <a:off x="7179419" y="3267293"/>
            <a:ext cx="22607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NZ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Rehydrate()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NZ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NZ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OnStateChanged</a:t>
            </a:r>
            <a:r>
              <a:rPr lang="en-NZ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NZ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NZ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GetChanges</a:t>
            </a:r>
            <a:r>
              <a:rPr lang="en-NZ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EDCCF837-26F4-4CF8-89FF-B3B0D9A404BF}"/>
              </a:ext>
            </a:extLst>
          </p:cNvPr>
          <p:cNvCxnSpPr>
            <a:cxnSpLocks/>
            <a:stCxn id="26" idx="3"/>
            <a:endCxn id="75" idx="0"/>
          </p:cNvCxnSpPr>
          <p:nvPr/>
        </p:nvCxnSpPr>
        <p:spPr>
          <a:xfrm flipH="1">
            <a:off x="8309797" y="2063800"/>
            <a:ext cx="171056" cy="1203493"/>
          </a:xfrm>
          <a:prstGeom prst="curvedConnector4">
            <a:avLst>
              <a:gd name="adj1" fmla="val -133640"/>
              <a:gd name="adj2" fmla="val 63793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5">
            <a:extLst>
              <a:ext uri="{FF2B5EF4-FFF2-40B4-BE49-F238E27FC236}">
                <a16:creationId xmlns:a16="http://schemas.microsoft.com/office/drawing/2014/main" id="{A8426A4F-1BA6-41DD-A3B1-E5A9065BB8D8}"/>
              </a:ext>
            </a:extLst>
          </p:cNvPr>
          <p:cNvCxnSpPr>
            <a:cxnSpLocks/>
            <a:endCxn id="75" idx="2"/>
          </p:cNvCxnSpPr>
          <p:nvPr/>
        </p:nvCxnSpPr>
        <p:spPr>
          <a:xfrm rot="16200000" flipV="1">
            <a:off x="8026013" y="4566740"/>
            <a:ext cx="738624" cy="171056"/>
          </a:xfrm>
          <a:prstGeom prst="curved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75">
            <a:extLst>
              <a:ext uri="{FF2B5EF4-FFF2-40B4-BE49-F238E27FC236}">
                <a16:creationId xmlns:a16="http://schemas.microsoft.com/office/drawing/2014/main" id="{672A24F7-4C8F-4987-8137-4F49428361F2}"/>
              </a:ext>
            </a:extLst>
          </p:cNvPr>
          <p:cNvCxnSpPr>
            <a:cxnSpLocks/>
            <a:stCxn id="61" idx="3"/>
            <a:endCxn id="4" idx="3"/>
          </p:cNvCxnSpPr>
          <p:nvPr/>
        </p:nvCxnSpPr>
        <p:spPr>
          <a:xfrm flipV="1">
            <a:off x="8988724" y="3486756"/>
            <a:ext cx="1881905" cy="1620947"/>
          </a:xfrm>
          <a:prstGeom prst="curved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F0F81DB1-EBBB-4507-92E3-510AA29671D5}"/>
              </a:ext>
            </a:extLst>
          </p:cNvPr>
          <p:cNvSpPr txBox="1"/>
          <p:nvPr/>
        </p:nvSpPr>
        <p:spPr>
          <a:xfrm>
            <a:off x="10818879" y="3908670"/>
            <a:ext cx="7952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Latest</a:t>
            </a:r>
          </a:p>
          <a:p>
            <a:r>
              <a:rPr lang="en-NZ" dirty="0"/>
              <a:t>Events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73CAB87-A88A-42B9-98DC-813F783FA016}"/>
              </a:ext>
            </a:extLst>
          </p:cNvPr>
          <p:cNvSpPr txBox="1"/>
          <p:nvPr/>
        </p:nvSpPr>
        <p:spPr>
          <a:xfrm>
            <a:off x="9943289" y="1334345"/>
            <a:ext cx="7952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All</a:t>
            </a:r>
          </a:p>
          <a:p>
            <a:r>
              <a:rPr lang="en-NZ" dirty="0"/>
              <a:t>Events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8DFEF758-2C92-E4BD-78E7-3E25927FD3F7}"/>
              </a:ext>
            </a:extLst>
          </p:cNvPr>
          <p:cNvSpPr/>
          <p:nvPr/>
        </p:nvSpPr>
        <p:spPr>
          <a:xfrm>
            <a:off x="258792" y="1799703"/>
            <a:ext cx="1452205" cy="651812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Command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1C114535-C370-7D24-3C01-3A984872A0E4}"/>
              </a:ext>
            </a:extLst>
          </p:cNvPr>
          <p:cNvSpPr/>
          <p:nvPr/>
        </p:nvSpPr>
        <p:spPr>
          <a:xfrm flipH="1">
            <a:off x="258791" y="4518082"/>
            <a:ext cx="1452205" cy="698110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Response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2911F9D-2008-6F75-AD09-958F98B3EABB}"/>
              </a:ext>
            </a:extLst>
          </p:cNvPr>
          <p:cNvGrpSpPr/>
          <p:nvPr/>
        </p:nvGrpSpPr>
        <p:grpSpPr>
          <a:xfrm>
            <a:off x="7657965" y="5107703"/>
            <a:ext cx="4147191" cy="1641517"/>
            <a:chOff x="7657965" y="5107703"/>
            <a:chExt cx="4147191" cy="1641517"/>
          </a:xfrm>
        </p:grpSpPr>
        <p:sp>
          <p:nvSpPr>
            <p:cNvPr id="37" name="Flowchart: Magnetic Disk 36">
              <a:extLst>
                <a:ext uri="{FF2B5EF4-FFF2-40B4-BE49-F238E27FC236}">
                  <a16:creationId xmlns:a16="http://schemas.microsoft.com/office/drawing/2014/main" id="{B102C2AC-6373-4402-8CE7-B62033B8A64E}"/>
                </a:ext>
              </a:extLst>
            </p:cNvPr>
            <p:cNvSpPr/>
            <p:nvPr/>
          </p:nvSpPr>
          <p:spPr>
            <a:xfrm>
              <a:off x="9613353" y="5463885"/>
              <a:ext cx="868302" cy="1285335"/>
            </a:xfrm>
            <a:prstGeom prst="flowChartMagneticDisk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Read</a:t>
              </a:r>
            </a:p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Data Stores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54BA71D-8F30-491E-98A6-AC9C42DFA7F1}"/>
                </a:ext>
              </a:extLst>
            </p:cNvPr>
            <p:cNvSpPr txBox="1"/>
            <p:nvPr/>
          </p:nvSpPr>
          <p:spPr>
            <a:xfrm>
              <a:off x="7657965" y="6020963"/>
              <a:ext cx="196560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dirty="0"/>
                <a:t>1…n Projections /</a:t>
              </a:r>
            </a:p>
            <a:p>
              <a:r>
                <a:rPr lang="en-NZ" dirty="0"/>
                <a:t>Notifications</a:t>
              </a:r>
            </a:p>
          </p:txBody>
        </p:sp>
        <p:cxnSp>
          <p:nvCxnSpPr>
            <p:cNvPr id="43" name="Straight Arrow Connector 62">
              <a:extLst>
                <a:ext uri="{FF2B5EF4-FFF2-40B4-BE49-F238E27FC236}">
                  <a16:creationId xmlns:a16="http://schemas.microsoft.com/office/drawing/2014/main" id="{238F00D6-93F4-477B-9D2A-EFE9B4C286D0}"/>
                </a:ext>
              </a:extLst>
            </p:cNvPr>
            <p:cNvCxnSpPr>
              <a:cxnSpLocks/>
              <a:endCxn id="37" idx="0"/>
            </p:cNvCxnSpPr>
            <p:nvPr/>
          </p:nvCxnSpPr>
          <p:spPr>
            <a:xfrm>
              <a:off x="9074988" y="5297086"/>
              <a:ext cx="972516" cy="595244"/>
            </a:xfrm>
            <a:prstGeom prst="curvedConnector2">
              <a:avLst/>
            </a:prstGeom>
            <a:ln w="38100">
              <a:solidFill>
                <a:schemeClr val="tx1"/>
              </a:solidFill>
              <a:prstDash val="sysDot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Flowchart: Magnetic Disk 27">
              <a:extLst>
                <a:ext uri="{FF2B5EF4-FFF2-40B4-BE49-F238E27FC236}">
                  <a16:creationId xmlns:a16="http://schemas.microsoft.com/office/drawing/2014/main" id="{596EFD4B-F2CF-58D8-8204-B572CC3F3766}"/>
                </a:ext>
              </a:extLst>
            </p:cNvPr>
            <p:cNvSpPr/>
            <p:nvPr/>
          </p:nvSpPr>
          <p:spPr>
            <a:xfrm>
              <a:off x="10929666" y="6247793"/>
              <a:ext cx="868302" cy="496073"/>
            </a:xfrm>
            <a:prstGeom prst="flowChartMagneticDisk">
              <a:avLst/>
            </a:prstGeom>
            <a:solidFill>
              <a:schemeClr val="accent5">
                <a:lumMod val="75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27" name="Flowchart: Magnetic Disk 26">
              <a:extLst>
                <a:ext uri="{FF2B5EF4-FFF2-40B4-BE49-F238E27FC236}">
                  <a16:creationId xmlns:a16="http://schemas.microsoft.com/office/drawing/2014/main" id="{89E881D7-FAC8-C8DE-3A42-20A87152FBC2}"/>
                </a:ext>
              </a:extLst>
            </p:cNvPr>
            <p:cNvSpPr/>
            <p:nvPr/>
          </p:nvSpPr>
          <p:spPr>
            <a:xfrm>
              <a:off x="10929666" y="5821861"/>
              <a:ext cx="868302" cy="496073"/>
            </a:xfrm>
            <a:prstGeom prst="flowChartMagneticDisk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>
                  <a:solidFill>
                    <a:schemeClr val="tx1"/>
                  </a:solidFill>
                </a:rPr>
                <a:t>Message Broker</a:t>
              </a:r>
            </a:p>
          </p:txBody>
        </p:sp>
        <p:sp>
          <p:nvSpPr>
            <p:cNvPr id="42" name="Flowchart: Magnetic Disk 41">
              <a:extLst>
                <a:ext uri="{FF2B5EF4-FFF2-40B4-BE49-F238E27FC236}">
                  <a16:creationId xmlns:a16="http://schemas.microsoft.com/office/drawing/2014/main" id="{BAD3E9EB-BBF7-4AF1-954B-C5A2B89B125E}"/>
                </a:ext>
              </a:extLst>
            </p:cNvPr>
            <p:cNvSpPr/>
            <p:nvPr/>
          </p:nvSpPr>
          <p:spPr>
            <a:xfrm>
              <a:off x="10936854" y="5396257"/>
              <a:ext cx="868302" cy="496073"/>
            </a:xfrm>
            <a:prstGeom prst="flowChartMagneticDisk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54233B16-F081-4FD1-B7D6-D237A56C0033}"/>
                </a:ext>
              </a:extLst>
            </p:cNvPr>
            <p:cNvCxnSpPr>
              <a:cxnSpLocks/>
              <a:stCxn id="61" idx="3"/>
              <a:endCxn id="42" idx="0"/>
            </p:cNvCxnSpPr>
            <p:nvPr/>
          </p:nvCxnSpPr>
          <p:spPr>
            <a:xfrm>
              <a:off x="8988724" y="5107703"/>
              <a:ext cx="2382281" cy="453912"/>
            </a:xfrm>
            <a:prstGeom prst="curvedConnector2">
              <a:avLst/>
            </a:prstGeom>
            <a:ln w="38100">
              <a:solidFill>
                <a:schemeClr val="tx1"/>
              </a:solidFill>
              <a:prstDash val="sysDot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068940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1E3027-60B6-4CF9-BBA3-0496767BF1C1}"/>
              </a:ext>
            </a:extLst>
          </p:cNvPr>
          <p:cNvSpPr txBox="1"/>
          <p:nvPr/>
        </p:nvSpPr>
        <p:spPr>
          <a:xfrm>
            <a:off x="189780" y="198408"/>
            <a:ext cx="41392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Querying Persistence - Flows</a:t>
            </a:r>
          </a:p>
        </p:txBody>
      </p:sp>
      <p:sp>
        <p:nvSpPr>
          <p:cNvPr id="4" name="Flowchart: Magnetic Disk 3">
            <a:extLst>
              <a:ext uri="{FF2B5EF4-FFF2-40B4-BE49-F238E27FC236}">
                <a16:creationId xmlns:a16="http://schemas.microsoft.com/office/drawing/2014/main" id="{702DAB40-B886-4101-B309-C72141ACCD9D}"/>
              </a:ext>
            </a:extLst>
          </p:cNvPr>
          <p:cNvSpPr/>
          <p:nvPr/>
        </p:nvSpPr>
        <p:spPr>
          <a:xfrm>
            <a:off x="9890091" y="3562607"/>
            <a:ext cx="1854679" cy="128533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Read Store</a:t>
            </a:r>
          </a:p>
          <a:p>
            <a:pPr algn="ctr"/>
            <a:r>
              <a:rPr lang="en-NZ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IReadModelStore</a:t>
            </a:r>
            <a:endParaRPr lang="en-NZ" sz="14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5BE4E1A-A145-4568-8607-08E26FB0B510}"/>
              </a:ext>
            </a:extLst>
          </p:cNvPr>
          <p:cNvSpPr/>
          <p:nvPr/>
        </p:nvSpPr>
        <p:spPr>
          <a:xfrm>
            <a:off x="1710997" y="1052423"/>
            <a:ext cx="868301" cy="477040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/>
              <a:t>API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78325A-83EE-4718-B162-86D51927C665}"/>
              </a:ext>
            </a:extLst>
          </p:cNvPr>
          <p:cNvSpPr/>
          <p:nvPr/>
        </p:nvSpPr>
        <p:spPr>
          <a:xfrm>
            <a:off x="2579298" y="1052423"/>
            <a:ext cx="3516702" cy="4770407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/>
              <a:t>Application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DBB95CF-9416-46BB-81F8-E64723181DC3}"/>
              </a:ext>
            </a:extLst>
          </p:cNvPr>
          <p:cNvSpPr/>
          <p:nvPr/>
        </p:nvSpPr>
        <p:spPr>
          <a:xfrm>
            <a:off x="258792" y="1799703"/>
            <a:ext cx="1452205" cy="651812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Query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337F60C-C5F5-4023-B23B-0A77FC33C405}"/>
              </a:ext>
            </a:extLst>
          </p:cNvPr>
          <p:cNvSpPr/>
          <p:nvPr/>
        </p:nvSpPr>
        <p:spPr>
          <a:xfrm flipH="1">
            <a:off x="258791" y="4518082"/>
            <a:ext cx="1452205" cy="698110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Response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401CA83-84D9-42AA-80EF-011FC5F388A9}"/>
              </a:ext>
            </a:extLst>
          </p:cNvPr>
          <p:cNvSpPr/>
          <p:nvPr/>
        </p:nvSpPr>
        <p:spPr>
          <a:xfrm>
            <a:off x="1797261" y="1526874"/>
            <a:ext cx="695773" cy="3770212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NZ" sz="1400" dirty="0"/>
              <a:t>Service A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F5C7A6E-27CF-4318-9A6E-BB6FAB9A79D8}"/>
              </a:ext>
            </a:extLst>
          </p:cNvPr>
          <p:cNvSpPr/>
          <p:nvPr/>
        </p:nvSpPr>
        <p:spPr>
          <a:xfrm>
            <a:off x="2751826" y="1526876"/>
            <a:ext cx="3257910" cy="3770210"/>
          </a:xfrm>
          <a:prstGeom prst="roundRect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400" dirty="0"/>
              <a:t>Application 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50248B-FDC9-4272-BF1C-EAD3E3A031AD}"/>
              </a:ext>
            </a:extLst>
          </p:cNvPr>
          <p:cNvSpPr txBox="1"/>
          <p:nvPr/>
        </p:nvSpPr>
        <p:spPr>
          <a:xfrm>
            <a:off x="2832047" y="2194674"/>
            <a:ext cx="30974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NZ" dirty="0"/>
              <a:t>Fetch Read Models from Repository</a:t>
            </a:r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endParaRPr lang="en-NZ" dirty="0"/>
          </a:p>
          <a:p>
            <a:pPr marL="342900" indent="-342900">
              <a:buAutoNum type="arabicPeriod"/>
            </a:pPr>
            <a:r>
              <a:rPr lang="en-NZ" dirty="0"/>
              <a:t>Convert </a:t>
            </a:r>
            <a:r>
              <a:rPr lang="en-NZ" dirty="0" err="1"/>
              <a:t>ReadModels</a:t>
            </a:r>
            <a:r>
              <a:rPr lang="en-NZ" dirty="0"/>
              <a:t> to DTOs</a:t>
            </a:r>
          </a:p>
          <a:p>
            <a:pPr marL="342900" indent="-342900">
              <a:buAutoNum type="arabicPeriod"/>
            </a:pPr>
            <a:r>
              <a:rPr lang="en-NZ" dirty="0"/>
              <a:t>Return DTOs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0A3092B-6285-4D1E-819E-8B948E615204}"/>
              </a:ext>
            </a:extLst>
          </p:cNvPr>
          <p:cNvGrpSpPr/>
          <p:nvPr/>
        </p:nvGrpSpPr>
        <p:grpSpPr>
          <a:xfrm>
            <a:off x="6102912" y="1052424"/>
            <a:ext cx="2972076" cy="4770406"/>
            <a:chOff x="6096000" y="1052424"/>
            <a:chExt cx="2978988" cy="1390926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1A974AD-EA9A-4717-9831-ED4DCAA6110E}"/>
                </a:ext>
              </a:extLst>
            </p:cNvPr>
            <p:cNvSpPr/>
            <p:nvPr/>
          </p:nvSpPr>
          <p:spPr>
            <a:xfrm>
              <a:off x="6096000" y="1052424"/>
              <a:ext cx="2978988" cy="1390926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dirty="0"/>
                <a:t>Repository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841B5B1-A26A-4BD5-9C4B-35A378E388DE}"/>
                </a:ext>
              </a:extLst>
            </p:cNvPr>
            <p:cNvSpPr/>
            <p:nvPr/>
          </p:nvSpPr>
          <p:spPr>
            <a:xfrm>
              <a:off x="6182264" y="1190762"/>
              <a:ext cx="2806460" cy="1099295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1400" dirty="0"/>
                <a:t>Repository A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AB74415-2091-4DA4-A657-E282507423A2}"/>
                </a:ext>
              </a:extLst>
            </p:cNvPr>
            <p:cNvSpPr txBox="1"/>
            <p:nvPr/>
          </p:nvSpPr>
          <p:spPr>
            <a:xfrm>
              <a:off x="6302647" y="1315189"/>
              <a:ext cx="2402645" cy="238287"/>
            </a:xfrm>
            <a:prstGeom prst="round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NZ" sz="1400" dirty="0"/>
                <a:t>Fetch data properties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400" dirty="0"/>
                <a:t>Instantiate </a:t>
              </a:r>
              <a:r>
                <a:rPr lang="en-NZ" sz="1400" dirty="0" err="1"/>
                <a:t>ReadModel</a:t>
              </a:r>
              <a:endParaRPr lang="en-NZ" sz="1400" dirty="0"/>
            </a:p>
            <a:p>
              <a:pPr marL="342900" indent="-342900">
                <a:buFont typeface="+mj-lt"/>
                <a:buAutoNum type="arabicPeriod"/>
              </a:pPr>
              <a:r>
                <a:rPr lang="en-NZ" sz="1400" dirty="0"/>
                <a:t>Populate </a:t>
              </a:r>
              <a:r>
                <a:rPr lang="en-NZ" sz="1400" dirty="0" err="1"/>
                <a:t>ReadModel</a:t>
              </a:r>
              <a:endParaRPr lang="en-NZ" sz="1400" dirty="0"/>
            </a:p>
          </p:txBody>
        </p:sp>
      </p:grp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6F57D34-C51D-4D4C-A7B2-7D86F95374E3}"/>
              </a:ext>
            </a:extLst>
          </p:cNvPr>
          <p:cNvCxnSpPr>
            <a:cxnSpLocks/>
          </p:cNvCxnSpPr>
          <p:nvPr/>
        </p:nvCxnSpPr>
        <p:spPr>
          <a:xfrm flipV="1">
            <a:off x="5774818" y="2128751"/>
            <a:ext cx="573931" cy="32276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96E0C74-0894-4160-AB1F-56B9CD10AABE}"/>
              </a:ext>
            </a:extLst>
          </p:cNvPr>
          <p:cNvCxnSpPr>
            <a:cxnSpLocks/>
            <a:stCxn id="25" idx="3"/>
            <a:endCxn id="4" idx="1"/>
          </p:cNvCxnSpPr>
          <p:nvPr/>
        </p:nvCxnSpPr>
        <p:spPr>
          <a:xfrm>
            <a:off x="8988924" y="3411982"/>
            <a:ext cx="1828507" cy="150625"/>
          </a:xfrm>
          <a:prstGeom prst="curvedConnector2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8E1D9CA-20EF-4749-84E1-363E5E880BAF}"/>
              </a:ext>
            </a:extLst>
          </p:cNvPr>
          <p:cNvCxnSpPr>
            <a:cxnSpLocks/>
          </p:cNvCxnSpPr>
          <p:nvPr/>
        </p:nvCxnSpPr>
        <p:spPr>
          <a:xfrm flipH="1">
            <a:off x="1920240" y="4590107"/>
            <a:ext cx="911807" cy="2578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27902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DAEB2F-3F99-38F9-58D8-565624F4C20D}"/>
              </a:ext>
            </a:extLst>
          </p:cNvPr>
          <p:cNvSpPr txBox="1"/>
          <p:nvPr/>
        </p:nvSpPr>
        <p:spPr>
          <a:xfrm>
            <a:off x="267419" y="207034"/>
            <a:ext cx="48061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Snapshotting Persistence + CQRS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DE4E48C-9551-0753-C919-617F2EBDCBC8}"/>
              </a:ext>
            </a:extLst>
          </p:cNvPr>
          <p:cNvSpPr/>
          <p:nvPr/>
        </p:nvSpPr>
        <p:spPr>
          <a:xfrm>
            <a:off x="569343" y="799078"/>
            <a:ext cx="11500737" cy="960712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 err="1">
                <a:solidFill>
                  <a:schemeClr val="tx1"/>
                </a:solidFill>
              </a:rPr>
              <a:t>BookingsApplication</a:t>
            </a:r>
            <a:endParaRPr lang="en-NZ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9043FF8-5CEB-43D3-8766-512F9DEF65A9}"/>
              </a:ext>
            </a:extLst>
          </p:cNvPr>
          <p:cNvSpPr/>
          <p:nvPr/>
        </p:nvSpPr>
        <p:spPr>
          <a:xfrm>
            <a:off x="569343" y="2091754"/>
            <a:ext cx="1565595" cy="2161070"/>
          </a:xfrm>
          <a:prstGeom prst="roundRect">
            <a:avLst>
              <a:gd name="adj" fmla="val 4877"/>
            </a:avLst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BookingRepository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F181E63-45FA-50A5-9147-4F83F987EC01}"/>
              </a:ext>
            </a:extLst>
          </p:cNvPr>
          <p:cNvSpPr/>
          <p:nvPr/>
        </p:nvSpPr>
        <p:spPr>
          <a:xfrm>
            <a:off x="2279481" y="2091753"/>
            <a:ext cx="1565595" cy="1038357"/>
          </a:xfrm>
          <a:prstGeom prst="roundRect">
            <a:avLst>
              <a:gd name="adj" fmla="val 9034"/>
            </a:avLst>
          </a:prstGeom>
          <a:solidFill>
            <a:schemeClr val="accent4">
              <a:lumMod val="60000"/>
              <a:lumOff val="40000"/>
            </a:schemeClr>
          </a:solidFill>
          <a:ln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BookingRoot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86C1226-7BB1-4BDE-A753-E83E828EBD0D}"/>
              </a:ext>
            </a:extLst>
          </p:cNvPr>
          <p:cNvSpPr/>
          <p:nvPr/>
        </p:nvSpPr>
        <p:spPr>
          <a:xfrm>
            <a:off x="724621" y="2586823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SearchAllBookingsAsync</a:t>
            </a:r>
            <a:r>
              <a:rPr lang="en-NZ" sz="8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9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5288DEC-07B8-42A1-A818-30C77843CEC8}"/>
              </a:ext>
            </a:extLst>
          </p:cNvPr>
          <p:cNvSpPr/>
          <p:nvPr/>
        </p:nvSpPr>
        <p:spPr>
          <a:xfrm>
            <a:off x="724621" y="3159564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5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ISnapshottingQueryStore</a:t>
            </a:r>
            <a:endParaRPr lang="en-NZ" sz="600" b="1" dirty="0">
              <a:solidFill>
                <a:schemeClr val="tx1"/>
              </a:solidFill>
              <a:effectLst/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  <a:p>
            <a:pPr algn="ctr"/>
            <a:r>
              <a:rPr lang="en-NZ" sz="6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&lt;</a:t>
            </a:r>
            <a:r>
              <a:rPr lang="en-NZ" sz="6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ReadModels.Booking</a:t>
            </a:r>
            <a:r>
              <a:rPr lang="en-NZ" sz="6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&gt;.</a:t>
            </a:r>
          </a:p>
          <a:p>
            <a:pPr algn="ctr"/>
            <a:r>
              <a:rPr lang="en-NZ" sz="6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QueryAsync</a:t>
            </a:r>
            <a:r>
              <a:rPr lang="en-NZ" sz="6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5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59DA758-77EA-5160-B134-57EA97B4F469}"/>
              </a:ext>
            </a:extLst>
          </p:cNvPr>
          <p:cNvSpPr/>
          <p:nvPr/>
        </p:nvSpPr>
        <p:spPr>
          <a:xfrm>
            <a:off x="724621" y="3714562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7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IDataStore</a:t>
            </a:r>
            <a:r>
              <a:rPr lang="en-NZ" sz="7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n-NZ" sz="7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QueryAsync</a:t>
            </a:r>
            <a:r>
              <a:rPr lang="en-NZ" sz="7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6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A1DD7A8-2298-BB87-A252-37C77275532C}"/>
              </a:ext>
            </a:extLst>
          </p:cNvPr>
          <p:cNvSpPr/>
          <p:nvPr/>
        </p:nvSpPr>
        <p:spPr>
          <a:xfrm>
            <a:off x="2408877" y="2586823"/>
            <a:ext cx="1310830" cy="379563"/>
          </a:xfrm>
          <a:prstGeom prst="roundRect">
            <a:avLst/>
          </a:prstGeom>
          <a:solidFill>
            <a:schemeClr val="accent4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 err="1">
                <a:solidFill>
                  <a:schemeClr val="tx1"/>
                </a:solidFill>
                <a:ea typeface="Microsoft Sans Serif" panose="020B0604020202020204" pitchFamily="34" charset="0"/>
                <a:cs typeface="Courier New" panose="02070309020205020404" pitchFamily="49" charset="0"/>
              </a:rPr>
              <a:t>BookingRoot</a:t>
            </a:r>
            <a:endParaRPr lang="en-NZ" sz="1000" dirty="0">
              <a:solidFill>
                <a:schemeClr val="tx1"/>
              </a:solidFill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CD037BF-F665-9CCA-D882-0286A15FDBF2}"/>
              </a:ext>
            </a:extLst>
          </p:cNvPr>
          <p:cNvSpPr/>
          <p:nvPr/>
        </p:nvSpPr>
        <p:spPr>
          <a:xfrm>
            <a:off x="724621" y="1269369"/>
            <a:ext cx="2995084" cy="379563"/>
          </a:xfrm>
          <a:prstGeom prst="roundRect">
            <a:avLst/>
          </a:prstGeom>
          <a:solidFill>
            <a:srgbClr val="6F953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BookingsApplication</a:t>
            </a:r>
            <a:endParaRPr lang="en-NZ" sz="12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  <a:p>
            <a:pPr algn="ctr"/>
            <a:r>
              <a:rPr lang="en-NZ" sz="12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  <a:r>
              <a:rPr lang="en-NZ" sz="12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SearchAllBookingsAsync</a:t>
            </a:r>
            <a:r>
              <a:rPr lang="en-NZ" sz="12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2CF0DCF-22A4-8A7B-054E-5617E9C84D91}"/>
              </a:ext>
            </a:extLst>
          </p:cNvPr>
          <p:cNvSpPr/>
          <p:nvPr/>
        </p:nvSpPr>
        <p:spPr>
          <a:xfrm>
            <a:off x="4411553" y="1268939"/>
            <a:ext cx="7521367" cy="379563"/>
          </a:xfrm>
          <a:prstGeom prst="roundRect">
            <a:avLst/>
          </a:prstGeom>
          <a:solidFill>
            <a:srgbClr val="6F953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BookingsApplication.RescheduleBookingAsync</a:t>
            </a:r>
            <a:r>
              <a:rPr lang="en-NZ" sz="12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E393B95-3634-C4BC-23A7-CE1D4B77865B}"/>
              </a:ext>
            </a:extLst>
          </p:cNvPr>
          <p:cNvSpPr/>
          <p:nvPr/>
        </p:nvSpPr>
        <p:spPr>
          <a:xfrm>
            <a:off x="4256276" y="2118364"/>
            <a:ext cx="1565595" cy="2161070"/>
          </a:xfrm>
          <a:prstGeom prst="roundRect">
            <a:avLst>
              <a:gd name="adj" fmla="val 4877"/>
            </a:avLst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BookingRepository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7F85E77-F986-F1F4-D6C3-34C077D0047E}"/>
              </a:ext>
            </a:extLst>
          </p:cNvPr>
          <p:cNvSpPr/>
          <p:nvPr/>
        </p:nvSpPr>
        <p:spPr>
          <a:xfrm>
            <a:off x="5996894" y="2118363"/>
            <a:ext cx="1565595" cy="2161070"/>
          </a:xfrm>
          <a:prstGeom prst="roundRect">
            <a:avLst>
              <a:gd name="adj" fmla="val 9034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BookingRoot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FE894BB-3D38-C960-5977-D3D834BCC1BF}"/>
              </a:ext>
            </a:extLst>
          </p:cNvPr>
          <p:cNvSpPr/>
          <p:nvPr/>
        </p:nvSpPr>
        <p:spPr>
          <a:xfrm>
            <a:off x="4411554" y="2588655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GetBookingAsync</a:t>
            </a:r>
            <a:r>
              <a:rPr lang="en-NZ" sz="105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1E12456-B639-BAE2-7C93-B7BF49871B3D}"/>
              </a:ext>
            </a:extLst>
          </p:cNvPr>
          <p:cNvSpPr/>
          <p:nvPr/>
        </p:nvSpPr>
        <p:spPr>
          <a:xfrm>
            <a:off x="4411554" y="3156720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NZ" sz="6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ISnapshottingDddCommandStore</a:t>
            </a:r>
            <a:r>
              <a:rPr lang="en-NZ" sz="6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 </a:t>
            </a:r>
            <a:r>
              <a:rPr lang="en-NZ" sz="7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&lt;</a:t>
            </a:r>
            <a:r>
              <a:rPr lang="en-NZ" sz="7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BookingRoot</a:t>
            </a:r>
            <a:r>
              <a:rPr lang="en-NZ" sz="7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&gt;.</a:t>
            </a:r>
          </a:p>
          <a:p>
            <a:pPr algn="ctr"/>
            <a:r>
              <a:rPr lang="en-NZ" sz="7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GetAsync</a:t>
            </a:r>
            <a:r>
              <a:rPr lang="en-NZ" sz="7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6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F5DA3C3-731B-B772-E255-DBBC1DD82103}"/>
              </a:ext>
            </a:extLst>
          </p:cNvPr>
          <p:cNvSpPr/>
          <p:nvPr/>
        </p:nvSpPr>
        <p:spPr>
          <a:xfrm>
            <a:off x="4411554" y="3714562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IDataStore</a:t>
            </a:r>
            <a:r>
              <a:rPr lang="en-NZ" sz="9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n-NZ" sz="9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RetrieveAsync</a:t>
            </a:r>
            <a:r>
              <a:rPr lang="en-NZ" sz="9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8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818AD30-815A-06D8-AB69-F3E617CC6614}"/>
              </a:ext>
            </a:extLst>
          </p:cNvPr>
          <p:cNvSpPr/>
          <p:nvPr/>
        </p:nvSpPr>
        <p:spPr>
          <a:xfrm>
            <a:off x="6126290" y="2583062"/>
            <a:ext cx="1310830" cy="379563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Reschedule()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26776EF-DD06-F690-D278-8B5BEC8AD551}"/>
              </a:ext>
            </a:extLst>
          </p:cNvPr>
          <p:cNvSpPr/>
          <p:nvPr/>
        </p:nvSpPr>
        <p:spPr>
          <a:xfrm>
            <a:off x="6120638" y="3156720"/>
            <a:ext cx="1310830" cy="379563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Rehydrate()</a:t>
            </a:r>
          </a:p>
        </p:txBody>
      </p:sp>
      <p:sp>
        <p:nvSpPr>
          <p:cNvPr id="22" name="Cylinder 21">
            <a:extLst>
              <a:ext uri="{FF2B5EF4-FFF2-40B4-BE49-F238E27FC236}">
                <a16:creationId xmlns:a16="http://schemas.microsoft.com/office/drawing/2014/main" id="{4AD10D4C-839A-900D-1215-A092838D02C0}"/>
              </a:ext>
            </a:extLst>
          </p:cNvPr>
          <p:cNvSpPr/>
          <p:nvPr/>
        </p:nvSpPr>
        <p:spPr>
          <a:xfrm>
            <a:off x="569342" y="4641011"/>
            <a:ext cx="11500737" cy="2009955"/>
          </a:xfrm>
          <a:prstGeom prst="can">
            <a:avLst/>
          </a:prstGeom>
          <a:solidFill>
            <a:srgbClr val="A6001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NZ" sz="1400" dirty="0">
                <a:solidFill>
                  <a:schemeClr val="tx1"/>
                </a:solidFill>
              </a:rPr>
              <a:t>                   e.g. Azure SQL Server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06C5475-F9EA-4387-89D5-A0279791AF57}"/>
              </a:ext>
            </a:extLst>
          </p:cNvPr>
          <p:cNvSpPr/>
          <p:nvPr/>
        </p:nvSpPr>
        <p:spPr>
          <a:xfrm>
            <a:off x="1191490" y="5704580"/>
            <a:ext cx="8443357" cy="37956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snapshot_Bookings</a:t>
            </a:r>
            <a:endParaRPr lang="en-NZ" sz="11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98507877-43DD-A090-1AC4-6FF32FDCEF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136" y="5073931"/>
            <a:ext cx="286020" cy="319278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40F99C9-C6E3-F5EE-ADCE-98C231908EB1}"/>
              </a:ext>
            </a:extLst>
          </p:cNvPr>
          <p:cNvCxnSpPr>
            <a:cxnSpLocks/>
          </p:cNvCxnSpPr>
          <p:nvPr/>
        </p:nvCxnSpPr>
        <p:spPr>
          <a:xfrm>
            <a:off x="6015585" y="3062469"/>
            <a:ext cx="1546904" cy="0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A1FC213-C590-B7A0-796A-54B7AD93AF9C}"/>
              </a:ext>
            </a:extLst>
          </p:cNvPr>
          <p:cNvCxnSpPr/>
          <p:nvPr/>
        </p:nvCxnSpPr>
        <p:spPr>
          <a:xfrm>
            <a:off x="1976120" y="1648502"/>
            <a:ext cx="0" cy="9401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12F8A8F-F352-6B30-FC04-B57EAD33D402}"/>
              </a:ext>
            </a:extLst>
          </p:cNvPr>
          <p:cNvCxnSpPr/>
          <p:nvPr/>
        </p:nvCxnSpPr>
        <p:spPr>
          <a:xfrm>
            <a:off x="2513211" y="1648502"/>
            <a:ext cx="0" cy="9401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8AD49B7-652F-0A63-8340-2AB059103602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380036" y="2966386"/>
            <a:ext cx="0" cy="19317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1EB6347-9526-5101-7818-C0DA623E8B55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1380036" y="3539127"/>
            <a:ext cx="0" cy="1754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A36DBAD-5C7A-3FBD-5C2F-8CC05D01A59B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380036" y="4094125"/>
            <a:ext cx="0" cy="161045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1C8675E-8E29-5EE3-EB6F-25CCFF7C1B47}"/>
              </a:ext>
            </a:extLst>
          </p:cNvPr>
          <p:cNvCxnSpPr/>
          <p:nvPr/>
        </p:nvCxnSpPr>
        <p:spPr>
          <a:xfrm>
            <a:off x="5633720" y="1648502"/>
            <a:ext cx="0" cy="9401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982322C-DC07-C266-F6A4-2CFD531E2D1B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>
            <a:off x="5066969" y="3536283"/>
            <a:ext cx="0" cy="1782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F0E50D5-DDAF-6A84-3961-7F1187B95DB1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5066969" y="4094125"/>
            <a:ext cx="0" cy="161045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8F85A81-5B59-6852-8B07-E6A88457BF8E}"/>
              </a:ext>
            </a:extLst>
          </p:cNvPr>
          <p:cNvCxnSpPr>
            <a:cxnSpLocks/>
          </p:cNvCxnSpPr>
          <p:nvPr/>
        </p:nvCxnSpPr>
        <p:spPr>
          <a:xfrm>
            <a:off x="6217920" y="1651083"/>
            <a:ext cx="0" cy="9345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BA795C2-1971-5F82-801C-E26DA8808FE3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>
            <a:off x="5066969" y="2968218"/>
            <a:ext cx="0" cy="1885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F5A0660-FB9E-4C7B-B8B1-161E83E20E29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>
            <a:off x="5722384" y="3346502"/>
            <a:ext cx="39825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5EE65527-3E82-B827-BEBC-480C4C5330C9}"/>
              </a:ext>
            </a:extLst>
          </p:cNvPr>
          <p:cNvSpPr txBox="1"/>
          <p:nvPr/>
        </p:nvSpPr>
        <p:spPr>
          <a:xfrm>
            <a:off x="1352140" y="4345487"/>
            <a:ext cx="838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Query!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6B7F571-7014-353C-DC46-746A51A9D250}"/>
              </a:ext>
            </a:extLst>
          </p:cNvPr>
          <p:cNvCxnSpPr>
            <a:cxnSpLocks/>
          </p:cNvCxnSpPr>
          <p:nvPr/>
        </p:nvCxnSpPr>
        <p:spPr>
          <a:xfrm>
            <a:off x="4018280" y="668699"/>
            <a:ext cx="0" cy="383204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9F59105E-CBB0-7E08-66D1-5E730050D5A2}"/>
              </a:ext>
            </a:extLst>
          </p:cNvPr>
          <p:cNvSpPr/>
          <p:nvPr/>
        </p:nvSpPr>
        <p:spPr>
          <a:xfrm>
            <a:off x="8626707" y="2110576"/>
            <a:ext cx="1565595" cy="2161070"/>
          </a:xfrm>
          <a:prstGeom prst="roundRect">
            <a:avLst>
              <a:gd name="adj" fmla="val 4877"/>
            </a:avLst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BookingRepository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19BE5424-ED66-3233-C5CD-C4FC9CBD20A4}"/>
              </a:ext>
            </a:extLst>
          </p:cNvPr>
          <p:cNvSpPr/>
          <p:nvPr/>
        </p:nvSpPr>
        <p:spPr>
          <a:xfrm>
            <a:off x="10367325" y="2110575"/>
            <a:ext cx="1565595" cy="2161070"/>
          </a:xfrm>
          <a:prstGeom prst="roundRect">
            <a:avLst>
              <a:gd name="adj" fmla="val 9034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BookingRoot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B0A40663-C2C1-A471-5EDB-53194327EB9C}"/>
              </a:ext>
            </a:extLst>
          </p:cNvPr>
          <p:cNvSpPr/>
          <p:nvPr/>
        </p:nvSpPr>
        <p:spPr>
          <a:xfrm>
            <a:off x="8781985" y="2580867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UpdateBookingAsync</a:t>
            </a:r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95395D8E-3454-DD45-80B8-D09D880A881E}"/>
              </a:ext>
            </a:extLst>
          </p:cNvPr>
          <p:cNvSpPr/>
          <p:nvPr/>
        </p:nvSpPr>
        <p:spPr>
          <a:xfrm>
            <a:off x="8781985" y="3148932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NZ" sz="6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ISnapshottingDddCommandStore</a:t>
            </a:r>
            <a:r>
              <a:rPr lang="en-NZ" sz="6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 </a:t>
            </a:r>
            <a:r>
              <a:rPr lang="en-NZ" sz="7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&lt;</a:t>
            </a:r>
            <a:r>
              <a:rPr lang="en-NZ" sz="7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BookingRoot</a:t>
            </a:r>
            <a:r>
              <a:rPr lang="en-NZ" sz="7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&gt;.</a:t>
            </a:r>
          </a:p>
          <a:p>
            <a:pPr algn="ctr"/>
            <a:r>
              <a:rPr lang="en-NZ" sz="7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UpsertAsync</a:t>
            </a:r>
            <a:r>
              <a:rPr lang="en-NZ" sz="7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6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BD815BCA-9C53-139E-D5EA-08E7D12BBEBD}"/>
              </a:ext>
            </a:extLst>
          </p:cNvPr>
          <p:cNvSpPr/>
          <p:nvPr/>
        </p:nvSpPr>
        <p:spPr>
          <a:xfrm>
            <a:off x="8781985" y="3706774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IDataStore</a:t>
            </a:r>
            <a:r>
              <a:rPr lang="en-NZ" sz="9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n-NZ" sz="9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ReplaceAsync</a:t>
            </a:r>
            <a:r>
              <a:rPr lang="en-NZ" sz="9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8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C21B73C8-0142-2A3B-E1F5-B9C9880A1699}"/>
              </a:ext>
            </a:extLst>
          </p:cNvPr>
          <p:cNvSpPr/>
          <p:nvPr/>
        </p:nvSpPr>
        <p:spPr>
          <a:xfrm>
            <a:off x="10491069" y="3148932"/>
            <a:ext cx="1310830" cy="379563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Dehydrate()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E855CF0C-0666-BFBC-9CA0-896432E147E3}"/>
              </a:ext>
            </a:extLst>
          </p:cNvPr>
          <p:cNvCxnSpPr/>
          <p:nvPr/>
        </p:nvCxnSpPr>
        <p:spPr>
          <a:xfrm>
            <a:off x="10004151" y="1640714"/>
            <a:ext cx="0" cy="9401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FC016109-2DC9-BE65-26D8-677BCC453CB0}"/>
              </a:ext>
            </a:extLst>
          </p:cNvPr>
          <p:cNvCxnSpPr>
            <a:cxnSpLocks/>
            <a:stCxn id="68" idx="2"/>
            <a:endCxn id="69" idx="0"/>
          </p:cNvCxnSpPr>
          <p:nvPr/>
        </p:nvCxnSpPr>
        <p:spPr>
          <a:xfrm>
            <a:off x="9437400" y="3528495"/>
            <a:ext cx="0" cy="1782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0B36B066-095F-23F5-DB71-987535C8F900}"/>
              </a:ext>
            </a:extLst>
          </p:cNvPr>
          <p:cNvCxnSpPr>
            <a:cxnSpLocks/>
            <a:stCxn id="67" idx="2"/>
            <a:endCxn id="68" idx="0"/>
          </p:cNvCxnSpPr>
          <p:nvPr/>
        </p:nvCxnSpPr>
        <p:spPr>
          <a:xfrm>
            <a:off x="9437400" y="2960430"/>
            <a:ext cx="0" cy="1885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9CD508B0-ACBA-9F69-5D10-5718D7CB88F9}"/>
              </a:ext>
            </a:extLst>
          </p:cNvPr>
          <p:cNvCxnSpPr>
            <a:cxnSpLocks/>
            <a:stCxn id="68" idx="3"/>
            <a:endCxn id="71" idx="1"/>
          </p:cNvCxnSpPr>
          <p:nvPr/>
        </p:nvCxnSpPr>
        <p:spPr>
          <a:xfrm>
            <a:off x="10092815" y="3338714"/>
            <a:ext cx="39825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17B049A-7496-6F48-A550-53523EEBF32E}"/>
              </a:ext>
            </a:extLst>
          </p:cNvPr>
          <p:cNvSpPr txBox="1"/>
          <p:nvPr/>
        </p:nvSpPr>
        <p:spPr>
          <a:xfrm>
            <a:off x="5066969" y="1758994"/>
            <a:ext cx="5970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Get!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DA8F8F0-6155-A744-4EAA-27DF31C3C4C4}"/>
              </a:ext>
            </a:extLst>
          </p:cNvPr>
          <p:cNvSpPr txBox="1"/>
          <p:nvPr/>
        </p:nvSpPr>
        <p:spPr>
          <a:xfrm>
            <a:off x="6198705" y="1754183"/>
            <a:ext cx="5245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Do!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C6D9AD0-12AF-0C5B-1E11-284D0F15AECC}"/>
              </a:ext>
            </a:extLst>
          </p:cNvPr>
          <p:cNvSpPr txBox="1"/>
          <p:nvPr/>
        </p:nvSpPr>
        <p:spPr>
          <a:xfrm>
            <a:off x="9335788" y="1750970"/>
            <a:ext cx="689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Save!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9623056-61E2-26C8-7323-7B93A4352642}"/>
              </a:ext>
            </a:extLst>
          </p:cNvPr>
          <p:cNvSpPr txBox="1"/>
          <p:nvPr/>
        </p:nvSpPr>
        <p:spPr>
          <a:xfrm>
            <a:off x="1082499" y="1732268"/>
            <a:ext cx="888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Search!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D0E5EBB-A30D-E60C-FF21-D67C4F7E04AE}"/>
              </a:ext>
            </a:extLst>
          </p:cNvPr>
          <p:cNvSpPr txBox="1"/>
          <p:nvPr/>
        </p:nvSpPr>
        <p:spPr>
          <a:xfrm>
            <a:off x="4375418" y="4279433"/>
            <a:ext cx="728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Read!</a:t>
            </a: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1255BCAE-F0D9-C610-7558-F9C175A3737E}"/>
              </a:ext>
            </a:extLst>
          </p:cNvPr>
          <p:cNvCxnSpPr>
            <a:cxnSpLocks/>
            <a:stCxn id="69" idx="2"/>
          </p:cNvCxnSpPr>
          <p:nvPr/>
        </p:nvCxnSpPr>
        <p:spPr>
          <a:xfrm>
            <a:off x="9437400" y="4086337"/>
            <a:ext cx="0" cy="161824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EE0D591-F481-F8F0-6DD3-5BA77F8B319B}"/>
              </a:ext>
            </a:extLst>
          </p:cNvPr>
          <p:cNvSpPr txBox="1"/>
          <p:nvPr/>
        </p:nvSpPr>
        <p:spPr>
          <a:xfrm>
            <a:off x="8661778" y="4275482"/>
            <a:ext cx="781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Write!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52855B1-B7B5-E337-7289-17B9505B9F98}"/>
              </a:ext>
            </a:extLst>
          </p:cNvPr>
          <p:cNvSpPr txBox="1"/>
          <p:nvPr/>
        </p:nvSpPr>
        <p:spPr>
          <a:xfrm>
            <a:off x="7156837" y="2544779"/>
            <a:ext cx="413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3600" dirty="0"/>
              <a:t>*</a:t>
            </a:r>
          </a:p>
        </p:txBody>
      </p:sp>
      <p:pic>
        <p:nvPicPr>
          <p:cNvPr id="12" name="Graphic 11" descr="Close with solid fill">
            <a:extLst>
              <a:ext uri="{FF2B5EF4-FFF2-40B4-BE49-F238E27FC236}">
                <a16:creationId xmlns:a16="http://schemas.microsoft.com/office/drawing/2014/main" id="{B7C6575F-24B8-0516-D59C-9F09A55FCF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49606" y="1635542"/>
            <a:ext cx="1880042" cy="1880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989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ylinder 10">
            <a:extLst>
              <a:ext uri="{FF2B5EF4-FFF2-40B4-BE49-F238E27FC236}">
                <a16:creationId xmlns:a16="http://schemas.microsoft.com/office/drawing/2014/main" id="{93F979F1-B308-3D08-C3FF-B36B5C16AE30}"/>
              </a:ext>
            </a:extLst>
          </p:cNvPr>
          <p:cNvSpPr/>
          <p:nvPr/>
        </p:nvSpPr>
        <p:spPr>
          <a:xfrm>
            <a:off x="569342" y="4641011"/>
            <a:ext cx="11500737" cy="2009955"/>
          </a:xfrm>
          <a:prstGeom prst="can">
            <a:avLst/>
          </a:prstGeom>
          <a:solidFill>
            <a:srgbClr val="A6001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NZ" sz="1400" dirty="0">
                <a:solidFill>
                  <a:schemeClr val="tx1"/>
                </a:solidFill>
              </a:rPr>
              <a:t>                   e.g. Azure SQL Server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AFA4F25-36DD-C614-9EA6-5305BCF6CD65}"/>
              </a:ext>
            </a:extLst>
          </p:cNvPr>
          <p:cNvSpPr/>
          <p:nvPr/>
        </p:nvSpPr>
        <p:spPr>
          <a:xfrm>
            <a:off x="828137" y="5456503"/>
            <a:ext cx="3016940" cy="37956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readmodel_AllCars_v1</a:t>
            </a:r>
            <a:endParaRPr lang="en-NZ" sz="11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446DD0E-3E56-0E5D-5263-7EB10C79F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136" y="5073931"/>
            <a:ext cx="286020" cy="319278"/>
          </a:xfrm>
          <a:prstGeom prst="rect">
            <a:avLst/>
          </a:prstGeom>
        </p:spPr>
      </p:pic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D9A34A6-53ED-0FD6-8787-45A96CA465E0}"/>
              </a:ext>
            </a:extLst>
          </p:cNvPr>
          <p:cNvSpPr/>
          <p:nvPr/>
        </p:nvSpPr>
        <p:spPr>
          <a:xfrm>
            <a:off x="6073188" y="5457103"/>
            <a:ext cx="5532950" cy="9814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events_Cars</a:t>
            </a:r>
            <a:endParaRPr lang="en-NZ" sz="11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61881854-C7AA-D93F-5EAF-C58C3CD4CBF5}"/>
              </a:ext>
            </a:extLst>
          </p:cNvPr>
          <p:cNvSpPr/>
          <p:nvPr/>
        </p:nvSpPr>
        <p:spPr>
          <a:xfrm>
            <a:off x="828137" y="5891808"/>
            <a:ext cx="3016940" cy="37956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readmodel_AvailableCars_v1</a:t>
            </a:r>
            <a:endParaRPr lang="en-NZ" sz="11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80B974B2-0265-6C07-E385-AE155E6D4716}"/>
              </a:ext>
            </a:extLst>
          </p:cNvPr>
          <p:cNvSpPr/>
          <p:nvPr/>
        </p:nvSpPr>
        <p:spPr>
          <a:xfrm>
            <a:off x="7760512" y="5867400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1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2F25EC72-E6C9-DB4A-30C7-D2B821E8A5EC}"/>
              </a:ext>
            </a:extLst>
          </p:cNvPr>
          <p:cNvSpPr/>
          <p:nvPr/>
        </p:nvSpPr>
        <p:spPr>
          <a:xfrm>
            <a:off x="8065312" y="5867400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2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BA26A472-9733-6D8A-8F7D-E0C325C02FF7}"/>
              </a:ext>
            </a:extLst>
          </p:cNvPr>
          <p:cNvSpPr/>
          <p:nvPr/>
        </p:nvSpPr>
        <p:spPr>
          <a:xfrm>
            <a:off x="8376012" y="5867400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3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8C227D84-8F2A-1778-42C3-4912B1A796D8}"/>
              </a:ext>
            </a:extLst>
          </p:cNvPr>
          <p:cNvSpPr/>
          <p:nvPr/>
        </p:nvSpPr>
        <p:spPr>
          <a:xfrm>
            <a:off x="8686712" y="5867400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4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B5DB225B-8748-B2F6-09CC-E8D56F6A6503}"/>
              </a:ext>
            </a:extLst>
          </p:cNvPr>
          <p:cNvSpPr/>
          <p:nvPr/>
        </p:nvSpPr>
        <p:spPr>
          <a:xfrm>
            <a:off x="8992332" y="5867399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5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4D304F90-D070-0777-64A1-01B3A7747C22}"/>
              </a:ext>
            </a:extLst>
          </p:cNvPr>
          <p:cNvSpPr/>
          <p:nvPr/>
        </p:nvSpPr>
        <p:spPr>
          <a:xfrm>
            <a:off x="9297132" y="5867399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6</a:t>
            </a: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68C454D5-D856-1639-C97D-D7A76182A4F9}"/>
              </a:ext>
            </a:extLst>
          </p:cNvPr>
          <p:cNvSpPr/>
          <p:nvPr/>
        </p:nvSpPr>
        <p:spPr>
          <a:xfrm>
            <a:off x="9607832" y="5867399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7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29F7B7BF-A9BC-32E2-89AE-F0EB7CE6F20F}"/>
              </a:ext>
            </a:extLst>
          </p:cNvPr>
          <p:cNvSpPr/>
          <p:nvPr/>
        </p:nvSpPr>
        <p:spPr>
          <a:xfrm>
            <a:off x="9918532" y="5867399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8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880AB82F-BB9B-427E-46FF-1E574735B859}"/>
              </a:ext>
            </a:extLst>
          </p:cNvPr>
          <p:cNvSpPr/>
          <p:nvPr/>
        </p:nvSpPr>
        <p:spPr>
          <a:xfrm>
            <a:off x="10224152" y="5867399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9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340F4708-A22D-1012-D005-C70B7DB28442}"/>
              </a:ext>
            </a:extLst>
          </p:cNvPr>
          <p:cNvSpPr/>
          <p:nvPr/>
        </p:nvSpPr>
        <p:spPr>
          <a:xfrm>
            <a:off x="10528952" y="5867399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.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9BD80FC2-1A04-4FF0-BB6B-F6F57E74C8C1}"/>
              </a:ext>
            </a:extLst>
          </p:cNvPr>
          <p:cNvSpPr/>
          <p:nvPr/>
        </p:nvSpPr>
        <p:spPr>
          <a:xfrm>
            <a:off x="10839652" y="5867399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.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5424AE0-DF2E-3CD0-A5A5-2E4D31EC4AAD}"/>
              </a:ext>
            </a:extLst>
          </p:cNvPr>
          <p:cNvSpPr/>
          <p:nvPr/>
        </p:nvSpPr>
        <p:spPr>
          <a:xfrm>
            <a:off x="11150352" y="5867399"/>
            <a:ext cx="228600" cy="43326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NZ" sz="1400" dirty="0"/>
              <a:t>28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DAEB2F-3F99-38F9-58D8-565624F4C20D}"/>
              </a:ext>
            </a:extLst>
          </p:cNvPr>
          <p:cNvSpPr txBox="1"/>
          <p:nvPr/>
        </p:nvSpPr>
        <p:spPr>
          <a:xfrm>
            <a:off x="267419" y="207034"/>
            <a:ext cx="4960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 err="1"/>
              <a:t>EventSourcing</a:t>
            </a:r>
            <a:r>
              <a:rPr lang="en-NZ" sz="2400" dirty="0"/>
              <a:t> Persistence + CQRS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DE4E48C-9551-0753-C919-617F2EBDCBC8}"/>
              </a:ext>
            </a:extLst>
          </p:cNvPr>
          <p:cNvSpPr/>
          <p:nvPr/>
        </p:nvSpPr>
        <p:spPr>
          <a:xfrm>
            <a:off x="569343" y="799078"/>
            <a:ext cx="11500737" cy="960712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 err="1">
                <a:solidFill>
                  <a:schemeClr val="tx1"/>
                </a:solidFill>
              </a:rPr>
              <a:t>CarsApplication</a:t>
            </a:r>
            <a:endParaRPr lang="en-NZ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9043FF8-5CEB-43D3-8766-512F9DEF65A9}"/>
              </a:ext>
            </a:extLst>
          </p:cNvPr>
          <p:cNvSpPr/>
          <p:nvPr/>
        </p:nvSpPr>
        <p:spPr>
          <a:xfrm>
            <a:off x="569343" y="2091754"/>
            <a:ext cx="1565595" cy="2161070"/>
          </a:xfrm>
          <a:prstGeom prst="roundRect">
            <a:avLst>
              <a:gd name="adj" fmla="val 4877"/>
            </a:avLst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CarRepository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F181E63-45FA-50A5-9147-4F83F987EC01}"/>
              </a:ext>
            </a:extLst>
          </p:cNvPr>
          <p:cNvSpPr/>
          <p:nvPr/>
        </p:nvSpPr>
        <p:spPr>
          <a:xfrm>
            <a:off x="2279481" y="2091753"/>
            <a:ext cx="1565595" cy="1038357"/>
          </a:xfrm>
          <a:prstGeom prst="roundRect">
            <a:avLst>
              <a:gd name="adj" fmla="val 9034"/>
            </a:avLst>
          </a:prstGeom>
          <a:solidFill>
            <a:schemeClr val="accent4">
              <a:lumMod val="60000"/>
              <a:lumOff val="40000"/>
            </a:schemeClr>
          </a:solidFill>
          <a:ln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CarRoot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86C1226-7BB1-4BDE-A753-E83E828EBD0D}"/>
              </a:ext>
            </a:extLst>
          </p:cNvPr>
          <p:cNvSpPr/>
          <p:nvPr/>
        </p:nvSpPr>
        <p:spPr>
          <a:xfrm>
            <a:off x="724621" y="2586823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SearchAllCarsAsync</a:t>
            </a:r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5288DEC-07B8-42A1-A818-30C77843CEC8}"/>
              </a:ext>
            </a:extLst>
          </p:cNvPr>
          <p:cNvSpPr/>
          <p:nvPr/>
        </p:nvSpPr>
        <p:spPr>
          <a:xfrm>
            <a:off x="724621" y="3159564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5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ISnapshottingQueryStore</a:t>
            </a:r>
            <a:endParaRPr lang="en-NZ" sz="800" b="1" dirty="0">
              <a:solidFill>
                <a:schemeClr val="tx1"/>
              </a:solidFill>
              <a:effectLst/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  <a:p>
            <a:pPr algn="ctr"/>
            <a:r>
              <a:rPr lang="en-NZ" sz="6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&lt;</a:t>
            </a:r>
            <a:r>
              <a:rPr lang="en-NZ" sz="6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ReadModels.Car</a:t>
            </a:r>
            <a:r>
              <a:rPr lang="en-NZ" sz="6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&gt;.</a:t>
            </a:r>
          </a:p>
          <a:p>
            <a:pPr algn="ctr"/>
            <a:r>
              <a:rPr lang="en-NZ" sz="6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QueryAsync</a:t>
            </a:r>
            <a:r>
              <a:rPr lang="en-NZ" sz="6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5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59DA758-77EA-5160-B134-57EA97B4F469}"/>
              </a:ext>
            </a:extLst>
          </p:cNvPr>
          <p:cNvSpPr/>
          <p:nvPr/>
        </p:nvSpPr>
        <p:spPr>
          <a:xfrm>
            <a:off x="724621" y="3714562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IDataStore</a:t>
            </a:r>
            <a:r>
              <a:rPr lang="en-NZ" sz="9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n-NZ" sz="9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QueryAsync</a:t>
            </a:r>
            <a:r>
              <a:rPr lang="en-NZ" sz="9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8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A1DD7A8-2298-BB87-A252-37C77275532C}"/>
              </a:ext>
            </a:extLst>
          </p:cNvPr>
          <p:cNvSpPr/>
          <p:nvPr/>
        </p:nvSpPr>
        <p:spPr>
          <a:xfrm>
            <a:off x="2408877" y="2586823"/>
            <a:ext cx="1310830" cy="379563"/>
          </a:xfrm>
          <a:prstGeom prst="roundRect">
            <a:avLst/>
          </a:prstGeom>
          <a:solidFill>
            <a:schemeClr val="accent4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100" dirty="0" err="1">
                <a:solidFill>
                  <a:schemeClr val="tx1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CarRoot</a:t>
            </a:r>
            <a:endParaRPr lang="en-NZ" sz="1100" dirty="0">
              <a:solidFill>
                <a:schemeClr val="tx1"/>
              </a:solidFill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CD037BF-F665-9CCA-D882-0286A15FDBF2}"/>
              </a:ext>
            </a:extLst>
          </p:cNvPr>
          <p:cNvSpPr/>
          <p:nvPr/>
        </p:nvSpPr>
        <p:spPr>
          <a:xfrm>
            <a:off x="724621" y="1269369"/>
            <a:ext cx="2995084" cy="379563"/>
          </a:xfrm>
          <a:prstGeom prst="roundRect">
            <a:avLst/>
          </a:prstGeom>
          <a:solidFill>
            <a:srgbClr val="6F953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CarsApplication</a:t>
            </a:r>
            <a:endParaRPr lang="en-NZ" sz="12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  <a:p>
            <a:pPr algn="ctr"/>
            <a:r>
              <a:rPr lang="en-NZ" sz="12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  <a:r>
              <a:rPr lang="en-NZ" sz="12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SearchAllAsync</a:t>
            </a:r>
            <a:r>
              <a:rPr lang="en-NZ" sz="12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 ()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2CF0DCF-22A4-8A7B-054E-5617E9C84D91}"/>
              </a:ext>
            </a:extLst>
          </p:cNvPr>
          <p:cNvSpPr/>
          <p:nvPr/>
        </p:nvSpPr>
        <p:spPr>
          <a:xfrm>
            <a:off x="4411553" y="1268939"/>
            <a:ext cx="7521367" cy="379563"/>
          </a:xfrm>
          <a:prstGeom prst="roundRect">
            <a:avLst/>
          </a:prstGeom>
          <a:solidFill>
            <a:srgbClr val="6F953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CarsApplication.ScheduleMaintenanceAsync</a:t>
            </a:r>
            <a:r>
              <a:rPr lang="en-NZ" sz="12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E393B95-3634-C4BC-23A7-CE1D4B77865B}"/>
              </a:ext>
            </a:extLst>
          </p:cNvPr>
          <p:cNvSpPr/>
          <p:nvPr/>
        </p:nvSpPr>
        <p:spPr>
          <a:xfrm>
            <a:off x="5728805" y="2118364"/>
            <a:ext cx="1565595" cy="2161070"/>
          </a:xfrm>
          <a:prstGeom prst="roundRect">
            <a:avLst>
              <a:gd name="adj" fmla="val 4877"/>
            </a:avLst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CarRepository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7F85E77-F986-F1F4-D6C3-34C077D0047E}"/>
              </a:ext>
            </a:extLst>
          </p:cNvPr>
          <p:cNvSpPr/>
          <p:nvPr/>
        </p:nvSpPr>
        <p:spPr>
          <a:xfrm>
            <a:off x="7469423" y="2118363"/>
            <a:ext cx="2266640" cy="2161070"/>
          </a:xfrm>
          <a:prstGeom prst="roundRect">
            <a:avLst>
              <a:gd name="adj" fmla="val 9034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CarRoot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FE894BB-3D38-C960-5977-D3D834BCC1BF}"/>
              </a:ext>
            </a:extLst>
          </p:cNvPr>
          <p:cNvSpPr/>
          <p:nvPr/>
        </p:nvSpPr>
        <p:spPr>
          <a:xfrm>
            <a:off x="5884083" y="2588655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LoadAsync</a:t>
            </a:r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1E12456-B639-BAE2-7C93-B7BF49871B3D}"/>
              </a:ext>
            </a:extLst>
          </p:cNvPr>
          <p:cNvSpPr/>
          <p:nvPr/>
        </p:nvSpPr>
        <p:spPr>
          <a:xfrm>
            <a:off x="5884083" y="3156720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IEventSourcingDddCommandStore</a:t>
            </a:r>
            <a:r>
              <a:rPr lang="en-NZ" sz="8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&lt;</a:t>
            </a:r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CarRoot</a:t>
            </a:r>
            <a:r>
              <a:rPr lang="en-NZ" sz="8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&gt;.</a:t>
            </a:r>
          </a:p>
          <a:p>
            <a:pPr algn="ctr"/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LoadAsync</a:t>
            </a:r>
            <a:r>
              <a:rPr lang="en-NZ" sz="8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7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F5DA3C3-731B-B772-E255-DBBC1DD82103}"/>
              </a:ext>
            </a:extLst>
          </p:cNvPr>
          <p:cNvSpPr/>
          <p:nvPr/>
        </p:nvSpPr>
        <p:spPr>
          <a:xfrm>
            <a:off x="5884083" y="3714562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IEventStore</a:t>
            </a:r>
            <a:r>
              <a:rPr lang="en-NZ" sz="9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n-NZ" sz="9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GetEventStreamAsync</a:t>
            </a:r>
            <a:r>
              <a:rPr lang="en-NZ" sz="9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8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818AD30-815A-06D8-AB69-F3E617CC6614}"/>
              </a:ext>
            </a:extLst>
          </p:cNvPr>
          <p:cNvSpPr/>
          <p:nvPr/>
        </p:nvSpPr>
        <p:spPr>
          <a:xfrm>
            <a:off x="7598819" y="2583062"/>
            <a:ext cx="1310830" cy="379563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ScheduleMaintenance</a:t>
            </a:r>
            <a:r>
              <a:rPr lang="en-NZ" sz="8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26776EF-DD06-F690-D278-8B5BEC8AD551}"/>
              </a:ext>
            </a:extLst>
          </p:cNvPr>
          <p:cNvSpPr/>
          <p:nvPr/>
        </p:nvSpPr>
        <p:spPr>
          <a:xfrm>
            <a:off x="7593167" y="3156720"/>
            <a:ext cx="1310830" cy="379563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OnStateChanged</a:t>
            </a:r>
            <a:r>
              <a:rPr lang="en-NZ" sz="9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(event) x28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40F99C9-C6E3-F5EE-ADCE-98C231908EB1}"/>
              </a:ext>
            </a:extLst>
          </p:cNvPr>
          <p:cNvCxnSpPr>
            <a:cxnSpLocks/>
          </p:cNvCxnSpPr>
          <p:nvPr/>
        </p:nvCxnSpPr>
        <p:spPr>
          <a:xfrm>
            <a:off x="7488114" y="3062469"/>
            <a:ext cx="1546904" cy="0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A1FC213-C590-B7A0-796A-54B7AD93AF9C}"/>
              </a:ext>
            </a:extLst>
          </p:cNvPr>
          <p:cNvCxnSpPr/>
          <p:nvPr/>
        </p:nvCxnSpPr>
        <p:spPr>
          <a:xfrm>
            <a:off x="1976120" y="1648502"/>
            <a:ext cx="0" cy="9401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12F8A8F-F352-6B30-FC04-B57EAD33D402}"/>
              </a:ext>
            </a:extLst>
          </p:cNvPr>
          <p:cNvCxnSpPr/>
          <p:nvPr/>
        </p:nvCxnSpPr>
        <p:spPr>
          <a:xfrm>
            <a:off x="2516306" y="1648502"/>
            <a:ext cx="0" cy="9401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8AD49B7-652F-0A63-8340-2AB059103602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380036" y="2966386"/>
            <a:ext cx="0" cy="19317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1EB6347-9526-5101-7818-C0DA623E8B55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1380036" y="3539127"/>
            <a:ext cx="0" cy="1754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A36DBAD-5C7A-3FBD-5C2F-8CC05D01A59B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380036" y="4094125"/>
            <a:ext cx="0" cy="161045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1C8675E-8E29-5EE3-EB6F-25CCFF7C1B47}"/>
              </a:ext>
            </a:extLst>
          </p:cNvPr>
          <p:cNvCxnSpPr/>
          <p:nvPr/>
        </p:nvCxnSpPr>
        <p:spPr>
          <a:xfrm>
            <a:off x="7106249" y="1648502"/>
            <a:ext cx="0" cy="9401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982322C-DC07-C266-F6A4-2CFD531E2D1B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>
            <a:off x="6539498" y="3536283"/>
            <a:ext cx="0" cy="1782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F0E50D5-DDAF-6A84-3961-7F1187B95DB1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6539498" y="4094125"/>
            <a:ext cx="0" cy="161045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8F85A81-5B59-6852-8B07-E6A88457BF8E}"/>
              </a:ext>
            </a:extLst>
          </p:cNvPr>
          <p:cNvCxnSpPr>
            <a:cxnSpLocks/>
          </p:cNvCxnSpPr>
          <p:nvPr/>
        </p:nvCxnSpPr>
        <p:spPr>
          <a:xfrm>
            <a:off x="7690449" y="1651083"/>
            <a:ext cx="0" cy="9345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BA795C2-1971-5F82-801C-E26DA8808FE3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>
            <a:off x="6539498" y="2968218"/>
            <a:ext cx="0" cy="1885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F5A0660-FB9E-4C7B-B8B1-161E83E20E29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>
            <a:off x="7194913" y="3346502"/>
            <a:ext cx="39825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5EE65527-3E82-B827-BEBC-480C4C5330C9}"/>
              </a:ext>
            </a:extLst>
          </p:cNvPr>
          <p:cNvSpPr txBox="1"/>
          <p:nvPr/>
        </p:nvSpPr>
        <p:spPr>
          <a:xfrm>
            <a:off x="1352140" y="4345487"/>
            <a:ext cx="838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Query!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6B7F571-7014-353C-DC46-746A51A9D250}"/>
              </a:ext>
            </a:extLst>
          </p:cNvPr>
          <p:cNvCxnSpPr>
            <a:cxnSpLocks/>
          </p:cNvCxnSpPr>
          <p:nvPr/>
        </p:nvCxnSpPr>
        <p:spPr>
          <a:xfrm>
            <a:off x="4043680" y="668699"/>
            <a:ext cx="0" cy="613342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9F59105E-CBB0-7E08-66D1-5E730050D5A2}"/>
              </a:ext>
            </a:extLst>
          </p:cNvPr>
          <p:cNvSpPr/>
          <p:nvPr/>
        </p:nvSpPr>
        <p:spPr>
          <a:xfrm>
            <a:off x="9890956" y="2110576"/>
            <a:ext cx="1565595" cy="2161070"/>
          </a:xfrm>
          <a:prstGeom prst="roundRect">
            <a:avLst>
              <a:gd name="adj" fmla="val 4877"/>
            </a:avLst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200" dirty="0" err="1">
                <a:solidFill>
                  <a:schemeClr val="tx1"/>
                </a:solidFill>
              </a:rPr>
              <a:t>CarRepository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B0A40663-C2C1-A471-5EDB-53194327EB9C}"/>
              </a:ext>
            </a:extLst>
          </p:cNvPr>
          <p:cNvSpPr/>
          <p:nvPr/>
        </p:nvSpPr>
        <p:spPr>
          <a:xfrm>
            <a:off x="10046234" y="2580867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SaveAsync</a:t>
            </a:r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95395D8E-3454-DD45-80B8-D09D880A881E}"/>
              </a:ext>
            </a:extLst>
          </p:cNvPr>
          <p:cNvSpPr/>
          <p:nvPr/>
        </p:nvSpPr>
        <p:spPr>
          <a:xfrm>
            <a:off x="10046234" y="3148932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IEventSourcingDddCommandStore</a:t>
            </a:r>
            <a:r>
              <a:rPr lang="en-NZ" sz="8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&lt;</a:t>
            </a:r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CarRoot</a:t>
            </a:r>
            <a:r>
              <a:rPr lang="en-NZ" sz="8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&gt;.</a:t>
            </a:r>
          </a:p>
          <a:p>
            <a:pPr algn="ctr"/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SaveAsync</a:t>
            </a:r>
            <a:r>
              <a:rPr lang="en-NZ" sz="8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7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BD815BCA-9C53-139E-D5EA-08E7D12BBEBD}"/>
              </a:ext>
            </a:extLst>
          </p:cNvPr>
          <p:cNvSpPr/>
          <p:nvPr/>
        </p:nvSpPr>
        <p:spPr>
          <a:xfrm>
            <a:off x="10046234" y="3706774"/>
            <a:ext cx="1310830" cy="37956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IEventStore</a:t>
            </a:r>
            <a:r>
              <a:rPr lang="en-NZ" sz="8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n-NZ" sz="800" b="1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AddEventsAsync</a:t>
            </a:r>
            <a:r>
              <a:rPr lang="en-NZ" sz="800" b="1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7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E855CF0C-0666-BFBC-9CA0-896432E147E3}"/>
              </a:ext>
            </a:extLst>
          </p:cNvPr>
          <p:cNvCxnSpPr/>
          <p:nvPr/>
        </p:nvCxnSpPr>
        <p:spPr>
          <a:xfrm>
            <a:off x="10204889" y="1658109"/>
            <a:ext cx="0" cy="9401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FC016109-2DC9-BE65-26D8-677BCC453CB0}"/>
              </a:ext>
            </a:extLst>
          </p:cNvPr>
          <p:cNvCxnSpPr>
            <a:cxnSpLocks/>
            <a:stCxn id="68" idx="2"/>
            <a:endCxn id="69" idx="0"/>
          </p:cNvCxnSpPr>
          <p:nvPr/>
        </p:nvCxnSpPr>
        <p:spPr>
          <a:xfrm>
            <a:off x="10701649" y="3528495"/>
            <a:ext cx="0" cy="1782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0B36B066-095F-23F5-DB71-987535C8F900}"/>
              </a:ext>
            </a:extLst>
          </p:cNvPr>
          <p:cNvCxnSpPr>
            <a:cxnSpLocks/>
            <a:stCxn id="67" idx="2"/>
            <a:endCxn id="68" idx="0"/>
          </p:cNvCxnSpPr>
          <p:nvPr/>
        </p:nvCxnSpPr>
        <p:spPr>
          <a:xfrm>
            <a:off x="10701649" y="2960430"/>
            <a:ext cx="0" cy="1885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9CD508B0-ACBA-9F69-5D10-5718D7CB88F9}"/>
              </a:ext>
            </a:extLst>
          </p:cNvPr>
          <p:cNvCxnSpPr>
            <a:cxnSpLocks/>
            <a:stCxn id="68" idx="1"/>
            <a:endCxn id="57" idx="3"/>
          </p:cNvCxnSpPr>
          <p:nvPr/>
        </p:nvCxnSpPr>
        <p:spPr>
          <a:xfrm flipH="1" flipV="1">
            <a:off x="9619218" y="2802422"/>
            <a:ext cx="427016" cy="5362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17B049A-7496-6F48-A550-53523EEBF32E}"/>
              </a:ext>
            </a:extLst>
          </p:cNvPr>
          <p:cNvSpPr txBox="1"/>
          <p:nvPr/>
        </p:nvSpPr>
        <p:spPr>
          <a:xfrm>
            <a:off x="6415897" y="1758854"/>
            <a:ext cx="712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Load!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DA8F8F0-6155-A744-4EAA-27DF31C3C4C4}"/>
              </a:ext>
            </a:extLst>
          </p:cNvPr>
          <p:cNvSpPr txBox="1"/>
          <p:nvPr/>
        </p:nvSpPr>
        <p:spPr>
          <a:xfrm>
            <a:off x="7671234" y="1754183"/>
            <a:ext cx="5245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Do!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C6D9AD0-12AF-0C5B-1E11-284D0F15AECC}"/>
              </a:ext>
            </a:extLst>
          </p:cNvPr>
          <p:cNvSpPr txBox="1"/>
          <p:nvPr/>
        </p:nvSpPr>
        <p:spPr>
          <a:xfrm>
            <a:off x="9537296" y="1762870"/>
            <a:ext cx="689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Save!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9623056-61E2-26C8-7323-7B93A4352642}"/>
              </a:ext>
            </a:extLst>
          </p:cNvPr>
          <p:cNvSpPr txBox="1"/>
          <p:nvPr/>
        </p:nvSpPr>
        <p:spPr>
          <a:xfrm>
            <a:off x="1075154" y="1732268"/>
            <a:ext cx="888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Search!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D0E5EBB-A30D-E60C-FF21-D67C4F7E04AE}"/>
              </a:ext>
            </a:extLst>
          </p:cNvPr>
          <p:cNvSpPr txBox="1"/>
          <p:nvPr/>
        </p:nvSpPr>
        <p:spPr>
          <a:xfrm>
            <a:off x="6505813" y="4345587"/>
            <a:ext cx="1435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Load Stream!</a:t>
            </a: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1255BCAE-F0D9-C610-7558-F9C175A3737E}"/>
              </a:ext>
            </a:extLst>
          </p:cNvPr>
          <p:cNvCxnSpPr>
            <a:cxnSpLocks/>
            <a:stCxn id="69" idx="2"/>
          </p:cNvCxnSpPr>
          <p:nvPr/>
        </p:nvCxnSpPr>
        <p:spPr>
          <a:xfrm>
            <a:off x="10701649" y="4086337"/>
            <a:ext cx="0" cy="161824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EE0D591-F481-F8F0-6DD3-5BA77F8B319B}"/>
              </a:ext>
            </a:extLst>
          </p:cNvPr>
          <p:cNvSpPr txBox="1"/>
          <p:nvPr/>
        </p:nvSpPr>
        <p:spPr>
          <a:xfrm>
            <a:off x="8962482" y="4354688"/>
            <a:ext cx="1718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Append Stream!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52855B1-B7B5-E337-7289-17B9505B9F98}"/>
              </a:ext>
            </a:extLst>
          </p:cNvPr>
          <p:cNvSpPr txBox="1"/>
          <p:nvPr/>
        </p:nvSpPr>
        <p:spPr>
          <a:xfrm>
            <a:off x="8601660" y="2457693"/>
            <a:ext cx="413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3600" dirty="0"/>
              <a:t>*</a:t>
            </a:r>
          </a:p>
        </p:txBody>
      </p:sp>
      <p:sp>
        <p:nvSpPr>
          <p:cNvPr id="57" name="Speech Bubble: Rectangle with Corners Rounded 56">
            <a:extLst>
              <a:ext uri="{FF2B5EF4-FFF2-40B4-BE49-F238E27FC236}">
                <a16:creationId xmlns:a16="http://schemas.microsoft.com/office/drawing/2014/main" id="{3103B54B-721B-09B4-2112-2425242F7F31}"/>
              </a:ext>
            </a:extLst>
          </p:cNvPr>
          <p:cNvSpPr/>
          <p:nvPr/>
        </p:nvSpPr>
        <p:spPr>
          <a:xfrm>
            <a:off x="9123010" y="2335142"/>
            <a:ext cx="496208" cy="934559"/>
          </a:xfrm>
          <a:prstGeom prst="wedgeRoundRectCallout">
            <a:avLst>
              <a:gd name="adj1" fmla="val -85226"/>
              <a:gd name="adj2" fmla="val -10052"/>
              <a:gd name="adj3" fmla="val 16667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700" dirty="0">
                <a:solidFill>
                  <a:schemeClr val="tx1"/>
                </a:solidFill>
              </a:rPr>
              <a:t>Events</a:t>
            </a:r>
          </a:p>
        </p:txBody>
      </p:sp>
      <p:sp>
        <p:nvSpPr>
          <p:cNvPr id="53" name="Cylinder 52">
            <a:extLst>
              <a:ext uri="{FF2B5EF4-FFF2-40B4-BE49-F238E27FC236}">
                <a16:creationId xmlns:a16="http://schemas.microsoft.com/office/drawing/2014/main" id="{71CF7777-166D-CA82-A7E1-3E4692475CC5}"/>
              </a:ext>
            </a:extLst>
          </p:cNvPr>
          <p:cNvSpPr/>
          <p:nvPr/>
        </p:nvSpPr>
        <p:spPr>
          <a:xfrm>
            <a:off x="9181349" y="2544779"/>
            <a:ext cx="381317" cy="129121"/>
          </a:xfrm>
          <a:prstGeom prst="can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/>
              <a:t>29</a:t>
            </a:r>
          </a:p>
        </p:txBody>
      </p:sp>
      <p:sp>
        <p:nvSpPr>
          <p:cNvPr id="54" name="Cylinder 53">
            <a:extLst>
              <a:ext uri="{FF2B5EF4-FFF2-40B4-BE49-F238E27FC236}">
                <a16:creationId xmlns:a16="http://schemas.microsoft.com/office/drawing/2014/main" id="{A1046214-803C-2590-BD24-52FA8FD8CBA3}"/>
              </a:ext>
            </a:extLst>
          </p:cNvPr>
          <p:cNvSpPr/>
          <p:nvPr/>
        </p:nvSpPr>
        <p:spPr>
          <a:xfrm>
            <a:off x="9181349" y="2697179"/>
            <a:ext cx="381317" cy="129121"/>
          </a:xfrm>
          <a:prstGeom prst="can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/>
              <a:t>30</a:t>
            </a:r>
          </a:p>
        </p:txBody>
      </p:sp>
      <p:sp>
        <p:nvSpPr>
          <p:cNvPr id="55" name="Cylinder 54">
            <a:extLst>
              <a:ext uri="{FF2B5EF4-FFF2-40B4-BE49-F238E27FC236}">
                <a16:creationId xmlns:a16="http://schemas.microsoft.com/office/drawing/2014/main" id="{E8C83FE8-2E15-2BB9-DAC2-83B613AFD5A9}"/>
              </a:ext>
            </a:extLst>
          </p:cNvPr>
          <p:cNvSpPr/>
          <p:nvPr/>
        </p:nvSpPr>
        <p:spPr>
          <a:xfrm>
            <a:off x="9181349" y="2849579"/>
            <a:ext cx="381317" cy="129121"/>
          </a:xfrm>
          <a:prstGeom prst="can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/>
              <a:t>31</a:t>
            </a:r>
          </a:p>
        </p:txBody>
      </p:sp>
      <p:sp>
        <p:nvSpPr>
          <p:cNvPr id="56" name="Cylinder 55">
            <a:extLst>
              <a:ext uri="{FF2B5EF4-FFF2-40B4-BE49-F238E27FC236}">
                <a16:creationId xmlns:a16="http://schemas.microsoft.com/office/drawing/2014/main" id="{6D1D0E74-2C4C-813B-BF97-A1E8FE0DCA69}"/>
              </a:ext>
            </a:extLst>
          </p:cNvPr>
          <p:cNvSpPr/>
          <p:nvPr/>
        </p:nvSpPr>
        <p:spPr>
          <a:xfrm>
            <a:off x="9181349" y="3001979"/>
            <a:ext cx="381317" cy="129121"/>
          </a:xfrm>
          <a:prstGeom prst="can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/>
              <a:t>32</a:t>
            </a: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069907C0-628C-6C7C-4F35-0E7B5A1E843D}"/>
              </a:ext>
            </a:extLst>
          </p:cNvPr>
          <p:cNvSpPr/>
          <p:nvPr/>
        </p:nvSpPr>
        <p:spPr>
          <a:xfrm>
            <a:off x="6317793" y="5864216"/>
            <a:ext cx="1367238" cy="433264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>
                <a:solidFill>
                  <a:schemeClr val="tx1"/>
                </a:solidFill>
              </a:rPr>
              <a:t>car_123abc</a:t>
            </a:r>
            <a:endParaRPr lang="en-NZ" dirty="0">
              <a:solidFill>
                <a:schemeClr val="tx1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80675C0-E024-D50F-EF8B-C36F1192BEE3}"/>
              </a:ext>
            </a:extLst>
          </p:cNvPr>
          <p:cNvSpPr/>
          <p:nvPr/>
        </p:nvSpPr>
        <p:spPr>
          <a:xfrm>
            <a:off x="2960869" y="4213435"/>
            <a:ext cx="2199406" cy="369333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CarProjection</a:t>
            </a:r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n-NZ" sz="10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ProjectEventAsync</a:t>
            </a:r>
            <a:r>
              <a: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D0F7976-4966-BC3D-5116-20AC83382F83}"/>
              </a:ext>
            </a:extLst>
          </p:cNvPr>
          <p:cNvCxnSpPr>
            <a:cxnSpLocks/>
          </p:cNvCxnSpPr>
          <p:nvPr/>
        </p:nvCxnSpPr>
        <p:spPr>
          <a:xfrm>
            <a:off x="3410350" y="4582768"/>
            <a:ext cx="0" cy="11140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D3E349FB-A670-A845-8120-8BDCBBE8DD0A}"/>
              </a:ext>
            </a:extLst>
          </p:cNvPr>
          <p:cNvCxnSpPr>
            <a:cxnSpLocks/>
            <a:stCxn id="68" idx="3"/>
            <a:endCxn id="22" idx="3"/>
          </p:cNvCxnSpPr>
          <p:nvPr/>
        </p:nvCxnSpPr>
        <p:spPr>
          <a:xfrm flipH="1">
            <a:off x="5160275" y="3338714"/>
            <a:ext cx="6196789" cy="1059388"/>
          </a:xfrm>
          <a:prstGeom prst="bentConnector3">
            <a:avLst>
              <a:gd name="adj1" fmla="val -7713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F6B7E435-AFEC-9102-DED9-B5500E784179}"/>
              </a:ext>
            </a:extLst>
          </p:cNvPr>
          <p:cNvSpPr txBox="1"/>
          <p:nvPr/>
        </p:nvSpPr>
        <p:spPr>
          <a:xfrm>
            <a:off x="4102624" y="3844103"/>
            <a:ext cx="1644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Project Stream!</a:t>
            </a:r>
          </a:p>
        </p:txBody>
      </p:sp>
      <p:pic>
        <p:nvPicPr>
          <p:cNvPr id="24" name="Graphic 23" descr="Close with solid fill">
            <a:extLst>
              <a:ext uri="{FF2B5EF4-FFF2-40B4-BE49-F238E27FC236}">
                <a16:creationId xmlns:a16="http://schemas.microsoft.com/office/drawing/2014/main" id="{CEA18CE3-3CDC-F630-76CE-C87543A845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49606" y="1635542"/>
            <a:ext cx="1880042" cy="1880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5100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0B1D547-AD31-1C18-FA15-1A82EB8CCC21}"/>
              </a:ext>
            </a:extLst>
          </p:cNvPr>
          <p:cNvSpPr/>
          <p:nvPr/>
        </p:nvSpPr>
        <p:spPr>
          <a:xfrm>
            <a:off x="1463040" y="1264920"/>
            <a:ext cx="2796540" cy="2796540"/>
          </a:xfrm>
          <a:prstGeom prst="round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3600" dirty="0"/>
              <a:t>How we </a:t>
            </a:r>
            <a:r>
              <a:rPr lang="en-NZ" sz="3600" b="1" i="1" dirty="0"/>
              <a:t>persist</a:t>
            </a:r>
            <a:r>
              <a:rPr lang="en-NZ" sz="3600" dirty="0"/>
              <a:t> state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C64445D-9A88-52A3-8C6B-15F7607E2CF9}"/>
              </a:ext>
            </a:extLst>
          </p:cNvPr>
          <p:cNvSpPr/>
          <p:nvPr/>
        </p:nvSpPr>
        <p:spPr>
          <a:xfrm>
            <a:off x="4732020" y="1264920"/>
            <a:ext cx="2796540" cy="2796540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3200" dirty="0"/>
              <a:t>How we </a:t>
            </a:r>
            <a:r>
              <a:rPr lang="en-NZ" sz="3200" b="1" i="1" dirty="0"/>
              <a:t>capture</a:t>
            </a:r>
            <a:r>
              <a:rPr lang="en-NZ" sz="3200" dirty="0"/>
              <a:t> changes in state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ABAAB9E-BF09-CC58-C9EA-1F18F25B4420}"/>
              </a:ext>
            </a:extLst>
          </p:cNvPr>
          <p:cNvSpPr/>
          <p:nvPr/>
        </p:nvSpPr>
        <p:spPr>
          <a:xfrm>
            <a:off x="8001000" y="1264920"/>
            <a:ext cx="2796540" cy="2796540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3600" dirty="0"/>
              <a:t>How we </a:t>
            </a:r>
            <a:r>
              <a:rPr lang="en-NZ" sz="2800" b="1" i="1" dirty="0"/>
              <a:t>communicate</a:t>
            </a:r>
            <a:r>
              <a:rPr lang="en-NZ" sz="3600" dirty="0"/>
              <a:t> state change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8095E04-360F-F7D0-44CC-A1510B2666DC}"/>
              </a:ext>
            </a:extLst>
          </p:cNvPr>
          <p:cNvSpPr/>
          <p:nvPr/>
        </p:nvSpPr>
        <p:spPr>
          <a:xfrm>
            <a:off x="1463040" y="4549140"/>
            <a:ext cx="2796540" cy="716280"/>
          </a:xfrm>
          <a:prstGeom prst="round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Z" dirty="0"/>
              <a:t>Event Sourcing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B804F27-078B-D233-8E3D-A13144754127}"/>
              </a:ext>
            </a:extLst>
          </p:cNvPr>
          <p:cNvSpPr/>
          <p:nvPr/>
        </p:nvSpPr>
        <p:spPr>
          <a:xfrm>
            <a:off x="4732020" y="4549140"/>
            <a:ext cx="2796540" cy="716280"/>
          </a:xfrm>
          <a:prstGeom prst="round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NZ" dirty="0"/>
              <a:t>Domain Events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DA2EE18-2A92-819F-D2FC-AA3168DC8AE1}"/>
              </a:ext>
            </a:extLst>
          </p:cNvPr>
          <p:cNvSpPr/>
          <p:nvPr/>
        </p:nvSpPr>
        <p:spPr>
          <a:xfrm>
            <a:off x="8001000" y="4549140"/>
            <a:ext cx="2796540" cy="716280"/>
          </a:xfrm>
          <a:prstGeom prst="roundRect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r>
              <a:rPr lang="en-NZ" sz="2000" dirty="0"/>
              <a:t>Event Driven Architecture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920A16-F5ED-A40D-4E6B-A95204862935}"/>
              </a:ext>
            </a:extLst>
          </p:cNvPr>
          <p:cNvSpPr txBox="1"/>
          <p:nvPr/>
        </p:nvSpPr>
        <p:spPr>
          <a:xfrm>
            <a:off x="534838" y="431321"/>
            <a:ext cx="1752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3200" dirty="0"/>
              <a:t>Eventing</a:t>
            </a:r>
          </a:p>
        </p:txBody>
      </p:sp>
    </p:spTree>
    <p:extLst>
      <p:ext uri="{BB962C8B-B14F-4D97-AF65-F5344CB8AC3E}">
        <p14:creationId xmlns:p14="http://schemas.microsoft.com/office/powerpoint/2010/main" val="11629778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0CBC99C-B1F9-32C4-A7C4-CFD0AC12DED3}"/>
              </a:ext>
            </a:extLst>
          </p:cNvPr>
          <p:cNvSpPr/>
          <p:nvPr/>
        </p:nvSpPr>
        <p:spPr>
          <a:xfrm>
            <a:off x="4701223" y="715796"/>
            <a:ext cx="1630782" cy="6075028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3665AF3-0F0A-2350-CC32-3FCC2447E9BC}"/>
              </a:ext>
            </a:extLst>
          </p:cNvPr>
          <p:cNvSpPr/>
          <p:nvPr/>
        </p:nvSpPr>
        <p:spPr>
          <a:xfrm>
            <a:off x="9724079" y="715796"/>
            <a:ext cx="1630782" cy="6075028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847966E-468B-D020-DE7D-22AEF75524C8}"/>
              </a:ext>
            </a:extLst>
          </p:cNvPr>
          <p:cNvSpPr/>
          <p:nvPr/>
        </p:nvSpPr>
        <p:spPr>
          <a:xfrm>
            <a:off x="8046288" y="715796"/>
            <a:ext cx="1630782" cy="6075028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43C66644-BC75-D2A5-6F1A-3331163BF70A}"/>
              </a:ext>
            </a:extLst>
          </p:cNvPr>
          <p:cNvSpPr/>
          <p:nvPr/>
        </p:nvSpPr>
        <p:spPr>
          <a:xfrm>
            <a:off x="3034330" y="715796"/>
            <a:ext cx="1630782" cy="6075028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ED9BDDD3-4A6C-1753-523F-963E76FAD34A}"/>
              </a:ext>
            </a:extLst>
          </p:cNvPr>
          <p:cNvSpPr/>
          <p:nvPr/>
        </p:nvSpPr>
        <p:spPr>
          <a:xfrm>
            <a:off x="1366596" y="715796"/>
            <a:ext cx="1630782" cy="6075028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4DF43833-57DA-A2BE-0A42-AC7748D51C84}"/>
              </a:ext>
            </a:extLst>
          </p:cNvPr>
          <p:cNvSpPr/>
          <p:nvPr/>
        </p:nvSpPr>
        <p:spPr>
          <a:xfrm>
            <a:off x="6368116" y="715796"/>
            <a:ext cx="1630782" cy="6075028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F2077-D534-DFB8-D9FE-02E1321DA588}"/>
              </a:ext>
            </a:extLst>
          </p:cNvPr>
          <p:cNvSpPr txBox="1"/>
          <p:nvPr/>
        </p:nvSpPr>
        <p:spPr>
          <a:xfrm>
            <a:off x="267419" y="207034"/>
            <a:ext cx="56653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Eventing Flows – “Generic” Subdomains</a:t>
            </a:r>
          </a:p>
        </p:txBody>
      </p:sp>
      <p:sp>
        <p:nvSpPr>
          <p:cNvPr id="6" name="Rectangle: Folded Corner 5">
            <a:extLst>
              <a:ext uri="{FF2B5EF4-FFF2-40B4-BE49-F238E27FC236}">
                <a16:creationId xmlns:a16="http://schemas.microsoft.com/office/drawing/2014/main" id="{73252011-A249-FD60-6ADC-18CE9800C70C}"/>
              </a:ext>
            </a:extLst>
          </p:cNvPr>
          <p:cNvSpPr/>
          <p:nvPr/>
        </p:nvSpPr>
        <p:spPr>
          <a:xfrm>
            <a:off x="1776791" y="1169273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Member</a:t>
            </a: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Invited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2EEB4A38-2A0E-4423-F24C-AF8FB4C4AB18}"/>
              </a:ext>
            </a:extLst>
          </p:cNvPr>
          <p:cNvSpPr/>
          <p:nvPr/>
        </p:nvSpPr>
        <p:spPr>
          <a:xfrm>
            <a:off x="3467636" y="1169273"/>
            <a:ext cx="810392" cy="553470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Guest Invitation Created</a:t>
            </a:r>
          </a:p>
        </p:txBody>
      </p:sp>
      <p:sp>
        <p:nvSpPr>
          <p:cNvPr id="10" name="Rectangle: Folded Corner 9">
            <a:extLst>
              <a:ext uri="{FF2B5EF4-FFF2-40B4-BE49-F238E27FC236}">
                <a16:creationId xmlns:a16="http://schemas.microsoft.com/office/drawing/2014/main" id="{2FD9F1CF-A127-917B-456B-2B07754302A8}"/>
              </a:ext>
            </a:extLst>
          </p:cNvPr>
          <p:cNvSpPr/>
          <p:nvPr/>
        </p:nvSpPr>
        <p:spPr>
          <a:xfrm>
            <a:off x="8457926" y="4062944"/>
            <a:ext cx="810392" cy="553470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 err="1">
                <a:solidFill>
                  <a:schemeClr val="tx1"/>
                </a:solidFill>
              </a:rPr>
              <a:t>UserProfile</a:t>
            </a:r>
            <a:endParaRPr lang="en-NZ" sz="1000" dirty="0">
              <a:solidFill>
                <a:schemeClr val="tx1"/>
              </a:solidFill>
            </a:endParaRP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Created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FFE3C8-E243-6EBA-5B3A-CF7E6D4E2C02}"/>
              </a:ext>
            </a:extLst>
          </p:cNvPr>
          <p:cNvSpPr txBox="1"/>
          <p:nvPr/>
        </p:nvSpPr>
        <p:spPr>
          <a:xfrm>
            <a:off x="1378722" y="762895"/>
            <a:ext cx="1606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/>
              <a:t>Organizations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C7AF1E-808F-7CD3-4817-A05B0B15D53A}"/>
              </a:ext>
            </a:extLst>
          </p:cNvPr>
          <p:cNvSpPr txBox="1"/>
          <p:nvPr/>
        </p:nvSpPr>
        <p:spPr>
          <a:xfrm>
            <a:off x="3290583" y="762895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 err="1"/>
              <a:t>EndUsers</a:t>
            </a:r>
            <a:endParaRPr lang="en-NZ" dirty="0"/>
          </a:p>
        </p:txBody>
      </p:sp>
      <p:sp>
        <p:nvSpPr>
          <p:cNvPr id="14" name="Rectangle: Folded Corner 13">
            <a:extLst>
              <a:ext uri="{FF2B5EF4-FFF2-40B4-BE49-F238E27FC236}">
                <a16:creationId xmlns:a16="http://schemas.microsoft.com/office/drawing/2014/main" id="{DEC1C74A-B6B0-8807-5792-FBE326F24A37}"/>
              </a:ext>
            </a:extLst>
          </p:cNvPr>
          <p:cNvSpPr/>
          <p:nvPr/>
        </p:nvSpPr>
        <p:spPr>
          <a:xfrm>
            <a:off x="1758108" y="3232978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Member</a:t>
            </a:r>
          </a:p>
          <a:p>
            <a:pPr algn="ctr"/>
            <a:r>
              <a:rPr lang="en-NZ" sz="1000" dirty="0" err="1">
                <a:solidFill>
                  <a:schemeClr val="tx1"/>
                </a:solidFill>
              </a:rPr>
              <a:t>UnInvited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18" name="Rectangle: Folded Corner 17">
            <a:extLst>
              <a:ext uri="{FF2B5EF4-FFF2-40B4-BE49-F238E27FC236}">
                <a16:creationId xmlns:a16="http://schemas.microsoft.com/office/drawing/2014/main" id="{B97EC728-42E9-E20F-D099-1A08C83FD664}"/>
              </a:ext>
            </a:extLst>
          </p:cNvPr>
          <p:cNvSpPr/>
          <p:nvPr/>
        </p:nvSpPr>
        <p:spPr>
          <a:xfrm>
            <a:off x="8457926" y="2532630"/>
            <a:ext cx="810392" cy="553470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Default </a:t>
            </a:r>
            <a:r>
              <a:rPr lang="en-NZ" sz="800" dirty="0">
                <a:solidFill>
                  <a:schemeClr val="tx1"/>
                </a:solidFill>
              </a:rPr>
              <a:t>Organization </a:t>
            </a:r>
            <a:r>
              <a:rPr lang="en-NZ" sz="1000" dirty="0">
                <a:solidFill>
                  <a:schemeClr val="tx1"/>
                </a:solidFill>
              </a:rPr>
              <a:t>Changed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E1AFC18-8184-C4C6-E8FC-0B295509DA7E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2587183" y="1446008"/>
            <a:ext cx="880453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447F5D-7D20-626B-C663-27076F67C639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2568500" y="3509713"/>
            <a:ext cx="880453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: Folded Corner 42">
            <a:extLst>
              <a:ext uri="{FF2B5EF4-FFF2-40B4-BE49-F238E27FC236}">
                <a16:creationId xmlns:a16="http://schemas.microsoft.com/office/drawing/2014/main" id="{C9FEC7C7-2D4C-4AD3-35B3-65E2AE4FED22}"/>
              </a:ext>
            </a:extLst>
          </p:cNvPr>
          <p:cNvSpPr/>
          <p:nvPr/>
        </p:nvSpPr>
        <p:spPr>
          <a:xfrm>
            <a:off x="3109083" y="2532630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Default</a:t>
            </a:r>
            <a:r>
              <a:rPr lang="en-NZ" sz="1000" dirty="0">
                <a:solidFill>
                  <a:schemeClr val="tx1"/>
                </a:solidFill>
              </a:rPr>
              <a:t> </a:t>
            </a:r>
            <a:r>
              <a:rPr lang="en-NZ" sz="800" dirty="0">
                <a:solidFill>
                  <a:schemeClr val="tx1"/>
                </a:solidFill>
              </a:rPr>
              <a:t>Membership</a:t>
            </a:r>
            <a:r>
              <a:rPr lang="en-NZ" sz="1000" dirty="0">
                <a:solidFill>
                  <a:schemeClr val="tx1"/>
                </a:solidFill>
              </a:rPr>
              <a:t> </a:t>
            </a:r>
            <a:r>
              <a:rPr lang="en-NZ" sz="900" dirty="0">
                <a:solidFill>
                  <a:schemeClr val="tx1"/>
                </a:solidFill>
              </a:rPr>
              <a:t>Changed</a:t>
            </a:r>
            <a:endParaRPr lang="en-NZ" sz="1000" dirty="0">
              <a:solidFill>
                <a:schemeClr val="tx1"/>
              </a:solidFill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12DFF43-6F20-894C-8961-5D79829D6EB9}"/>
              </a:ext>
            </a:extLst>
          </p:cNvPr>
          <p:cNvCxnSpPr>
            <a:cxnSpLocks/>
            <a:stCxn id="15" idx="3"/>
            <a:endCxn id="43" idx="3"/>
          </p:cNvCxnSpPr>
          <p:nvPr/>
        </p:nvCxnSpPr>
        <p:spPr>
          <a:xfrm flipH="1" flipV="1">
            <a:off x="3919475" y="2809365"/>
            <a:ext cx="339870" cy="700348"/>
          </a:xfrm>
          <a:prstGeom prst="curvedConnector3">
            <a:avLst>
              <a:gd name="adj1" fmla="val -67261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Folded Corner 46">
            <a:extLst>
              <a:ext uri="{FF2B5EF4-FFF2-40B4-BE49-F238E27FC236}">
                <a16:creationId xmlns:a16="http://schemas.microsoft.com/office/drawing/2014/main" id="{B5E713F6-B547-10CB-95DA-BD8792829171}"/>
              </a:ext>
            </a:extLst>
          </p:cNvPr>
          <p:cNvSpPr/>
          <p:nvPr/>
        </p:nvSpPr>
        <p:spPr>
          <a:xfrm>
            <a:off x="1776791" y="1878192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Organization</a:t>
            </a: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Created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48" name="Rectangle: Folded Corner 47">
            <a:extLst>
              <a:ext uri="{FF2B5EF4-FFF2-40B4-BE49-F238E27FC236}">
                <a16:creationId xmlns:a16="http://schemas.microsoft.com/office/drawing/2014/main" id="{5D87D6FC-BBC9-DBDA-6EEA-2062560B0665}"/>
              </a:ext>
            </a:extLst>
          </p:cNvPr>
          <p:cNvSpPr/>
          <p:nvPr/>
        </p:nvSpPr>
        <p:spPr>
          <a:xfrm>
            <a:off x="3467636" y="1878192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</a:t>
            </a:r>
            <a:r>
              <a:rPr lang="en-NZ" sz="1000" dirty="0">
                <a:solidFill>
                  <a:schemeClr val="tx1"/>
                </a:solidFill>
              </a:rPr>
              <a:t> Added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3C15DEA-1DBB-2272-2EF7-18D89E5ECC52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>
            <a:off x="2587183" y="2154927"/>
            <a:ext cx="880453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4328EB7-BA69-24F4-EC63-52DE686E7128}"/>
              </a:ext>
            </a:extLst>
          </p:cNvPr>
          <p:cNvCxnSpPr>
            <a:cxnSpLocks/>
            <a:stCxn id="48" idx="3"/>
            <a:endCxn id="43" idx="3"/>
          </p:cNvCxnSpPr>
          <p:nvPr/>
        </p:nvCxnSpPr>
        <p:spPr>
          <a:xfrm flipH="1">
            <a:off x="3919475" y="2154927"/>
            <a:ext cx="358553" cy="654438"/>
          </a:xfrm>
          <a:prstGeom prst="curvedConnector3">
            <a:avLst>
              <a:gd name="adj1" fmla="val -63756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E0E0B5CD-1083-3836-5B97-FA5A93A3BB8B}"/>
              </a:ext>
            </a:extLst>
          </p:cNvPr>
          <p:cNvSpPr txBox="1"/>
          <p:nvPr/>
        </p:nvSpPr>
        <p:spPr>
          <a:xfrm>
            <a:off x="6405068" y="762895"/>
            <a:ext cx="1606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/>
              <a:t>Organizations</a:t>
            </a:r>
          </a:p>
        </p:txBody>
      </p:sp>
      <p:sp>
        <p:nvSpPr>
          <p:cNvPr id="67" name="Rectangle: Folded Corner 66">
            <a:extLst>
              <a:ext uri="{FF2B5EF4-FFF2-40B4-BE49-F238E27FC236}">
                <a16:creationId xmlns:a16="http://schemas.microsoft.com/office/drawing/2014/main" id="{EC92D969-46A2-7F89-88E6-A085459DD37E}"/>
              </a:ext>
            </a:extLst>
          </p:cNvPr>
          <p:cNvSpPr/>
          <p:nvPr/>
        </p:nvSpPr>
        <p:spPr>
          <a:xfrm>
            <a:off x="3448953" y="4261286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 err="1">
                <a:solidFill>
                  <a:schemeClr val="tx1"/>
                </a:solidFill>
              </a:rPr>
              <a:t>EndUser</a:t>
            </a:r>
            <a:r>
              <a:rPr lang="en-NZ" sz="1000" dirty="0">
                <a:solidFill>
                  <a:schemeClr val="tx1"/>
                </a:solidFill>
              </a:rPr>
              <a:t> Registered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C3155BA-0957-8CE1-362A-E456ED01E42C}"/>
              </a:ext>
            </a:extLst>
          </p:cNvPr>
          <p:cNvSpPr txBox="1"/>
          <p:nvPr/>
        </p:nvSpPr>
        <p:spPr>
          <a:xfrm>
            <a:off x="8140971" y="762895"/>
            <a:ext cx="1441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 err="1"/>
              <a:t>UserProfiles</a:t>
            </a:r>
            <a:endParaRPr lang="en-NZ" dirty="0"/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1F021EC6-58B2-3BF3-71E6-4D9DBF0CBA1A}"/>
              </a:ext>
            </a:extLst>
          </p:cNvPr>
          <p:cNvCxnSpPr>
            <a:cxnSpLocks/>
            <a:stCxn id="67" idx="3"/>
            <a:endCxn id="10" idx="1"/>
          </p:cNvCxnSpPr>
          <p:nvPr/>
        </p:nvCxnSpPr>
        <p:spPr>
          <a:xfrm flipV="1">
            <a:off x="4259345" y="4339679"/>
            <a:ext cx="4198581" cy="198342"/>
          </a:xfrm>
          <a:prstGeom prst="bentConnector3">
            <a:avLst>
              <a:gd name="adj1" fmla="val 6669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646D9DCA-62B5-5D87-08E7-7762CF7EA487}"/>
              </a:ext>
            </a:extLst>
          </p:cNvPr>
          <p:cNvCxnSpPr>
            <a:cxnSpLocks/>
            <a:stCxn id="43" idx="3"/>
            <a:endCxn id="18" idx="1"/>
          </p:cNvCxnSpPr>
          <p:nvPr/>
        </p:nvCxnSpPr>
        <p:spPr>
          <a:xfrm>
            <a:off x="3919475" y="2809365"/>
            <a:ext cx="4538451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: Folded Corner 91">
            <a:extLst>
              <a:ext uri="{FF2B5EF4-FFF2-40B4-BE49-F238E27FC236}">
                <a16:creationId xmlns:a16="http://schemas.microsoft.com/office/drawing/2014/main" id="{0F3DBE2E-5DFD-7ABC-1D5D-0A4D49F0C7C3}"/>
              </a:ext>
            </a:extLst>
          </p:cNvPr>
          <p:cNvSpPr/>
          <p:nvPr/>
        </p:nvSpPr>
        <p:spPr>
          <a:xfrm>
            <a:off x="8306969" y="4691307"/>
            <a:ext cx="810392" cy="553470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sz="1000" dirty="0">
              <a:solidFill>
                <a:schemeClr val="tx1"/>
              </a:solidFill>
            </a:endParaRPr>
          </a:p>
        </p:txBody>
      </p:sp>
      <p:sp>
        <p:nvSpPr>
          <p:cNvPr id="93" name="Rectangle: Folded Corner 92">
            <a:extLst>
              <a:ext uri="{FF2B5EF4-FFF2-40B4-BE49-F238E27FC236}">
                <a16:creationId xmlns:a16="http://schemas.microsoft.com/office/drawing/2014/main" id="{8E79A230-F7A9-A00A-81C2-1AFC17A56BF6}"/>
              </a:ext>
            </a:extLst>
          </p:cNvPr>
          <p:cNvSpPr/>
          <p:nvPr/>
        </p:nvSpPr>
        <p:spPr>
          <a:xfrm>
            <a:off x="8459369" y="4825228"/>
            <a:ext cx="810392" cy="553470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Contact Address Changed</a:t>
            </a:r>
          </a:p>
        </p:txBody>
      </p:sp>
      <p:cxnSp>
        <p:nvCxnSpPr>
          <p:cNvPr id="94" name="Straight Arrow Connector 43">
            <a:extLst>
              <a:ext uri="{FF2B5EF4-FFF2-40B4-BE49-F238E27FC236}">
                <a16:creationId xmlns:a16="http://schemas.microsoft.com/office/drawing/2014/main" id="{9C07D367-3D14-0AFD-D9C0-21FBC2CF7F32}"/>
              </a:ext>
            </a:extLst>
          </p:cNvPr>
          <p:cNvCxnSpPr>
            <a:cxnSpLocks/>
            <a:stCxn id="10" idx="3"/>
            <a:endCxn id="93" idx="3"/>
          </p:cNvCxnSpPr>
          <p:nvPr/>
        </p:nvCxnSpPr>
        <p:spPr>
          <a:xfrm>
            <a:off x="9268318" y="4339679"/>
            <a:ext cx="1443" cy="762284"/>
          </a:xfrm>
          <a:prstGeom prst="curvedConnector3">
            <a:avLst>
              <a:gd name="adj1" fmla="val 15941996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Folded Corner 2">
            <a:extLst>
              <a:ext uri="{FF2B5EF4-FFF2-40B4-BE49-F238E27FC236}">
                <a16:creationId xmlns:a16="http://schemas.microsoft.com/office/drawing/2014/main" id="{E4D21751-4F41-7F50-810F-6C786F0A12D3}"/>
              </a:ext>
            </a:extLst>
          </p:cNvPr>
          <p:cNvSpPr/>
          <p:nvPr/>
        </p:nvSpPr>
        <p:spPr>
          <a:xfrm>
            <a:off x="6808343" y="1878191"/>
            <a:ext cx="810392" cy="553470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 </a:t>
            </a:r>
            <a:r>
              <a:rPr lang="en-NZ" sz="1000" dirty="0">
                <a:solidFill>
                  <a:schemeClr val="tx1"/>
                </a:solidFill>
              </a:rPr>
              <a:t>Added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F60B083-F08B-20AB-C106-4A17519D9F3C}"/>
              </a:ext>
            </a:extLst>
          </p:cNvPr>
          <p:cNvCxnSpPr>
            <a:cxnSpLocks/>
            <a:stCxn id="48" idx="3"/>
            <a:endCxn id="3" idx="1"/>
          </p:cNvCxnSpPr>
          <p:nvPr/>
        </p:nvCxnSpPr>
        <p:spPr>
          <a:xfrm flipV="1">
            <a:off x="4278028" y="2154926"/>
            <a:ext cx="2530315" cy="1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025BE18-08C7-6FFB-D5AA-86B9214EF713}"/>
              </a:ext>
            </a:extLst>
          </p:cNvPr>
          <p:cNvCxnSpPr>
            <a:cxnSpLocks/>
            <a:stCxn id="15" idx="3"/>
            <a:endCxn id="22" idx="1"/>
          </p:cNvCxnSpPr>
          <p:nvPr/>
        </p:nvCxnSpPr>
        <p:spPr>
          <a:xfrm>
            <a:off x="4259345" y="3509713"/>
            <a:ext cx="2530315" cy="1536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43">
            <a:extLst>
              <a:ext uri="{FF2B5EF4-FFF2-40B4-BE49-F238E27FC236}">
                <a16:creationId xmlns:a16="http://schemas.microsoft.com/office/drawing/2014/main" id="{12CCB142-1B3E-16E7-29E1-CC5B59D0AC7E}"/>
              </a:ext>
            </a:extLst>
          </p:cNvPr>
          <p:cNvCxnSpPr>
            <a:cxnSpLocks/>
            <a:stCxn id="7" idx="3"/>
            <a:endCxn id="48" idx="3"/>
          </p:cNvCxnSpPr>
          <p:nvPr/>
        </p:nvCxnSpPr>
        <p:spPr>
          <a:xfrm>
            <a:off x="4278028" y="1446008"/>
            <a:ext cx="12700" cy="708919"/>
          </a:xfrm>
          <a:prstGeom prst="curvedConnector3">
            <a:avLst>
              <a:gd name="adj1" fmla="val 180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Folded Corner 28">
            <a:extLst>
              <a:ext uri="{FF2B5EF4-FFF2-40B4-BE49-F238E27FC236}">
                <a16:creationId xmlns:a16="http://schemas.microsoft.com/office/drawing/2014/main" id="{F3A52853-90BB-12E5-DF91-B94BAFA1E2A8}"/>
              </a:ext>
            </a:extLst>
          </p:cNvPr>
          <p:cNvSpPr/>
          <p:nvPr/>
        </p:nvSpPr>
        <p:spPr>
          <a:xfrm>
            <a:off x="1729999" y="4896988"/>
            <a:ext cx="810392" cy="553466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Role Assigned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30" name="Rectangle: Folded Corner 29">
            <a:extLst>
              <a:ext uri="{FF2B5EF4-FFF2-40B4-BE49-F238E27FC236}">
                <a16:creationId xmlns:a16="http://schemas.microsoft.com/office/drawing/2014/main" id="{0A333653-8E02-EA6B-FCF9-8C845A14C7F5}"/>
              </a:ext>
            </a:extLst>
          </p:cNvPr>
          <p:cNvSpPr/>
          <p:nvPr/>
        </p:nvSpPr>
        <p:spPr>
          <a:xfrm>
            <a:off x="3420844" y="4896988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</a:t>
            </a:r>
            <a:r>
              <a:rPr lang="en-NZ" sz="1000" dirty="0">
                <a:solidFill>
                  <a:schemeClr val="tx1"/>
                </a:solidFill>
              </a:rPr>
              <a:t> Role Assigned</a:t>
            </a:r>
          </a:p>
        </p:txBody>
      </p:sp>
      <p:sp>
        <p:nvSpPr>
          <p:cNvPr id="32" name="Rectangle: Folded Corner 31">
            <a:extLst>
              <a:ext uri="{FF2B5EF4-FFF2-40B4-BE49-F238E27FC236}">
                <a16:creationId xmlns:a16="http://schemas.microsoft.com/office/drawing/2014/main" id="{9E0D2304-FDA9-C49D-B797-EA14CD13EA20}"/>
              </a:ext>
            </a:extLst>
          </p:cNvPr>
          <p:cNvSpPr/>
          <p:nvPr/>
        </p:nvSpPr>
        <p:spPr>
          <a:xfrm>
            <a:off x="1729999" y="5544654"/>
            <a:ext cx="810392" cy="553466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Role </a:t>
            </a:r>
            <a:r>
              <a:rPr lang="en-NZ" sz="900" dirty="0">
                <a:solidFill>
                  <a:schemeClr val="tx1"/>
                </a:solidFill>
              </a:rPr>
              <a:t>Unassigned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33" name="Rectangle: Folded Corner 32">
            <a:extLst>
              <a:ext uri="{FF2B5EF4-FFF2-40B4-BE49-F238E27FC236}">
                <a16:creationId xmlns:a16="http://schemas.microsoft.com/office/drawing/2014/main" id="{4A78B85D-8D05-0DA7-29F6-4AB9CD5CF9CE}"/>
              </a:ext>
            </a:extLst>
          </p:cNvPr>
          <p:cNvSpPr/>
          <p:nvPr/>
        </p:nvSpPr>
        <p:spPr>
          <a:xfrm>
            <a:off x="3420844" y="5544654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</a:t>
            </a:r>
            <a:endParaRPr lang="en-NZ" sz="1000" dirty="0">
              <a:solidFill>
                <a:schemeClr val="tx1"/>
              </a:solidFill>
            </a:endParaRP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Role </a:t>
            </a:r>
            <a:r>
              <a:rPr lang="en-NZ" sz="900" dirty="0">
                <a:solidFill>
                  <a:schemeClr val="tx1"/>
                </a:solidFill>
              </a:rPr>
              <a:t>Unassigned</a:t>
            </a:r>
            <a:endParaRPr lang="en-NZ" sz="1000" dirty="0">
              <a:solidFill>
                <a:schemeClr val="tx1"/>
              </a:solidFill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6C0FC5E-3163-D7AD-1DCB-F6CD5948F4F9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2540391" y="5173721"/>
            <a:ext cx="880453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F804F69-F315-1418-564C-E26E1CCE7FAD}"/>
              </a:ext>
            </a:extLst>
          </p:cNvPr>
          <p:cNvCxnSpPr>
            <a:cxnSpLocks/>
            <a:stCxn id="32" idx="3"/>
            <a:endCxn id="33" idx="1"/>
          </p:cNvCxnSpPr>
          <p:nvPr/>
        </p:nvCxnSpPr>
        <p:spPr>
          <a:xfrm>
            <a:off x="2540391" y="5821387"/>
            <a:ext cx="880453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Folded Corner 41">
            <a:extLst>
              <a:ext uri="{FF2B5EF4-FFF2-40B4-BE49-F238E27FC236}">
                <a16:creationId xmlns:a16="http://schemas.microsoft.com/office/drawing/2014/main" id="{BC1D3803-D670-0AFD-800B-B6D4688335FD}"/>
              </a:ext>
            </a:extLst>
          </p:cNvPr>
          <p:cNvSpPr/>
          <p:nvPr/>
        </p:nvSpPr>
        <p:spPr>
          <a:xfrm>
            <a:off x="132531" y="5637401"/>
            <a:ext cx="777078" cy="461665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Originating &amp; Handled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Event</a:t>
            </a:r>
            <a:endParaRPr lang="en-NZ" sz="600" dirty="0">
              <a:solidFill>
                <a:schemeClr val="tx1"/>
              </a:solidFill>
            </a:endParaRPr>
          </a:p>
        </p:txBody>
      </p:sp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E8562EA0-41DD-8898-83AD-CEFAC257567F}"/>
              </a:ext>
            </a:extLst>
          </p:cNvPr>
          <p:cNvSpPr/>
          <p:nvPr/>
        </p:nvSpPr>
        <p:spPr>
          <a:xfrm>
            <a:off x="132531" y="6157796"/>
            <a:ext cx="777078" cy="461665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Handled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Event</a:t>
            </a:r>
            <a:endParaRPr lang="en-NZ" sz="600" dirty="0">
              <a:solidFill>
                <a:schemeClr val="tx1"/>
              </a:solidFill>
            </a:endParaRPr>
          </a:p>
        </p:txBody>
      </p:sp>
      <p:sp>
        <p:nvSpPr>
          <p:cNvPr id="8" name="Rectangle: Folded Corner 7">
            <a:extLst>
              <a:ext uri="{FF2B5EF4-FFF2-40B4-BE49-F238E27FC236}">
                <a16:creationId xmlns:a16="http://schemas.microsoft.com/office/drawing/2014/main" id="{F72B02FD-1917-A6EA-9111-9711E596F557}"/>
              </a:ext>
            </a:extLst>
          </p:cNvPr>
          <p:cNvSpPr/>
          <p:nvPr/>
        </p:nvSpPr>
        <p:spPr>
          <a:xfrm>
            <a:off x="132531" y="5108074"/>
            <a:ext cx="777078" cy="461665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Originating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Event</a:t>
            </a:r>
            <a:endParaRPr lang="en-NZ" sz="600" dirty="0">
              <a:solidFill>
                <a:schemeClr val="tx1"/>
              </a:solidFill>
            </a:endParaRPr>
          </a:p>
        </p:txBody>
      </p:sp>
      <p:sp>
        <p:nvSpPr>
          <p:cNvPr id="16" name="Rectangle: Folded Corner 15">
            <a:extLst>
              <a:ext uri="{FF2B5EF4-FFF2-40B4-BE49-F238E27FC236}">
                <a16:creationId xmlns:a16="http://schemas.microsoft.com/office/drawing/2014/main" id="{02663B13-8D2E-F529-1B5E-86104D131E38}"/>
              </a:ext>
            </a:extLst>
          </p:cNvPr>
          <p:cNvSpPr/>
          <p:nvPr/>
        </p:nvSpPr>
        <p:spPr>
          <a:xfrm>
            <a:off x="1758108" y="3890992"/>
            <a:ext cx="810392" cy="553466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Organization</a:t>
            </a:r>
            <a:endParaRPr lang="en-NZ" sz="1000" dirty="0">
              <a:solidFill>
                <a:schemeClr val="tx1"/>
              </a:solidFill>
            </a:endParaRP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Deleted</a:t>
            </a:r>
            <a:endParaRPr lang="en-NZ" sz="800" dirty="0">
              <a:solidFill>
                <a:schemeClr val="tx1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28A0A0A-A42F-012F-9D57-C5FBAEF66A76}"/>
              </a:ext>
            </a:extLst>
          </p:cNvPr>
          <p:cNvCxnSpPr>
            <a:cxnSpLocks/>
            <a:stCxn id="16" idx="3"/>
            <a:endCxn id="15" idx="1"/>
          </p:cNvCxnSpPr>
          <p:nvPr/>
        </p:nvCxnSpPr>
        <p:spPr>
          <a:xfrm flipV="1">
            <a:off x="2568500" y="3509713"/>
            <a:ext cx="880453" cy="658012"/>
          </a:xfrm>
          <a:prstGeom prst="curvedConnector3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Folded Corner 19">
            <a:extLst>
              <a:ext uri="{FF2B5EF4-FFF2-40B4-BE49-F238E27FC236}">
                <a16:creationId xmlns:a16="http://schemas.microsoft.com/office/drawing/2014/main" id="{5D40FFED-C560-3AEA-EF69-3B24A604B93F}"/>
              </a:ext>
            </a:extLst>
          </p:cNvPr>
          <p:cNvSpPr/>
          <p:nvPr/>
        </p:nvSpPr>
        <p:spPr>
          <a:xfrm>
            <a:off x="10134274" y="3707736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Subscription</a:t>
            </a:r>
            <a:endParaRPr lang="en-NZ" sz="1000" dirty="0">
              <a:solidFill>
                <a:schemeClr val="tx1"/>
              </a:solidFill>
            </a:endParaRP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Deleted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A5F478D-1A0F-1375-DB48-15E836BF90A1}"/>
              </a:ext>
            </a:extLst>
          </p:cNvPr>
          <p:cNvSpPr txBox="1"/>
          <p:nvPr/>
        </p:nvSpPr>
        <p:spPr>
          <a:xfrm>
            <a:off x="9745025" y="759931"/>
            <a:ext cx="1588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/>
              <a:t>Subscriptions</a:t>
            </a:r>
          </a:p>
        </p:txBody>
      </p:sp>
      <p:cxnSp>
        <p:nvCxnSpPr>
          <p:cNvPr id="26" name="Straight Arrow Connector 83">
            <a:extLst>
              <a:ext uri="{FF2B5EF4-FFF2-40B4-BE49-F238E27FC236}">
                <a16:creationId xmlns:a16="http://schemas.microsoft.com/office/drawing/2014/main" id="{38AB3FE5-3F8B-68AD-50BF-E573DEC65136}"/>
              </a:ext>
            </a:extLst>
          </p:cNvPr>
          <p:cNvCxnSpPr>
            <a:cxnSpLocks/>
            <a:stCxn id="16" idx="3"/>
            <a:endCxn id="20" idx="1"/>
          </p:cNvCxnSpPr>
          <p:nvPr/>
        </p:nvCxnSpPr>
        <p:spPr>
          <a:xfrm flipV="1">
            <a:off x="2568500" y="3984469"/>
            <a:ext cx="7565774" cy="183256"/>
          </a:xfrm>
          <a:prstGeom prst="bentConnector3">
            <a:avLst>
              <a:gd name="adj1" fmla="val 24481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: Folded Corner 45">
            <a:extLst>
              <a:ext uri="{FF2B5EF4-FFF2-40B4-BE49-F238E27FC236}">
                <a16:creationId xmlns:a16="http://schemas.microsoft.com/office/drawing/2014/main" id="{B34C5FFD-439E-2CD2-80AA-ECE4E3027290}"/>
              </a:ext>
            </a:extLst>
          </p:cNvPr>
          <p:cNvSpPr/>
          <p:nvPr/>
        </p:nvSpPr>
        <p:spPr>
          <a:xfrm>
            <a:off x="10134274" y="1526012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Buyer</a:t>
            </a:r>
          </a:p>
          <a:p>
            <a:pPr algn="ctr"/>
            <a:r>
              <a:rPr lang="en-NZ" sz="900" dirty="0">
                <a:solidFill>
                  <a:schemeClr val="tx1"/>
                </a:solidFill>
              </a:rPr>
              <a:t>Subscribed</a:t>
            </a:r>
            <a:endParaRPr lang="en-NZ" sz="1000" dirty="0">
              <a:solidFill>
                <a:schemeClr val="tx1"/>
              </a:solidFill>
            </a:endParaRPr>
          </a:p>
        </p:txBody>
      </p:sp>
      <p:cxnSp>
        <p:nvCxnSpPr>
          <p:cNvPr id="51" name="Straight Arrow Connector 83">
            <a:extLst>
              <a:ext uri="{FF2B5EF4-FFF2-40B4-BE49-F238E27FC236}">
                <a16:creationId xmlns:a16="http://schemas.microsoft.com/office/drawing/2014/main" id="{E5691BBE-2299-067B-2061-92B96D3E2D43}"/>
              </a:ext>
            </a:extLst>
          </p:cNvPr>
          <p:cNvCxnSpPr>
            <a:cxnSpLocks/>
            <a:stCxn id="47" idx="3"/>
            <a:endCxn id="46" idx="1"/>
          </p:cNvCxnSpPr>
          <p:nvPr/>
        </p:nvCxnSpPr>
        <p:spPr>
          <a:xfrm flipV="1">
            <a:off x="2587183" y="1802745"/>
            <a:ext cx="7547091" cy="352182"/>
          </a:xfrm>
          <a:prstGeom prst="bentConnector3">
            <a:avLst>
              <a:gd name="adj1" fmla="val 3303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Folded Corner 21">
            <a:extLst>
              <a:ext uri="{FF2B5EF4-FFF2-40B4-BE49-F238E27FC236}">
                <a16:creationId xmlns:a16="http://schemas.microsoft.com/office/drawing/2014/main" id="{2B335D4F-D35B-6DD3-CC85-8FB843E670D2}"/>
              </a:ext>
            </a:extLst>
          </p:cNvPr>
          <p:cNvSpPr/>
          <p:nvPr/>
        </p:nvSpPr>
        <p:spPr>
          <a:xfrm>
            <a:off x="6789660" y="3234514"/>
            <a:ext cx="810392" cy="553470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 </a:t>
            </a:r>
            <a:r>
              <a:rPr lang="en-NZ" sz="1000" dirty="0">
                <a:solidFill>
                  <a:schemeClr val="tx1"/>
                </a:solidFill>
              </a:rPr>
              <a:t>Removed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6C1116C6-C6A6-CD18-023E-E25CC1267D26}"/>
              </a:ext>
            </a:extLst>
          </p:cNvPr>
          <p:cNvSpPr/>
          <p:nvPr/>
        </p:nvSpPr>
        <p:spPr>
          <a:xfrm>
            <a:off x="3448953" y="3232978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 </a:t>
            </a:r>
            <a:r>
              <a:rPr lang="en-NZ" sz="1000" dirty="0">
                <a:solidFill>
                  <a:schemeClr val="tx1"/>
                </a:solidFill>
              </a:rPr>
              <a:t>Removed</a:t>
            </a:r>
            <a:endParaRPr lang="en-NZ" sz="800" dirty="0">
              <a:solidFill>
                <a:schemeClr val="tx1"/>
              </a:solidFill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C0DA843-364C-7679-B812-DCFE9822FC73}"/>
              </a:ext>
            </a:extLst>
          </p:cNvPr>
          <p:cNvCxnSpPr>
            <a:cxnSpLocks/>
            <a:stCxn id="67" idx="1"/>
            <a:endCxn id="47" idx="1"/>
          </p:cNvCxnSpPr>
          <p:nvPr/>
        </p:nvCxnSpPr>
        <p:spPr>
          <a:xfrm rot="10800000">
            <a:off x="1776791" y="2154927"/>
            <a:ext cx="1672162" cy="2383094"/>
          </a:xfrm>
          <a:prstGeom prst="bentConnector3">
            <a:avLst>
              <a:gd name="adj1" fmla="val 118228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: Folded Corner 44">
            <a:extLst>
              <a:ext uri="{FF2B5EF4-FFF2-40B4-BE49-F238E27FC236}">
                <a16:creationId xmlns:a16="http://schemas.microsoft.com/office/drawing/2014/main" id="{93EBBF36-8509-981B-F1DB-07D1C258EB7B}"/>
              </a:ext>
            </a:extLst>
          </p:cNvPr>
          <p:cNvSpPr/>
          <p:nvPr/>
        </p:nvSpPr>
        <p:spPr>
          <a:xfrm>
            <a:off x="1593034" y="2501876"/>
            <a:ext cx="810392" cy="553470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Setting Created</a:t>
            </a:r>
          </a:p>
        </p:txBody>
      </p:sp>
      <p:cxnSp>
        <p:nvCxnSpPr>
          <p:cNvPr id="52" name="Straight Arrow Connector 49">
            <a:extLst>
              <a:ext uri="{FF2B5EF4-FFF2-40B4-BE49-F238E27FC236}">
                <a16:creationId xmlns:a16="http://schemas.microsoft.com/office/drawing/2014/main" id="{96B96CBF-3D64-3711-0639-2349D55BBC51}"/>
              </a:ext>
            </a:extLst>
          </p:cNvPr>
          <p:cNvCxnSpPr>
            <a:cxnSpLocks/>
            <a:stCxn id="47" idx="3"/>
            <a:endCxn id="45" idx="3"/>
          </p:cNvCxnSpPr>
          <p:nvPr/>
        </p:nvCxnSpPr>
        <p:spPr>
          <a:xfrm flipH="1">
            <a:off x="2403426" y="2154927"/>
            <a:ext cx="183757" cy="623684"/>
          </a:xfrm>
          <a:prstGeom prst="curvedConnector3">
            <a:avLst>
              <a:gd name="adj1" fmla="val -124403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0D989AC8-F7B4-69D3-56EA-979E41CBC50E}"/>
              </a:ext>
            </a:extLst>
          </p:cNvPr>
          <p:cNvSpPr txBox="1"/>
          <p:nvPr/>
        </p:nvSpPr>
        <p:spPr>
          <a:xfrm>
            <a:off x="5060209" y="754234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/>
              <a:t>Images</a:t>
            </a:r>
          </a:p>
        </p:txBody>
      </p:sp>
      <p:sp>
        <p:nvSpPr>
          <p:cNvPr id="59" name="Rectangle: Folded Corner 58">
            <a:extLst>
              <a:ext uri="{FF2B5EF4-FFF2-40B4-BE49-F238E27FC236}">
                <a16:creationId xmlns:a16="http://schemas.microsoft.com/office/drawing/2014/main" id="{3BC87BC4-EE08-3B5F-BC58-F326E7732C88}"/>
              </a:ext>
            </a:extLst>
          </p:cNvPr>
          <p:cNvSpPr/>
          <p:nvPr/>
        </p:nvSpPr>
        <p:spPr>
          <a:xfrm>
            <a:off x="5000850" y="4460780"/>
            <a:ext cx="810392" cy="553466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Image</a:t>
            </a: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Deleted</a:t>
            </a:r>
            <a:endParaRPr lang="en-NZ" sz="800" dirty="0">
              <a:solidFill>
                <a:schemeClr val="tx1"/>
              </a:solidFill>
            </a:endParaRPr>
          </a:p>
        </p:txBody>
      </p:sp>
      <p:sp>
        <p:nvSpPr>
          <p:cNvPr id="60" name="Rectangle: Folded Corner 59">
            <a:extLst>
              <a:ext uri="{FF2B5EF4-FFF2-40B4-BE49-F238E27FC236}">
                <a16:creationId xmlns:a16="http://schemas.microsoft.com/office/drawing/2014/main" id="{1C609A1E-1989-6576-60F2-BE7F845B87A3}"/>
              </a:ext>
            </a:extLst>
          </p:cNvPr>
          <p:cNvSpPr/>
          <p:nvPr/>
        </p:nvSpPr>
        <p:spPr>
          <a:xfrm>
            <a:off x="6767204" y="4830104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Avatar Removed</a:t>
            </a:r>
            <a:endParaRPr lang="en-NZ" sz="1100" dirty="0">
              <a:solidFill>
                <a:schemeClr val="tx1"/>
              </a:solidFill>
            </a:endParaRPr>
          </a:p>
        </p:txBody>
      </p:sp>
      <p:sp>
        <p:nvSpPr>
          <p:cNvPr id="61" name="Rectangle: Folded Corner 60">
            <a:extLst>
              <a:ext uri="{FF2B5EF4-FFF2-40B4-BE49-F238E27FC236}">
                <a16:creationId xmlns:a16="http://schemas.microsoft.com/office/drawing/2014/main" id="{CF5E5560-8F6C-1BC1-B4A2-777BAC995704}"/>
              </a:ext>
            </a:extLst>
          </p:cNvPr>
          <p:cNvSpPr/>
          <p:nvPr/>
        </p:nvSpPr>
        <p:spPr>
          <a:xfrm>
            <a:off x="8457926" y="5649937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Avatar Removed</a:t>
            </a:r>
            <a:endParaRPr lang="en-NZ" sz="1100" dirty="0">
              <a:solidFill>
                <a:schemeClr val="tx1"/>
              </a:solidFill>
            </a:endParaRPr>
          </a:p>
        </p:txBody>
      </p:sp>
      <p:cxnSp>
        <p:nvCxnSpPr>
          <p:cNvPr id="63" name="Straight Arrow Connector 83">
            <a:extLst>
              <a:ext uri="{FF2B5EF4-FFF2-40B4-BE49-F238E27FC236}">
                <a16:creationId xmlns:a16="http://schemas.microsoft.com/office/drawing/2014/main" id="{FB9647B6-AD66-D74F-5249-106B866A45DD}"/>
              </a:ext>
            </a:extLst>
          </p:cNvPr>
          <p:cNvCxnSpPr>
            <a:cxnSpLocks/>
            <a:stCxn id="59" idx="3"/>
            <a:endCxn id="60" idx="1"/>
          </p:cNvCxnSpPr>
          <p:nvPr/>
        </p:nvCxnSpPr>
        <p:spPr>
          <a:xfrm>
            <a:off x="5811242" y="4737513"/>
            <a:ext cx="955962" cy="369324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83">
            <a:extLst>
              <a:ext uri="{FF2B5EF4-FFF2-40B4-BE49-F238E27FC236}">
                <a16:creationId xmlns:a16="http://schemas.microsoft.com/office/drawing/2014/main" id="{FF089246-0D8D-F2B9-4D16-B0B34F2AD0DA}"/>
              </a:ext>
            </a:extLst>
          </p:cNvPr>
          <p:cNvCxnSpPr>
            <a:cxnSpLocks/>
            <a:stCxn id="59" idx="3"/>
            <a:endCxn id="61" idx="1"/>
          </p:cNvCxnSpPr>
          <p:nvPr/>
        </p:nvCxnSpPr>
        <p:spPr>
          <a:xfrm>
            <a:off x="5811242" y="4737513"/>
            <a:ext cx="2646684" cy="1189157"/>
          </a:xfrm>
          <a:prstGeom prst="bentConnector3">
            <a:avLst>
              <a:gd name="adj1" fmla="val 88148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Folded Corner 8">
            <a:extLst>
              <a:ext uri="{FF2B5EF4-FFF2-40B4-BE49-F238E27FC236}">
                <a16:creationId xmlns:a16="http://schemas.microsoft.com/office/drawing/2014/main" id="{5EB4F053-546F-E915-A409-9491517D6675}"/>
              </a:ext>
            </a:extLst>
          </p:cNvPr>
          <p:cNvSpPr/>
          <p:nvPr/>
        </p:nvSpPr>
        <p:spPr>
          <a:xfrm>
            <a:off x="10134274" y="6193370"/>
            <a:ext cx="810392" cy="553466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Subscription</a:t>
            </a:r>
            <a:endParaRPr lang="en-NZ" sz="1000" dirty="0">
              <a:solidFill>
                <a:schemeClr val="tx1"/>
              </a:solidFill>
            </a:endParaRP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Created</a:t>
            </a:r>
          </a:p>
        </p:txBody>
      </p:sp>
      <p:sp>
        <p:nvSpPr>
          <p:cNvPr id="11" name="Rectangle: Folded Corner 10">
            <a:extLst>
              <a:ext uri="{FF2B5EF4-FFF2-40B4-BE49-F238E27FC236}">
                <a16:creationId xmlns:a16="http://schemas.microsoft.com/office/drawing/2014/main" id="{1178D3AC-F8B2-3478-BBE4-E5ADA2196764}"/>
              </a:ext>
            </a:extLst>
          </p:cNvPr>
          <p:cNvSpPr/>
          <p:nvPr/>
        </p:nvSpPr>
        <p:spPr>
          <a:xfrm>
            <a:off x="10134274" y="2886768"/>
            <a:ext cx="810392" cy="553466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Subscription</a:t>
            </a:r>
            <a:endParaRPr lang="en-NZ" sz="1000" dirty="0">
              <a:solidFill>
                <a:schemeClr val="tx1"/>
              </a:solidFill>
            </a:endParaRPr>
          </a:p>
          <a:p>
            <a:pPr algn="ctr"/>
            <a:r>
              <a:rPr lang="en-NZ" sz="900" dirty="0">
                <a:solidFill>
                  <a:schemeClr val="tx1"/>
                </a:solidFill>
              </a:rPr>
              <a:t>Transferred</a:t>
            </a:r>
            <a:endParaRPr lang="en-NZ" sz="10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8EC6593-1711-7A34-0F87-A82DBC4EC529}"/>
              </a:ext>
            </a:extLst>
          </p:cNvPr>
          <p:cNvCxnSpPr>
            <a:cxnSpLocks/>
            <a:stCxn id="11" idx="3"/>
            <a:endCxn id="53" idx="1"/>
          </p:cNvCxnSpPr>
          <p:nvPr/>
        </p:nvCxnSpPr>
        <p:spPr>
          <a:xfrm flipH="1" flipV="1">
            <a:off x="6808343" y="1425041"/>
            <a:ext cx="4136323" cy="1738460"/>
          </a:xfrm>
          <a:prstGeom prst="bentConnector5">
            <a:avLst>
              <a:gd name="adj1" fmla="val -5527"/>
              <a:gd name="adj2" fmla="val 39171"/>
              <a:gd name="adj3" fmla="val 105527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17CE7AD-6968-DC8E-3845-8E459D2F4E7F}"/>
              </a:ext>
            </a:extLst>
          </p:cNvPr>
          <p:cNvCxnSpPr>
            <a:cxnSpLocks/>
            <a:stCxn id="9" idx="1"/>
            <a:endCxn id="64" idx="1"/>
          </p:cNvCxnSpPr>
          <p:nvPr/>
        </p:nvCxnSpPr>
        <p:spPr>
          <a:xfrm rot="10800000">
            <a:off x="6767204" y="5987727"/>
            <a:ext cx="3367070" cy="482376"/>
          </a:xfrm>
          <a:prstGeom prst="bentConnector3">
            <a:avLst>
              <a:gd name="adj1" fmla="val 106789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: Folded Corner 52">
            <a:extLst>
              <a:ext uri="{FF2B5EF4-FFF2-40B4-BE49-F238E27FC236}">
                <a16:creationId xmlns:a16="http://schemas.microsoft.com/office/drawing/2014/main" id="{F415C9D3-E6FA-FC05-273A-B8E177A337D6}"/>
              </a:ext>
            </a:extLst>
          </p:cNvPr>
          <p:cNvSpPr/>
          <p:nvPr/>
        </p:nvSpPr>
        <p:spPr>
          <a:xfrm>
            <a:off x="6808343" y="1148308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Billing</a:t>
            </a: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Subscriber Changed</a:t>
            </a:r>
          </a:p>
        </p:txBody>
      </p:sp>
      <p:sp>
        <p:nvSpPr>
          <p:cNvPr id="25" name="Rectangle: Folded Corner 24">
            <a:extLst>
              <a:ext uri="{FF2B5EF4-FFF2-40B4-BE49-F238E27FC236}">
                <a16:creationId xmlns:a16="http://schemas.microsoft.com/office/drawing/2014/main" id="{02860DEE-A21F-2266-323D-5E4EA29A5E9C}"/>
              </a:ext>
            </a:extLst>
          </p:cNvPr>
          <p:cNvSpPr/>
          <p:nvPr/>
        </p:nvSpPr>
        <p:spPr>
          <a:xfrm>
            <a:off x="10134274" y="5219347"/>
            <a:ext cx="810392" cy="553466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Subscription</a:t>
            </a: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Plan Changed</a:t>
            </a:r>
          </a:p>
        </p:txBody>
      </p:sp>
      <p:cxnSp>
        <p:nvCxnSpPr>
          <p:cNvPr id="27" name="Straight Arrow Connector 16">
            <a:extLst>
              <a:ext uri="{FF2B5EF4-FFF2-40B4-BE49-F238E27FC236}">
                <a16:creationId xmlns:a16="http://schemas.microsoft.com/office/drawing/2014/main" id="{478E7905-2DCC-C7FD-D696-F6CDE402DD5C}"/>
              </a:ext>
            </a:extLst>
          </p:cNvPr>
          <p:cNvCxnSpPr>
            <a:cxnSpLocks/>
            <a:stCxn id="25" idx="1"/>
            <a:endCxn id="54" idx="1"/>
          </p:cNvCxnSpPr>
          <p:nvPr/>
        </p:nvCxnSpPr>
        <p:spPr>
          <a:xfrm rot="10800000" flipV="1">
            <a:off x="3428696" y="5496079"/>
            <a:ext cx="6705578" cy="972973"/>
          </a:xfrm>
          <a:prstGeom prst="bentConnector3">
            <a:avLst>
              <a:gd name="adj1" fmla="val 103543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: Folded Corner 63">
            <a:extLst>
              <a:ext uri="{FF2B5EF4-FFF2-40B4-BE49-F238E27FC236}">
                <a16:creationId xmlns:a16="http://schemas.microsoft.com/office/drawing/2014/main" id="{D4C05160-54A3-0DF5-729D-8459FB483091}"/>
              </a:ext>
            </a:extLst>
          </p:cNvPr>
          <p:cNvSpPr/>
          <p:nvPr/>
        </p:nvSpPr>
        <p:spPr>
          <a:xfrm>
            <a:off x="6767204" y="5710994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Billing </a:t>
            </a:r>
            <a:r>
              <a:rPr lang="en-NZ" sz="900" dirty="0">
                <a:solidFill>
                  <a:schemeClr val="tx1"/>
                </a:solidFill>
              </a:rPr>
              <a:t>Subscribed</a:t>
            </a:r>
            <a:endParaRPr lang="en-NZ" sz="1000" dirty="0">
              <a:solidFill>
                <a:schemeClr val="tx1"/>
              </a:solidFill>
            </a:endParaRPr>
          </a:p>
        </p:txBody>
      </p:sp>
      <p:sp>
        <p:nvSpPr>
          <p:cNvPr id="54" name="Rectangle: Folded Corner 53">
            <a:extLst>
              <a:ext uri="{FF2B5EF4-FFF2-40B4-BE49-F238E27FC236}">
                <a16:creationId xmlns:a16="http://schemas.microsoft.com/office/drawing/2014/main" id="{6F8FCFF2-DF9C-F001-784F-ADA38BE5993C}"/>
              </a:ext>
            </a:extLst>
          </p:cNvPr>
          <p:cNvSpPr/>
          <p:nvPr/>
        </p:nvSpPr>
        <p:spPr>
          <a:xfrm>
            <a:off x="3428696" y="6192320"/>
            <a:ext cx="810392" cy="553466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</a:t>
            </a:r>
            <a:endParaRPr lang="en-NZ" sz="1000" dirty="0">
              <a:solidFill>
                <a:schemeClr val="tx1"/>
              </a:solidFill>
            </a:endParaRP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Features</a:t>
            </a: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Reset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6D62847-9B72-6618-1B89-F12C2458E245}"/>
              </a:ext>
            </a:extLst>
          </p:cNvPr>
          <p:cNvCxnSpPr>
            <a:cxnSpLocks/>
          </p:cNvCxnSpPr>
          <p:nvPr/>
        </p:nvCxnSpPr>
        <p:spPr>
          <a:xfrm>
            <a:off x="179660" y="4538021"/>
            <a:ext cx="554266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494F41CF-068E-5CEE-3BDF-94500306A568}"/>
              </a:ext>
            </a:extLst>
          </p:cNvPr>
          <p:cNvSpPr txBox="1"/>
          <p:nvPr/>
        </p:nvSpPr>
        <p:spPr>
          <a:xfrm>
            <a:off x="128605" y="4540815"/>
            <a:ext cx="6303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Notifies</a:t>
            </a:r>
          </a:p>
        </p:txBody>
      </p:sp>
      <p:cxnSp>
        <p:nvCxnSpPr>
          <p:cNvPr id="38" name="Straight Arrow Connector 16">
            <a:extLst>
              <a:ext uri="{FF2B5EF4-FFF2-40B4-BE49-F238E27FC236}">
                <a16:creationId xmlns:a16="http://schemas.microsoft.com/office/drawing/2014/main" id="{0332611D-22BF-AC0F-2C00-AD814A3DE487}"/>
              </a:ext>
            </a:extLst>
          </p:cNvPr>
          <p:cNvCxnSpPr>
            <a:cxnSpLocks/>
            <a:stCxn id="11" idx="1"/>
            <a:endCxn id="54" idx="1"/>
          </p:cNvCxnSpPr>
          <p:nvPr/>
        </p:nvCxnSpPr>
        <p:spPr>
          <a:xfrm rot="10800000" flipV="1">
            <a:off x="3428696" y="3163501"/>
            <a:ext cx="6705578" cy="3305552"/>
          </a:xfrm>
          <a:prstGeom prst="bentConnector3">
            <a:avLst>
              <a:gd name="adj1" fmla="val 104612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83">
            <a:extLst>
              <a:ext uri="{FF2B5EF4-FFF2-40B4-BE49-F238E27FC236}">
                <a16:creationId xmlns:a16="http://schemas.microsoft.com/office/drawing/2014/main" id="{BF122CA7-425D-3ED4-125A-323BD086FCF1}"/>
              </a:ext>
            </a:extLst>
          </p:cNvPr>
          <p:cNvCxnSpPr>
            <a:cxnSpLocks/>
            <a:stCxn id="10" idx="3"/>
            <a:endCxn id="46" idx="3"/>
          </p:cNvCxnSpPr>
          <p:nvPr/>
        </p:nvCxnSpPr>
        <p:spPr>
          <a:xfrm flipV="1">
            <a:off x="9268318" y="1802745"/>
            <a:ext cx="1676348" cy="2536934"/>
          </a:xfrm>
          <a:prstGeom prst="bentConnector3">
            <a:avLst>
              <a:gd name="adj1" fmla="val 120327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99841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96301-E363-4AEC-575E-36D26E0E1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A1D2032E-AB3D-1599-5228-DE267D2A3B87}"/>
              </a:ext>
            </a:extLst>
          </p:cNvPr>
          <p:cNvSpPr/>
          <p:nvPr/>
        </p:nvSpPr>
        <p:spPr>
          <a:xfrm>
            <a:off x="10205025" y="715796"/>
            <a:ext cx="1630782" cy="6075028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70C9CDE-A0C6-46F3-3CC8-15545FEBE494}"/>
              </a:ext>
            </a:extLst>
          </p:cNvPr>
          <p:cNvSpPr txBox="1"/>
          <p:nvPr/>
        </p:nvSpPr>
        <p:spPr>
          <a:xfrm>
            <a:off x="10299708" y="762895"/>
            <a:ext cx="1441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 err="1"/>
              <a:t>UserProfiles</a:t>
            </a:r>
            <a:endParaRPr lang="en-NZ" dirty="0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D4C83339-8E26-E4EB-2458-B0563FE1EDCF}"/>
              </a:ext>
            </a:extLst>
          </p:cNvPr>
          <p:cNvSpPr/>
          <p:nvPr/>
        </p:nvSpPr>
        <p:spPr>
          <a:xfrm>
            <a:off x="5193067" y="715796"/>
            <a:ext cx="1630782" cy="6075028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B5DCFFD5-E47A-30E2-92FB-3B4E56E0E0F8}"/>
              </a:ext>
            </a:extLst>
          </p:cNvPr>
          <p:cNvSpPr/>
          <p:nvPr/>
        </p:nvSpPr>
        <p:spPr>
          <a:xfrm>
            <a:off x="3525333" y="715796"/>
            <a:ext cx="1630782" cy="6075028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B720EEB0-67F3-061A-5BAE-1018B1102D7C}"/>
              </a:ext>
            </a:extLst>
          </p:cNvPr>
          <p:cNvSpPr/>
          <p:nvPr/>
        </p:nvSpPr>
        <p:spPr>
          <a:xfrm>
            <a:off x="8526853" y="715796"/>
            <a:ext cx="1630782" cy="6075028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395ED7-6A96-15C3-BC83-87151FA99111}"/>
              </a:ext>
            </a:extLst>
          </p:cNvPr>
          <p:cNvSpPr txBox="1"/>
          <p:nvPr/>
        </p:nvSpPr>
        <p:spPr>
          <a:xfrm>
            <a:off x="267419" y="207034"/>
            <a:ext cx="63017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Eventing Flows – Onboarding ‘Regular’ Users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50F91D-80C3-351E-A263-0EA560408C6D}"/>
              </a:ext>
            </a:extLst>
          </p:cNvPr>
          <p:cNvSpPr txBox="1"/>
          <p:nvPr/>
        </p:nvSpPr>
        <p:spPr>
          <a:xfrm>
            <a:off x="3537459" y="762895"/>
            <a:ext cx="1606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/>
              <a:t>Organizations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D2083-5E45-5E5C-7644-C83E05D972EF}"/>
              </a:ext>
            </a:extLst>
          </p:cNvPr>
          <p:cNvSpPr txBox="1"/>
          <p:nvPr/>
        </p:nvSpPr>
        <p:spPr>
          <a:xfrm>
            <a:off x="5449320" y="762895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 err="1"/>
              <a:t>EndUsers</a:t>
            </a:r>
            <a:endParaRPr lang="en-NZ" dirty="0"/>
          </a:p>
        </p:txBody>
      </p:sp>
      <p:sp>
        <p:nvSpPr>
          <p:cNvPr id="18" name="Rectangle: Folded Corner 17">
            <a:extLst>
              <a:ext uri="{FF2B5EF4-FFF2-40B4-BE49-F238E27FC236}">
                <a16:creationId xmlns:a16="http://schemas.microsoft.com/office/drawing/2014/main" id="{2A7B7690-7A8B-3816-55C0-9E6490FB28AA}"/>
              </a:ext>
            </a:extLst>
          </p:cNvPr>
          <p:cNvSpPr/>
          <p:nvPr/>
        </p:nvSpPr>
        <p:spPr>
          <a:xfrm>
            <a:off x="10616663" y="3079383"/>
            <a:ext cx="810392" cy="644203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dirty="0">
                <a:solidFill>
                  <a:schemeClr val="tx1"/>
                </a:solidFill>
              </a:rPr>
              <a:t>Default </a:t>
            </a:r>
            <a:r>
              <a:rPr lang="en-NZ" sz="800" dirty="0">
                <a:solidFill>
                  <a:schemeClr val="tx1"/>
                </a:solidFill>
              </a:rPr>
              <a:t>Organization </a:t>
            </a:r>
            <a:r>
              <a:rPr lang="en-NZ" sz="1000" dirty="0">
                <a:solidFill>
                  <a:schemeClr val="tx1"/>
                </a:solidFill>
              </a:rPr>
              <a:t>Changed</a:t>
            </a:r>
          </a:p>
        </p:txBody>
      </p:sp>
      <p:sp>
        <p:nvSpPr>
          <p:cNvPr id="43" name="Rectangle: Folded Corner 42">
            <a:extLst>
              <a:ext uri="{FF2B5EF4-FFF2-40B4-BE49-F238E27FC236}">
                <a16:creationId xmlns:a16="http://schemas.microsoft.com/office/drawing/2014/main" id="{FAC43FD2-3AB3-0ECC-8DB9-6BA04E0A0455}"/>
              </a:ext>
            </a:extLst>
          </p:cNvPr>
          <p:cNvSpPr/>
          <p:nvPr/>
        </p:nvSpPr>
        <p:spPr>
          <a:xfrm>
            <a:off x="5267820" y="3739262"/>
            <a:ext cx="810392" cy="644203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>
                <a:solidFill>
                  <a:schemeClr val="tx1"/>
                </a:solidFill>
              </a:rPr>
              <a:t>Default</a:t>
            </a:r>
            <a:r>
              <a:rPr lang="en-NZ" sz="1000" dirty="0">
                <a:solidFill>
                  <a:schemeClr val="tx1"/>
                </a:solidFill>
              </a:rPr>
              <a:t> </a:t>
            </a:r>
            <a:r>
              <a:rPr lang="en-NZ" sz="800" dirty="0">
                <a:solidFill>
                  <a:schemeClr val="tx1"/>
                </a:solidFill>
              </a:rPr>
              <a:t>Membership</a:t>
            </a:r>
            <a:r>
              <a:rPr lang="en-NZ" sz="1000" dirty="0">
                <a:solidFill>
                  <a:schemeClr val="tx1"/>
                </a:solidFill>
              </a:rPr>
              <a:t> </a:t>
            </a:r>
            <a:r>
              <a:rPr lang="en-NZ" sz="900" dirty="0">
                <a:solidFill>
                  <a:schemeClr val="tx1"/>
                </a:solidFill>
              </a:rPr>
              <a:t>Changed</a:t>
            </a:r>
          </a:p>
          <a:p>
            <a:pPr algn="ctr"/>
            <a:r>
              <a:rPr lang="en-NZ" sz="700" dirty="0">
                <a:solidFill>
                  <a:schemeClr val="tx1"/>
                </a:solidFill>
              </a:rPr>
              <a:t>(personal)</a:t>
            </a:r>
            <a:endParaRPr lang="en-NZ" sz="1000" dirty="0">
              <a:solidFill>
                <a:schemeClr val="tx1"/>
              </a:solidFill>
            </a:endParaRPr>
          </a:p>
        </p:txBody>
      </p:sp>
      <p:sp>
        <p:nvSpPr>
          <p:cNvPr id="47" name="Rectangle: Folded Corner 46">
            <a:extLst>
              <a:ext uri="{FF2B5EF4-FFF2-40B4-BE49-F238E27FC236}">
                <a16:creationId xmlns:a16="http://schemas.microsoft.com/office/drawing/2014/main" id="{5D667FDD-D0C5-0AB6-A90C-6AECE0FA743E}"/>
              </a:ext>
            </a:extLst>
          </p:cNvPr>
          <p:cNvSpPr/>
          <p:nvPr/>
        </p:nvSpPr>
        <p:spPr>
          <a:xfrm>
            <a:off x="3935528" y="3084825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Organization</a:t>
            </a: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Created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(personal)</a:t>
            </a:r>
          </a:p>
        </p:txBody>
      </p:sp>
      <p:sp>
        <p:nvSpPr>
          <p:cNvPr id="48" name="Rectangle: Folded Corner 47">
            <a:extLst>
              <a:ext uri="{FF2B5EF4-FFF2-40B4-BE49-F238E27FC236}">
                <a16:creationId xmlns:a16="http://schemas.microsoft.com/office/drawing/2014/main" id="{3281BCED-C557-189B-059A-98AC492A9495}"/>
              </a:ext>
            </a:extLst>
          </p:cNvPr>
          <p:cNvSpPr/>
          <p:nvPr/>
        </p:nvSpPr>
        <p:spPr>
          <a:xfrm>
            <a:off x="5626373" y="3084825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</a:t>
            </a:r>
            <a:r>
              <a:rPr lang="en-NZ" sz="1000" dirty="0">
                <a:solidFill>
                  <a:schemeClr val="tx1"/>
                </a:solidFill>
              </a:rPr>
              <a:t> Added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(personal)</a:t>
            </a:r>
            <a:endParaRPr lang="en-NZ" sz="1000" dirty="0">
              <a:solidFill>
                <a:schemeClr val="tx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EFB28DF-0564-BCA8-6480-011DDEB223C1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>
            <a:off x="4745920" y="3361560"/>
            <a:ext cx="880453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C05BCD2A-8484-6E58-11F9-F08942E91B2F}"/>
              </a:ext>
            </a:extLst>
          </p:cNvPr>
          <p:cNvCxnSpPr>
            <a:cxnSpLocks/>
            <a:stCxn id="48" idx="3"/>
            <a:endCxn id="43" idx="3"/>
          </p:cNvCxnSpPr>
          <p:nvPr/>
        </p:nvCxnSpPr>
        <p:spPr>
          <a:xfrm flipH="1">
            <a:off x="6078212" y="3361560"/>
            <a:ext cx="358553" cy="699804"/>
          </a:xfrm>
          <a:prstGeom prst="curvedConnector3">
            <a:avLst>
              <a:gd name="adj1" fmla="val -63756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2A31D045-0742-E4F1-633C-44A32686A29A}"/>
              </a:ext>
            </a:extLst>
          </p:cNvPr>
          <p:cNvSpPr txBox="1"/>
          <p:nvPr/>
        </p:nvSpPr>
        <p:spPr>
          <a:xfrm>
            <a:off x="8563805" y="762895"/>
            <a:ext cx="1606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dirty="0"/>
              <a:t>Organizations</a:t>
            </a:r>
          </a:p>
        </p:txBody>
      </p:sp>
      <p:sp>
        <p:nvSpPr>
          <p:cNvPr id="67" name="Rectangle: Folded Corner 66">
            <a:extLst>
              <a:ext uri="{FF2B5EF4-FFF2-40B4-BE49-F238E27FC236}">
                <a16:creationId xmlns:a16="http://schemas.microsoft.com/office/drawing/2014/main" id="{59037DDB-7E1B-CF7F-C6AE-72CA2A7AE549}"/>
              </a:ext>
            </a:extLst>
          </p:cNvPr>
          <p:cNvSpPr/>
          <p:nvPr/>
        </p:nvSpPr>
        <p:spPr>
          <a:xfrm>
            <a:off x="5614611" y="6176198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00" b="1" dirty="0">
                <a:solidFill>
                  <a:schemeClr val="tx1"/>
                </a:solidFill>
              </a:rPr>
              <a:t>Regular</a:t>
            </a:r>
            <a:r>
              <a:rPr lang="en-NZ" sz="1000" dirty="0">
                <a:solidFill>
                  <a:schemeClr val="tx1"/>
                </a:solidFill>
              </a:rPr>
              <a:t> </a:t>
            </a:r>
            <a:r>
              <a:rPr lang="en-NZ" sz="1000" dirty="0" err="1">
                <a:solidFill>
                  <a:schemeClr val="tx1"/>
                </a:solidFill>
              </a:rPr>
              <a:t>EndUser</a:t>
            </a:r>
            <a:r>
              <a:rPr lang="en-NZ" sz="1000" dirty="0">
                <a:solidFill>
                  <a:schemeClr val="tx1"/>
                </a:solidFill>
              </a:rPr>
              <a:t> Registered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D43D5FB-059A-B71F-9568-C21BF94FBF3A}"/>
              </a:ext>
            </a:extLst>
          </p:cNvPr>
          <p:cNvCxnSpPr>
            <a:cxnSpLocks/>
            <a:stCxn id="43" idx="3"/>
            <a:endCxn id="18" idx="1"/>
          </p:cNvCxnSpPr>
          <p:nvPr/>
        </p:nvCxnSpPr>
        <p:spPr>
          <a:xfrm flipV="1">
            <a:off x="6078212" y="3401485"/>
            <a:ext cx="4538451" cy="659879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Folded Corner 2">
            <a:extLst>
              <a:ext uri="{FF2B5EF4-FFF2-40B4-BE49-F238E27FC236}">
                <a16:creationId xmlns:a16="http://schemas.microsoft.com/office/drawing/2014/main" id="{D87FE328-83CB-BB1B-7031-187BFC68DEF7}"/>
              </a:ext>
            </a:extLst>
          </p:cNvPr>
          <p:cNvSpPr/>
          <p:nvPr/>
        </p:nvSpPr>
        <p:spPr>
          <a:xfrm>
            <a:off x="8967080" y="1878191"/>
            <a:ext cx="810392" cy="553470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 </a:t>
            </a:r>
            <a:r>
              <a:rPr lang="en-NZ" sz="1000" dirty="0">
                <a:solidFill>
                  <a:schemeClr val="tx1"/>
                </a:solidFill>
              </a:rPr>
              <a:t>Added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(personal)</a:t>
            </a:r>
            <a:endParaRPr lang="en-NZ" sz="10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B37AF60-2DF1-E7CB-1527-A017621BDCCB}"/>
              </a:ext>
            </a:extLst>
          </p:cNvPr>
          <p:cNvCxnSpPr>
            <a:cxnSpLocks/>
            <a:stCxn id="48" idx="3"/>
            <a:endCxn id="3" idx="1"/>
          </p:cNvCxnSpPr>
          <p:nvPr/>
        </p:nvCxnSpPr>
        <p:spPr>
          <a:xfrm flipV="1">
            <a:off x="6436765" y="2154926"/>
            <a:ext cx="2530315" cy="1206634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Folded Corner 41">
            <a:extLst>
              <a:ext uri="{FF2B5EF4-FFF2-40B4-BE49-F238E27FC236}">
                <a16:creationId xmlns:a16="http://schemas.microsoft.com/office/drawing/2014/main" id="{0E8267B3-84AF-1203-3FD9-A7E5D468DF4B}"/>
              </a:ext>
            </a:extLst>
          </p:cNvPr>
          <p:cNvSpPr/>
          <p:nvPr/>
        </p:nvSpPr>
        <p:spPr>
          <a:xfrm>
            <a:off x="132531" y="5637401"/>
            <a:ext cx="777078" cy="461665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Originating &amp; Handled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Event</a:t>
            </a:r>
            <a:endParaRPr lang="en-NZ" sz="600" dirty="0">
              <a:solidFill>
                <a:schemeClr val="tx1"/>
              </a:solidFill>
            </a:endParaRPr>
          </a:p>
        </p:txBody>
      </p:sp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8F686274-03D8-1440-1745-D4ED3CB29966}"/>
              </a:ext>
            </a:extLst>
          </p:cNvPr>
          <p:cNvSpPr/>
          <p:nvPr/>
        </p:nvSpPr>
        <p:spPr>
          <a:xfrm>
            <a:off x="132531" y="6157796"/>
            <a:ext cx="777078" cy="461665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Handled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Event</a:t>
            </a:r>
            <a:endParaRPr lang="en-NZ" sz="600" dirty="0">
              <a:solidFill>
                <a:schemeClr val="tx1"/>
              </a:solidFill>
            </a:endParaRPr>
          </a:p>
        </p:txBody>
      </p:sp>
      <p:sp>
        <p:nvSpPr>
          <p:cNvPr id="8" name="Rectangle: Folded Corner 7">
            <a:extLst>
              <a:ext uri="{FF2B5EF4-FFF2-40B4-BE49-F238E27FC236}">
                <a16:creationId xmlns:a16="http://schemas.microsoft.com/office/drawing/2014/main" id="{ED17ED6E-D151-A469-F575-A928E6BC194B}"/>
              </a:ext>
            </a:extLst>
          </p:cNvPr>
          <p:cNvSpPr/>
          <p:nvPr/>
        </p:nvSpPr>
        <p:spPr>
          <a:xfrm>
            <a:off x="132531" y="5108074"/>
            <a:ext cx="777078" cy="461665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Originating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Event</a:t>
            </a:r>
            <a:endParaRPr lang="en-NZ" sz="600" dirty="0">
              <a:solidFill>
                <a:schemeClr val="tx1"/>
              </a:solidFill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50A9F9A-8E5F-B441-0DFD-50818929D2B3}"/>
              </a:ext>
            </a:extLst>
          </p:cNvPr>
          <p:cNvCxnSpPr>
            <a:cxnSpLocks/>
            <a:stCxn id="67" idx="1"/>
            <a:endCxn id="47" idx="1"/>
          </p:cNvCxnSpPr>
          <p:nvPr/>
        </p:nvCxnSpPr>
        <p:spPr>
          <a:xfrm rot="10800000">
            <a:off x="3935529" y="3361561"/>
            <a:ext cx="1679083" cy="3091373"/>
          </a:xfrm>
          <a:prstGeom prst="bentConnector3">
            <a:avLst>
              <a:gd name="adj1" fmla="val 113615"/>
            </a:avLst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7703031-3189-5D29-9F59-2B02175DB9B3}"/>
              </a:ext>
            </a:extLst>
          </p:cNvPr>
          <p:cNvCxnSpPr>
            <a:cxnSpLocks/>
          </p:cNvCxnSpPr>
          <p:nvPr/>
        </p:nvCxnSpPr>
        <p:spPr>
          <a:xfrm>
            <a:off x="179660" y="4538021"/>
            <a:ext cx="554266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DA0DDED-FC90-C2D9-4FBE-6563DBC0ADDD}"/>
              </a:ext>
            </a:extLst>
          </p:cNvPr>
          <p:cNvSpPr txBox="1"/>
          <p:nvPr/>
        </p:nvSpPr>
        <p:spPr>
          <a:xfrm>
            <a:off x="128605" y="4540815"/>
            <a:ext cx="6303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Notifies</a:t>
            </a:r>
          </a:p>
        </p:txBody>
      </p:sp>
      <p:sp>
        <p:nvSpPr>
          <p:cNvPr id="70" name="Rectangle: Folded Corner 69">
            <a:extLst>
              <a:ext uri="{FF2B5EF4-FFF2-40B4-BE49-F238E27FC236}">
                <a16:creationId xmlns:a16="http://schemas.microsoft.com/office/drawing/2014/main" id="{B1E54C3F-F325-A118-BFCE-D03C23B87824}"/>
              </a:ext>
            </a:extLst>
          </p:cNvPr>
          <p:cNvSpPr/>
          <p:nvPr/>
        </p:nvSpPr>
        <p:spPr>
          <a:xfrm>
            <a:off x="5258479" y="5392494"/>
            <a:ext cx="810392" cy="644203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>
                <a:solidFill>
                  <a:schemeClr val="tx1"/>
                </a:solidFill>
              </a:rPr>
              <a:t>Default</a:t>
            </a:r>
            <a:r>
              <a:rPr lang="en-NZ" sz="1000" dirty="0">
                <a:solidFill>
                  <a:schemeClr val="tx1"/>
                </a:solidFill>
              </a:rPr>
              <a:t> </a:t>
            </a:r>
            <a:r>
              <a:rPr lang="en-NZ" sz="800" dirty="0">
                <a:solidFill>
                  <a:schemeClr val="tx1"/>
                </a:solidFill>
              </a:rPr>
              <a:t>Membership</a:t>
            </a:r>
            <a:r>
              <a:rPr lang="en-NZ" sz="1000" dirty="0">
                <a:solidFill>
                  <a:schemeClr val="tx1"/>
                </a:solidFill>
              </a:rPr>
              <a:t> </a:t>
            </a:r>
            <a:r>
              <a:rPr lang="en-NZ" sz="900" dirty="0">
                <a:solidFill>
                  <a:schemeClr val="tx1"/>
                </a:solidFill>
              </a:rPr>
              <a:t>Changed</a:t>
            </a:r>
          </a:p>
          <a:p>
            <a:pPr algn="ctr"/>
            <a:r>
              <a:rPr lang="en-NZ" sz="700" dirty="0">
                <a:solidFill>
                  <a:schemeClr val="tx1"/>
                </a:solidFill>
              </a:rPr>
              <a:t>(shared)</a:t>
            </a:r>
            <a:endParaRPr lang="en-NZ" sz="1000" dirty="0">
              <a:solidFill>
                <a:schemeClr val="tx1"/>
              </a:solidFill>
            </a:endParaRPr>
          </a:p>
        </p:txBody>
      </p:sp>
      <p:sp>
        <p:nvSpPr>
          <p:cNvPr id="71" name="Rectangle: Folded Corner 70">
            <a:extLst>
              <a:ext uri="{FF2B5EF4-FFF2-40B4-BE49-F238E27FC236}">
                <a16:creationId xmlns:a16="http://schemas.microsoft.com/office/drawing/2014/main" id="{25BF886F-94B9-B95B-2792-3A7C9E81B4AC}"/>
              </a:ext>
            </a:extLst>
          </p:cNvPr>
          <p:cNvSpPr/>
          <p:nvPr/>
        </p:nvSpPr>
        <p:spPr>
          <a:xfrm>
            <a:off x="5617032" y="4738057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</a:t>
            </a:r>
            <a:r>
              <a:rPr lang="en-NZ" sz="1000" dirty="0">
                <a:solidFill>
                  <a:schemeClr val="tx1"/>
                </a:solidFill>
              </a:rPr>
              <a:t> Added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(shared)</a:t>
            </a:r>
            <a:endParaRPr lang="en-NZ" sz="1000" dirty="0">
              <a:solidFill>
                <a:schemeClr val="tx1"/>
              </a:solidFill>
            </a:endParaRPr>
          </a:p>
        </p:txBody>
      </p:sp>
      <p:cxnSp>
        <p:nvCxnSpPr>
          <p:cNvPr id="72" name="Straight Arrow Connector 49">
            <a:extLst>
              <a:ext uri="{FF2B5EF4-FFF2-40B4-BE49-F238E27FC236}">
                <a16:creationId xmlns:a16="http://schemas.microsoft.com/office/drawing/2014/main" id="{91F95C72-1EF0-0C64-0275-F475EF1FFE2A}"/>
              </a:ext>
            </a:extLst>
          </p:cNvPr>
          <p:cNvCxnSpPr>
            <a:cxnSpLocks/>
            <a:stCxn id="71" idx="3"/>
            <a:endCxn id="70" idx="3"/>
          </p:cNvCxnSpPr>
          <p:nvPr/>
        </p:nvCxnSpPr>
        <p:spPr>
          <a:xfrm flipH="1">
            <a:off x="6068871" y="5014792"/>
            <a:ext cx="358553" cy="699804"/>
          </a:xfrm>
          <a:prstGeom prst="curvedConnector3">
            <a:avLst>
              <a:gd name="adj1" fmla="val -63756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8E3F7F3C-9008-1D4E-A484-DD61865BB5BA}"/>
              </a:ext>
            </a:extLst>
          </p:cNvPr>
          <p:cNvCxnSpPr>
            <a:cxnSpLocks/>
            <a:stCxn id="70" idx="3"/>
            <a:endCxn id="18" idx="2"/>
          </p:cNvCxnSpPr>
          <p:nvPr/>
        </p:nvCxnSpPr>
        <p:spPr>
          <a:xfrm flipV="1">
            <a:off x="6068871" y="3723586"/>
            <a:ext cx="4952988" cy="1991010"/>
          </a:xfrm>
          <a:prstGeom prst="bentConnector2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Oval 80">
            <a:extLst>
              <a:ext uri="{FF2B5EF4-FFF2-40B4-BE49-F238E27FC236}">
                <a16:creationId xmlns:a16="http://schemas.microsoft.com/office/drawing/2014/main" id="{71CFCB9D-5D9C-F7CC-D576-03DEACA37E67}"/>
              </a:ext>
            </a:extLst>
          </p:cNvPr>
          <p:cNvSpPr/>
          <p:nvPr/>
        </p:nvSpPr>
        <p:spPr>
          <a:xfrm>
            <a:off x="5364920" y="2885045"/>
            <a:ext cx="398886" cy="398886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dirty="0"/>
              <a:t>2a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C432A4F8-EE4C-59FC-E095-D73448764EB8}"/>
              </a:ext>
            </a:extLst>
          </p:cNvPr>
          <p:cNvSpPr/>
          <p:nvPr/>
        </p:nvSpPr>
        <p:spPr>
          <a:xfrm>
            <a:off x="5364920" y="4539480"/>
            <a:ext cx="398886" cy="398886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dirty="0"/>
              <a:t>2b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4499DDA-028A-3960-2BF5-79E03A0DE12D}"/>
              </a:ext>
            </a:extLst>
          </p:cNvPr>
          <p:cNvSpPr txBox="1"/>
          <p:nvPr/>
        </p:nvSpPr>
        <p:spPr>
          <a:xfrm>
            <a:off x="3935526" y="4127801"/>
            <a:ext cx="703402" cy="1271052"/>
          </a:xfrm>
          <a:prstGeom prst="can">
            <a:avLst/>
          </a:prstGeom>
          <a:noFill/>
          <a:ln w="19050">
            <a:solidFill>
              <a:srgbClr val="7030A0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NZ" sz="6000" b="1" dirty="0">
                <a:solidFill>
                  <a:srgbClr val="7030A0"/>
                </a:solidFill>
              </a:rPr>
              <a:t>?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547B83E0-3903-BA01-16CE-9DAEB29B4CF8}"/>
              </a:ext>
            </a:extLst>
          </p:cNvPr>
          <p:cNvCxnSpPr>
            <a:cxnSpLocks/>
            <a:stCxn id="82" idx="2"/>
            <a:endCxn id="83" idx="4"/>
          </p:cNvCxnSpPr>
          <p:nvPr/>
        </p:nvCxnSpPr>
        <p:spPr>
          <a:xfrm flipH="1">
            <a:off x="4638928" y="4738923"/>
            <a:ext cx="725992" cy="24404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77DC217-FC0A-C811-4A50-5A4306E1AE92}"/>
              </a:ext>
            </a:extLst>
          </p:cNvPr>
          <p:cNvCxnSpPr>
            <a:cxnSpLocks/>
            <a:stCxn id="71" idx="3"/>
            <a:endCxn id="3" idx="2"/>
          </p:cNvCxnSpPr>
          <p:nvPr/>
        </p:nvCxnSpPr>
        <p:spPr>
          <a:xfrm flipV="1">
            <a:off x="6427424" y="2431661"/>
            <a:ext cx="2944852" cy="2583131"/>
          </a:xfrm>
          <a:prstGeom prst="bentConnector2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0B4C80A5-6A01-FCDB-5137-59227B56AA0F}"/>
              </a:ext>
            </a:extLst>
          </p:cNvPr>
          <p:cNvSpPr/>
          <p:nvPr/>
        </p:nvSpPr>
        <p:spPr>
          <a:xfrm>
            <a:off x="3688695" y="2875897"/>
            <a:ext cx="398886" cy="398886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dirty="0"/>
              <a:t>1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5E2320D-893C-3CCD-70B8-41AFFF90A6E7}"/>
              </a:ext>
            </a:extLst>
          </p:cNvPr>
          <p:cNvCxnSpPr>
            <a:cxnSpLocks/>
          </p:cNvCxnSpPr>
          <p:nvPr/>
        </p:nvCxnSpPr>
        <p:spPr>
          <a:xfrm>
            <a:off x="0" y="2790330"/>
            <a:ext cx="7777113" cy="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556EB9A2-16A3-E162-AE8F-741ED4CBD82E}"/>
              </a:ext>
            </a:extLst>
          </p:cNvPr>
          <p:cNvSpPr/>
          <p:nvPr/>
        </p:nvSpPr>
        <p:spPr>
          <a:xfrm>
            <a:off x="5278816" y="1940310"/>
            <a:ext cx="810392" cy="644203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>
                <a:solidFill>
                  <a:schemeClr val="tx1"/>
                </a:solidFill>
              </a:rPr>
              <a:t>Default</a:t>
            </a:r>
            <a:r>
              <a:rPr lang="en-NZ" sz="1000" dirty="0">
                <a:solidFill>
                  <a:schemeClr val="tx1"/>
                </a:solidFill>
              </a:rPr>
              <a:t> </a:t>
            </a:r>
            <a:r>
              <a:rPr lang="en-NZ" sz="800" dirty="0">
                <a:solidFill>
                  <a:schemeClr val="tx1"/>
                </a:solidFill>
              </a:rPr>
              <a:t>Membership</a:t>
            </a:r>
            <a:r>
              <a:rPr lang="en-NZ" sz="1000" dirty="0">
                <a:solidFill>
                  <a:schemeClr val="tx1"/>
                </a:solidFill>
              </a:rPr>
              <a:t> </a:t>
            </a:r>
            <a:r>
              <a:rPr lang="en-NZ" sz="900" dirty="0">
                <a:solidFill>
                  <a:schemeClr val="tx1"/>
                </a:solidFill>
              </a:rPr>
              <a:t>Changed</a:t>
            </a:r>
          </a:p>
          <a:p>
            <a:pPr algn="ctr"/>
            <a:r>
              <a:rPr lang="en-NZ" sz="700" dirty="0">
                <a:solidFill>
                  <a:schemeClr val="tx1"/>
                </a:solidFill>
              </a:rPr>
              <a:t>(shared)</a:t>
            </a:r>
            <a:endParaRPr lang="en-NZ" sz="1000" dirty="0">
              <a:solidFill>
                <a:schemeClr val="tx1"/>
              </a:solidFill>
            </a:endParaRPr>
          </a:p>
        </p:txBody>
      </p:sp>
      <p:sp>
        <p:nvSpPr>
          <p:cNvPr id="16" name="Rectangle: Folded Corner 15">
            <a:extLst>
              <a:ext uri="{FF2B5EF4-FFF2-40B4-BE49-F238E27FC236}">
                <a16:creationId xmlns:a16="http://schemas.microsoft.com/office/drawing/2014/main" id="{16C585A9-D9B5-163B-1830-CA0C3EBEEF5F}"/>
              </a:ext>
            </a:extLst>
          </p:cNvPr>
          <p:cNvSpPr/>
          <p:nvPr/>
        </p:nvSpPr>
        <p:spPr>
          <a:xfrm>
            <a:off x="3946524" y="1285873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Organization</a:t>
            </a: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Created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(shared)</a:t>
            </a:r>
          </a:p>
        </p:txBody>
      </p:sp>
      <p:sp>
        <p:nvSpPr>
          <p:cNvPr id="17" name="Rectangle: Folded Corner 16">
            <a:extLst>
              <a:ext uri="{FF2B5EF4-FFF2-40B4-BE49-F238E27FC236}">
                <a16:creationId xmlns:a16="http://schemas.microsoft.com/office/drawing/2014/main" id="{6AE7B2F8-B8EC-901A-7EE1-5D03755D1653}"/>
              </a:ext>
            </a:extLst>
          </p:cNvPr>
          <p:cNvSpPr/>
          <p:nvPr/>
        </p:nvSpPr>
        <p:spPr>
          <a:xfrm>
            <a:off x="5637369" y="1285873"/>
            <a:ext cx="810392" cy="553470"/>
          </a:xfrm>
          <a:prstGeom prst="foldedCorner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800" dirty="0">
                <a:solidFill>
                  <a:schemeClr val="tx1"/>
                </a:solidFill>
              </a:rPr>
              <a:t>Membership</a:t>
            </a:r>
            <a:r>
              <a:rPr lang="en-NZ" sz="1000" dirty="0">
                <a:solidFill>
                  <a:schemeClr val="tx1"/>
                </a:solidFill>
              </a:rPr>
              <a:t> Added</a:t>
            </a:r>
          </a:p>
          <a:p>
            <a:pPr algn="ctr"/>
            <a:r>
              <a:rPr lang="en-NZ" sz="800" dirty="0">
                <a:solidFill>
                  <a:schemeClr val="tx1"/>
                </a:solidFill>
              </a:rPr>
              <a:t>(shared)</a:t>
            </a:r>
            <a:endParaRPr lang="en-NZ" sz="1000" dirty="0">
              <a:solidFill>
                <a:schemeClr val="tx1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4B6B5EF-6A9D-3A12-A535-2FFD1002D28B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>
            <a:off x="4756916" y="1562608"/>
            <a:ext cx="880453" cy="0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49">
            <a:extLst>
              <a:ext uri="{FF2B5EF4-FFF2-40B4-BE49-F238E27FC236}">
                <a16:creationId xmlns:a16="http://schemas.microsoft.com/office/drawing/2014/main" id="{23DBFF3E-0D2D-E0CC-AD61-4D43E1B7EEBF}"/>
              </a:ext>
            </a:extLst>
          </p:cNvPr>
          <p:cNvCxnSpPr>
            <a:cxnSpLocks/>
            <a:stCxn id="17" idx="3"/>
            <a:endCxn id="15" idx="3"/>
          </p:cNvCxnSpPr>
          <p:nvPr/>
        </p:nvCxnSpPr>
        <p:spPr>
          <a:xfrm flipH="1">
            <a:off x="6089208" y="1562608"/>
            <a:ext cx="358553" cy="699804"/>
          </a:xfrm>
          <a:prstGeom prst="curvedConnector3">
            <a:avLst>
              <a:gd name="adj1" fmla="val -63756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85615473-CEDD-9C60-C3C4-DEA1A7839F39}"/>
              </a:ext>
            </a:extLst>
          </p:cNvPr>
          <p:cNvSpPr/>
          <p:nvPr/>
        </p:nvSpPr>
        <p:spPr>
          <a:xfrm>
            <a:off x="3699691" y="1076945"/>
            <a:ext cx="398886" cy="398886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28" name="Straight Arrow Connector 35">
            <a:extLst>
              <a:ext uri="{FF2B5EF4-FFF2-40B4-BE49-F238E27FC236}">
                <a16:creationId xmlns:a16="http://schemas.microsoft.com/office/drawing/2014/main" id="{CF1EFB3F-0BFB-DB8A-8FE8-997F8B9C6D2B}"/>
              </a:ext>
            </a:extLst>
          </p:cNvPr>
          <p:cNvCxnSpPr>
            <a:cxnSpLocks/>
            <a:endCxn id="16" idx="1"/>
          </p:cNvCxnSpPr>
          <p:nvPr/>
        </p:nvCxnSpPr>
        <p:spPr>
          <a:xfrm flipV="1">
            <a:off x="2529716" y="1562608"/>
            <a:ext cx="1416808" cy="827"/>
          </a:xfrm>
          <a:prstGeom prst="bentConnector3">
            <a:avLst>
              <a:gd name="adj1" fmla="val 50000"/>
            </a:avLst>
          </a:prstGeom>
          <a:ln w="76200">
            <a:solidFill>
              <a:schemeClr val="accent4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67CD17BE-FE55-37E3-4DD3-9DCA653E553B}"/>
              </a:ext>
            </a:extLst>
          </p:cNvPr>
          <p:cNvSpPr/>
          <p:nvPr/>
        </p:nvSpPr>
        <p:spPr>
          <a:xfrm>
            <a:off x="5360380" y="1097369"/>
            <a:ext cx="398886" cy="398886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5F5DA79-81F5-813A-6EC1-FE6F18B40078}"/>
              </a:ext>
            </a:extLst>
          </p:cNvPr>
          <p:cNvCxnSpPr>
            <a:cxnSpLocks/>
            <a:stCxn id="17" idx="3"/>
            <a:endCxn id="3" idx="1"/>
          </p:cNvCxnSpPr>
          <p:nvPr/>
        </p:nvCxnSpPr>
        <p:spPr>
          <a:xfrm>
            <a:off x="6447761" y="1562608"/>
            <a:ext cx="2519319" cy="592318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04C8F9D-E913-078B-47C3-937C74C25065}"/>
              </a:ext>
            </a:extLst>
          </p:cNvPr>
          <p:cNvCxnSpPr>
            <a:cxnSpLocks/>
            <a:stCxn id="15" idx="3"/>
            <a:endCxn id="18" idx="1"/>
          </p:cNvCxnSpPr>
          <p:nvPr/>
        </p:nvCxnSpPr>
        <p:spPr>
          <a:xfrm>
            <a:off x="6089208" y="2262412"/>
            <a:ext cx="4527455" cy="1139073"/>
          </a:xfrm>
          <a:prstGeom prst="straightConnector1">
            <a:avLst/>
          </a:prstGeom>
          <a:ln w="38100">
            <a:solidFill>
              <a:schemeClr val="accent1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B627EA8-9FC3-F42E-8EBC-489D92BA22F2}"/>
              </a:ext>
            </a:extLst>
          </p:cNvPr>
          <p:cNvGrpSpPr/>
          <p:nvPr/>
        </p:nvGrpSpPr>
        <p:grpSpPr>
          <a:xfrm>
            <a:off x="1074611" y="1018631"/>
            <a:ext cx="2000869" cy="1372682"/>
            <a:chOff x="1074611" y="1018631"/>
            <a:chExt cx="2000869" cy="1372682"/>
          </a:xfrm>
        </p:grpSpPr>
        <p:pic>
          <p:nvPicPr>
            <p:cNvPr id="51" name="Graphic 50" descr="User with solid fill">
              <a:extLst>
                <a:ext uri="{FF2B5EF4-FFF2-40B4-BE49-F238E27FC236}">
                  <a16:creationId xmlns:a16="http://schemas.microsoft.com/office/drawing/2014/main" id="{F3DDD292-8315-7513-B8F4-2BD7EFED0A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615316" y="1018631"/>
              <a:ext cx="914400" cy="914400"/>
            </a:xfrm>
            <a:prstGeom prst="rect">
              <a:avLst/>
            </a:prstGeom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B14F4F32-9B92-CF00-A776-F938F08D9C6E}"/>
                </a:ext>
              </a:extLst>
            </p:cNvPr>
            <p:cNvSpPr txBox="1"/>
            <p:nvPr/>
          </p:nvSpPr>
          <p:spPr>
            <a:xfrm>
              <a:off x="1074611" y="1744982"/>
              <a:ext cx="20008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Primary</a:t>
              </a:r>
            </a:p>
            <a:p>
              <a:pPr algn="ctr"/>
              <a:r>
                <a:rPr lang="en-NZ" sz="1200" dirty="0"/>
                <a:t>User</a:t>
              </a:r>
              <a:br>
                <a:rPr lang="en-NZ" sz="1200" dirty="0"/>
              </a:br>
              <a:r>
                <a:rPr lang="en-NZ" sz="1200" i="1" dirty="0"/>
                <a:t>(aprimary@company.com)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309CA37-A8B7-0FD7-C79F-9D017C5A1621}"/>
              </a:ext>
            </a:extLst>
          </p:cNvPr>
          <p:cNvGrpSpPr/>
          <p:nvPr/>
        </p:nvGrpSpPr>
        <p:grpSpPr>
          <a:xfrm>
            <a:off x="1112281" y="3378051"/>
            <a:ext cx="1925528" cy="1372682"/>
            <a:chOff x="1112281" y="1018631"/>
            <a:chExt cx="1925528" cy="1372682"/>
          </a:xfrm>
        </p:grpSpPr>
        <p:pic>
          <p:nvPicPr>
            <p:cNvPr id="57" name="Graphic 56" descr="User with solid fill">
              <a:extLst>
                <a:ext uri="{FF2B5EF4-FFF2-40B4-BE49-F238E27FC236}">
                  <a16:creationId xmlns:a16="http://schemas.microsoft.com/office/drawing/2014/main" id="{B7A0D802-2B97-EB74-E0DD-193DE6AF52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615316" y="1018631"/>
              <a:ext cx="914400" cy="914400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0DF0D14-F9C6-85B5-34B2-A9DDDBECEE4B}"/>
                </a:ext>
              </a:extLst>
            </p:cNvPr>
            <p:cNvSpPr txBox="1"/>
            <p:nvPr/>
          </p:nvSpPr>
          <p:spPr>
            <a:xfrm>
              <a:off x="1112281" y="1744982"/>
              <a:ext cx="1925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Secondary</a:t>
              </a:r>
            </a:p>
            <a:p>
              <a:pPr algn="ctr"/>
              <a:r>
                <a:rPr lang="en-NZ" sz="1200" dirty="0"/>
                <a:t>User</a:t>
              </a:r>
            </a:p>
            <a:p>
              <a:pPr algn="ctr"/>
              <a:r>
                <a:rPr lang="en-NZ" sz="1200" i="1" dirty="0"/>
                <a:t>(another@company.com)</a:t>
              </a:r>
            </a:p>
          </p:txBody>
        </p:sp>
      </p:grpSp>
      <p:cxnSp>
        <p:nvCxnSpPr>
          <p:cNvPr id="61" name="Straight Arrow Connector 35">
            <a:extLst>
              <a:ext uri="{FF2B5EF4-FFF2-40B4-BE49-F238E27FC236}">
                <a16:creationId xmlns:a16="http://schemas.microsoft.com/office/drawing/2014/main" id="{1D9AEB86-1270-8EBD-9596-CAF41ADE12B3}"/>
              </a:ext>
            </a:extLst>
          </p:cNvPr>
          <p:cNvCxnSpPr>
            <a:cxnSpLocks/>
            <a:stCxn id="59" idx="2"/>
          </p:cNvCxnSpPr>
          <p:nvPr/>
        </p:nvCxnSpPr>
        <p:spPr>
          <a:xfrm rot="16200000" flipH="1">
            <a:off x="2894783" y="3930995"/>
            <a:ext cx="1864144" cy="3503620"/>
          </a:xfrm>
          <a:prstGeom prst="bentConnector2">
            <a:avLst/>
          </a:prstGeom>
          <a:ln w="76200">
            <a:solidFill>
              <a:srgbClr val="9966FF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25050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" name="Group 102">
            <a:extLst>
              <a:ext uri="{FF2B5EF4-FFF2-40B4-BE49-F238E27FC236}">
                <a16:creationId xmlns:a16="http://schemas.microsoft.com/office/drawing/2014/main" id="{5F9E5805-7832-CE51-C039-84988E682F82}"/>
              </a:ext>
            </a:extLst>
          </p:cNvPr>
          <p:cNvGrpSpPr/>
          <p:nvPr/>
        </p:nvGrpSpPr>
        <p:grpSpPr>
          <a:xfrm>
            <a:off x="181749" y="1874614"/>
            <a:ext cx="2352676" cy="2768718"/>
            <a:chOff x="181749" y="1874614"/>
            <a:chExt cx="2352676" cy="2458524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721AC07A-922A-8372-1184-9453F67136F1}"/>
                </a:ext>
              </a:extLst>
            </p:cNvPr>
            <p:cNvSpPr/>
            <p:nvPr/>
          </p:nvSpPr>
          <p:spPr>
            <a:xfrm>
              <a:off x="181749" y="1874614"/>
              <a:ext cx="2352676" cy="2458524"/>
            </a:xfrm>
            <a:prstGeom prst="roundRect">
              <a:avLst>
                <a:gd name="adj" fmla="val 4576"/>
              </a:avLst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en-US" sz="1200" dirty="0"/>
                <a:t>              </a:t>
              </a:r>
              <a:r>
                <a:rPr lang="en-US" sz="1200" dirty="0" err="1"/>
                <a:t>BackEnd</a:t>
              </a:r>
              <a:r>
                <a:rPr lang="en-US" sz="1200" dirty="0"/>
                <a:t> API Host (1)</a:t>
              </a:r>
              <a:endParaRPr lang="en-NZ" dirty="0"/>
            </a:p>
          </p:txBody>
        </p:sp>
        <p:pic>
          <p:nvPicPr>
            <p:cNvPr id="102" name="Picture 8" descr="App Service - Web App | Microsoft Azure Mono">
              <a:extLst>
                <a:ext uri="{FF2B5EF4-FFF2-40B4-BE49-F238E27FC236}">
                  <a16:creationId xmlns:a16="http://schemas.microsoft.com/office/drawing/2014/main" id="{41E1FE43-B27C-6CB4-D2DD-BE8217E8437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3428" y="3777579"/>
              <a:ext cx="450277" cy="4502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D5F9B3A-266D-512C-C6C3-41EA6B39C51D}"/>
              </a:ext>
            </a:extLst>
          </p:cNvPr>
          <p:cNvSpPr txBox="1"/>
          <p:nvPr/>
        </p:nvSpPr>
        <p:spPr>
          <a:xfrm>
            <a:off x="267419" y="207034"/>
            <a:ext cx="50000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Eventing Flows – Brokering (Azure)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CFC7CC5-71FA-B6C8-7CFC-4D09A86B0FFE}"/>
              </a:ext>
            </a:extLst>
          </p:cNvPr>
          <p:cNvSpPr/>
          <p:nvPr/>
        </p:nvSpPr>
        <p:spPr>
          <a:xfrm>
            <a:off x="267420" y="2047875"/>
            <a:ext cx="2180506" cy="6953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AsynchronousQueue</a:t>
            </a:r>
            <a:endParaRPr lang="en-NZ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ConsumerRelay</a:t>
            </a:r>
            <a:endParaRPr lang="en-NZ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3F7AED2-B6D1-CCBD-C0CA-1728AF21C0E1}"/>
              </a:ext>
            </a:extLst>
          </p:cNvPr>
          <p:cNvSpPr/>
          <p:nvPr/>
        </p:nvSpPr>
        <p:spPr>
          <a:xfrm>
            <a:off x="267420" y="3183202"/>
            <a:ext cx="2180506" cy="695325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IDomainEventing</a:t>
            </a:r>
            <a:endParaRPr lang="en-NZ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MessageBusTopic</a:t>
            </a:r>
            <a:endParaRPr lang="en-NZ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826A1694-C918-854C-B974-A5ECCA4916A8}"/>
              </a:ext>
            </a:extLst>
          </p:cNvPr>
          <p:cNvSpPr/>
          <p:nvPr/>
        </p:nvSpPr>
        <p:spPr>
          <a:xfrm>
            <a:off x="2723059" y="2475779"/>
            <a:ext cx="2007691" cy="1619967"/>
          </a:xfrm>
          <a:prstGeom prst="can">
            <a:avLst>
              <a:gd name="adj" fmla="val 8237"/>
            </a:avLst>
          </a:prstGeom>
          <a:solidFill>
            <a:srgbClr val="0078D7"/>
          </a:solidFill>
          <a:ln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/>
            <a:r>
              <a:rPr lang="en-NZ" dirty="0"/>
              <a:t>Azure Service Bus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A07EEE1-BA49-E25F-FAC1-C8B50C9D278B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1357673" y="2743200"/>
            <a:ext cx="0" cy="440002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B256630-1D6D-0327-779B-BCBC54095D2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2447926" y="3530862"/>
            <a:ext cx="312699" cy="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EA61273-9167-2CFC-B16C-EEC094628CF8}"/>
              </a:ext>
            </a:extLst>
          </p:cNvPr>
          <p:cNvCxnSpPr>
            <a:cxnSpLocks/>
            <a:stCxn id="97" idx="3"/>
            <a:endCxn id="16" idx="1"/>
          </p:cNvCxnSpPr>
          <p:nvPr/>
        </p:nvCxnSpPr>
        <p:spPr>
          <a:xfrm flipV="1">
            <a:off x="4625844" y="2826015"/>
            <a:ext cx="531379" cy="697552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B0806FC-9443-7FD8-CB4B-C81F9D45DC10}"/>
              </a:ext>
            </a:extLst>
          </p:cNvPr>
          <p:cNvGrpSpPr/>
          <p:nvPr/>
        </p:nvGrpSpPr>
        <p:grpSpPr>
          <a:xfrm>
            <a:off x="5041864" y="1047442"/>
            <a:ext cx="6430990" cy="1978537"/>
            <a:chOff x="5041864" y="1752292"/>
            <a:chExt cx="6430990" cy="197853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ADCD0B29-D7C0-2321-2CD2-FBFF7D2661B6}"/>
                </a:ext>
              </a:extLst>
            </p:cNvPr>
            <p:cNvGrpSpPr/>
            <p:nvPr/>
          </p:nvGrpSpPr>
          <p:grpSpPr>
            <a:xfrm>
              <a:off x="5157223" y="3330900"/>
              <a:ext cx="1119752" cy="399929"/>
              <a:chOff x="7334798" y="4191253"/>
              <a:chExt cx="1119752" cy="399929"/>
            </a:xfrm>
          </p:grpSpPr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AF76AAD5-31F4-7BF1-3E87-BD8CC6390E70}"/>
                  </a:ext>
                </a:extLst>
              </p:cNvPr>
              <p:cNvSpPr/>
              <p:nvPr/>
            </p:nvSpPr>
            <p:spPr>
              <a:xfrm>
                <a:off x="7334798" y="4191253"/>
                <a:ext cx="1119752" cy="399929"/>
              </a:xfrm>
              <a:prstGeom prst="roundRect">
                <a:avLst>
                  <a:gd name="adj" fmla="val 6468"/>
                </a:avLst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sz="1100" dirty="0">
                    <a:solidFill>
                      <a:schemeClr val="tx1"/>
                    </a:solidFill>
                  </a:rPr>
                  <a:t>Function</a:t>
                </a:r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17" name="Picture 4" descr="Azure Functions (@AzureFunctions) / Twitter">
                <a:extLst>
                  <a:ext uri="{FF2B5EF4-FFF2-40B4-BE49-F238E27FC236}">
                    <a16:creationId xmlns:a16="http://schemas.microsoft.com/office/drawing/2014/main" id="{2BE30221-92C6-F9F6-C404-F078C81E8A6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364438" y="4251747"/>
                <a:ext cx="278939" cy="27893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DA0E9769-AA13-D377-410E-D012C53312F1}"/>
                </a:ext>
              </a:extLst>
            </p:cNvPr>
            <p:cNvGrpSpPr/>
            <p:nvPr/>
          </p:nvGrpSpPr>
          <p:grpSpPr>
            <a:xfrm>
              <a:off x="7238189" y="1752292"/>
              <a:ext cx="4234665" cy="1918042"/>
              <a:chOff x="6847664" y="1752292"/>
              <a:chExt cx="4234665" cy="1918042"/>
            </a:xfrm>
            <a:solidFill>
              <a:srgbClr val="0078D7"/>
            </a:solidFill>
          </p:grpSpPr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2823741A-DF00-F4A5-7309-5A583A748AA5}"/>
                  </a:ext>
                </a:extLst>
              </p:cNvPr>
              <p:cNvSpPr/>
              <p:nvPr/>
            </p:nvSpPr>
            <p:spPr>
              <a:xfrm>
                <a:off x="6847664" y="1752292"/>
                <a:ext cx="4234665" cy="1918042"/>
              </a:xfrm>
              <a:prstGeom prst="roundRect">
                <a:avLst>
                  <a:gd name="adj" fmla="val 4576"/>
                </a:avLst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</a:t>
                </a:r>
                <a:r>
                  <a:rPr lang="en-US" sz="1200" dirty="0" err="1"/>
                  <a:t>BackEnd</a:t>
                </a:r>
                <a:r>
                  <a:rPr lang="en-US" sz="1200" dirty="0"/>
                  <a:t> API Host (1)</a:t>
                </a:r>
                <a:endParaRPr lang="en-NZ" dirty="0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35D8ADB-CF47-FE21-187C-B4714A8B5007}"/>
                  </a:ext>
                </a:extLst>
              </p:cNvPr>
              <p:cNvSpPr/>
              <p:nvPr/>
            </p:nvSpPr>
            <p:spPr>
              <a:xfrm>
                <a:off x="6916630" y="2579463"/>
                <a:ext cx="1557608" cy="379857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EventNotifications</a:t>
                </a:r>
                <a:r>
                  <a:rPr lang="en-US" sz="1200" dirty="0"/>
                  <a:t> API</a:t>
                </a:r>
                <a:endParaRPr lang="en-NZ" sz="1200" dirty="0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937A0051-452A-D03D-377B-B82825BB359D}"/>
                  </a:ext>
                </a:extLst>
              </p:cNvPr>
              <p:cNvSpPr/>
              <p:nvPr/>
            </p:nvSpPr>
            <p:spPr>
              <a:xfrm>
                <a:off x="8745692" y="2041686"/>
                <a:ext cx="2112808" cy="30617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IDomainEventingConsumerService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33DD3E7D-E650-71DC-D0DF-7FC61A72FF6F}"/>
                  </a:ext>
                </a:extLst>
              </p:cNvPr>
              <p:cNvSpPr/>
              <p:nvPr/>
            </p:nvSpPr>
            <p:spPr>
              <a:xfrm>
                <a:off x="8745692" y="2616304"/>
                <a:ext cx="2112808" cy="30617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IDomainEventNoificationConsumer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89D47A75-D047-104B-996D-68B9FE878EED}"/>
                  </a:ext>
                </a:extLst>
              </p:cNvPr>
              <p:cNvCxnSpPr>
                <a:cxnSpLocks/>
                <a:stCxn id="31" idx="2"/>
                <a:endCxn id="35" idx="0"/>
              </p:cNvCxnSpPr>
              <p:nvPr/>
            </p:nvCxnSpPr>
            <p:spPr>
              <a:xfrm>
                <a:off x="9802096" y="2347863"/>
                <a:ext cx="0" cy="268441"/>
              </a:xfrm>
              <a:prstGeom prst="straightConnector1">
                <a:avLst/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FFF86473-EB36-6199-E70F-462AB5CAC5F5}"/>
                  </a:ext>
                </a:extLst>
              </p:cNvPr>
              <p:cNvCxnSpPr>
                <a:cxnSpLocks/>
                <a:stCxn id="30" idx="3"/>
                <a:endCxn id="31" idx="1"/>
              </p:cNvCxnSpPr>
              <p:nvPr/>
            </p:nvCxnSpPr>
            <p:spPr>
              <a:xfrm flipV="1">
                <a:off x="8474238" y="2194775"/>
                <a:ext cx="271454" cy="574617"/>
              </a:xfrm>
              <a:prstGeom prst="curvedConnector3">
                <a:avLst>
                  <a:gd name="adj1" fmla="val 50000"/>
                </a:avLst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B500BF48-F23F-ED14-5C39-3FD131D6FD13}"/>
                  </a:ext>
                </a:extLst>
              </p:cNvPr>
              <p:cNvSpPr/>
              <p:nvPr/>
            </p:nvSpPr>
            <p:spPr>
              <a:xfrm>
                <a:off x="9011741" y="3242200"/>
                <a:ext cx="1780084" cy="306177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bg1"/>
                    </a:solidFill>
                  </a:rPr>
                  <a:t>ISubDomainApplication</a:t>
                </a:r>
                <a:endParaRPr lang="en-NZ" sz="900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50" name="Straight Arrow Connector 49">
                <a:extLst>
                  <a:ext uri="{FF2B5EF4-FFF2-40B4-BE49-F238E27FC236}">
                    <a16:creationId xmlns:a16="http://schemas.microsoft.com/office/drawing/2014/main" id="{B0398FA9-166D-1489-9C5D-BF1F82460479}"/>
                  </a:ext>
                </a:extLst>
              </p:cNvPr>
              <p:cNvCxnSpPr>
                <a:cxnSpLocks/>
                <a:stCxn id="82" idx="2"/>
                <a:endCxn id="48" idx="0"/>
              </p:cNvCxnSpPr>
              <p:nvPr/>
            </p:nvCxnSpPr>
            <p:spPr>
              <a:xfrm>
                <a:off x="9887821" y="3017731"/>
                <a:ext cx="13962" cy="224469"/>
              </a:xfrm>
              <a:prstGeom prst="straightConnector1">
                <a:avLst/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6C6BD332-4172-0C2E-8CB9-E60FEADA48D8}"/>
                </a:ext>
              </a:extLst>
            </p:cNvPr>
            <p:cNvCxnSpPr>
              <a:cxnSpLocks/>
              <a:stCxn id="16" idx="3"/>
              <a:endCxn id="30" idx="1"/>
            </p:cNvCxnSpPr>
            <p:nvPr/>
          </p:nvCxnSpPr>
          <p:spPr>
            <a:xfrm flipV="1">
              <a:off x="6276975" y="2769392"/>
              <a:ext cx="1030180" cy="761473"/>
            </a:xfrm>
            <a:prstGeom prst="curved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25B3517-25BD-E38F-1B80-FF2ADA597A1D}"/>
                </a:ext>
              </a:extLst>
            </p:cNvPr>
            <p:cNvSpPr txBox="1"/>
            <p:nvPr/>
          </p:nvSpPr>
          <p:spPr>
            <a:xfrm>
              <a:off x="6174922" y="2483009"/>
              <a:ext cx="7617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ApiHost1</a:t>
              </a:r>
            </a:p>
            <a:p>
              <a:r>
                <a:rPr lang="en-NZ" sz="1000" dirty="0" err="1"/>
                <a:t>IpAddress</a:t>
              </a:r>
              <a:endParaRPr lang="en-NZ" sz="1000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9D53314-D7B7-DDBE-53C2-2E3FCC895C01}"/>
                </a:ext>
              </a:extLst>
            </p:cNvPr>
            <p:cNvSpPr txBox="1"/>
            <p:nvPr/>
          </p:nvSpPr>
          <p:spPr>
            <a:xfrm>
              <a:off x="5041864" y="3083235"/>
              <a:ext cx="212269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Subscriber: ApiHost1_Subscriber1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2A8E5A65-46F8-F98D-4168-26F91958C58C}"/>
              </a:ext>
            </a:extLst>
          </p:cNvPr>
          <p:cNvGrpSpPr/>
          <p:nvPr/>
        </p:nvGrpSpPr>
        <p:grpSpPr>
          <a:xfrm>
            <a:off x="5041864" y="3084192"/>
            <a:ext cx="6430990" cy="1996799"/>
            <a:chOff x="5041864" y="1673535"/>
            <a:chExt cx="6430990" cy="1996799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C1730DED-97A9-42E1-C9C9-67B0031BE6F0}"/>
                </a:ext>
              </a:extLst>
            </p:cNvPr>
            <p:cNvGrpSpPr/>
            <p:nvPr/>
          </p:nvGrpSpPr>
          <p:grpSpPr>
            <a:xfrm>
              <a:off x="5157223" y="1921200"/>
              <a:ext cx="1119752" cy="399929"/>
              <a:chOff x="7334798" y="2781553"/>
              <a:chExt cx="1119752" cy="399929"/>
            </a:xfrm>
          </p:grpSpPr>
          <p:sp>
            <p:nvSpPr>
              <p:cNvPr id="74" name="Rectangle: Rounded Corners 73">
                <a:extLst>
                  <a:ext uri="{FF2B5EF4-FFF2-40B4-BE49-F238E27FC236}">
                    <a16:creationId xmlns:a16="http://schemas.microsoft.com/office/drawing/2014/main" id="{D9A959FB-D780-EE3F-C42C-FD22B7E68E3F}"/>
                  </a:ext>
                </a:extLst>
              </p:cNvPr>
              <p:cNvSpPr/>
              <p:nvPr/>
            </p:nvSpPr>
            <p:spPr>
              <a:xfrm>
                <a:off x="7334798" y="2781553"/>
                <a:ext cx="1119752" cy="399929"/>
              </a:xfrm>
              <a:prstGeom prst="roundRect">
                <a:avLst>
                  <a:gd name="adj" fmla="val 6468"/>
                </a:avLst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sz="1100" dirty="0">
                    <a:solidFill>
                      <a:schemeClr val="tx1"/>
                    </a:solidFill>
                  </a:rPr>
                  <a:t>Function</a:t>
                </a:r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75" name="Picture 4" descr="Azure Functions (@AzureFunctions) / Twitter">
                <a:extLst>
                  <a:ext uri="{FF2B5EF4-FFF2-40B4-BE49-F238E27FC236}">
                    <a16:creationId xmlns:a16="http://schemas.microsoft.com/office/drawing/2014/main" id="{37B47A94-6E3E-C449-3355-78E8D823F2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364438" y="2851572"/>
                <a:ext cx="278939" cy="27893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C1EFAE33-FF15-DCB4-45ED-A3FA693D58B2}"/>
                </a:ext>
              </a:extLst>
            </p:cNvPr>
            <p:cNvGrpSpPr/>
            <p:nvPr/>
          </p:nvGrpSpPr>
          <p:grpSpPr>
            <a:xfrm>
              <a:off x="7238353" y="1752292"/>
              <a:ext cx="4234501" cy="1918042"/>
              <a:chOff x="6847828" y="1752292"/>
              <a:chExt cx="4234501" cy="1918042"/>
            </a:xfrm>
            <a:solidFill>
              <a:srgbClr val="0078D7"/>
            </a:solidFill>
          </p:grpSpPr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BA3B0C29-EF07-EFAD-63DF-3D9D3DE1E6B1}"/>
                  </a:ext>
                </a:extLst>
              </p:cNvPr>
              <p:cNvSpPr/>
              <p:nvPr/>
            </p:nvSpPr>
            <p:spPr>
              <a:xfrm>
                <a:off x="6847828" y="1752292"/>
                <a:ext cx="4234501" cy="1918042"/>
              </a:xfrm>
              <a:prstGeom prst="roundRect">
                <a:avLst>
                  <a:gd name="adj" fmla="val 4576"/>
                </a:avLst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</a:t>
                </a:r>
                <a:r>
                  <a:rPr lang="en-US" sz="1200" dirty="0" err="1"/>
                  <a:t>BackEnd</a:t>
                </a:r>
                <a:r>
                  <a:rPr lang="en-US" sz="1200" dirty="0"/>
                  <a:t> API Host (2)</a:t>
                </a:r>
                <a:endParaRPr lang="en-NZ" dirty="0"/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89671648-314B-87B4-CE05-D3A58F737D52}"/>
                  </a:ext>
                </a:extLst>
              </p:cNvPr>
              <p:cNvSpPr/>
              <p:nvPr/>
            </p:nvSpPr>
            <p:spPr>
              <a:xfrm>
                <a:off x="6916630" y="2579463"/>
                <a:ext cx="1557608" cy="379857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EventNotifications</a:t>
                </a:r>
                <a:r>
                  <a:rPr lang="en-US" sz="1200" dirty="0"/>
                  <a:t> API</a:t>
                </a:r>
                <a:endParaRPr lang="en-NZ" sz="1200" dirty="0"/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4E8AFD37-CD3D-41DA-680B-73BE49798372}"/>
                  </a:ext>
                </a:extLst>
              </p:cNvPr>
              <p:cNvSpPr/>
              <p:nvPr/>
            </p:nvSpPr>
            <p:spPr>
              <a:xfrm>
                <a:off x="8745692" y="2041686"/>
                <a:ext cx="2112808" cy="30617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IDomainEventingConsumerService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59E1CCC0-C893-CEBC-DBD5-2DB12D91CAFC}"/>
                  </a:ext>
                </a:extLst>
              </p:cNvPr>
              <p:cNvSpPr/>
              <p:nvPr/>
            </p:nvSpPr>
            <p:spPr>
              <a:xfrm>
                <a:off x="8745692" y="2616304"/>
                <a:ext cx="2112808" cy="306177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IDomainEventNoificationConsumer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0D29589B-CF1E-9AE1-F03E-9D7754E4C9C9}"/>
                  </a:ext>
                </a:extLst>
              </p:cNvPr>
              <p:cNvCxnSpPr>
                <a:cxnSpLocks/>
                <a:stCxn id="68" idx="2"/>
                <a:endCxn id="69" idx="0"/>
              </p:cNvCxnSpPr>
              <p:nvPr/>
            </p:nvCxnSpPr>
            <p:spPr>
              <a:xfrm>
                <a:off x="9802096" y="2347863"/>
                <a:ext cx="0" cy="268441"/>
              </a:xfrm>
              <a:prstGeom prst="straightConnector1">
                <a:avLst/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44">
                <a:extLst>
                  <a:ext uri="{FF2B5EF4-FFF2-40B4-BE49-F238E27FC236}">
                    <a16:creationId xmlns:a16="http://schemas.microsoft.com/office/drawing/2014/main" id="{AECDF302-C68E-9703-B35F-E2EE655F830F}"/>
                  </a:ext>
                </a:extLst>
              </p:cNvPr>
              <p:cNvCxnSpPr>
                <a:cxnSpLocks/>
                <a:stCxn id="67" idx="3"/>
                <a:endCxn id="68" idx="1"/>
              </p:cNvCxnSpPr>
              <p:nvPr/>
            </p:nvCxnSpPr>
            <p:spPr>
              <a:xfrm flipV="1">
                <a:off x="8474238" y="2194775"/>
                <a:ext cx="271454" cy="574617"/>
              </a:xfrm>
              <a:prstGeom prst="curvedConnector3">
                <a:avLst>
                  <a:gd name="adj1" fmla="val 50000"/>
                </a:avLst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7550B92-F712-AE31-3123-134E2B4DBFA1}"/>
                  </a:ext>
                </a:extLst>
              </p:cNvPr>
              <p:cNvSpPr/>
              <p:nvPr/>
            </p:nvSpPr>
            <p:spPr>
              <a:xfrm>
                <a:off x="9011741" y="3232675"/>
                <a:ext cx="1780084" cy="306177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bg1"/>
                    </a:solidFill>
                  </a:rPr>
                  <a:t>ISubDomainApplication</a:t>
                </a:r>
                <a:endParaRPr lang="en-NZ" sz="900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73" name="Straight Arrow Connector 72">
                <a:extLst>
                  <a:ext uri="{FF2B5EF4-FFF2-40B4-BE49-F238E27FC236}">
                    <a16:creationId xmlns:a16="http://schemas.microsoft.com/office/drawing/2014/main" id="{101E74F6-FFB6-CCF7-F66B-FF9F3CADE468}"/>
                  </a:ext>
                </a:extLst>
              </p:cNvPr>
              <p:cNvCxnSpPr>
                <a:cxnSpLocks/>
                <a:stCxn id="87" idx="2"/>
                <a:endCxn id="72" idx="0"/>
              </p:cNvCxnSpPr>
              <p:nvPr/>
            </p:nvCxnSpPr>
            <p:spPr>
              <a:xfrm>
                <a:off x="9887821" y="3005487"/>
                <a:ext cx="13962" cy="227188"/>
              </a:xfrm>
              <a:prstGeom prst="straightConnector1">
                <a:avLst/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3" name="Straight Arrow Connector 31">
              <a:extLst>
                <a:ext uri="{FF2B5EF4-FFF2-40B4-BE49-F238E27FC236}">
                  <a16:creationId xmlns:a16="http://schemas.microsoft.com/office/drawing/2014/main" id="{B61883C8-34D3-E316-E9D4-BA854C148A8F}"/>
                </a:ext>
              </a:extLst>
            </p:cNvPr>
            <p:cNvCxnSpPr>
              <a:cxnSpLocks/>
              <a:stCxn id="74" idx="3"/>
              <a:endCxn id="67" idx="1"/>
            </p:cNvCxnSpPr>
            <p:nvPr/>
          </p:nvCxnSpPr>
          <p:spPr>
            <a:xfrm>
              <a:off x="6276975" y="2121165"/>
              <a:ext cx="1030180" cy="648227"/>
            </a:xfrm>
            <a:prstGeom prst="curved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E7C5EAA-C481-C876-B006-568312AC268C}"/>
                </a:ext>
              </a:extLst>
            </p:cNvPr>
            <p:cNvSpPr txBox="1"/>
            <p:nvPr/>
          </p:nvSpPr>
          <p:spPr>
            <a:xfrm>
              <a:off x="6174922" y="2483009"/>
              <a:ext cx="7617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ApiHost2</a:t>
              </a:r>
            </a:p>
            <a:p>
              <a:r>
                <a:rPr lang="en-NZ" sz="1000" dirty="0" err="1"/>
                <a:t>IpAddress</a:t>
              </a:r>
              <a:endParaRPr lang="en-NZ" sz="1000" dirty="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691BD8A4-28CB-FFA0-244A-36A9FA9BA18F}"/>
                </a:ext>
              </a:extLst>
            </p:cNvPr>
            <p:cNvSpPr txBox="1"/>
            <p:nvPr/>
          </p:nvSpPr>
          <p:spPr>
            <a:xfrm>
              <a:off x="5041864" y="1673535"/>
              <a:ext cx="212269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Subscriber: ApiHost2_Subscriber2</a:t>
              </a:r>
            </a:p>
          </p:txBody>
        </p:sp>
      </p:grp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7D2EF8AC-8EBA-B1BA-5D19-D164FF75D65E}"/>
              </a:ext>
            </a:extLst>
          </p:cNvPr>
          <p:cNvCxnSpPr>
            <a:cxnSpLocks/>
            <a:stCxn id="97" idx="3"/>
            <a:endCxn id="74" idx="1"/>
          </p:cNvCxnSpPr>
          <p:nvPr/>
        </p:nvCxnSpPr>
        <p:spPr>
          <a:xfrm>
            <a:off x="4625844" y="3523567"/>
            <a:ext cx="531379" cy="825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D05C423-4CFF-EE31-E397-B02DC3E84B52}"/>
              </a:ext>
            </a:extLst>
          </p:cNvPr>
          <p:cNvSpPr/>
          <p:nvPr/>
        </p:nvSpPr>
        <p:spPr>
          <a:xfrm>
            <a:off x="9221942" y="2006704"/>
            <a:ext cx="2112808" cy="3061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err="1">
                <a:solidFill>
                  <a:schemeClr val="tx1"/>
                </a:solidFill>
              </a:rPr>
              <a:t>IDomainEventNotificationConsumer</a:t>
            </a:r>
            <a:endParaRPr lang="en-NZ" sz="900" dirty="0">
              <a:solidFill>
                <a:schemeClr val="tx1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CA0DC84-EBF3-6234-ACE0-36D8717630E1}"/>
              </a:ext>
            </a:extLst>
          </p:cNvPr>
          <p:cNvSpPr/>
          <p:nvPr/>
        </p:nvSpPr>
        <p:spPr>
          <a:xfrm>
            <a:off x="9221942" y="4109967"/>
            <a:ext cx="2112808" cy="3061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err="1">
                <a:solidFill>
                  <a:schemeClr val="tx1"/>
                </a:solidFill>
              </a:rPr>
              <a:t>IDomainEventNotificationConsumer</a:t>
            </a:r>
            <a:endParaRPr lang="en-NZ" sz="900" dirty="0">
              <a:solidFill>
                <a:schemeClr val="tx1"/>
              </a:solidFill>
            </a:endParaRP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41D2415C-B232-89B4-3C17-1FE2BA77F7BE}"/>
              </a:ext>
            </a:extLst>
          </p:cNvPr>
          <p:cNvGrpSpPr/>
          <p:nvPr/>
        </p:nvGrpSpPr>
        <p:grpSpPr>
          <a:xfrm>
            <a:off x="2858383" y="3337951"/>
            <a:ext cx="1767461" cy="406788"/>
            <a:chOff x="10267157" y="4862844"/>
            <a:chExt cx="1767461" cy="406788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CC2BDA3-1F1A-018D-BE1E-7C79645D306D}"/>
                </a:ext>
              </a:extLst>
            </p:cNvPr>
            <p:cNvGrpSpPr/>
            <p:nvPr/>
          </p:nvGrpSpPr>
          <p:grpSpPr>
            <a:xfrm>
              <a:off x="10267157" y="4862844"/>
              <a:ext cx="1767461" cy="406788"/>
              <a:chOff x="7656619" y="5506371"/>
              <a:chExt cx="2264412" cy="517641"/>
            </a:xfrm>
          </p:grpSpPr>
          <p:sp>
            <p:nvSpPr>
              <p:cNvPr id="92" name="Cylinder 91">
                <a:extLst>
                  <a:ext uri="{FF2B5EF4-FFF2-40B4-BE49-F238E27FC236}">
                    <a16:creationId xmlns:a16="http://schemas.microsoft.com/office/drawing/2014/main" id="{2DC3F62E-2FB2-9686-5D9E-C086EF348CBF}"/>
                  </a:ext>
                </a:extLst>
              </p:cNvPr>
              <p:cNvSpPr/>
              <p:nvPr/>
            </p:nvSpPr>
            <p:spPr>
              <a:xfrm rot="5400000">
                <a:off x="7543882" y="5627835"/>
                <a:ext cx="508914" cy="283439"/>
              </a:xfrm>
              <a:prstGeom prst="can">
                <a:avLst/>
              </a:prstGeom>
              <a:solidFill>
                <a:srgbClr val="004A8A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3" name="Cylinder 92">
                <a:extLst>
                  <a:ext uri="{FF2B5EF4-FFF2-40B4-BE49-F238E27FC236}">
                    <a16:creationId xmlns:a16="http://schemas.microsoft.com/office/drawing/2014/main" id="{5D1F0C6F-094A-BFFE-ECB0-9F500DD71930}"/>
                  </a:ext>
                </a:extLst>
              </p:cNvPr>
              <p:cNvSpPr/>
              <p:nvPr/>
            </p:nvSpPr>
            <p:spPr>
              <a:xfrm rot="5400000">
                <a:off x="7872894" y="5627831"/>
                <a:ext cx="508913" cy="283439"/>
              </a:xfrm>
              <a:prstGeom prst="can">
                <a:avLst/>
              </a:prstGeom>
              <a:solidFill>
                <a:srgbClr val="004A8A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4" name="Cylinder 93">
                <a:extLst>
                  <a:ext uri="{FF2B5EF4-FFF2-40B4-BE49-F238E27FC236}">
                    <a16:creationId xmlns:a16="http://schemas.microsoft.com/office/drawing/2014/main" id="{0CC6241F-721A-53EC-41D6-8CF9AAD9E810}"/>
                  </a:ext>
                </a:extLst>
              </p:cNvPr>
              <p:cNvSpPr/>
              <p:nvPr/>
            </p:nvSpPr>
            <p:spPr>
              <a:xfrm rot="5400000">
                <a:off x="8209897" y="5627834"/>
                <a:ext cx="508913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5" name="Cylinder 94">
                <a:extLst>
                  <a:ext uri="{FF2B5EF4-FFF2-40B4-BE49-F238E27FC236}">
                    <a16:creationId xmlns:a16="http://schemas.microsoft.com/office/drawing/2014/main" id="{552D8F50-7B3E-0641-ED72-5424D8C14730}"/>
                  </a:ext>
                </a:extLst>
              </p:cNvPr>
              <p:cNvSpPr/>
              <p:nvPr/>
            </p:nvSpPr>
            <p:spPr>
              <a:xfrm rot="5400000">
                <a:off x="8519833" y="5627834"/>
                <a:ext cx="508912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6" name="Cylinder 95">
                <a:extLst>
                  <a:ext uri="{FF2B5EF4-FFF2-40B4-BE49-F238E27FC236}">
                    <a16:creationId xmlns:a16="http://schemas.microsoft.com/office/drawing/2014/main" id="{885B2B00-BCD9-8375-F597-276FBA069178}"/>
                  </a:ext>
                </a:extLst>
              </p:cNvPr>
              <p:cNvSpPr/>
              <p:nvPr/>
            </p:nvSpPr>
            <p:spPr>
              <a:xfrm rot="5400000">
                <a:off x="8852209" y="5619108"/>
                <a:ext cx="508913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211D8B4A-F268-7EC6-7CA4-FDFB108225E5}"/>
                  </a:ext>
                </a:extLst>
              </p:cNvPr>
              <p:cNvSpPr txBox="1"/>
              <p:nvPr/>
            </p:nvSpPr>
            <p:spPr>
              <a:xfrm>
                <a:off x="8369951" y="5576118"/>
                <a:ext cx="1551080" cy="3329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 err="1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rPr>
                  <a:t>domain_events</a:t>
                </a:r>
                <a:endParaRPr lang="en-NZ" sz="1200" dirty="0">
                  <a:effectLst>
                    <a:glow rad="101600">
                      <a:schemeClr val="bg1">
                        <a:alpha val="60000"/>
                      </a:schemeClr>
                    </a:glow>
                  </a:effectLst>
                </a:endParaRPr>
              </a:p>
            </p:txBody>
          </p:sp>
        </p:grpSp>
        <p:pic>
          <p:nvPicPr>
            <p:cNvPr id="91" name="Picture 2" descr="Pricing - Service Bus | Microsoft Azure">
              <a:extLst>
                <a:ext uri="{FF2B5EF4-FFF2-40B4-BE49-F238E27FC236}">
                  <a16:creationId xmlns:a16="http://schemas.microsoft.com/office/drawing/2014/main" id="{17090AF2-08A2-7263-18DC-2E16807076D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998" r="19710"/>
            <a:stretch/>
          </p:blipFill>
          <p:spPr bwMode="auto">
            <a:xfrm>
              <a:off x="10307597" y="4910669"/>
              <a:ext cx="343083" cy="3037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0" name="Picture 8" descr="App Service - Web App | Microsoft Azure Mono">
            <a:extLst>
              <a:ext uri="{FF2B5EF4-FFF2-40B4-BE49-F238E27FC236}">
                <a16:creationId xmlns:a16="http://schemas.microsoft.com/office/drawing/2014/main" id="{00F4B82C-468E-911A-1949-38B2F1EBF4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7155" y="4529738"/>
            <a:ext cx="450277" cy="450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8" descr="App Service - Web App | Microsoft Azure Mono">
            <a:extLst>
              <a:ext uri="{FF2B5EF4-FFF2-40B4-BE49-F238E27FC236}">
                <a16:creationId xmlns:a16="http://schemas.microsoft.com/office/drawing/2014/main" id="{88AA38BF-386C-C288-F514-E80E4970F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2293" y="2405741"/>
            <a:ext cx="450277" cy="450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81138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D8C3425-5070-0659-AF02-56A164D0A367}"/>
              </a:ext>
            </a:extLst>
          </p:cNvPr>
          <p:cNvSpPr/>
          <p:nvPr/>
        </p:nvSpPr>
        <p:spPr>
          <a:xfrm>
            <a:off x="181749" y="1874613"/>
            <a:ext cx="2352676" cy="2611661"/>
          </a:xfrm>
          <a:prstGeom prst="roundRect">
            <a:avLst>
              <a:gd name="adj" fmla="val 4576"/>
            </a:avLst>
          </a:prstGeom>
          <a:solidFill>
            <a:srgbClr val="FF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200" dirty="0">
                <a:solidFill>
                  <a:schemeClr val="tx1"/>
                </a:solidFill>
              </a:rPr>
              <a:t>              </a:t>
            </a:r>
            <a:r>
              <a:rPr lang="en-US" sz="1200" dirty="0" err="1">
                <a:solidFill>
                  <a:schemeClr val="tx1"/>
                </a:solidFill>
              </a:rPr>
              <a:t>BackEnd</a:t>
            </a:r>
            <a:r>
              <a:rPr lang="en-US" sz="1200" dirty="0">
                <a:solidFill>
                  <a:schemeClr val="tx1"/>
                </a:solidFill>
              </a:rPr>
              <a:t> API Host (1)</a:t>
            </a:r>
            <a:endParaRPr lang="en-NZ" sz="12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DD859-7FAA-2E34-501E-DC3B634D083B}"/>
              </a:ext>
            </a:extLst>
          </p:cNvPr>
          <p:cNvSpPr txBox="1"/>
          <p:nvPr/>
        </p:nvSpPr>
        <p:spPr>
          <a:xfrm>
            <a:off x="267419" y="207034"/>
            <a:ext cx="48654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Eventing Flows – Brokering (AWS)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C56C44B-D4AC-749D-7D98-FA360E816DAB}"/>
              </a:ext>
            </a:extLst>
          </p:cNvPr>
          <p:cNvSpPr/>
          <p:nvPr/>
        </p:nvSpPr>
        <p:spPr>
          <a:xfrm>
            <a:off x="267420" y="2047875"/>
            <a:ext cx="2180506" cy="69532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AsynchronousQueue</a:t>
            </a:r>
            <a:endParaRPr lang="en-NZ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2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ConsumerRelay</a:t>
            </a:r>
            <a:endParaRPr lang="en-NZ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C371A65-937A-8859-31A6-8F7BEDD9DAE5}"/>
              </a:ext>
            </a:extLst>
          </p:cNvPr>
          <p:cNvSpPr/>
          <p:nvPr/>
        </p:nvSpPr>
        <p:spPr>
          <a:xfrm>
            <a:off x="267420" y="3183202"/>
            <a:ext cx="2180506" cy="695325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IDomainEventing</a:t>
            </a:r>
            <a:endParaRPr lang="en-NZ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MessageBusTopic</a:t>
            </a:r>
            <a:endParaRPr lang="en-NZ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Cylinder 11">
            <a:extLst>
              <a:ext uri="{FF2B5EF4-FFF2-40B4-BE49-F238E27FC236}">
                <a16:creationId xmlns:a16="http://schemas.microsoft.com/office/drawing/2014/main" id="{1F50532E-156D-5749-AA26-60CEE86BCF65}"/>
              </a:ext>
            </a:extLst>
          </p:cNvPr>
          <p:cNvSpPr/>
          <p:nvPr/>
        </p:nvSpPr>
        <p:spPr>
          <a:xfrm>
            <a:off x="2723059" y="2475779"/>
            <a:ext cx="2007691" cy="1619967"/>
          </a:xfrm>
          <a:prstGeom prst="can">
            <a:avLst>
              <a:gd name="adj" fmla="val 8237"/>
            </a:avLst>
          </a:prstGeom>
          <a:solidFill>
            <a:srgbClr val="FA4887"/>
          </a:solidFill>
          <a:ln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/>
            <a:r>
              <a:rPr lang="en-NZ" dirty="0"/>
              <a:t>SNS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18278A2-76A3-A61D-61C9-7EC3739780A9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357673" y="2743200"/>
            <a:ext cx="0" cy="440002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EFFE606-C13F-77C0-9979-5B2D03F1EA55}"/>
              </a:ext>
            </a:extLst>
          </p:cNvPr>
          <p:cNvCxnSpPr>
            <a:cxnSpLocks/>
            <a:stCxn id="10" idx="3"/>
            <a:endCxn id="108" idx="3"/>
          </p:cNvCxnSpPr>
          <p:nvPr/>
        </p:nvCxnSpPr>
        <p:spPr>
          <a:xfrm>
            <a:off x="2447926" y="3530865"/>
            <a:ext cx="318247" cy="413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C0D0311-14A3-BCEF-2290-8D331BB24B90}"/>
              </a:ext>
            </a:extLst>
          </p:cNvPr>
          <p:cNvCxnSpPr>
            <a:cxnSpLocks/>
            <a:stCxn id="113" idx="3"/>
            <a:endCxn id="42" idx="1"/>
          </p:cNvCxnSpPr>
          <p:nvPr/>
        </p:nvCxnSpPr>
        <p:spPr>
          <a:xfrm flipV="1">
            <a:off x="4595236" y="2826015"/>
            <a:ext cx="561987" cy="69546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DF365D1-88F9-019D-4638-BA45A339729B}"/>
              </a:ext>
            </a:extLst>
          </p:cNvPr>
          <p:cNvGrpSpPr/>
          <p:nvPr/>
        </p:nvGrpSpPr>
        <p:grpSpPr>
          <a:xfrm>
            <a:off x="5041864" y="1047442"/>
            <a:ext cx="6430990" cy="1978537"/>
            <a:chOff x="5041864" y="1752292"/>
            <a:chExt cx="6430990" cy="1978537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96649189-0583-41FE-CC5F-328F92127FE7}"/>
                </a:ext>
              </a:extLst>
            </p:cNvPr>
            <p:cNvSpPr/>
            <p:nvPr/>
          </p:nvSpPr>
          <p:spPr>
            <a:xfrm>
              <a:off x="5157223" y="3330900"/>
              <a:ext cx="1119752" cy="399929"/>
            </a:xfrm>
            <a:prstGeom prst="roundRect">
              <a:avLst>
                <a:gd name="adj" fmla="val 6468"/>
              </a:avLst>
            </a:prstGeom>
            <a:solidFill>
              <a:srgbClr val="FF99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100" dirty="0">
                  <a:solidFill>
                    <a:schemeClr val="tx1"/>
                  </a:solidFill>
                </a:rPr>
                <a:t>Lambda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17098803-49AE-B985-02AE-35971F81A57E}"/>
                </a:ext>
              </a:extLst>
            </p:cNvPr>
            <p:cNvGrpSpPr/>
            <p:nvPr/>
          </p:nvGrpSpPr>
          <p:grpSpPr>
            <a:xfrm>
              <a:off x="7238189" y="1752292"/>
              <a:ext cx="4234665" cy="1918042"/>
              <a:chOff x="6847664" y="1752292"/>
              <a:chExt cx="4234665" cy="1918042"/>
            </a:xfrm>
            <a:solidFill>
              <a:srgbClr val="0078D7"/>
            </a:solidFill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EB5E2E25-1954-79E0-681E-52108EE01CB8}"/>
                  </a:ext>
                </a:extLst>
              </p:cNvPr>
              <p:cNvSpPr/>
              <p:nvPr/>
            </p:nvSpPr>
            <p:spPr>
              <a:xfrm>
                <a:off x="6847664" y="1752292"/>
                <a:ext cx="4234665" cy="1918042"/>
              </a:xfrm>
              <a:prstGeom prst="roundRect">
                <a:avLst>
                  <a:gd name="adj" fmla="val 4576"/>
                </a:avLst>
              </a:prstGeom>
              <a:solidFill>
                <a:srgbClr val="FF99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>
                    <a:solidFill>
                      <a:schemeClr val="tx1"/>
                    </a:solidFill>
                  </a:rPr>
                  <a:t>              </a:t>
                </a:r>
                <a:r>
                  <a:rPr lang="en-US" sz="1200" dirty="0" err="1">
                    <a:solidFill>
                      <a:schemeClr val="tx1"/>
                    </a:solidFill>
                  </a:rPr>
                  <a:t>BackEnd</a:t>
                </a:r>
                <a:r>
                  <a:rPr lang="en-US" sz="1200" dirty="0">
                    <a:solidFill>
                      <a:schemeClr val="tx1"/>
                    </a:solidFill>
                  </a:rPr>
                  <a:t> API Host (1)</a:t>
                </a:r>
                <a:endParaRPr lang="en-NZ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2670DFA9-5B09-BFA3-D329-2E84DAC49BD7}"/>
                  </a:ext>
                </a:extLst>
              </p:cNvPr>
              <p:cNvSpPr/>
              <p:nvPr/>
            </p:nvSpPr>
            <p:spPr>
              <a:xfrm>
                <a:off x="6916630" y="2579463"/>
                <a:ext cx="1557608" cy="379857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</a:rPr>
                  <a:t>EventNotifications</a:t>
                </a:r>
                <a:r>
                  <a:rPr lang="en-US" sz="1200" dirty="0">
                    <a:solidFill>
                      <a:schemeClr val="tx1"/>
                    </a:solidFill>
                  </a:rPr>
                  <a:t> API</a:t>
                </a:r>
                <a:endParaRPr lang="en-NZ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9A901258-379B-FE6B-E6C2-B06A42E28BDE}"/>
                  </a:ext>
                </a:extLst>
              </p:cNvPr>
              <p:cNvSpPr/>
              <p:nvPr/>
            </p:nvSpPr>
            <p:spPr>
              <a:xfrm>
                <a:off x="8745692" y="2041686"/>
                <a:ext cx="2112808" cy="306177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IDomainEventingConsumerService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50220F56-BAE0-9B6F-3FA8-0C3878D272F8}"/>
                  </a:ext>
                </a:extLst>
              </p:cNvPr>
              <p:cNvSpPr/>
              <p:nvPr/>
            </p:nvSpPr>
            <p:spPr>
              <a:xfrm>
                <a:off x="8745692" y="2616304"/>
                <a:ext cx="2112808" cy="306177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IDomainEventNoificationConsumer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CD846697-2245-9EB4-4F9B-E1940EFFFCB3}"/>
                  </a:ext>
                </a:extLst>
              </p:cNvPr>
              <p:cNvCxnSpPr>
                <a:cxnSpLocks/>
                <a:stCxn id="34" idx="2"/>
                <a:endCxn id="37" idx="0"/>
              </p:cNvCxnSpPr>
              <p:nvPr/>
            </p:nvCxnSpPr>
            <p:spPr>
              <a:xfrm>
                <a:off x="9802096" y="2347863"/>
                <a:ext cx="0" cy="268441"/>
              </a:xfrm>
              <a:prstGeom prst="straightConnector1">
                <a:avLst/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44">
                <a:extLst>
                  <a:ext uri="{FF2B5EF4-FFF2-40B4-BE49-F238E27FC236}">
                    <a16:creationId xmlns:a16="http://schemas.microsoft.com/office/drawing/2014/main" id="{7A5FBE5E-F8D4-5FDF-F5B5-8A6B25EF59E3}"/>
                  </a:ext>
                </a:extLst>
              </p:cNvPr>
              <p:cNvCxnSpPr>
                <a:cxnSpLocks/>
                <a:stCxn id="33" idx="3"/>
                <a:endCxn id="34" idx="1"/>
              </p:cNvCxnSpPr>
              <p:nvPr/>
            </p:nvCxnSpPr>
            <p:spPr>
              <a:xfrm flipV="1">
                <a:off x="8474238" y="2194775"/>
                <a:ext cx="271454" cy="574617"/>
              </a:xfrm>
              <a:prstGeom prst="curvedConnector3">
                <a:avLst>
                  <a:gd name="adj1" fmla="val 50000"/>
                </a:avLst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5C2319E2-9133-3616-019C-E74CCF60B605}"/>
                  </a:ext>
                </a:extLst>
              </p:cNvPr>
              <p:cNvSpPr/>
              <p:nvPr/>
            </p:nvSpPr>
            <p:spPr>
              <a:xfrm>
                <a:off x="9011741" y="3242200"/>
                <a:ext cx="1780084" cy="306177"/>
              </a:xfrm>
              <a:prstGeom prst="rect">
                <a:avLst/>
              </a:prstGeom>
              <a:solidFill>
                <a:schemeClr val="accent2"/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ISubDomainApplication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3CEDB45B-C319-841C-98DB-DBC0B0850715}"/>
                  </a:ext>
                </a:extLst>
              </p:cNvPr>
              <p:cNvCxnSpPr>
                <a:cxnSpLocks/>
                <a:stCxn id="88" idx="2"/>
                <a:endCxn id="40" idx="0"/>
              </p:cNvCxnSpPr>
              <p:nvPr/>
            </p:nvCxnSpPr>
            <p:spPr>
              <a:xfrm>
                <a:off x="9887821" y="3017731"/>
                <a:ext cx="13962" cy="224469"/>
              </a:xfrm>
              <a:prstGeom prst="straightConnector1">
                <a:avLst/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4" name="Straight Arrow Connector 31">
              <a:extLst>
                <a:ext uri="{FF2B5EF4-FFF2-40B4-BE49-F238E27FC236}">
                  <a16:creationId xmlns:a16="http://schemas.microsoft.com/office/drawing/2014/main" id="{A9B3CA48-64B3-29B6-023C-FDA9AE713C3F}"/>
                </a:ext>
              </a:extLst>
            </p:cNvPr>
            <p:cNvCxnSpPr>
              <a:cxnSpLocks/>
              <a:stCxn id="42" idx="3"/>
              <a:endCxn id="33" idx="1"/>
            </p:cNvCxnSpPr>
            <p:nvPr/>
          </p:nvCxnSpPr>
          <p:spPr>
            <a:xfrm flipV="1">
              <a:off x="6276975" y="2769392"/>
              <a:ext cx="1030180" cy="761473"/>
            </a:xfrm>
            <a:prstGeom prst="curved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9C9AA58-253E-DAA0-D8B1-A7FFD92AC4EC}"/>
                </a:ext>
              </a:extLst>
            </p:cNvPr>
            <p:cNvSpPr txBox="1"/>
            <p:nvPr/>
          </p:nvSpPr>
          <p:spPr>
            <a:xfrm>
              <a:off x="6174922" y="2483009"/>
              <a:ext cx="7617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ApiHost1</a:t>
              </a:r>
            </a:p>
            <a:p>
              <a:r>
                <a:rPr lang="en-NZ" sz="1000" dirty="0" err="1"/>
                <a:t>IpAddress</a:t>
              </a:r>
              <a:endParaRPr lang="en-NZ" sz="100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EDF7D25-5C1F-4512-8A55-BF51246FAAB8}"/>
                </a:ext>
              </a:extLst>
            </p:cNvPr>
            <p:cNvSpPr txBox="1"/>
            <p:nvPr/>
          </p:nvSpPr>
          <p:spPr>
            <a:xfrm>
              <a:off x="5041864" y="3083235"/>
              <a:ext cx="212269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Subscriber: ApiHost1_Subscriber1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4CAEE8F-C9C1-898B-A2DE-50C529A43932}"/>
              </a:ext>
            </a:extLst>
          </p:cNvPr>
          <p:cNvGrpSpPr/>
          <p:nvPr/>
        </p:nvGrpSpPr>
        <p:grpSpPr>
          <a:xfrm>
            <a:off x="5041864" y="3084192"/>
            <a:ext cx="6430990" cy="1996799"/>
            <a:chOff x="5041864" y="1673535"/>
            <a:chExt cx="6430990" cy="1996799"/>
          </a:xfrm>
        </p:grpSpPr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36C9CAF8-9E2E-8688-E6DE-B30F631B9755}"/>
                </a:ext>
              </a:extLst>
            </p:cNvPr>
            <p:cNvSpPr/>
            <p:nvPr/>
          </p:nvSpPr>
          <p:spPr>
            <a:xfrm>
              <a:off x="5157223" y="1921200"/>
              <a:ext cx="1119752" cy="399929"/>
            </a:xfrm>
            <a:prstGeom prst="roundRect">
              <a:avLst>
                <a:gd name="adj" fmla="val 6468"/>
              </a:avLst>
            </a:prstGeom>
            <a:solidFill>
              <a:srgbClr val="FF99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100" dirty="0">
                  <a:solidFill>
                    <a:schemeClr val="tx1"/>
                  </a:solidFill>
                </a:rPr>
                <a:t>Lambda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0502CCC-304E-BD88-8DB1-6EE14EF482EF}"/>
                </a:ext>
              </a:extLst>
            </p:cNvPr>
            <p:cNvGrpSpPr/>
            <p:nvPr/>
          </p:nvGrpSpPr>
          <p:grpSpPr>
            <a:xfrm>
              <a:off x="7238353" y="1752292"/>
              <a:ext cx="4234501" cy="1918042"/>
              <a:chOff x="6847828" y="1752292"/>
              <a:chExt cx="4234501" cy="1918042"/>
            </a:xfrm>
            <a:solidFill>
              <a:srgbClr val="0078D7"/>
            </a:solidFill>
          </p:grpSpPr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CD612431-E98E-6B27-063E-FC4FECABD4D5}"/>
                  </a:ext>
                </a:extLst>
              </p:cNvPr>
              <p:cNvSpPr/>
              <p:nvPr/>
            </p:nvSpPr>
            <p:spPr>
              <a:xfrm>
                <a:off x="6847828" y="1752292"/>
                <a:ext cx="4234501" cy="1918042"/>
              </a:xfrm>
              <a:prstGeom prst="roundRect">
                <a:avLst>
                  <a:gd name="adj" fmla="val 4576"/>
                </a:avLst>
              </a:prstGeom>
              <a:solidFill>
                <a:srgbClr val="FF99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>
                    <a:solidFill>
                      <a:schemeClr val="tx1"/>
                    </a:solidFill>
                  </a:rPr>
                  <a:t>              </a:t>
                </a:r>
                <a:r>
                  <a:rPr lang="en-US" sz="1200" dirty="0" err="1">
                    <a:solidFill>
                      <a:schemeClr val="tx1"/>
                    </a:solidFill>
                  </a:rPr>
                  <a:t>BackEnd</a:t>
                </a:r>
                <a:r>
                  <a:rPr lang="en-US" sz="1200" dirty="0">
                    <a:solidFill>
                      <a:schemeClr val="tx1"/>
                    </a:solidFill>
                  </a:rPr>
                  <a:t> API Host (2)</a:t>
                </a:r>
                <a:endParaRPr lang="en-NZ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DB0C961-075C-2CC3-222A-693C9FC26F61}"/>
                  </a:ext>
                </a:extLst>
              </p:cNvPr>
              <p:cNvSpPr/>
              <p:nvPr/>
            </p:nvSpPr>
            <p:spPr>
              <a:xfrm>
                <a:off x="6916630" y="2579463"/>
                <a:ext cx="1557608" cy="379857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</a:rPr>
                  <a:t>EventNotifications</a:t>
                </a:r>
                <a:r>
                  <a:rPr lang="en-US" sz="1200" dirty="0">
                    <a:solidFill>
                      <a:schemeClr val="tx1"/>
                    </a:solidFill>
                  </a:rPr>
                  <a:t> API</a:t>
                </a:r>
                <a:endParaRPr lang="en-NZ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5652A8B5-A763-7425-44A4-A2FB85D7F331}"/>
                  </a:ext>
                </a:extLst>
              </p:cNvPr>
              <p:cNvSpPr/>
              <p:nvPr/>
            </p:nvSpPr>
            <p:spPr>
              <a:xfrm>
                <a:off x="8745692" y="2041686"/>
                <a:ext cx="2112808" cy="306177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IDomainEventingConsumerService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4ED07FA2-688F-5C2A-576C-BE45DBC9CE8A}"/>
                  </a:ext>
                </a:extLst>
              </p:cNvPr>
              <p:cNvSpPr/>
              <p:nvPr/>
            </p:nvSpPr>
            <p:spPr>
              <a:xfrm>
                <a:off x="8745692" y="2616304"/>
                <a:ext cx="2112808" cy="306177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IDomainEventNoificationConsumer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8" name="Straight Arrow Connector 77">
                <a:extLst>
                  <a:ext uri="{FF2B5EF4-FFF2-40B4-BE49-F238E27FC236}">
                    <a16:creationId xmlns:a16="http://schemas.microsoft.com/office/drawing/2014/main" id="{59098ED7-ABC9-AFCB-B4CC-CDCB7C5F5EF9}"/>
                  </a:ext>
                </a:extLst>
              </p:cNvPr>
              <p:cNvCxnSpPr>
                <a:cxnSpLocks/>
                <a:stCxn id="55" idx="2"/>
                <a:endCxn id="77" idx="0"/>
              </p:cNvCxnSpPr>
              <p:nvPr/>
            </p:nvCxnSpPr>
            <p:spPr>
              <a:xfrm>
                <a:off x="9802096" y="2347863"/>
                <a:ext cx="0" cy="268441"/>
              </a:xfrm>
              <a:prstGeom prst="straightConnector1">
                <a:avLst/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Arrow Connector 44">
                <a:extLst>
                  <a:ext uri="{FF2B5EF4-FFF2-40B4-BE49-F238E27FC236}">
                    <a16:creationId xmlns:a16="http://schemas.microsoft.com/office/drawing/2014/main" id="{980BA705-0B94-979F-18AA-94FC04578C4D}"/>
                  </a:ext>
                </a:extLst>
              </p:cNvPr>
              <p:cNvCxnSpPr>
                <a:cxnSpLocks/>
                <a:stCxn id="54" idx="3"/>
                <a:endCxn id="55" idx="1"/>
              </p:cNvCxnSpPr>
              <p:nvPr/>
            </p:nvCxnSpPr>
            <p:spPr>
              <a:xfrm flipV="1">
                <a:off x="8474238" y="2194775"/>
                <a:ext cx="271454" cy="574617"/>
              </a:xfrm>
              <a:prstGeom prst="curvedConnector3">
                <a:avLst>
                  <a:gd name="adj1" fmla="val 50000"/>
                </a:avLst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222979C3-1F8B-87A6-D7B0-9079C3E83F2B}"/>
                  </a:ext>
                </a:extLst>
              </p:cNvPr>
              <p:cNvSpPr/>
              <p:nvPr/>
            </p:nvSpPr>
            <p:spPr>
              <a:xfrm>
                <a:off x="9011741" y="3232675"/>
                <a:ext cx="1780084" cy="306177"/>
              </a:xfrm>
              <a:prstGeom prst="rect">
                <a:avLst/>
              </a:prstGeom>
              <a:solidFill>
                <a:schemeClr val="accent2"/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 err="1">
                    <a:solidFill>
                      <a:schemeClr val="tx1"/>
                    </a:solidFill>
                  </a:rPr>
                  <a:t>ISubDomainApplication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3" name="Straight Arrow Connector 82">
                <a:extLst>
                  <a:ext uri="{FF2B5EF4-FFF2-40B4-BE49-F238E27FC236}">
                    <a16:creationId xmlns:a16="http://schemas.microsoft.com/office/drawing/2014/main" id="{7E144B6C-7A67-BEE7-D117-6683C33ABD3E}"/>
                  </a:ext>
                </a:extLst>
              </p:cNvPr>
              <p:cNvCxnSpPr>
                <a:cxnSpLocks/>
                <a:stCxn id="89" idx="2"/>
                <a:endCxn id="81" idx="0"/>
              </p:cNvCxnSpPr>
              <p:nvPr/>
            </p:nvCxnSpPr>
            <p:spPr>
              <a:xfrm>
                <a:off x="9887821" y="3005487"/>
                <a:ext cx="13962" cy="227188"/>
              </a:xfrm>
              <a:prstGeom prst="straightConnector1">
                <a:avLst/>
              </a:prstGeom>
              <a:grpFill/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9" name="Straight Arrow Connector 31">
              <a:extLst>
                <a:ext uri="{FF2B5EF4-FFF2-40B4-BE49-F238E27FC236}">
                  <a16:creationId xmlns:a16="http://schemas.microsoft.com/office/drawing/2014/main" id="{E369C503-74C5-24F2-B5FC-4C92A1F2CCF0}"/>
                </a:ext>
              </a:extLst>
            </p:cNvPr>
            <p:cNvCxnSpPr>
              <a:cxnSpLocks/>
              <a:stCxn id="84" idx="3"/>
              <a:endCxn id="54" idx="1"/>
            </p:cNvCxnSpPr>
            <p:nvPr/>
          </p:nvCxnSpPr>
          <p:spPr>
            <a:xfrm>
              <a:off x="6276975" y="2121165"/>
              <a:ext cx="1030180" cy="648227"/>
            </a:xfrm>
            <a:prstGeom prst="curved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B36E317-3408-5E17-6C91-1F4DDE0ED617}"/>
                </a:ext>
              </a:extLst>
            </p:cNvPr>
            <p:cNvSpPr txBox="1"/>
            <p:nvPr/>
          </p:nvSpPr>
          <p:spPr>
            <a:xfrm>
              <a:off x="6174922" y="2483009"/>
              <a:ext cx="7617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ApiHost2</a:t>
              </a:r>
            </a:p>
            <a:p>
              <a:r>
                <a:rPr lang="en-NZ" sz="1000" dirty="0" err="1"/>
                <a:t>IpAddress</a:t>
              </a:r>
              <a:endParaRPr lang="en-NZ" sz="1000" dirty="0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1311B0D-02F7-35DE-48BF-541F772B9C04}"/>
                </a:ext>
              </a:extLst>
            </p:cNvPr>
            <p:cNvSpPr txBox="1"/>
            <p:nvPr/>
          </p:nvSpPr>
          <p:spPr>
            <a:xfrm>
              <a:off x="5041864" y="1673535"/>
              <a:ext cx="212269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Subscriber: ApiHost2_Subscriber2</a:t>
              </a:r>
            </a:p>
          </p:txBody>
        </p:sp>
      </p:grp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95B4E29B-094E-2A15-5C18-7BA9E714FC32}"/>
              </a:ext>
            </a:extLst>
          </p:cNvPr>
          <p:cNvCxnSpPr>
            <a:cxnSpLocks/>
            <a:stCxn id="113" idx="3"/>
            <a:endCxn id="84" idx="1"/>
          </p:cNvCxnSpPr>
          <p:nvPr/>
        </p:nvCxnSpPr>
        <p:spPr>
          <a:xfrm>
            <a:off x="4595236" y="3521484"/>
            <a:ext cx="561987" cy="1033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72D1103C-1E1F-910F-77AF-43E0665F7A25}"/>
              </a:ext>
            </a:extLst>
          </p:cNvPr>
          <p:cNvSpPr/>
          <p:nvPr/>
        </p:nvSpPr>
        <p:spPr>
          <a:xfrm>
            <a:off x="9221942" y="2006704"/>
            <a:ext cx="2112808" cy="30617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err="1">
                <a:solidFill>
                  <a:schemeClr val="tx1"/>
                </a:solidFill>
              </a:rPr>
              <a:t>IDomainEventNotificationConsumer</a:t>
            </a:r>
            <a:endParaRPr lang="en-NZ" sz="900" dirty="0">
              <a:solidFill>
                <a:schemeClr val="tx1"/>
              </a:solidFill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FF81DAD8-81D0-4B01-D4B8-15BC1347ECA7}"/>
              </a:ext>
            </a:extLst>
          </p:cNvPr>
          <p:cNvSpPr/>
          <p:nvPr/>
        </p:nvSpPr>
        <p:spPr>
          <a:xfrm>
            <a:off x="9221942" y="4109967"/>
            <a:ext cx="2112808" cy="30617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err="1">
                <a:solidFill>
                  <a:schemeClr val="tx1"/>
                </a:solidFill>
              </a:rPr>
              <a:t>IDomainEventNotificationConsumer</a:t>
            </a:r>
            <a:endParaRPr lang="en-NZ" sz="900" dirty="0">
              <a:solidFill>
                <a:schemeClr val="tx1"/>
              </a:solidFill>
            </a:endParaRPr>
          </a:p>
        </p:txBody>
      </p:sp>
      <p:pic>
        <p:nvPicPr>
          <p:cNvPr id="99" name="Picture 98" descr="Aws Lambda Vector Logo - Download Free SVG Icon | Worldvectorlogo">
            <a:extLst>
              <a:ext uri="{FF2B5EF4-FFF2-40B4-BE49-F238E27FC236}">
                <a16:creationId xmlns:a16="http://schemas.microsoft.com/office/drawing/2014/main" id="{578D5F2D-98E6-318A-FD27-B141F08084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7155" y="4567134"/>
            <a:ext cx="396942" cy="405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99" descr="Aws Lambda Vector Logo - Download Free SVG Icon | Worldvectorlogo">
            <a:extLst>
              <a:ext uri="{FF2B5EF4-FFF2-40B4-BE49-F238E27FC236}">
                <a16:creationId xmlns:a16="http://schemas.microsoft.com/office/drawing/2014/main" id="{ADCBE6C3-2E21-C961-EB32-7F695156D1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7155" y="2457694"/>
            <a:ext cx="396942" cy="405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100" descr="Aws Lambda Vector Logo - Download Free SVG Icon | Worldvectorlogo">
            <a:extLst>
              <a:ext uri="{FF2B5EF4-FFF2-40B4-BE49-F238E27FC236}">
                <a16:creationId xmlns:a16="http://schemas.microsoft.com/office/drawing/2014/main" id="{D552A344-3EF7-E2FD-D188-FF7AF05D50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419" y="3993743"/>
            <a:ext cx="396942" cy="405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102" descr="Aws Lambda Vector Logo - Download Free SVG Icon | Worldvectorlogo">
            <a:extLst>
              <a:ext uri="{FF2B5EF4-FFF2-40B4-BE49-F238E27FC236}">
                <a16:creationId xmlns:a16="http://schemas.microsoft.com/office/drawing/2014/main" id="{0B66E719-DFE0-298D-B13B-8E1E8CAEC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1774" y="3397640"/>
            <a:ext cx="287779" cy="294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103" descr="Aws Lambda Vector Logo - Download Free SVG Icon | Worldvectorlogo">
            <a:extLst>
              <a:ext uri="{FF2B5EF4-FFF2-40B4-BE49-F238E27FC236}">
                <a16:creationId xmlns:a16="http://schemas.microsoft.com/office/drawing/2014/main" id="{52DE9A16-A2B4-49B9-1B98-E568E9291C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1804" y="2676474"/>
            <a:ext cx="287779" cy="294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4" name="Group 113">
            <a:extLst>
              <a:ext uri="{FF2B5EF4-FFF2-40B4-BE49-F238E27FC236}">
                <a16:creationId xmlns:a16="http://schemas.microsoft.com/office/drawing/2014/main" id="{54514C86-7841-F0BE-E5C6-7940221F3C06}"/>
              </a:ext>
            </a:extLst>
          </p:cNvPr>
          <p:cNvGrpSpPr/>
          <p:nvPr/>
        </p:nvGrpSpPr>
        <p:grpSpPr>
          <a:xfrm>
            <a:off x="2766172" y="3328173"/>
            <a:ext cx="1829064" cy="406788"/>
            <a:chOff x="2898824" y="4661718"/>
            <a:chExt cx="1829064" cy="406788"/>
          </a:xfrm>
        </p:grpSpPr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5C5E412E-CC52-14F2-B521-818645C58EFE}"/>
                </a:ext>
              </a:extLst>
            </p:cNvPr>
            <p:cNvGrpSpPr/>
            <p:nvPr/>
          </p:nvGrpSpPr>
          <p:grpSpPr>
            <a:xfrm>
              <a:off x="2898824" y="4661718"/>
              <a:ext cx="1829064" cy="406788"/>
              <a:chOff x="7656619" y="5506371"/>
              <a:chExt cx="2343335" cy="517641"/>
            </a:xfrm>
          </p:grpSpPr>
          <p:sp>
            <p:nvSpPr>
              <p:cNvPr id="108" name="Cylinder 107">
                <a:extLst>
                  <a:ext uri="{FF2B5EF4-FFF2-40B4-BE49-F238E27FC236}">
                    <a16:creationId xmlns:a16="http://schemas.microsoft.com/office/drawing/2014/main" id="{721AD911-3B52-EA9C-89C3-102091DC6A87}"/>
                  </a:ext>
                </a:extLst>
              </p:cNvPr>
              <p:cNvSpPr/>
              <p:nvPr/>
            </p:nvSpPr>
            <p:spPr>
              <a:xfrm rot="5400000">
                <a:off x="7543882" y="5627835"/>
                <a:ext cx="508914" cy="283439"/>
              </a:xfrm>
              <a:prstGeom prst="can">
                <a:avLst/>
              </a:prstGeom>
              <a:solidFill>
                <a:srgbClr val="B91254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09" name="Cylinder 108">
                <a:extLst>
                  <a:ext uri="{FF2B5EF4-FFF2-40B4-BE49-F238E27FC236}">
                    <a16:creationId xmlns:a16="http://schemas.microsoft.com/office/drawing/2014/main" id="{3FADA143-1864-FE74-8A64-D69C9304A512}"/>
                  </a:ext>
                </a:extLst>
              </p:cNvPr>
              <p:cNvSpPr/>
              <p:nvPr/>
            </p:nvSpPr>
            <p:spPr>
              <a:xfrm rot="5400000">
                <a:off x="7872894" y="5627831"/>
                <a:ext cx="508913" cy="283439"/>
              </a:xfrm>
              <a:prstGeom prst="can">
                <a:avLst/>
              </a:prstGeom>
              <a:solidFill>
                <a:srgbClr val="B91254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10" name="Cylinder 109">
                <a:extLst>
                  <a:ext uri="{FF2B5EF4-FFF2-40B4-BE49-F238E27FC236}">
                    <a16:creationId xmlns:a16="http://schemas.microsoft.com/office/drawing/2014/main" id="{55526199-404B-E6D9-D8E3-336E8D8436FD}"/>
                  </a:ext>
                </a:extLst>
              </p:cNvPr>
              <p:cNvSpPr/>
              <p:nvPr/>
            </p:nvSpPr>
            <p:spPr>
              <a:xfrm rot="5400000">
                <a:off x="8209897" y="5627834"/>
                <a:ext cx="508913" cy="283439"/>
              </a:xfrm>
              <a:prstGeom prst="can">
                <a:avLst/>
              </a:prstGeom>
              <a:solidFill>
                <a:srgbClr val="FA488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11" name="Cylinder 110">
                <a:extLst>
                  <a:ext uri="{FF2B5EF4-FFF2-40B4-BE49-F238E27FC236}">
                    <a16:creationId xmlns:a16="http://schemas.microsoft.com/office/drawing/2014/main" id="{EF79DA07-8AB8-65FE-0DBC-9905D66539D4}"/>
                  </a:ext>
                </a:extLst>
              </p:cNvPr>
              <p:cNvSpPr/>
              <p:nvPr/>
            </p:nvSpPr>
            <p:spPr>
              <a:xfrm rot="5400000">
                <a:off x="8519833" y="5627834"/>
                <a:ext cx="508912" cy="283439"/>
              </a:xfrm>
              <a:prstGeom prst="can">
                <a:avLst/>
              </a:prstGeom>
              <a:solidFill>
                <a:srgbClr val="FA488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12" name="Cylinder 111">
                <a:extLst>
                  <a:ext uri="{FF2B5EF4-FFF2-40B4-BE49-F238E27FC236}">
                    <a16:creationId xmlns:a16="http://schemas.microsoft.com/office/drawing/2014/main" id="{E6795D8E-A6C9-770B-72CF-3232A3A63E0A}"/>
                  </a:ext>
                </a:extLst>
              </p:cNvPr>
              <p:cNvSpPr/>
              <p:nvPr/>
            </p:nvSpPr>
            <p:spPr>
              <a:xfrm rot="5400000">
                <a:off x="8852209" y="5619108"/>
                <a:ext cx="508913" cy="283439"/>
              </a:xfrm>
              <a:prstGeom prst="can">
                <a:avLst/>
              </a:prstGeom>
              <a:solidFill>
                <a:srgbClr val="FA488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EFF7FCCE-86F9-0332-E6C1-98DBCC7DED6B}"/>
                  </a:ext>
                </a:extLst>
              </p:cNvPr>
              <p:cNvSpPr txBox="1"/>
              <p:nvPr/>
            </p:nvSpPr>
            <p:spPr>
              <a:xfrm>
                <a:off x="8369952" y="5576118"/>
                <a:ext cx="1630002" cy="3524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rPr>
                  <a:t>domain_events</a:t>
                </a:r>
                <a:endParaRPr lang="en-NZ" sz="1200" dirty="0">
                  <a:effectLst>
                    <a:glow rad="101600">
                      <a:schemeClr val="bg1">
                        <a:alpha val="60000"/>
                      </a:schemeClr>
                    </a:glow>
                  </a:effectLst>
                </a:endParaRPr>
              </a:p>
            </p:txBody>
          </p:sp>
        </p:grpSp>
        <p:pic>
          <p:nvPicPr>
            <p:cNvPr id="3074" name="Picture 2" descr="AWS SNS Integrations | AWS SNS Connectors and Automation | Tray.io">
              <a:extLst>
                <a:ext uri="{FF2B5EF4-FFF2-40B4-BE49-F238E27FC236}">
                  <a16:creationId xmlns:a16="http://schemas.microsoft.com/office/drawing/2014/main" id="{6DA1C8A0-3B73-1D6D-1B77-DD8A7D0493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80825" y="4724266"/>
              <a:ext cx="288542" cy="2885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243455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744300-B05B-455C-BC05-C3761B240149}"/>
              </a:ext>
            </a:extLst>
          </p:cNvPr>
          <p:cNvSpPr/>
          <p:nvPr/>
        </p:nvSpPr>
        <p:spPr>
          <a:xfrm>
            <a:off x="131524" y="135111"/>
            <a:ext cx="2800749" cy="600476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An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Aggregate raises one or more </a:t>
            </a:r>
            <a:r>
              <a:rPr lang="en-US" sz="1200" b="1" dirty="0" err="1">
                <a:solidFill>
                  <a:schemeClr val="tx1"/>
                </a:solidFill>
                <a:ea typeface="Microsoft Sans Serif" panose="020B0604020202020204" pitchFamily="34" charset="0"/>
                <a:cs typeface="Microsoft Sans Serif" panose="020B0604020202020204" pitchFamily="34" charset="0"/>
              </a:rPr>
              <a:t>IDomainEvent</a:t>
            </a:r>
            <a:r>
              <a:rPr lang="en-US" sz="1200" b="1" dirty="0">
                <a:solidFill>
                  <a:schemeClr val="tx1"/>
                </a:solidFill>
              </a:rPr>
              <a:t> (s)</a:t>
            </a:r>
            <a:endParaRPr lang="en-NZ" sz="1200" dirty="0">
              <a:solidFill>
                <a:schemeClr val="tx1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4A45DBC-1E13-4E85-A2F0-3B41212881CF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1975450" y="1643842"/>
            <a:ext cx="1644234" cy="1892433"/>
          </a:xfrm>
          <a:prstGeom prst="curvedConnector3">
            <a:avLst>
              <a:gd name="adj1" fmla="val 73172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0A1D048-9431-419D-8266-2774616B0442}"/>
              </a:ext>
            </a:extLst>
          </p:cNvPr>
          <p:cNvSpPr/>
          <p:nvPr/>
        </p:nvSpPr>
        <p:spPr>
          <a:xfrm>
            <a:off x="3619684" y="103909"/>
            <a:ext cx="5840023" cy="3079866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b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1. Projections</a:t>
            </a:r>
            <a:endParaRPr lang="en-NZ" sz="2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85E9306-8FA2-48B8-9214-FC969C950238}"/>
              </a:ext>
            </a:extLst>
          </p:cNvPr>
          <p:cNvSpPr/>
          <p:nvPr/>
        </p:nvSpPr>
        <p:spPr>
          <a:xfrm>
            <a:off x="3619684" y="3674225"/>
            <a:ext cx="5852767" cy="3079866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b"/>
          <a:lstStyle/>
          <a:p>
            <a:pPr algn="ctr"/>
            <a:r>
              <a:rPr lang="en-US" sz="2800" dirty="0">
                <a:solidFill>
                  <a:schemeClr val="bg1"/>
                </a:solidFill>
              </a:rPr>
              <a:t>2. Notifications</a:t>
            </a:r>
            <a:endParaRPr lang="en-NZ" sz="2800" dirty="0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44092C-4876-4DD9-A5FD-016E82F94FC2}"/>
              </a:ext>
            </a:extLst>
          </p:cNvPr>
          <p:cNvSpPr/>
          <p:nvPr/>
        </p:nvSpPr>
        <p:spPr>
          <a:xfrm>
            <a:off x="4300339" y="764252"/>
            <a:ext cx="2331561" cy="2220017"/>
          </a:xfrm>
          <a:prstGeom prst="roundRect">
            <a:avLst/>
          </a:prstGeom>
          <a:noFill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rtlCol="0" anchor="t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IEventNotifyingStoreProjectionRelay</a:t>
            </a:r>
            <a:endParaRPr kumimoji="0" lang="en-US" altLang="en-US" sz="3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19A71E4-2265-438D-B166-BADE9496BF7F}"/>
              </a:ext>
            </a:extLst>
          </p:cNvPr>
          <p:cNvSpPr/>
          <p:nvPr/>
        </p:nvSpPr>
        <p:spPr>
          <a:xfrm>
            <a:off x="4515818" y="1407347"/>
            <a:ext cx="1542707" cy="510538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IReadModel</a:t>
            </a:r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 Projector</a:t>
            </a:r>
            <a:endParaRPr lang="en-NZ" sz="1400" b="1" dirty="0">
              <a:solidFill>
                <a:schemeClr val="bg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4502CE-1684-4F14-9FF9-B346E5BCBA56}"/>
              </a:ext>
            </a:extLst>
          </p:cNvPr>
          <p:cNvSpPr/>
          <p:nvPr/>
        </p:nvSpPr>
        <p:spPr>
          <a:xfrm>
            <a:off x="4300339" y="3892434"/>
            <a:ext cx="2331561" cy="2643447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/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IEventNotifyingStore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NotificationRelay</a:t>
            </a:r>
            <a:endParaRPr lang="en-NZ" sz="1200" b="1" dirty="0">
              <a:solidFill>
                <a:schemeClr val="bg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5A69600-8549-4087-9F3A-8757D9DE37E0}"/>
              </a:ext>
            </a:extLst>
          </p:cNvPr>
          <p:cNvSpPr/>
          <p:nvPr/>
        </p:nvSpPr>
        <p:spPr>
          <a:xfrm>
            <a:off x="4515818" y="4974626"/>
            <a:ext cx="1919488" cy="503232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IEventNotificationNotifier</a:t>
            </a:r>
            <a:endParaRPr lang="en-NZ" sz="1200" b="1" dirty="0">
              <a:solidFill>
                <a:schemeClr val="tx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89F12A9-BFAC-453E-A6AB-82ED4122B387}"/>
              </a:ext>
            </a:extLst>
          </p:cNvPr>
          <p:cNvCxnSpPr>
            <a:cxnSpLocks/>
            <a:stCxn id="10" idx="3"/>
            <a:endCxn id="12" idx="1"/>
          </p:cNvCxnSpPr>
          <p:nvPr/>
        </p:nvCxnSpPr>
        <p:spPr>
          <a:xfrm>
            <a:off x="1975450" y="3536275"/>
            <a:ext cx="1644234" cy="1677883"/>
          </a:xfrm>
          <a:prstGeom prst="curvedConnector3">
            <a:avLst>
              <a:gd name="adj1" fmla="val 77227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F10193C-A120-411B-B70F-0B4E389DEAF2}"/>
              </a:ext>
            </a:extLst>
          </p:cNvPr>
          <p:cNvCxnSpPr>
            <a:cxnSpLocks/>
            <a:stCxn id="11" idx="1"/>
            <a:endCxn id="17" idx="1"/>
          </p:cNvCxnSpPr>
          <p:nvPr/>
        </p:nvCxnSpPr>
        <p:spPr>
          <a:xfrm>
            <a:off x="3619684" y="1643842"/>
            <a:ext cx="896134" cy="187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BF87E1C-D81C-41AD-83E5-772B8FCDEEA7}"/>
              </a:ext>
            </a:extLst>
          </p:cNvPr>
          <p:cNvCxnSpPr>
            <a:cxnSpLocks/>
            <a:stCxn id="17" idx="3"/>
            <a:endCxn id="23" idx="1"/>
          </p:cNvCxnSpPr>
          <p:nvPr/>
        </p:nvCxnSpPr>
        <p:spPr>
          <a:xfrm flipV="1">
            <a:off x="6058525" y="615142"/>
            <a:ext cx="1155266" cy="10474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5A37E0E-ED39-4462-A744-099D9DA9F009}"/>
              </a:ext>
            </a:extLst>
          </p:cNvPr>
          <p:cNvCxnSpPr>
            <a:cxnSpLocks/>
            <a:stCxn id="12" idx="1"/>
            <a:endCxn id="25" idx="1"/>
          </p:cNvCxnSpPr>
          <p:nvPr/>
        </p:nvCxnSpPr>
        <p:spPr>
          <a:xfrm>
            <a:off x="3619684" y="5214158"/>
            <a:ext cx="896134" cy="12084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Cylinder 58">
            <a:extLst>
              <a:ext uri="{FF2B5EF4-FFF2-40B4-BE49-F238E27FC236}">
                <a16:creationId xmlns:a16="http://schemas.microsoft.com/office/drawing/2014/main" id="{E77348E0-078E-4B1B-8141-2627F44FC228}"/>
              </a:ext>
            </a:extLst>
          </p:cNvPr>
          <p:cNvSpPr/>
          <p:nvPr/>
        </p:nvSpPr>
        <p:spPr>
          <a:xfrm>
            <a:off x="4716206" y="2130829"/>
            <a:ext cx="1152541" cy="748144"/>
          </a:xfrm>
          <a:prstGeom prst="can">
            <a:avLst/>
          </a:prstGeom>
          <a:solidFill>
            <a:srgbClr val="A6001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Event </a:t>
            </a:r>
            <a:r>
              <a:rPr lang="en-US" sz="1100" dirty="0" err="1"/>
              <a:t>CheckPoint</a:t>
            </a:r>
            <a:r>
              <a:rPr lang="en-US" sz="1100" dirty="0"/>
              <a:t> Store</a:t>
            </a:r>
            <a:endParaRPr lang="en-NZ" sz="1100" dirty="0"/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C700E39-7946-494A-9DBE-D0C71B582C9C}"/>
              </a:ext>
            </a:extLst>
          </p:cNvPr>
          <p:cNvCxnSpPr>
            <a:cxnSpLocks/>
            <a:stCxn id="17" idx="2"/>
            <a:endCxn id="59" idx="0"/>
          </p:cNvCxnSpPr>
          <p:nvPr/>
        </p:nvCxnSpPr>
        <p:spPr>
          <a:xfrm>
            <a:off x="5287172" y="1917885"/>
            <a:ext cx="5305" cy="399980"/>
          </a:xfrm>
          <a:prstGeom prst="straightConnector1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B6B1EF9C-833E-4F0F-BF92-9E847CB68276}"/>
              </a:ext>
            </a:extLst>
          </p:cNvPr>
          <p:cNvCxnSpPr>
            <a:cxnSpLocks/>
            <a:stCxn id="17" idx="3"/>
            <a:endCxn id="156" idx="1"/>
          </p:cNvCxnSpPr>
          <p:nvPr/>
        </p:nvCxnSpPr>
        <p:spPr>
          <a:xfrm flipV="1">
            <a:off x="6058525" y="1456717"/>
            <a:ext cx="1155266" cy="20589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FBB726AA-24A0-4A3A-BE04-B010905D7B7C}"/>
              </a:ext>
            </a:extLst>
          </p:cNvPr>
          <p:cNvCxnSpPr>
            <a:cxnSpLocks/>
            <a:stCxn id="17" idx="3"/>
            <a:endCxn id="164" idx="1"/>
          </p:cNvCxnSpPr>
          <p:nvPr/>
        </p:nvCxnSpPr>
        <p:spPr>
          <a:xfrm>
            <a:off x="6058525" y="1662616"/>
            <a:ext cx="1149775" cy="5954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693D8D86-CEBE-4176-988B-128F3B37275B}"/>
              </a:ext>
            </a:extLst>
          </p:cNvPr>
          <p:cNvGrpSpPr/>
          <p:nvPr/>
        </p:nvGrpSpPr>
        <p:grpSpPr>
          <a:xfrm>
            <a:off x="7213791" y="253715"/>
            <a:ext cx="4821648" cy="660685"/>
            <a:chOff x="6454673" y="253715"/>
            <a:chExt cx="4821648" cy="660685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0F971607-8474-46D1-AAB0-A6DA24647FA4}"/>
                </a:ext>
              </a:extLst>
            </p:cNvPr>
            <p:cNvSpPr/>
            <p:nvPr/>
          </p:nvSpPr>
          <p:spPr>
            <a:xfrm>
              <a:off x="6454673" y="340822"/>
              <a:ext cx="2111750" cy="548640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 err="1">
                  <a:solidFill>
                    <a:schemeClr val="bg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IReadModelProjection</a:t>
              </a:r>
              <a:endParaRPr lang="en-NZ" sz="12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34" name="Cylinder 33">
              <a:extLst>
                <a:ext uri="{FF2B5EF4-FFF2-40B4-BE49-F238E27FC236}">
                  <a16:creationId xmlns:a16="http://schemas.microsoft.com/office/drawing/2014/main" id="{292E3E49-8472-47C4-BF26-36B2971B1D2E}"/>
                </a:ext>
              </a:extLst>
            </p:cNvPr>
            <p:cNvSpPr/>
            <p:nvPr/>
          </p:nvSpPr>
          <p:spPr>
            <a:xfrm>
              <a:off x="9486415" y="253715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400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cxnSp>
          <p:nvCxnSpPr>
            <p:cNvPr id="36" name="Connector: Elbow 35">
              <a:extLst>
                <a:ext uri="{FF2B5EF4-FFF2-40B4-BE49-F238E27FC236}">
                  <a16:creationId xmlns:a16="http://schemas.microsoft.com/office/drawing/2014/main" id="{2D6295CE-6BC3-4F8E-89C4-77102CEC0C4C}"/>
                </a:ext>
              </a:extLst>
            </p:cNvPr>
            <p:cNvCxnSpPr>
              <a:cxnSpLocks/>
              <a:stCxn id="23" idx="3"/>
              <a:endCxn id="34" idx="2"/>
            </p:cNvCxnSpPr>
            <p:nvPr/>
          </p:nvCxnSpPr>
          <p:spPr>
            <a:xfrm flipV="1">
              <a:off x="8566423" y="403863"/>
              <a:ext cx="919992" cy="21127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Cylinder 111">
              <a:extLst>
                <a:ext uri="{FF2B5EF4-FFF2-40B4-BE49-F238E27FC236}">
                  <a16:creationId xmlns:a16="http://schemas.microsoft.com/office/drawing/2014/main" id="{AF8CE0D7-B478-461A-9D60-670C0B3E8A71}"/>
                </a:ext>
              </a:extLst>
            </p:cNvPr>
            <p:cNvSpPr/>
            <p:nvPr/>
          </p:nvSpPr>
          <p:spPr>
            <a:xfrm>
              <a:off x="9868614" y="424124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400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113" name="Cylinder 112">
              <a:extLst>
                <a:ext uri="{FF2B5EF4-FFF2-40B4-BE49-F238E27FC236}">
                  <a16:creationId xmlns:a16="http://schemas.microsoft.com/office/drawing/2014/main" id="{88A96E02-58F8-4107-956B-1D25251EB447}"/>
                </a:ext>
              </a:extLst>
            </p:cNvPr>
            <p:cNvSpPr/>
            <p:nvPr/>
          </p:nvSpPr>
          <p:spPr>
            <a:xfrm>
              <a:off x="10263557" y="614104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A </a:t>
              </a:r>
              <a:r>
                <a:rPr lang="en-US" sz="900" dirty="0" err="1">
                  <a:solidFill>
                    <a:schemeClr val="bg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ReadModel</a:t>
              </a:r>
              <a:endParaRPr lang="en-NZ" sz="900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cxnSp>
          <p:nvCxnSpPr>
            <p:cNvPr id="114" name="Connector: Elbow 35">
              <a:extLst>
                <a:ext uri="{FF2B5EF4-FFF2-40B4-BE49-F238E27FC236}">
                  <a16:creationId xmlns:a16="http://schemas.microsoft.com/office/drawing/2014/main" id="{9118CA71-77C7-4A6C-B4E1-879F31269960}"/>
                </a:ext>
              </a:extLst>
            </p:cNvPr>
            <p:cNvCxnSpPr>
              <a:cxnSpLocks/>
              <a:stCxn id="23" idx="3"/>
              <a:endCxn id="112" idx="2"/>
            </p:cNvCxnSpPr>
            <p:nvPr/>
          </p:nvCxnSpPr>
          <p:spPr>
            <a:xfrm flipV="1">
              <a:off x="8566423" y="574272"/>
              <a:ext cx="1302191" cy="4087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nector: Elbow 35">
              <a:extLst>
                <a:ext uri="{FF2B5EF4-FFF2-40B4-BE49-F238E27FC236}">
                  <a16:creationId xmlns:a16="http://schemas.microsoft.com/office/drawing/2014/main" id="{2CE1ED86-6A85-45C9-A20F-A55337FC6D46}"/>
                </a:ext>
              </a:extLst>
            </p:cNvPr>
            <p:cNvCxnSpPr>
              <a:cxnSpLocks/>
              <a:stCxn id="23" idx="3"/>
              <a:endCxn id="113" idx="2"/>
            </p:cNvCxnSpPr>
            <p:nvPr/>
          </p:nvCxnSpPr>
          <p:spPr>
            <a:xfrm>
              <a:off x="8566423" y="615142"/>
              <a:ext cx="1697134" cy="14911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00AA2E95-EDE4-4046-9B9D-9B789ACEBFFF}"/>
              </a:ext>
            </a:extLst>
          </p:cNvPr>
          <p:cNvGrpSpPr/>
          <p:nvPr/>
        </p:nvGrpSpPr>
        <p:grpSpPr>
          <a:xfrm>
            <a:off x="7213791" y="1074849"/>
            <a:ext cx="4827137" cy="660685"/>
            <a:chOff x="6454673" y="233274"/>
            <a:chExt cx="4827137" cy="660685"/>
          </a:xfrm>
        </p:grpSpPr>
        <p:sp>
          <p:nvSpPr>
            <p:cNvPr id="156" name="Rectangle: Rounded Corners 155">
              <a:extLst>
                <a:ext uri="{FF2B5EF4-FFF2-40B4-BE49-F238E27FC236}">
                  <a16:creationId xmlns:a16="http://schemas.microsoft.com/office/drawing/2014/main" id="{E20702D0-D5B3-4368-AA64-D40AA143B567}"/>
                </a:ext>
              </a:extLst>
            </p:cNvPr>
            <p:cNvSpPr/>
            <p:nvPr/>
          </p:nvSpPr>
          <p:spPr>
            <a:xfrm>
              <a:off x="6454673" y="340822"/>
              <a:ext cx="2111750" cy="548640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 err="1">
                  <a:solidFill>
                    <a:schemeClr val="bg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IReadModelProjection</a:t>
              </a:r>
              <a:endParaRPr lang="en-NZ" sz="12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157" name="Cylinder 156">
              <a:extLst>
                <a:ext uri="{FF2B5EF4-FFF2-40B4-BE49-F238E27FC236}">
                  <a16:creationId xmlns:a16="http://schemas.microsoft.com/office/drawing/2014/main" id="{D18151DF-308A-456D-877D-5F968BA79281}"/>
                </a:ext>
              </a:extLst>
            </p:cNvPr>
            <p:cNvSpPr/>
            <p:nvPr/>
          </p:nvSpPr>
          <p:spPr>
            <a:xfrm>
              <a:off x="9491904" y="233274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400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cxnSp>
          <p:nvCxnSpPr>
            <p:cNvPr id="158" name="Connector: Elbow 35">
              <a:extLst>
                <a:ext uri="{FF2B5EF4-FFF2-40B4-BE49-F238E27FC236}">
                  <a16:creationId xmlns:a16="http://schemas.microsoft.com/office/drawing/2014/main" id="{B88BC1B6-A233-4597-B0EA-CA6D5F4977F9}"/>
                </a:ext>
              </a:extLst>
            </p:cNvPr>
            <p:cNvCxnSpPr>
              <a:cxnSpLocks/>
              <a:stCxn id="156" idx="3"/>
              <a:endCxn id="157" idx="2"/>
            </p:cNvCxnSpPr>
            <p:nvPr/>
          </p:nvCxnSpPr>
          <p:spPr>
            <a:xfrm flipV="1">
              <a:off x="8566423" y="383422"/>
              <a:ext cx="925481" cy="23172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9" name="Cylinder 158">
              <a:extLst>
                <a:ext uri="{FF2B5EF4-FFF2-40B4-BE49-F238E27FC236}">
                  <a16:creationId xmlns:a16="http://schemas.microsoft.com/office/drawing/2014/main" id="{126CA97C-06F2-4E8A-A533-2F83A00DCC83}"/>
                </a:ext>
              </a:extLst>
            </p:cNvPr>
            <p:cNvSpPr/>
            <p:nvPr/>
          </p:nvSpPr>
          <p:spPr>
            <a:xfrm>
              <a:off x="9874103" y="403683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400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160" name="Cylinder 159">
              <a:extLst>
                <a:ext uri="{FF2B5EF4-FFF2-40B4-BE49-F238E27FC236}">
                  <a16:creationId xmlns:a16="http://schemas.microsoft.com/office/drawing/2014/main" id="{6D9F1CAD-912C-4DA5-8CFF-680A2B595116}"/>
                </a:ext>
              </a:extLst>
            </p:cNvPr>
            <p:cNvSpPr/>
            <p:nvPr/>
          </p:nvSpPr>
          <p:spPr>
            <a:xfrm>
              <a:off x="10269046" y="593663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  <a:ea typeface="Microsoft Sans Serif" panose="020B0604020202020204" pitchFamily="34" charset="0"/>
                  <a:cs typeface="Courier New" panose="02070309020205020404" pitchFamily="49" charset="0"/>
                </a:rPr>
                <a:t>A </a:t>
              </a:r>
              <a:r>
                <a:rPr lang="en-US" sz="900" dirty="0" err="1">
                  <a:solidFill>
                    <a:schemeClr val="bg1"/>
                  </a:solidFill>
                  <a:ea typeface="Microsoft Sans Serif" panose="020B0604020202020204" pitchFamily="34" charset="0"/>
                  <a:cs typeface="Courier New" panose="02070309020205020404" pitchFamily="49" charset="0"/>
                </a:rPr>
                <a:t>ReadModel</a:t>
              </a:r>
              <a:endParaRPr lang="en-NZ" sz="900" dirty="0">
                <a:solidFill>
                  <a:schemeClr val="bg1"/>
                </a:solidFill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cxnSp>
          <p:nvCxnSpPr>
            <p:cNvPr id="161" name="Connector: Elbow 35">
              <a:extLst>
                <a:ext uri="{FF2B5EF4-FFF2-40B4-BE49-F238E27FC236}">
                  <a16:creationId xmlns:a16="http://schemas.microsoft.com/office/drawing/2014/main" id="{3DE5029F-8376-4132-93D9-0FF240F798CE}"/>
                </a:ext>
              </a:extLst>
            </p:cNvPr>
            <p:cNvCxnSpPr>
              <a:cxnSpLocks/>
              <a:stCxn id="156" idx="3"/>
              <a:endCxn id="159" idx="2"/>
            </p:cNvCxnSpPr>
            <p:nvPr/>
          </p:nvCxnSpPr>
          <p:spPr>
            <a:xfrm flipV="1">
              <a:off x="8566423" y="553831"/>
              <a:ext cx="1307680" cy="6131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Connector: Elbow 35">
              <a:extLst>
                <a:ext uri="{FF2B5EF4-FFF2-40B4-BE49-F238E27FC236}">
                  <a16:creationId xmlns:a16="http://schemas.microsoft.com/office/drawing/2014/main" id="{D8C3B4A9-7570-4193-B9FB-58C1EED265E8}"/>
                </a:ext>
              </a:extLst>
            </p:cNvPr>
            <p:cNvCxnSpPr>
              <a:cxnSpLocks/>
              <a:stCxn id="156" idx="3"/>
              <a:endCxn id="160" idx="2"/>
            </p:cNvCxnSpPr>
            <p:nvPr/>
          </p:nvCxnSpPr>
          <p:spPr>
            <a:xfrm>
              <a:off x="8566423" y="615142"/>
              <a:ext cx="1702623" cy="12866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67E4F46B-99AE-4355-8588-A8817FB69E5A}"/>
              </a:ext>
            </a:extLst>
          </p:cNvPr>
          <p:cNvGrpSpPr/>
          <p:nvPr/>
        </p:nvGrpSpPr>
        <p:grpSpPr>
          <a:xfrm>
            <a:off x="7208300" y="1876172"/>
            <a:ext cx="4827139" cy="660685"/>
            <a:chOff x="6454673" y="233274"/>
            <a:chExt cx="4827139" cy="660685"/>
          </a:xfrm>
        </p:grpSpPr>
        <p:sp>
          <p:nvSpPr>
            <p:cNvPr id="164" name="Rectangle: Rounded Corners 163">
              <a:extLst>
                <a:ext uri="{FF2B5EF4-FFF2-40B4-BE49-F238E27FC236}">
                  <a16:creationId xmlns:a16="http://schemas.microsoft.com/office/drawing/2014/main" id="{2270240A-9EDB-44EC-A3ED-5277ADAE8A7E}"/>
                </a:ext>
              </a:extLst>
            </p:cNvPr>
            <p:cNvSpPr/>
            <p:nvPr/>
          </p:nvSpPr>
          <p:spPr>
            <a:xfrm>
              <a:off x="6454673" y="340822"/>
              <a:ext cx="2111750" cy="548640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 err="1">
                  <a:solidFill>
                    <a:schemeClr val="bg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IReadModelProjection</a:t>
              </a:r>
              <a:endParaRPr lang="en-NZ" sz="12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165" name="Cylinder 164">
              <a:extLst>
                <a:ext uri="{FF2B5EF4-FFF2-40B4-BE49-F238E27FC236}">
                  <a16:creationId xmlns:a16="http://schemas.microsoft.com/office/drawing/2014/main" id="{E57C2778-4A6C-439C-B19B-66F0762B5806}"/>
                </a:ext>
              </a:extLst>
            </p:cNvPr>
            <p:cNvSpPr/>
            <p:nvPr/>
          </p:nvSpPr>
          <p:spPr>
            <a:xfrm>
              <a:off x="9491906" y="233274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400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cxnSp>
          <p:nvCxnSpPr>
            <p:cNvPr id="166" name="Connector: Elbow 35">
              <a:extLst>
                <a:ext uri="{FF2B5EF4-FFF2-40B4-BE49-F238E27FC236}">
                  <a16:creationId xmlns:a16="http://schemas.microsoft.com/office/drawing/2014/main" id="{7682B0C5-BFE8-449D-9E3A-1354E25EE7FF}"/>
                </a:ext>
              </a:extLst>
            </p:cNvPr>
            <p:cNvCxnSpPr>
              <a:cxnSpLocks/>
              <a:stCxn id="164" idx="3"/>
              <a:endCxn id="165" idx="2"/>
            </p:cNvCxnSpPr>
            <p:nvPr/>
          </p:nvCxnSpPr>
          <p:spPr>
            <a:xfrm flipV="1">
              <a:off x="8566423" y="383422"/>
              <a:ext cx="925483" cy="23172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7" name="Cylinder 166">
              <a:extLst>
                <a:ext uri="{FF2B5EF4-FFF2-40B4-BE49-F238E27FC236}">
                  <a16:creationId xmlns:a16="http://schemas.microsoft.com/office/drawing/2014/main" id="{869A435C-AD74-4B82-9EED-93CC8A24CE52}"/>
                </a:ext>
              </a:extLst>
            </p:cNvPr>
            <p:cNvSpPr/>
            <p:nvPr/>
          </p:nvSpPr>
          <p:spPr>
            <a:xfrm>
              <a:off x="9874105" y="403683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400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168" name="Cylinder 167">
              <a:extLst>
                <a:ext uri="{FF2B5EF4-FFF2-40B4-BE49-F238E27FC236}">
                  <a16:creationId xmlns:a16="http://schemas.microsoft.com/office/drawing/2014/main" id="{D3815DFD-076A-4753-9D8B-F666E3063F1F}"/>
                </a:ext>
              </a:extLst>
            </p:cNvPr>
            <p:cNvSpPr/>
            <p:nvPr/>
          </p:nvSpPr>
          <p:spPr>
            <a:xfrm>
              <a:off x="10269048" y="593663"/>
              <a:ext cx="1012764" cy="300296"/>
            </a:xfrm>
            <a:prstGeom prst="can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  <a:ea typeface="Microsoft Sans Serif" panose="020B0604020202020204" pitchFamily="34" charset="0"/>
                  <a:cs typeface="Courier New" panose="02070309020205020404" pitchFamily="49" charset="0"/>
                </a:rPr>
                <a:t>A </a:t>
              </a:r>
              <a:r>
                <a:rPr lang="en-US" sz="900" dirty="0" err="1">
                  <a:solidFill>
                    <a:schemeClr val="bg1"/>
                  </a:solidFill>
                  <a:ea typeface="Microsoft Sans Serif" panose="020B0604020202020204" pitchFamily="34" charset="0"/>
                  <a:cs typeface="Courier New" panose="02070309020205020404" pitchFamily="49" charset="0"/>
                </a:rPr>
                <a:t>ReadModel</a:t>
              </a:r>
              <a:endParaRPr lang="en-NZ" sz="900" dirty="0">
                <a:solidFill>
                  <a:schemeClr val="bg1"/>
                </a:solidFill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cxnSp>
          <p:nvCxnSpPr>
            <p:cNvPr id="169" name="Connector: Elbow 35">
              <a:extLst>
                <a:ext uri="{FF2B5EF4-FFF2-40B4-BE49-F238E27FC236}">
                  <a16:creationId xmlns:a16="http://schemas.microsoft.com/office/drawing/2014/main" id="{08AA4869-7B4B-47A4-97F7-6E0CD90DD6AA}"/>
                </a:ext>
              </a:extLst>
            </p:cNvPr>
            <p:cNvCxnSpPr>
              <a:cxnSpLocks/>
              <a:stCxn id="164" idx="3"/>
              <a:endCxn id="167" idx="2"/>
            </p:cNvCxnSpPr>
            <p:nvPr/>
          </p:nvCxnSpPr>
          <p:spPr>
            <a:xfrm flipV="1">
              <a:off x="8566423" y="553831"/>
              <a:ext cx="1307682" cy="6131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Connector: Elbow 35">
              <a:extLst>
                <a:ext uri="{FF2B5EF4-FFF2-40B4-BE49-F238E27FC236}">
                  <a16:creationId xmlns:a16="http://schemas.microsoft.com/office/drawing/2014/main" id="{50271C9D-FF78-467B-AE71-82763F3C0D40}"/>
                </a:ext>
              </a:extLst>
            </p:cNvPr>
            <p:cNvCxnSpPr>
              <a:cxnSpLocks/>
              <a:stCxn id="164" idx="3"/>
              <a:endCxn id="168" idx="2"/>
            </p:cNvCxnSpPr>
            <p:nvPr/>
          </p:nvCxnSpPr>
          <p:spPr>
            <a:xfrm>
              <a:off x="8566423" y="615142"/>
              <a:ext cx="1702625" cy="12866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7" name="Rectangle: Rounded Corners 206">
            <a:extLst>
              <a:ext uri="{FF2B5EF4-FFF2-40B4-BE49-F238E27FC236}">
                <a16:creationId xmlns:a16="http://schemas.microsoft.com/office/drawing/2014/main" id="{34DFEBB1-656D-4B91-A199-E8B62BC82B0D}"/>
              </a:ext>
            </a:extLst>
          </p:cNvPr>
          <p:cNvSpPr/>
          <p:nvPr/>
        </p:nvSpPr>
        <p:spPr>
          <a:xfrm>
            <a:off x="140615" y="1471091"/>
            <a:ext cx="2789556" cy="528094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err="1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IEventSourcingDddCommandStore</a:t>
            </a:r>
            <a:r>
              <a:rPr lang="en-US" sz="11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&lt;</a:t>
            </a:r>
            <a:r>
              <a:rPr lang="en-US" sz="1100" b="1" dirty="0" err="1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TAggregate</a:t>
            </a:r>
            <a:r>
              <a:rPr lang="en-US" sz="11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&gt;.</a:t>
            </a:r>
            <a:r>
              <a:rPr lang="en-US" sz="1100" b="1" dirty="0" err="1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SaveAsync</a:t>
            </a:r>
            <a:r>
              <a:rPr lang="en-US" sz="11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1100" b="1" dirty="0">
              <a:solidFill>
                <a:schemeClr val="bg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AAD12F78-C8F1-47EA-99B5-65CD82EA362D}"/>
              </a:ext>
            </a:extLst>
          </p:cNvPr>
          <p:cNvCxnSpPr>
            <a:cxnSpLocks/>
            <a:stCxn id="21" idx="2"/>
            <a:endCxn id="207" idx="0"/>
          </p:cNvCxnSpPr>
          <p:nvPr/>
        </p:nvCxnSpPr>
        <p:spPr>
          <a:xfrm>
            <a:off x="1526302" y="1303978"/>
            <a:ext cx="9091" cy="1671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566509F-869D-A90E-1D98-8941C8569F2A}"/>
              </a:ext>
            </a:extLst>
          </p:cNvPr>
          <p:cNvSpPr/>
          <p:nvPr/>
        </p:nvSpPr>
        <p:spPr>
          <a:xfrm>
            <a:off x="250167" y="2603612"/>
            <a:ext cx="1725302" cy="397625"/>
          </a:xfrm>
          <a:prstGeom prst="round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IEventStore</a:t>
            </a:r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AddEventsAsync</a:t>
            </a:r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rPr>
              <a:t>()</a:t>
            </a:r>
            <a:endParaRPr lang="en-NZ" sz="1200" b="1" dirty="0">
              <a:solidFill>
                <a:schemeClr val="bg1"/>
              </a:solidFill>
              <a:latin typeface="Courier New" panose="02070309020205020404" pitchFamily="49" charset="0"/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5746F65-F0A5-CEF0-563F-C1BC8A8D0211}"/>
              </a:ext>
            </a:extLst>
          </p:cNvPr>
          <p:cNvSpPr/>
          <p:nvPr/>
        </p:nvSpPr>
        <p:spPr>
          <a:xfrm>
            <a:off x="250164" y="3337462"/>
            <a:ext cx="1725286" cy="397625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>
                <a:solidFill>
                  <a:schemeClr val="bg1"/>
                </a:solidFill>
                <a:ea typeface="Microsoft Sans Serif" panose="020B0604020202020204" pitchFamily="34" charset="0"/>
                <a:cs typeface="Courier New" panose="02070309020205020404" pitchFamily="49" charset="0"/>
              </a:rPr>
              <a:t>Publish Events</a:t>
            </a:r>
          </a:p>
          <a:p>
            <a:pPr algn="ctr"/>
            <a:r>
              <a:rPr lang="en-NZ" sz="1200" dirty="0">
                <a:solidFill>
                  <a:schemeClr val="bg1"/>
                </a:solidFill>
                <a:ea typeface="Microsoft Sans Serif" panose="020B0604020202020204" pitchFamily="34" charset="0"/>
                <a:cs typeface="Courier New" panose="02070309020205020404" pitchFamily="49" charset="0"/>
              </a:rPr>
              <a:t>(in order)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C6A39D9-07D5-A0AA-DD16-C807CF7F6441}"/>
              </a:ext>
            </a:extLst>
          </p:cNvPr>
          <p:cNvCxnSpPr>
            <a:cxnSpLocks/>
            <a:stCxn id="207" idx="2"/>
            <a:endCxn id="9" idx="0"/>
          </p:cNvCxnSpPr>
          <p:nvPr/>
        </p:nvCxnSpPr>
        <p:spPr>
          <a:xfrm rot="5400000">
            <a:off x="1021893" y="2090111"/>
            <a:ext cx="604427" cy="422575"/>
          </a:xfrm>
          <a:prstGeom prst="curved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83BEF44-FD81-8E8E-1929-33CD6BFB488F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flipH="1">
            <a:off x="1112807" y="3001237"/>
            <a:ext cx="11" cy="33622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Cylinder 38">
            <a:extLst>
              <a:ext uri="{FF2B5EF4-FFF2-40B4-BE49-F238E27FC236}">
                <a16:creationId xmlns:a16="http://schemas.microsoft.com/office/drawing/2014/main" id="{3B8F1B34-D595-DA58-1B39-8A74981E1D8D}"/>
              </a:ext>
            </a:extLst>
          </p:cNvPr>
          <p:cNvSpPr/>
          <p:nvPr/>
        </p:nvSpPr>
        <p:spPr>
          <a:xfrm>
            <a:off x="2233998" y="2461466"/>
            <a:ext cx="677839" cy="681916"/>
          </a:xfrm>
          <a:prstGeom prst="can">
            <a:avLst/>
          </a:prstGeom>
          <a:solidFill>
            <a:srgbClr val="A6001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NZ" sz="1400" dirty="0"/>
              <a:t>Event</a:t>
            </a:r>
          </a:p>
          <a:p>
            <a:pPr algn="ctr"/>
            <a:r>
              <a:rPr lang="en-NZ" sz="1400" dirty="0"/>
              <a:t>Store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BF86DC8-15C3-493B-7D82-D217290DB78B}"/>
              </a:ext>
            </a:extLst>
          </p:cNvPr>
          <p:cNvCxnSpPr>
            <a:cxnSpLocks/>
            <a:stCxn id="9" idx="3"/>
            <a:endCxn id="39" idx="2"/>
          </p:cNvCxnSpPr>
          <p:nvPr/>
        </p:nvCxnSpPr>
        <p:spPr>
          <a:xfrm flipV="1">
            <a:off x="1975469" y="2802424"/>
            <a:ext cx="258529" cy="1"/>
          </a:xfrm>
          <a:prstGeom prst="curved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066B7779-E6E5-E6A5-3CE9-AF4B396258F0}"/>
              </a:ext>
            </a:extLst>
          </p:cNvPr>
          <p:cNvSpPr/>
          <p:nvPr/>
        </p:nvSpPr>
        <p:spPr>
          <a:xfrm>
            <a:off x="131524" y="906353"/>
            <a:ext cx="2789556" cy="397625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ea typeface="Microsoft Sans Serif" panose="020B0604020202020204" pitchFamily="34" charset="0"/>
                <a:cs typeface="Courier New" panose="02070309020205020404" pitchFamily="49" charset="0"/>
              </a:rPr>
              <a:t>Application saves the aggregate</a:t>
            </a:r>
            <a:endParaRPr lang="en-NZ" sz="1200" dirty="0">
              <a:solidFill>
                <a:schemeClr val="tx1"/>
              </a:solidFill>
              <a:ea typeface="Microsoft Sans Serif" panose="020B0604020202020204" pitchFamily="34" charset="0"/>
              <a:cs typeface="Courier New" panose="02070309020205020404" pitchFamily="49" charset="0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068AD67-6601-184D-3015-2ED89A716A2E}"/>
              </a:ext>
            </a:extLst>
          </p:cNvPr>
          <p:cNvCxnSpPr>
            <a:cxnSpLocks/>
            <a:stCxn id="2" idx="2"/>
            <a:endCxn id="21" idx="0"/>
          </p:cNvCxnSpPr>
          <p:nvPr/>
        </p:nvCxnSpPr>
        <p:spPr>
          <a:xfrm flipH="1">
            <a:off x="1526302" y="735587"/>
            <a:ext cx="5597" cy="17076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0E98ED58-5EE1-AEA0-5C69-337F2F20B30C}"/>
              </a:ext>
            </a:extLst>
          </p:cNvPr>
          <p:cNvSpPr/>
          <p:nvPr/>
        </p:nvSpPr>
        <p:spPr>
          <a:xfrm>
            <a:off x="156561" y="2386709"/>
            <a:ext cx="2845302" cy="1958491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NZ" sz="1200" dirty="0">
                <a:solidFill>
                  <a:schemeClr val="tx1"/>
                </a:solidFill>
              </a:rPr>
              <a:t>Note: This part of the process must complete atomically and reliably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B0C7FFF-3DB2-A789-99C5-DACAB3D13B9D}"/>
              </a:ext>
            </a:extLst>
          </p:cNvPr>
          <p:cNvSpPr txBox="1"/>
          <p:nvPr/>
        </p:nvSpPr>
        <p:spPr>
          <a:xfrm>
            <a:off x="156561" y="5148229"/>
            <a:ext cx="30552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2400" dirty="0"/>
              <a:t>Eventing</a:t>
            </a:r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D112BFA8-5AA7-E615-0311-64BBC4DC7ACB}"/>
              </a:ext>
            </a:extLst>
          </p:cNvPr>
          <p:cNvGrpSpPr/>
          <p:nvPr/>
        </p:nvGrpSpPr>
        <p:grpSpPr>
          <a:xfrm>
            <a:off x="6918642" y="3751030"/>
            <a:ext cx="2401407" cy="1397199"/>
            <a:chOff x="6918642" y="3751030"/>
            <a:chExt cx="2401407" cy="1397199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D1D0F549-0499-4553-81CC-1462CF0CF547}"/>
                </a:ext>
              </a:extLst>
            </p:cNvPr>
            <p:cNvSpPr/>
            <p:nvPr/>
          </p:nvSpPr>
          <p:spPr>
            <a:xfrm>
              <a:off x="6918642" y="3751030"/>
              <a:ext cx="2401407" cy="139719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9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IEventNotificationRegistration</a:t>
              </a:r>
              <a:endParaRPr lang="en-NZ" sz="9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8D395123-DE3B-4DBA-972F-286EC9B39F09}"/>
                </a:ext>
              </a:extLst>
            </p:cNvPr>
            <p:cNvSpPr/>
            <p:nvPr/>
          </p:nvSpPr>
          <p:spPr>
            <a:xfrm>
              <a:off x="7039757" y="4206655"/>
              <a:ext cx="1151743" cy="435196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IIntegrationEvent</a:t>
              </a:r>
              <a:endParaRPr lang="en-US" sz="7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  <a:p>
              <a:pPr algn="ctr"/>
              <a:r>
                <a:rPr lang="en-US" sz="700" b="1" dirty="0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Notification</a:t>
              </a:r>
            </a:p>
            <a:p>
              <a:pPr algn="ctr"/>
              <a:r>
                <a:rPr lang="en-US" sz="1100" b="1" dirty="0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Translator</a:t>
              </a:r>
              <a:endPara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7917E117-BA2A-A1E4-FD56-CA7D43CCFB0A}"/>
                </a:ext>
              </a:extLst>
            </p:cNvPr>
            <p:cNvSpPr/>
            <p:nvPr/>
          </p:nvSpPr>
          <p:spPr>
            <a:xfrm>
              <a:off x="8249753" y="4221788"/>
              <a:ext cx="1029234" cy="401464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IEvent</a:t>
              </a:r>
              <a:endParaRPr lang="en-US" sz="8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Notification</a:t>
              </a:r>
            </a:p>
            <a:p>
              <a:pPr algn="ctr"/>
              <a:r>
                <a:rPr lang="en-US" sz="8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MessageBroker</a:t>
              </a:r>
              <a:endParaRPr lang="en-NZ" sz="8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EB5A880F-1C63-2622-E2ED-35B32198C349}"/>
                </a:ext>
              </a:extLst>
            </p:cNvPr>
            <p:cNvCxnSpPr>
              <a:cxnSpLocks/>
              <a:stCxn id="32" idx="3"/>
              <a:endCxn id="56" idx="1"/>
            </p:cNvCxnSpPr>
            <p:nvPr/>
          </p:nvCxnSpPr>
          <p:spPr>
            <a:xfrm flipV="1">
              <a:off x="8191500" y="4422520"/>
              <a:ext cx="58253" cy="1733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C4627CDA-0646-53C0-7285-C7F20F88FB64}"/>
                </a:ext>
              </a:extLst>
            </p:cNvPr>
            <p:cNvSpPr/>
            <p:nvPr/>
          </p:nvSpPr>
          <p:spPr>
            <a:xfrm>
              <a:off x="7040235" y="4718656"/>
              <a:ext cx="2239231" cy="27551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IDomainEventConsumerRelay</a:t>
              </a:r>
              <a:endParaRPr lang="en-NZ" sz="9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48" name="Cylinder 47">
            <a:extLst>
              <a:ext uri="{FF2B5EF4-FFF2-40B4-BE49-F238E27FC236}">
                <a16:creationId xmlns:a16="http://schemas.microsoft.com/office/drawing/2014/main" id="{42AA91BE-EBBB-81B0-AE84-5599D2D3F164}"/>
              </a:ext>
            </a:extLst>
          </p:cNvPr>
          <p:cNvSpPr/>
          <p:nvPr/>
        </p:nvSpPr>
        <p:spPr>
          <a:xfrm>
            <a:off x="9885859" y="4010025"/>
            <a:ext cx="2007691" cy="2438490"/>
          </a:xfrm>
          <a:prstGeom prst="can">
            <a:avLst>
              <a:gd name="adj" fmla="val 8237"/>
            </a:avLst>
          </a:prstGeom>
          <a:solidFill>
            <a:srgbClr val="A60015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/>
            <a:r>
              <a:rPr lang="en-NZ" sz="1200" dirty="0"/>
              <a:t>A Message</a:t>
            </a:r>
          </a:p>
          <a:p>
            <a:pPr algn="ctr"/>
            <a:r>
              <a:rPr lang="en-NZ" sz="1200" dirty="0"/>
              <a:t>Broker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39DB37B-6A83-41E0-ABBA-0D166882B618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 flipV="1">
            <a:off x="6435306" y="4449630"/>
            <a:ext cx="483336" cy="776612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E830CF13-0348-3081-280B-D0E782A8D783}"/>
              </a:ext>
            </a:extLst>
          </p:cNvPr>
          <p:cNvGrpSpPr/>
          <p:nvPr/>
        </p:nvGrpSpPr>
        <p:grpSpPr>
          <a:xfrm>
            <a:off x="6918642" y="5205372"/>
            <a:ext cx="2401407" cy="1397199"/>
            <a:chOff x="6918642" y="3751030"/>
            <a:chExt cx="2401407" cy="1397199"/>
          </a:xfrm>
        </p:grpSpPr>
        <p:sp>
          <p:nvSpPr>
            <p:cNvPr id="106" name="Rectangle: Rounded Corners 105">
              <a:extLst>
                <a:ext uri="{FF2B5EF4-FFF2-40B4-BE49-F238E27FC236}">
                  <a16:creationId xmlns:a16="http://schemas.microsoft.com/office/drawing/2014/main" id="{01FC4C79-827D-0D5D-9AE8-6A3EA23A1D44}"/>
                </a:ext>
              </a:extLst>
            </p:cNvPr>
            <p:cNvSpPr/>
            <p:nvPr/>
          </p:nvSpPr>
          <p:spPr>
            <a:xfrm>
              <a:off x="6918642" y="3751030"/>
              <a:ext cx="2401407" cy="139719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9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IEventNotificationRegistration</a:t>
              </a:r>
              <a:endParaRPr lang="en-NZ" sz="9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107" name="Rectangle: Rounded Corners 106">
              <a:extLst>
                <a:ext uri="{FF2B5EF4-FFF2-40B4-BE49-F238E27FC236}">
                  <a16:creationId xmlns:a16="http://schemas.microsoft.com/office/drawing/2014/main" id="{3735F4B9-B3F1-EADB-42C8-A2D286766105}"/>
                </a:ext>
              </a:extLst>
            </p:cNvPr>
            <p:cNvSpPr/>
            <p:nvPr/>
          </p:nvSpPr>
          <p:spPr>
            <a:xfrm>
              <a:off x="7039757" y="4206655"/>
              <a:ext cx="1151743" cy="435196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IIntegrationEvent</a:t>
              </a:r>
              <a:endParaRPr lang="en-US" sz="7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  <a:p>
              <a:pPr algn="ctr"/>
              <a:r>
                <a:rPr lang="en-US" sz="700" b="1" dirty="0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Notification</a:t>
              </a:r>
            </a:p>
            <a:p>
              <a:pPr algn="ctr"/>
              <a:r>
                <a:rPr lang="en-US" sz="1100" b="1" dirty="0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Translator</a:t>
              </a:r>
              <a:endParaRPr lang="en-NZ" sz="10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sp>
          <p:nvSpPr>
            <p:cNvPr id="108" name="Rectangle: Rounded Corners 107">
              <a:extLst>
                <a:ext uri="{FF2B5EF4-FFF2-40B4-BE49-F238E27FC236}">
                  <a16:creationId xmlns:a16="http://schemas.microsoft.com/office/drawing/2014/main" id="{191E295A-2AFA-656C-6F33-EB9F6BDF1E01}"/>
                </a:ext>
              </a:extLst>
            </p:cNvPr>
            <p:cNvSpPr/>
            <p:nvPr/>
          </p:nvSpPr>
          <p:spPr>
            <a:xfrm>
              <a:off x="8249753" y="4221788"/>
              <a:ext cx="1029234" cy="401464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IEvent</a:t>
              </a:r>
              <a:endParaRPr lang="en-US" sz="8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Notification</a:t>
              </a:r>
            </a:p>
            <a:p>
              <a:pPr algn="ctr"/>
              <a:r>
                <a:rPr lang="en-US" sz="8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MessageBroker</a:t>
              </a:r>
              <a:endParaRPr lang="en-NZ" sz="8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9A6AD76D-77D0-705B-18A0-ACA334B5F97B}"/>
                </a:ext>
              </a:extLst>
            </p:cNvPr>
            <p:cNvCxnSpPr>
              <a:cxnSpLocks/>
              <a:stCxn id="107" idx="3"/>
              <a:endCxn id="108" idx="1"/>
            </p:cNvCxnSpPr>
            <p:nvPr/>
          </p:nvCxnSpPr>
          <p:spPr>
            <a:xfrm flipV="1">
              <a:off x="8191500" y="4422520"/>
              <a:ext cx="58253" cy="1733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Rectangle: Rounded Corners 109">
              <a:extLst>
                <a:ext uri="{FF2B5EF4-FFF2-40B4-BE49-F238E27FC236}">
                  <a16:creationId xmlns:a16="http://schemas.microsoft.com/office/drawing/2014/main" id="{1A90DAB8-F692-1037-9B7D-067FA2221902}"/>
                </a:ext>
              </a:extLst>
            </p:cNvPr>
            <p:cNvSpPr/>
            <p:nvPr/>
          </p:nvSpPr>
          <p:spPr>
            <a:xfrm>
              <a:off x="7040235" y="4718656"/>
              <a:ext cx="2239231" cy="27551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 err="1">
                  <a:solidFill>
                    <a:schemeClr val="tx1"/>
                  </a:solidFill>
                  <a:latin typeface="Courier New" panose="02070309020205020404" pitchFamily="49" charset="0"/>
                  <a:ea typeface="Microsoft Sans Serif" panose="020B0604020202020204" pitchFamily="34" charset="0"/>
                  <a:cs typeface="Courier New" panose="02070309020205020404" pitchFamily="49" charset="0"/>
                </a:rPr>
                <a:t>IDomainEventConsumerRelay</a:t>
              </a:r>
              <a:endParaRPr lang="en-NZ" sz="900" b="1" dirty="0">
                <a:solidFill>
                  <a:schemeClr val="tx1"/>
                </a:solidFill>
                <a:latin typeface="Courier New" panose="02070309020205020404" pitchFamily="49" charset="0"/>
                <a:ea typeface="Microsoft Sans Serif" panose="020B0604020202020204" pitchFamily="34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CE8EFA7B-7F17-4FF1-8541-8B8DC2446A98}"/>
              </a:ext>
            </a:extLst>
          </p:cNvPr>
          <p:cNvCxnSpPr>
            <a:cxnSpLocks/>
            <a:stCxn id="25" idx="3"/>
            <a:endCxn id="106" idx="1"/>
          </p:cNvCxnSpPr>
          <p:nvPr/>
        </p:nvCxnSpPr>
        <p:spPr>
          <a:xfrm>
            <a:off x="6435306" y="5226242"/>
            <a:ext cx="483336" cy="677730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88E7E200-D295-4200-A7B1-327EDE29766B}"/>
              </a:ext>
            </a:extLst>
          </p:cNvPr>
          <p:cNvCxnSpPr>
            <a:cxnSpLocks/>
            <a:stCxn id="51" idx="3"/>
            <a:endCxn id="154" idx="3"/>
          </p:cNvCxnSpPr>
          <p:nvPr/>
        </p:nvCxnSpPr>
        <p:spPr>
          <a:xfrm>
            <a:off x="9279466" y="4856415"/>
            <a:ext cx="994184" cy="11373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7766F58-A2D5-C969-07FA-F0234212F73B}"/>
              </a:ext>
            </a:extLst>
          </p:cNvPr>
          <p:cNvCxnSpPr>
            <a:cxnSpLocks/>
            <a:stCxn id="56" idx="3"/>
            <a:endCxn id="126" idx="3"/>
          </p:cNvCxnSpPr>
          <p:nvPr/>
        </p:nvCxnSpPr>
        <p:spPr>
          <a:xfrm>
            <a:off x="9278987" y="4422520"/>
            <a:ext cx="988172" cy="64714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B6E3F070-6656-86C2-8655-BD0DCAFA1236}"/>
              </a:ext>
            </a:extLst>
          </p:cNvPr>
          <p:cNvCxnSpPr>
            <a:cxnSpLocks/>
            <a:stCxn id="108" idx="3"/>
            <a:endCxn id="126" idx="3"/>
          </p:cNvCxnSpPr>
          <p:nvPr/>
        </p:nvCxnSpPr>
        <p:spPr>
          <a:xfrm flipV="1">
            <a:off x="9278987" y="5069667"/>
            <a:ext cx="988172" cy="80719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80FE0F98-3B86-2903-04E9-EBE9089E74B1}"/>
              </a:ext>
            </a:extLst>
          </p:cNvPr>
          <p:cNvCxnSpPr>
            <a:cxnSpLocks/>
            <a:stCxn id="110" idx="3"/>
            <a:endCxn id="154" idx="3"/>
          </p:cNvCxnSpPr>
          <p:nvPr/>
        </p:nvCxnSpPr>
        <p:spPr>
          <a:xfrm flipV="1">
            <a:off x="9279466" y="5993726"/>
            <a:ext cx="994184" cy="3170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7BB6B06B-9B16-EB3E-5BAB-6BE6B8A5FDCC}"/>
              </a:ext>
            </a:extLst>
          </p:cNvPr>
          <p:cNvSpPr txBox="1"/>
          <p:nvPr/>
        </p:nvSpPr>
        <p:spPr>
          <a:xfrm>
            <a:off x="10419220" y="4690194"/>
            <a:ext cx="9797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700" dirty="0">
                <a:solidFill>
                  <a:schemeClr val="bg1"/>
                </a:solidFill>
              </a:rPr>
              <a:t>“</a:t>
            </a:r>
            <a:r>
              <a:rPr lang="en-NZ" sz="700" dirty="0" err="1">
                <a:solidFill>
                  <a:schemeClr val="bg1"/>
                </a:solidFill>
              </a:rPr>
              <a:t>integration_events</a:t>
            </a:r>
            <a:r>
              <a:rPr lang="en-NZ" sz="700" dirty="0">
                <a:solidFill>
                  <a:schemeClr val="bg1"/>
                </a:solidFill>
              </a:rPr>
              <a:t>”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029A8CCB-D0D1-5695-4E01-C7FD7C2378AD}"/>
              </a:ext>
            </a:extLst>
          </p:cNvPr>
          <p:cNvSpPr txBox="1"/>
          <p:nvPr/>
        </p:nvSpPr>
        <p:spPr>
          <a:xfrm>
            <a:off x="10415120" y="5614252"/>
            <a:ext cx="854721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700" dirty="0">
                <a:solidFill>
                  <a:schemeClr val="bg1"/>
                </a:solidFill>
              </a:rPr>
              <a:t>“</a:t>
            </a:r>
            <a:r>
              <a:rPr lang="en-NZ" sz="700" dirty="0" err="1">
                <a:solidFill>
                  <a:schemeClr val="bg1"/>
                </a:solidFill>
              </a:rPr>
              <a:t>domain_events</a:t>
            </a:r>
            <a:r>
              <a:rPr lang="en-NZ" sz="700" dirty="0">
                <a:solidFill>
                  <a:schemeClr val="bg1"/>
                </a:solidFill>
              </a:rPr>
              <a:t>”</a:t>
            </a:r>
          </a:p>
        </p:txBody>
      </p: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B3EB69F3-100D-061B-59C9-3B6A09DD3FEE}"/>
              </a:ext>
            </a:extLst>
          </p:cNvPr>
          <p:cNvGrpSpPr/>
          <p:nvPr/>
        </p:nvGrpSpPr>
        <p:grpSpPr>
          <a:xfrm>
            <a:off x="10267158" y="4862844"/>
            <a:ext cx="1242435" cy="406788"/>
            <a:chOff x="10267158" y="4862844"/>
            <a:chExt cx="1242435" cy="406788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24A7326D-981B-D9BF-5585-0E69E91F39A9}"/>
                </a:ext>
              </a:extLst>
            </p:cNvPr>
            <p:cNvGrpSpPr/>
            <p:nvPr/>
          </p:nvGrpSpPr>
          <p:grpSpPr>
            <a:xfrm>
              <a:off x="10267158" y="4862844"/>
              <a:ext cx="1242435" cy="406788"/>
              <a:chOff x="7656619" y="5506371"/>
              <a:chExt cx="1591766" cy="517641"/>
            </a:xfrm>
          </p:grpSpPr>
          <p:sp>
            <p:nvSpPr>
              <p:cNvPr id="126" name="Cylinder 125">
                <a:extLst>
                  <a:ext uri="{FF2B5EF4-FFF2-40B4-BE49-F238E27FC236}">
                    <a16:creationId xmlns:a16="http://schemas.microsoft.com/office/drawing/2014/main" id="{F34BA5F6-A915-024B-6D7B-462B2E0F98D1}"/>
                  </a:ext>
                </a:extLst>
              </p:cNvPr>
              <p:cNvSpPr/>
              <p:nvPr/>
            </p:nvSpPr>
            <p:spPr>
              <a:xfrm rot="5400000">
                <a:off x="7543882" y="5627835"/>
                <a:ext cx="508914" cy="283439"/>
              </a:xfrm>
              <a:prstGeom prst="can">
                <a:avLst/>
              </a:prstGeom>
              <a:solidFill>
                <a:srgbClr val="004A8A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28" name="Cylinder 127">
                <a:extLst>
                  <a:ext uri="{FF2B5EF4-FFF2-40B4-BE49-F238E27FC236}">
                    <a16:creationId xmlns:a16="http://schemas.microsoft.com/office/drawing/2014/main" id="{EEA347C3-0779-D1CA-D3C3-181CF8D0329C}"/>
                  </a:ext>
                </a:extLst>
              </p:cNvPr>
              <p:cNvSpPr/>
              <p:nvPr/>
            </p:nvSpPr>
            <p:spPr>
              <a:xfrm rot="5400000">
                <a:off x="7872894" y="5627831"/>
                <a:ext cx="508913" cy="283439"/>
              </a:xfrm>
              <a:prstGeom prst="can">
                <a:avLst/>
              </a:prstGeom>
              <a:solidFill>
                <a:srgbClr val="004A8A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29" name="Cylinder 128">
                <a:extLst>
                  <a:ext uri="{FF2B5EF4-FFF2-40B4-BE49-F238E27FC236}">
                    <a16:creationId xmlns:a16="http://schemas.microsoft.com/office/drawing/2014/main" id="{E9A18E53-EC2D-B23D-203E-6479F2F033A3}"/>
                  </a:ext>
                </a:extLst>
              </p:cNvPr>
              <p:cNvSpPr/>
              <p:nvPr/>
            </p:nvSpPr>
            <p:spPr>
              <a:xfrm rot="5400000">
                <a:off x="8209897" y="5627834"/>
                <a:ext cx="508913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30" name="Cylinder 129">
                <a:extLst>
                  <a:ext uri="{FF2B5EF4-FFF2-40B4-BE49-F238E27FC236}">
                    <a16:creationId xmlns:a16="http://schemas.microsoft.com/office/drawing/2014/main" id="{815A2DBF-85FD-D502-C2C1-1CAA588EE94E}"/>
                  </a:ext>
                </a:extLst>
              </p:cNvPr>
              <p:cNvSpPr/>
              <p:nvPr/>
            </p:nvSpPr>
            <p:spPr>
              <a:xfrm rot="5400000">
                <a:off x="8519833" y="5627834"/>
                <a:ext cx="508912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31" name="Cylinder 130">
                <a:extLst>
                  <a:ext uri="{FF2B5EF4-FFF2-40B4-BE49-F238E27FC236}">
                    <a16:creationId xmlns:a16="http://schemas.microsoft.com/office/drawing/2014/main" id="{B90F464A-04E6-CB99-07FB-3BBED71CD222}"/>
                  </a:ext>
                </a:extLst>
              </p:cNvPr>
              <p:cNvSpPr/>
              <p:nvPr/>
            </p:nvSpPr>
            <p:spPr>
              <a:xfrm rot="5400000">
                <a:off x="8852209" y="5619108"/>
                <a:ext cx="508913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1FA3ECC7-A839-C584-DE84-5EBD417E7974}"/>
                  </a:ext>
                </a:extLst>
              </p:cNvPr>
              <p:cNvSpPr txBox="1"/>
              <p:nvPr/>
            </p:nvSpPr>
            <p:spPr>
              <a:xfrm>
                <a:off x="8330901" y="5576118"/>
                <a:ext cx="852979" cy="332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rPr>
                  <a:t>Topic</a:t>
                </a:r>
                <a:endParaRPr lang="en-NZ" sz="1200" dirty="0">
                  <a:effectLst>
                    <a:glow rad="101600">
                      <a:schemeClr val="bg1">
                        <a:alpha val="60000"/>
                      </a:schemeClr>
                    </a:glow>
                  </a:effectLst>
                </a:endParaRPr>
              </a:p>
            </p:txBody>
          </p:sp>
        </p:grpSp>
        <p:pic>
          <p:nvPicPr>
            <p:cNvPr id="2050" name="Picture 2" descr="Pricing - Service Bus | Microsoft Azure">
              <a:extLst>
                <a:ext uri="{FF2B5EF4-FFF2-40B4-BE49-F238E27FC236}">
                  <a16:creationId xmlns:a16="http://schemas.microsoft.com/office/drawing/2014/main" id="{7930EABB-209B-5DC9-CE32-630A453D31F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998" r="19710"/>
            <a:stretch/>
          </p:blipFill>
          <p:spPr bwMode="auto">
            <a:xfrm>
              <a:off x="10307597" y="4910669"/>
              <a:ext cx="343083" cy="3037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5A2977C1-EFFE-49A8-7DE6-DD84E66566DC}"/>
              </a:ext>
            </a:extLst>
          </p:cNvPr>
          <p:cNvGrpSpPr/>
          <p:nvPr/>
        </p:nvGrpSpPr>
        <p:grpSpPr>
          <a:xfrm>
            <a:off x="10273649" y="5786903"/>
            <a:ext cx="1242435" cy="406788"/>
            <a:chOff x="10267158" y="4862844"/>
            <a:chExt cx="1242435" cy="406788"/>
          </a:xfrm>
        </p:grpSpPr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82947FAF-D70B-4F80-40E1-DE1332C9767F}"/>
                </a:ext>
              </a:extLst>
            </p:cNvPr>
            <p:cNvGrpSpPr/>
            <p:nvPr/>
          </p:nvGrpSpPr>
          <p:grpSpPr>
            <a:xfrm>
              <a:off x="10267158" y="4862844"/>
              <a:ext cx="1242435" cy="406788"/>
              <a:chOff x="7656619" y="5506371"/>
              <a:chExt cx="1591766" cy="517641"/>
            </a:xfrm>
          </p:grpSpPr>
          <p:sp>
            <p:nvSpPr>
              <p:cNvPr id="154" name="Cylinder 153">
                <a:extLst>
                  <a:ext uri="{FF2B5EF4-FFF2-40B4-BE49-F238E27FC236}">
                    <a16:creationId xmlns:a16="http://schemas.microsoft.com/office/drawing/2014/main" id="{E776B0A3-933B-B316-12E0-E2BE0D7A9B6A}"/>
                  </a:ext>
                </a:extLst>
              </p:cNvPr>
              <p:cNvSpPr/>
              <p:nvPr/>
            </p:nvSpPr>
            <p:spPr>
              <a:xfrm rot="5400000">
                <a:off x="7543882" y="5627835"/>
                <a:ext cx="508914" cy="283439"/>
              </a:xfrm>
              <a:prstGeom prst="can">
                <a:avLst/>
              </a:prstGeom>
              <a:solidFill>
                <a:srgbClr val="004A8A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71" name="Cylinder 170">
                <a:extLst>
                  <a:ext uri="{FF2B5EF4-FFF2-40B4-BE49-F238E27FC236}">
                    <a16:creationId xmlns:a16="http://schemas.microsoft.com/office/drawing/2014/main" id="{AA0CDF57-E12F-3C0F-0FD3-5EC66642539B}"/>
                  </a:ext>
                </a:extLst>
              </p:cNvPr>
              <p:cNvSpPr/>
              <p:nvPr/>
            </p:nvSpPr>
            <p:spPr>
              <a:xfrm rot="5400000">
                <a:off x="7872894" y="5627831"/>
                <a:ext cx="508913" cy="283439"/>
              </a:xfrm>
              <a:prstGeom prst="can">
                <a:avLst/>
              </a:prstGeom>
              <a:solidFill>
                <a:srgbClr val="004A8A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72" name="Cylinder 171">
                <a:extLst>
                  <a:ext uri="{FF2B5EF4-FFF2-40B4-BE49-F238E27FC236}">
                    <a16:creationId xmlns:a16="http://schemas.microsoft.com/office/drawing/2014/main" id="{18F75BEF-52DB-73E0-A625-A502533F253D}"/>
                  </a:ext>
                </a:extLst>
              </p:cNvPr>
              <p:cNvSpPr/>
              <p:nvPr/>
            </p:nvSpPr>
            <p:spPr>
              <a:xfrm rot="5400000">
                <a:off x="8209897" y="5627834"/>
                <a:ext cx="508913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73" name="Cylinder 172">
                <a:extLst>
                  <a:ext uri="{FF2B5EF4-FFF2-40B4-BE49-F238E27FC236}">
                    <a16:creationId xmlns:a16="http://schemas.microsoft.com/office/drawing/2014/main" id="{9BEA3168-9764-6DBF-1518-147AD27F0A50}"/>
                  </a:ext>
                </a:extLst>
              </p:cNvPr>
              <p:cNvSpPr/>
              <p:nvPr/>
            </p:nvSpPr>
            <p:spPr>
              <a:xfrm rot="5400000">
                <a:off x="8519833" y="5627834"/>
                <a:ext cx="508912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75" name="Cylinder 174">
                <a:extLst>
                  <a:ext uri="{FF2B5EF4-FFF2-40B4-BE49-F238E27FC236}">
                    <a16:creationId xmlns:a16="http://schemas.microsoft.com/office/drawing/2014/main" id="{810C56E0-0D50-3361-22EB-2F537FB4461F}"/>
                  </a:ext>
                </a:extLst>
              </p:cNvPr>
              <p:cNvSpPr/>
              <p:nvPr/>
            </p:nvSpPr>
            <p:spPr>
              <a:xfrm rot="5400000">
                <a:off x="8852209" y="5619108"/>
                <a:ext cx="508913" cy="283439"/>
              </a:xfrm>
              <a:prstGeom prst="can">
                <a:avLst/>
              </a:prstGeom>
              <a:solidFill>
                <a:srgbClr val="96D9E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NZ" dirty="0"/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A537DE60-6428-2642-9187-9DD21C0BAA80}"/>
                  </a:ext>
                </a:extLst>
              </p:cNvPr>
              <p:cNvSpPr txBox="1"/>
              <p:nvPr/>
            </p:nvSpPr>
            <p:spPr>
              <a:xfrm>
                <a:off x="8340663" y="5576118"/>
                <a:ext cx="852979" cy="332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rPr>
                  <a:t>Topic</a:t>
                </a:r>
                <a:endParaRPr lang="en-NZ" sz="1200" dirty="0">
                  <a:effectLst>
                    <a:glow rad="101600">
                      <a:schemeClr val="bg1">
                        <a:alpha val="60000"/>
                      </a:schemeClr>
                    </a:glow>
                  </a:effectLst>
                </a:endParaRPr>
              </a:p>
            </p:txBody>
          </p:sp>
        </p:grpSp>
        <p:pic>
          <p:nvPicPr>
            <p:cNvPr id="153" name="Picture 2" descr="Pricing - Service Bus | Microsoft Azure">
              <a:extLst>
                <a:ext uri="{FF2B5EF4-FFF2-40B4-BE49-F238E27FC236}">
                  <a16:creationId xmlns:a16="http://schemas.microsoft.com/office/drawing/2014/main" id="{2CB3A670-71E7-8650-9A4B-4C9A622F38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998" r="19710"/>
            <a:stretch/>
          </p:blipFill>
          <p:spPr bwMode="auto">
            <a:xfrm>
              <a:off x="10307597" y="4910669"/>
              <a:ext cx="343083" cy="3037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4236078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2" name="Group 171">
            <a:extLst>
              <a:ext uri="{FF2B5EF4-FFF2-40B4-BE49-F238E27FC236}">
                <a16:creationId xmlns:a16="http://schemas.microsoft.com/office/drawing/2014/main" id="{1C7F2652-6D33-ACBE-4279-5885196CE906}"/>
              </a:ext>
            </a:extLst>
          </p:cNvPr>
          <p:cNvGrpSpPr/>
          <p:nvPr/>
        </p:nvGrpSpPr>
        <p:grpSpPr>
          <a:xfrm>
            <a:off x="9194001" y="1842282"/>
            <a:ext cx="1932705" cy="409284"/>
            <a:chOff x="9194001" y="2086730"/>
            <a:chExt cx="1932705" cy="40928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76BDB9F-0119-D883-61AA-E4CAEB426C5B}"/>
                </a:ext>
              </a:extLst>
            </p:cNvPr>
            <p:cNvSpPr/>
            <p:nvPr/>
          </p:nvSpPr>
          <p:spPr>
            <a:xfrm>
              <a:off x="9194001" y="2086730"/>
              <a:ext cx="1932705" cy="40928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NZ" dirty="0">
                  <a:solidFill>
                    <a:schemeClr val="bg2">
                      <a:lumMod val="75000"/>
                    </a:schemeClr>
                  </a:solidFill>
                </a:rPr>
                <a:t>APMs</a:t>
              </a:r>
            </a:p>
          </p:txBody>
        </p: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7BEA45FC-C58D-C0BC-18EC-A5381EFEA24D}"/>
                </a:ext>
              </a:extLst>
            </p:cNvPr>
            <p:cNvGrpSpPr/>
            <p:nvPr/>
          </p:nvGrpSpPr>
          <p:grpSpPr>
            <a:xfrm>
              <a:off x="9304337" y="2132396"/>
              <a:ext cx="1058195" cy="319189"/>
              <a:chOff x="1484389" y="5783642"/>
              <a:chExt cx="2243283" cy="442298"/>
            </a:xfrm>
          </p:grpSpPr>
          <p:sp>
            <p:nvSpPr>
              <p:cNvPr id="76" name="Rectangle: Rounded Corners 75">
                <a:extLst>
                  <a:ext uri="{FF2B5EF4-FFF2-40B4-BE49-F238E27FC236}">
                    <a16:creationId xmlns:a16="http://schemas.microsoft.com/office/drawing/2014/main" id="{5732F1FF-9F02-4057-799C-CC21FE4A2E66}"/>
                  </a:ext>
                </a:extLst>
              </p:cNvPr>
              <p:cNvSpPr/>
              <p:nvPr/>
            </p:nvSpPr>
            <p:spPr>
              <a:xfrm>
                <a:off x="1484389" y="5783642"/>
                <a:ext cx="2243283" cy="442298"/>
              </a:xfrm>
              <a:prstGeom prst="roundRect">
                <a:avLst>
                  <a:gd name="adj" fmla="val 4751"/>
                </a:avLst>
              </a:prstGeom>
              <a:solidFill>
                <a:srgbClr val="651F74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NZ" sz="1100" dirty="0"/>
                  <a:t>App Insights </a:t>
                </a:r>
              </a:p>
            </p:txBody>
          </p:sp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31EC86E0-B93D-42D6-C8BC-74A0E968AD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581685" y="5883792"/>
                <a:ext cx="290502" cy="240278"/>
              </a:xfrm>
              <a:prstGeom prst="rect">
                <a:avLst/>
              </a:prstGeom>
            </p:spPr>
          </p:pic>
        </p:grpSp>
      </p:grpSp>
      <p:cxnSp>
        <p:nvCxnSpPr>
          <p:cNvPr id="272" name="Straight Arrow Connector 29">
            <a:extLst>
              <a:ext uri="{FF2B5EF4-FFF2-40B4-BE49-F238E27FC236}">
                <a16:creationId xmlns:a16="http://schemas.microsoft.com/office/drawing/2014/main" id="{F9CA8899-94F1-BFAC-107C-53B404DBA8C2}"/>
              </a:ext>
            </a:extLst>
          </p:cNvPr>
          <p:cNvCxnSpPr>
            <a:cxnSpLocks/>
            <a:stCxn id="76" idx="0"/>
            <a:endCxn id="263" idx="3"/>
          </p:cNvCxnSpPr>
          <p:nvPr/>
        </p:nvCxnSpPr>
        <p:spPr>
          <a:xfrm flipH="1" flipV="1">
            <a:off x="8347324" y="1587836"/>
            <a:ext cx="1486111" cy="300112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" name="Straight Arrow Connector 29">
            <a:extLst>
              <a:ext uri="{FF2B5EF4-FFF2-40B4-BE49-F238E27FC236}">
                <a16:creationId xmlns:a16="http://schemas.microsoft.com/office/drawing/2014/main" id="{4F6BB14F-4BE4-0377-B76F-C48DBAB4D20A}"/>
              </a:ext>
            </a:extLst>
          </p:cNvPr>
          <p:cNvCxnSpPr>
            <a:cxnSpLocks/>
            <a:stCxn id="76" idx="2"/>
            <a:endCxn id="35" idx="2"/>
          </p:cNvCxnSpPr>
          <p:nvPr/>
        </p:nvCxnSpPr>
        <p:spPr>
          <a:xfrm flipH="1">
            <a:off x="9517508" y="2207137"/>
            <a:ext cx="315927" cy="812925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Arrow Connector 29">
            <a:extLst>
              <a:ext uri="{FF2B5EF4-FFF2-40B4-BE49-F238E27FC236}">
                <a16:creationId xmlns:a16="http://schemas.microsoft.com/office/drawing/2014/main" id="{F7F8DC36-AEE5-4611-8D60-043846A24226}"/>
              </a:ext>
            </a:extLst>
          </p:cNvPr>
          <p:cNvCxnSpPr>
            <a:cxnSpLocks/>
            <a:stCxn id="76" idx="2"/>
            <a:endCxn id="66" idx="0"/>
          </p:cNvCxnSpPr>
          <p:nvPr/>
        </p:nvCxnSpPr>
        <p:spPr>
          <a:xfrm>
            <a:off x="9833435" y="2207137"/>
            <a:ext cx="805269" cy="812923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8" name="Straight Arrow Connector 29">
            <a:extLst>
              <a:ext uri="{FF2B5EF4-FFF2-40B4-BE49-F238E27FC236}">
                <a16:creationId xmlns:a16="http://schemas.microsoft.com/office/drawing/2014/main" id="{B2A3FE83-40C4-4276-3E0C-740512E57162}"/>
              </a:ext>
            </a:extLst>
          </p:cNvPr>
          <p:cNvCxnSpPr>
            <a:cxnSpLocks/>
            <a:stCxn id="76" idx="2"/>
            <a:endCxn id="47" idx="3"/>
          </p:cNvCxnSpPr>
          <p:nvPr/>
        </p:nvCxnSpPr>
        <p:spPr>
          <a:xfrm flipH="1">
            <a:off x="8359008" y="2207137"/>
            <a:ext cx="1474427" cy="3026193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9" name="Straight Arrow Connector 29">
            <a:extLst>
              <a:ext uri="{FF2B5EF4-FFF2-40B4-BE49-F238E27FC236}">
                <a16:creationId xmlns:a16="http://schemas.microsoft.com/office/drawing/2014/main" id="{8D7F3878-1E8C-BB8D-AD03-033B207562F5}"/>
              </a:ext>
            </a:extLst>
          </p:cNvPr>
          <p:cNvCxnSpPr>
            <a:cxnSpLocks/>
            <a:stCxn id="76" idx="2"/>
            <a:endCxn id="178" idx="3"/>
          </p:cNvCxnSpPr>
          <p:nvPr/>
        </p:nvCxnSpPr>
        <p:spPr>
          <a:xfrm flipH="1">
            <a:off x="8359008" y="2207137"/>
            <a:ext cx="1474427" cy="1095372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19F9D48E-E98F-1F73-D305-C85697A29063}"/>
              </a:ext>
            </a:extLst>
          </p:cNvPr>
          <p:cNvGrpSpPr/>
          <p:nvPr/>
        </p:nvGrpSpPr>
        <p:grpSpPr>
          <a:xfrm>
            <a:off x="2073581" y="927591"/>
            <a:ext cx="1242482" cy="1325733"/>
            <a:chOff x="588817" y="995618"/>
            <a:chExt cx="1242482" cy="1325733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858398B-CA17-CB5B-882A-CE05FB82F292}"/>
                </a:ext>
              </a:extLst>
            </p:cNvPr>
            <p:cNvSpPr/>
            <p:nvPr/>
          </p:nvSpPr>
          <p:spPr>
            <a:xfrm>
              <a:off x="1367978" y="2076136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37AF17B-B9EC-C0EE-C317-4BE4B731795E}"/>
                </a:ext>
              </a:extLst>
            </p:cNvPr>
            <p:cNvSpPr/>
            <p:nvPr/>
          </p:nvSpPr>
          <p:spPr>
            <a:xfrm>
              <a:off x="885968" y="2067931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2AA576C4-7E7E-29B3-0DD3-182E82CF2A1A}"/>
                </a:ext>
              </a:extLst>
            </p:cNvPr>
            <p:cNvSpPr/>
            <p:nvPr/>
          </p:nvSpPr>
          <p:spPr>
            <a:xfrm>
              <a:off x="588818" y="995618"/>
              <a:ext cx="1242481" cy="1325733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Web</a:t>
              </a:r>
              <a:br>
                <a:rPr lang="en-US" sz="1200" dirty="0">
                  <a:solidFill>
                    <a:schemeClr val="tx1"/>
                  </a:solidFill>
                </a:rPr>
              </a:br>
              <a:r>
                <a:rPr lang="en-US" sz="1200" dirty="0">
                  <a:solidFill>
                    <a:schemeClr val="tx1"/>
                  </a:solidFill>
                </a:rPr>
                <a:t>Browsers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49E817D-D598-318A-6BBE-987C6DECE258}"/>
                </a:ext>
              </a:extLst>
            </p:cNvPr>
            <p:cNvSpPr txBox="1"/>
            <p:nvPr/>
          </p:nvSpPr>
          <p:spPr>
            <a:xfrm>
              <a:off x="588817" y="2057030"/>
              <a:ext cx="122832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>
                  <a:solidFill>
                    <a:schemeClr val="bg2">
                      <a:lumMod val="50000"/>
                    </a:schemeClr>
                  </a:solidFill>
                </a:rPr>
                <a:t>Chrome,  Firefox, </a:t>
              </a:r>
              <a:r>
                <a:rPr lang="en-US" sz="900" dirty="0" err="1">
                  <a:solidFill>
                    <a:schemeClr val="bg2">
                      <a:lumMod val="50000"/>
                    </a:schemeClr>
                  </a:solidFill>
                </a:rPr>
                <a:t>etc</a:t>
              </a:r>
              <a:endParaRPr lang="en-NZ" sz="9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CEC3D6FA-CFD7-DE60-DEA6-DCF6F6C136B6}"/>
                </a:ext>
              </a:extLst>
            </p:cNvPr>
            <p:cNvGrpSpPr/>
            <p:nvPr/>
          </p:nvGrpSpPr>
          <p:grpSpPr>
            <a:xfrm>
              <a:off x="789067" y="1404142"/>
              <a:ext cx="857947" cy="619153"/>
              <a:chOff x="789067" y="1612369"/>
              <a:chExt cx="857947" cy="619153"/>
            </a:xfrm>
          </p:grpSpPr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FC521CA0-7870-F423-1017-DF185DF6BF6F}"/>
                  </a:ext>
                </a:extLst>
              </p:cNvPr>
              <p:cNvSpPr/>
              <p:nvPr/>
            </p:nvSpPr>
            <p:spPr>
              <a:xfrm>
                <a:off x="789067" y="1612369"/>
                <a:ext cx="857947" cy="619153"/>
              </a:xfrm>
              <a:prstGeom prst="roundRect">
                <a:avLst>
                  <a:gd name="adj" fmla="val 9701"/>
                </a:avLst>
              </a:prstGeom>
              <a:solidFill>
                <a:srgbClr val="2B2C2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 sz="1200" dirty="0"/>
              </a:p>
            </p:txBody>
          </p:sp>
          <p:pic>
            <p:nvPicPr>
              <p:cNvPr id="21" name="Picture 6" descr="What is React JS? | Ironhack Blog">
                <a:extLst>
                  <a:ext uri="{FF2B5EF4-FFF2-40B4-BE49-F238E27FC236}">
                    <a16:creationId xmlns:a16="http://schemas.microsoft.com/office/drawing/2014/main" id="{3018FAF2-E35D-16F9-6528-07508791B48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6679" y="1776909"/>
                <a:ext cx="725292" cy="30307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3E38B9E1-E382-5B93-B33E-C502F12761B6}"/>
              </a:ext>
            </a:extLst>
          </p:cNvPr>
          <p:cNvSpPr txBox="1"/>
          <p:nvPr/>
        </p:nvSpPr>
        <p:spPr>
          <a:xfrm>
            <a:off x="8802992" y="3454577"/>
            <a:ext cx="10983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+Audits/Usages</a:t>
            </a:r>
          </a:p>
        </p:txBody>
      </p: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805B6A06-F369-AF13-2C33-3F6063A377E3}"/>
              </a:ext>
            </a:extLst>
          </p:cNvPr>
          <p:cNvGrpSpPr/>
          <p:nvPr/>
        </p:nvGrpSpPr>
        <p:grpSpPr>
          <a:xfrm>
            <a:off x="8887040" y="3013205"/>
            <a:ext cx="2231314" cy="406788"/>
            <a:chOff x="8781059" y="4344282"/>
            <a:chExt cx="2231314" cy="406788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A374FF3-90B5-7BC0-FEA1-4627E37C7C86}"/>
                </a:ext>
              </a:extLst>
            </p:cNvPr>
            <p:cNvGrpSpPr/>
            <p:nvPr/>
          </p:nvGrpSpPr>
          <p:grpSpPr>
            <a:xfrm>
              <a:off x="8781059" y="4344282"/>
              <a:ext cx="1242435" cy="406788"/>
              <a:chOff x="7156883" y="5814395"/>
              <a:chExt cx="1591766" cy="517641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D8D2D9CC-F26E-2614-4B97-B5A29C3C3CA8}"/>
                  </a:ext>
                </a:extLst>
              </p:cNvPr>
              <p:cNvGrpSpPr/>
              <p:nvPr/>
            </p:nvGrpSpPr>
            <p:grpSpPr>
              <a:xfrm>
                <a:off x="7156883" y="5814395"/>
                <a:ext cx="1591766" cy="517641"/>
                <a:chOff x="7656619" y="5506371"/>
                <a:chExt cx="1591766" cy="517641"/>
              </a:xfrm>
            </p:grpSpPr>
            <p:sp>
              <p:nvSpPr>
                <p:cNvPr id="33" name="Cylinder 32">
                  <a:extLst>
                    <a:ext uri="{FF2B5EF4-FFF2-40B4-BE49-F238E27FC236}">
                      <a16:creationId xmlns:a16="http://schemas.microsoft.com/office/drawing/2014/main" id="{A43604E1-8CE8-84BE-6853-11071738B1E9}"/>
                    </a:ext>
                  </a:extLst>
                </p:cNvPr>
                <p:cNvSpPr/>
                <p:nvPr/>
              </p:nvSpPr>
              <p:spPr>
                <a:xfrm rot="5400000">
                  <a:off x="7543882" y="5627835"/>
                  <a:ext cx="508914" cy="283439"/>
                </a:xfrm>
                <a:prstGeom prst="can">
                  <a:avLst/>
                </a:prstGeom>
                <a:solidFill>
                  <a:srgbClr val="00B4E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4" name="Cylinder 33">
                  <a:extLst>
                    <a:ext uri="{FF2B5EF4-FFF2-40B4-BE49-F238E27FC236}">
                      <a16:creationId xmlns:a16="http://schemas.microsoft.com/office/drawing/2014/main" id="{E2036C0D-0927-CE8C-59B1-B747AB45E266}"/>
                    </a:ext>
                  </a:extLst>
                </p:cNvPr>
                <p:cNvSpPr/>
                <p:nvPr/>
              </p:nvSpPr>
              <p:spPr>
                <a:xfrm rot="5400000">
                  <a:off x="7872894" y="5627831"/>
                  <a:ext cx="508913" cy="283439"/>
                </a:xfrm>
                <a:prstGeom prst="can">
                  <a:avLst/>
                </a:prstGeom>
                <a:solidFill>
                  <a:srgbClr val="00B4E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5" name="Cylinder 34">
                  <a:extLst>
                    <a:ext uri="{FF2B5EF4-FFF2-40B4-BE49-F238E27FC236}">
                      <a16:creationId xmlns:a16="http://schemas.microsoft.com/office/drawing/2014/main" id="{1D4443CE-1A84-7A7F-5C97-3C32039472F9}"/>
                    </a:ext>
                  </a:extLst>
                </p:cNvPr>
                <p:cNvSpPr/>
                <p:nvPr/>
              </p:nvSpPr>
              <p:spPr>
                <a:xfrm rot="5400000">
                  <a:off x="8209897" y="5627834"/>
                  <a:ext cx="508913" cy="283439"/>
                </a:xfrm>
                <a:prstGeom prst="can">
                  <a:avLst/>
                </a:prstGeom>
                <a:solidFill>
                  <a:srgbClr val="96D9E2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6" name="Cylinder 35">
                  <a:extLst>
                    <a:ext uri="{FF2B5EF4-FFF2-40B4-BE49-F238E27FC236}">
                      <a16:creationId xmlns:a16="http://schemas.microsoft.com/office/drawing/2014/main" id="{F8E20C9C-93AB-2ADD-888B-96574880C368}"/>
                    </a:ext>
                  </a:extLst>
                </p:cNvPr>
                <p:cNvSpPr/>
                <p:nvPr/>
              </p:nvSpPr>
              <p:spPr>
                <a:xfrm rot="5400000">
                  <a:off x="8519833" y="5627834"/>
                  <a:ext cx="508912" cy="283439"/>
                </a:xfrm>
                <a:prstGeom prst="can">
                  <a:avLst/>
                </a:prstGeom>
                <a:solidFill>
                  <a:srgbClr val="96D9E2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7" name="Cylinder 36">
                  <a:extLst>
                    <a:ext uri="{FF2B5EF4-FFF2-40B4-BE49-F238E27FC236}">
                      <a16:creationId xmlns:a16="http://schemas.microsoft.com/office/drawing/2014/main" id="{6768C654-8516-AC19-A75B-0A1DEEC7C6D7}"/>
                    </a:ext>
                  </a:extLst>
                </p:cNvPr>
                <p:cNvSpPr/>
                <p:nvPr/>
              </p:nvSpPr>
              <p:spPr>
                <a:xfrm rot="5400000">
                  <a:off x="8852209" y="5619108"/>
                  <a:ext cx="508913" cy="283439"/>
                </a:xfrm>
                <a:prstGeom prst="can">
                  <a:avLst/>
                </a:prstGeom>
                <a:solidFill>
                  <a:srgbClr val="96D9E2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7862E33-19C8-7E5C-4181-94843EB828EC}"/>
                    </a:ext>
                  </a:extLst>
                </p:cNvPr>
                <p:cNvSpPr txBox="1"/>
                <p:nvPr/>
              </p:nvSpPr>
              <p:spPr>
                <a:xfrm>
                  <a:off x="8369951" y="5576118"/>
                  <a:ext cx="852979" cy="33290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dirty="0">
                      <a:effectLst>
                        <a:glow rad="101600">
                          <a:schemeClr val="bg1">
                            <a:alpha val="60000"/>
                          </a:schemeClr>
                        </a:glow>
                      </a:effectLst>
                    </a:rPr>
                    <a:t>Queues</a:t>
                  </a:r>
                  <a:endParaRPr lang="en-NZ" sz="1200" dirty="0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endParaRPr>
                </a:p>
              </p:txBody>
            </p:sp>
          </p:grpSp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4CE39ED0-1454-1944-C8FC-38A9C27AEA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36015" y="5920348"/>
                <a:ext cx="348582" cy="317597"/>
              </a:xfrm>
              <a:prstGeom prst="rect">
                <a:avLst/>
              </a:prstGeom>
            </p:spPr>
          </p:pic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AD38C339-22AD-F1E4-D54A-B6BCBD6D48A7}"/>
                </a:ext>
              </a:extLst>
            </p:cNvPr>
            <p:cNvGrpSpPr/>
            <p:nvPr/>
          </p:nvGrpSpPr>
          <p:grpSpPr>
            <a:xfrm>
              <a:off x="10053073" y="4351137"/>
              <a:ext cx="959300" cy="399929"/>
              <a:chOff x="7334798" y="4191253"/>
              <a:chExt cx="959300" cy="399929"/>
            </a:xfrm>
          </p:grpSpPr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A422FA4D-FEAC-B639-7374-05E1F501C49D}"/>
                  </a:ext>
                </a:extLst>
              </p:cNvPr>
              <p:cNvSpPr/>
              <p:nvPr/>
            </p:nvSpPr>
            <p:spPr>
              <a:xfrm>
                <a:off x="7334798" y="4191253"/>
                <a:ext cx="959300" cy="399929"/>
              </a:xfrm>
              <a:prstGeom prst="roundRect">
                <a:avLst>
                  <a:gd name="adj" fmla="val 6468"/>
                </a:avLst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sz="1000" dirty="0">
                    <a:solidFill>
                      <a:schemeClr val="tx1"/>
                    </a:solidFill>
                  </a:rPr>
                  <a:t>Functions</a:t>
                </a:r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67" name="Picture 4" descr="Azure Functions (@AzureFunctions) / Twitter">
                <a:extLst>
                  <a:ext uri="{FF2B5EF4-FFF2-40B4-BE49-F238E27FC236}">
                    <a16:creationId xmlns:a16="http://schemas.microsoft.com/office/drawing/2014/main" id="{5735C5A8-AEDC-9FC0-FE2D-D71C6DB6755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364438" y="4251747"/>
                <a:ext cx="278939" cy="27893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CA04463A-E0EF-FAC0-C088-1CBD54A117A5}"/>
              </a:ext>
            </a:extLst>
          </p:cNvPr>
          <p:cNvSpPr txBox="1"/>
          <p:nvPr/>
        </p:nvSpPr>
        <p:spPr>
          <a:xfrm rot="5400000">
            <a:off x="10910995" y="4898336"/>
            <a:ext cx="11945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 Usages / Audits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674347A6-01DB-2B4C-CD77-423C4BCF39FB}"/>
              </a:ext>
            </a:extLst>
          </p:cNvPr>
          <p:cNvGrpSpPr/>
          <p:nvPr/>
        </p:nvGrpSpPr>
        <p:grpSpPr>
          <a:xfrm>
            <a:off x="10007341" y="4848510"/>
            <a:ext cx="1111013" cy="1781254"/>
            <a:chOff x="3806550" y="4946699"/>
            <a:chExt cx="1111013" cy="1781254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D2C08B74-FF1B-FD94-AF29-32A4E819B1A6}"/>
                </a:ext>
              </a:extLst>
            </p:cNvPr>
            <p:cNvSpPr/>
            <p:nvPr/>
          </p:nvSpPr>
          <p:spPr>
            <a:xfrm>
              <a:off x="3806550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Product Metrics</a:t>
              </a:r>
              <a:endParaRPr lang="en-NZ" sz="4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pic>
          <p:nvPicPr>
            <p:cNvPr id="103" name="Picture 2" descr="Mixpanel | Attribution Platform - Ematic Solutions">
              <a:extLst>
                <a:ext uri="{FF2B5EF4-FFF2-40B4-BE49-F238E27FC236}">
                  <a16:creationId xmlns:a16="http://schemas.microsoft.com/office/drawing/2014/main" id="{572FC521-E143-BA17-6F85-FBDBA220791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460" t="13489" r="2189" b="10958"/>
            <a:stretch/>
          </p:blipFill>
          <p:spPr bwMode="auto">
            <a:xfrm rot="20400000">
              <a:off x="3884797" y="5440538"/>
              <a:ext cx="940471" cy="26719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717767FE-7BF0-ACA7-EF66-5A9F0D233B7A}"/>
                </a:ext>
              </a:extLst>
            </p:cNvPr>
            <p:cNvSpPr/>
            <p:nvPr/>
          </p:nvSpPr>
          <p:spPr>
            <a:xfrm rot="20400000">
              <a:off x="3891737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pic>
          <p:nvPicPr>
            <p:cNvPr id="105" name="Picture 12" descr="Analyze the impact of personalization in Google Analytics">
              <a:extLst>
                <a:ext uri="{FF2B5EF4-FFF2-40B4-BE49-F238E27FC236}">
                  <a16:creationId xmlns:a16="http://schemas.microsoft.com/office/drawing/2014/main" id="{37F9FE0A-9362-889A-62D5-D912CFF493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3074" t="-1409" r="-5031" b="-4078"/>
            <a:stretch/>
          </p:blipFill>
          <p:spPr bwMode="auto">
            <a:xfrm rot="20400000">
              <a:off x="3972053" y="5105614"/>
              <a:ext cx="765959" cy="25564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6" name="Picture 14" descr="Amplitude Analytics Reviews, Ratings &amp; Features 2023 | Gartner Peer Insights">
              <a:extLst>
                <a:ext uri="{FF2B5EF4-FFF2-40B4-BE49-F238E27FC236}">
                  <a16:creationId xmlns:a16="http://schemas.microsoft.com/office/drawing/2014/main" id="{EEB7BB8D-E23F-B147-8779-384F65663A6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393" b="28622"/>
            <a:stretch/>
          </p:blipFill>
          <p:spPr bwMode="auto">
            <a:xfrm rot="20400000">
              <a:off x="3892561" y="5779495"/>
              <a:ext cx="924942" cy="25137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</p:grpSp>
      <p:sp>
        <p:nvSpPr>
          <p:cNvPr id="131" name="TextBox 130">
            <a:extLst>
              <a:ext uri="{FF2B5EF4-FFF2-40B4-BE49-F238E27FC236}">
                <a16:creationId xmlns:a16="http://schemas.microsoft.com/office/drawing/2014/main" id="{681038C5-BBBE-CDB2-8F3E-DB406DA6D973}"/>
              </a:ext>
            </a:extLst>
          </p:cNvPr>
          <p:cNvSpPr txBox="1"/>
          <p:nvPr/>
        </p:nvSpPr>
        <p:spPr>
          <a:xfrm>
            <a:off x="9125964" y="1408576"/>
            <a:ext cx="11673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+Traces/Crashes</a:t>
            </a:r>
          </a:p>
          <a:p>
            <a:r>
              <a:rPr lang="en-NZ" sz="1000" dirty="0"/>
              <a:t>/Measures </a:t>
            </a:r>
          </a:p>
        </p:txBody>
      </p: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1740B6E8-90D1-7CC9-2398-4EC84E31818D}"/>
              </a:ext>
            </a:extLst>
          </p:cNvPr>
          <p:cNvGrpSpPr/>
          <p:nvPr/>
        </p:nvGrpSpPr>
        <p:grpSpPr>
          <a:xfrm>
            <a:off x="9194001" y="3985016"/>
            <a:ext cx="1932705" cy="516007"/>
            <a:chOff x="9194001" y="3088730"/>
            <a:chExt cx="1932705" cy="516007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A8A727FC-229F-90EA-1C27-A2488A604E59}"/>
                </a:ext>
              </a:extLst>
            </p:cNvPr>
            <p:cNvSpPr/>
            <p:nvPr/>
          </p:nvSpPr>
          <p:spPr>
            <a:xfrm>
              <a:off x="9194001" y="3088730"/>
              <a:ext cx="1932705" cy="5160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NZ" dirty="0">
                  <a:solidFill>
                    <a:schemeClr val="bg2">
                      <a:lumMod val="75000"/>
                    </a:schemeClr>
                  </a:solidFill>
                </a:rPr>
                <a:t>Data</a:t>
              </a:r>
            </a:p>
          </p:txBody>
        </p: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14BA3CBD-3592-B551-1412-0CA1ECF8F500}"/>
                </a:ext>
              </a:extLst>
            </p:cNvPr>
            <p:cNvGrpSpPr/>
            <p:nvPr/>
          </p:nvGrpSpPr>
          <p:grpSpPr>
            <a:xfrm>
              <a:off x="9763593" y="3119600"/>
              <a:ext cx="516948" cy="456681"/>
              <a:chOff x="8813773" y="3114097"/>
              <a:chExt cx="516948" cy="456681"/>
            </a:xfrm>
          </p:grpSpPr>
          <p:sp>
            <p:nvSpPr>
              <p:cNvPr id="134" name="Cylinder 133">
                <a:extLst>
                  <a:ext uri="{FF2B5EF4-FFF2-40B4-BE49-F238E27FC236}">
                    <a16:creationId xmlns:a16="http://schemas.microsoft.com/office/drawing/2014/main" id="{5457BB5E-8393-BCB5-7BC1-AD2476D977A2}"/>
                  </a:ext>
                </a:extLst>
              </p:cNvPr>
              <p:cNvSpPr/>
              <p:nvPr/>
            </p:nvSpPr>
            <p:spPr>
              <a:xfrm>
                <a:off x="8813773" y="3114097"/>
                <a:ext cx="516948" cy="456681"/>
              </a:xfrm>
              <a:prstGeom prst="can">
                <a:avLst/>
              </a:prstGeom>
              <a:solidFill>
                <a:schemeClr val="bg1">
                  <a:lumMod val="65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36000" rtlCol="0" anchor="ctr"/>
              <a:lstStyle/>
              <a:p>
                <a:pPr algn="r"/>
                <a:r>
                  <a:rPr 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Table </a:t>
                </a:r>
                <a:r>
                  <a:rPr lang="en-US" sz="8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Storage</a:t>
                </a:r>
                <a:endParaRPr lang="en-NZ" sz="9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26330CAA-80B5-DB96-64BA-DBDDFBAC56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833187" y="3243336"/>
                <a:ext cx="192678" cy="151968"/>
              </a:xfrm>
              <a:prstGeom prst="rect">
                <a:avLst/>
              </a:prstGeom>
            </p:spPr>
          </p:pic>
        </p:grp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D5A27850-E96A-545A-3078-3C0DAECA8F41}"/>
                </a:ext>
              </a:extLst>
            </p:cNvPr>
            <p:cNvGrpSpPr/>
            <p:nvPr/>
          </p:nvGrpSpPr>
          <p:grpSpPr>
            <a:xfrm>
              <a:off x="9220741" y="3113848"/>
              <a:ext cx="516948" cy="456681"/>
              <a:chOff x="8813773" y="2558797"/>
              <a:chExt cx="516948" cy="456681"/>
            </a:xfrm>
          </p:grpSpPr>
          <p:sp>
            <p:nvSpPr>
              <p:cNvPr id="137" name="Cylinder 136">
                <a:extLst>
                  <a:ext uri="{FF2B5EF4-FFF2-40B4-BE49-F238E27FC236}">
                    <a16:creationId xmlns:a16="http://schemas.microsoft.com/office/drawing/2014/main" id="{2694B80F-A7EB-FB71-9CE6-55FD307FEA5A}"/>
                  </a:ext>
                </a:extLst>
              </p:cNvPr>
              <p:cNvSpPr/>
              <p:nvPr/>
            </p:nvSpPr>
            <p:spPr>
              <a:xfrm>
                <a:off x="8813773" y="2558797"/>
                <a:ext cx="516948" cy="456681"/>
              </a:xfrm>
              <a:prstGeom prst="can">
                <a:avLst/>
              </a:prstGeom>
              <a:solidFill>
                <a:srgbClr val="BB1932"/>
              </a:solidFill>
              <a:ln>
                <a:solidFill>
                  <a:srgbClr val="74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36000" rtlCol="0" anchor="ctr"/>
              <a:lstStyle/>
              <a:p>
                <a:pPr algn="r"/>
                <a:r>
                  <a:rPr lang="en-US" sz="900" dirty="0">
                    <a:solidFill>
                      <a:schemeClr val="tx1"/>
                    </a:solidFill>
                  </a:rPr>
                  <a:t>Azure SQL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2D44528A-E4AA-DBCB-6E78-76B025F087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29354" y="2735984"/>
                <a:ext cx="182393" cy="176250"/>
              </a:xfrm>
              <a:prstGeom prst="rect">
                <a:avLst/>
              </a:prstGeom>
              <a:ln>
                <a:noFill/>
              </a:ln>
            </p:spPr>
          </p:pic>
        </p:grp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E60CA0E4-79E3-2704-539B-87D00ADF7142}"/>
              </a:ext>
            </a:extLst>
          </p:cNvPr>
          <p:cNvSpPr txBox="1"/>
          <p:nvPr/>
        </p:nvSpPr>
        <p:spPr>
          <a:xfrm>
            <a:off x="8563450" y="4021713"/>
            <a:ext cx="6206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+Audits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B0E19051-8B08-2093-839C-FF25C1416D25}"/>
              </a:ext>
            </a:extLst>
          </p:cNvPr>
          <p:cNvSpPr txBox="1"/>
          <p:nvPr/>
        </p:nvSpPr>
        <p:spPr>
          <a:xfrm>
            <a:off x="9314050" y="5492916"/>
            <a:ext cx="68159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+Usages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D1F30FD8-3C5F-66D3-43AA-C8F69E367088}"/>
              </a:ext>
            </a:extLst>
          </p:cNvPr>
          <p:cNvSpPr txBox="1"/>
          <p:nvPr/>
        </p:nvSpPr>
        <p:spPr>
          <a:xfrm>
            <a:off x="267419" y="207034"/>
            <a:ext cx="26003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Recording - Azure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E5E79C2-B915-C350-C7F7-010B0A4A06FB}"/>
              </a:ext>
            </a:extLst>
          </p:cNvPr>
          <p:cNvSpPr txBox="1"/>
          <p:nvPr/>
        </p:nvSpPr>
        <p:spPr>
          <a:xfrm>
            <a:off x="3706848" y="1351201"/>
            <a:ext cx="11063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/>
              <a:t>+Traces/</a:t>
            </a:r>
            <a:r>
              <a:rPr lang="en-NZ" sz="800" dirty="0" err="1"/>
              <a:t>PageViews</a:t>
            </a:r>
            <a:endParaRPr lang="en-NZ" sz="800" dirty="0"/>
          </a:p>
          <a:p>
            <a:r>
              <a:rPr lang="en-NZ" sz="800" dirty="0"/>
              <a:t>/Usages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1A442F5E-FE79-C70A-9D9A-128467862624}"/>
              </a:ext>
            </a:extLst>
          </p:cNvPr>
          <p:cNvSpPr txBox="1"/>
          <p:nvPr/>
        </p:nvSpPr>
        <p:spPr>
          <a:xfrm rot="16200000">
            <a:off x="4267102" y="6053610"/>
            <a:ext cx="9444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/>
              <a:t>+ Usages/Audits</a:t>
            </a:r>
          </a:p>
        </p:txBody>
      </p:sp>
      <p:grpSp>
        <p:nvGrpSpPr>
          <p:cNvPr id="257" name="Group 256">
            <a:extLst>
              <a:ext uri="{FF2B5EF4-FFF2-40B4-BE49-F238E27FC236}">
                <a16:creationId xmlns:a16="http://schemas.microsoft.com/office/drawing/2014/main" id="{3A165621-235E-E7DA-8B1E-B39330FB6941}"/>
              </a:ext>
            </a:extLst>
          </p:cNvPr>
          <p:cNvGrpSpPr/>
          <p:nvPr/>
        </p:nvGrpSpPr>
        <p:grpSpPr>
          <a:xfrm>
            <a:off x="5142447" y="2666425"/>
            <a:ext cx="3216561" cy="1272168"/>
            <a:chOff x="5142447" y="285376"/>
            <a:chExt cx="3216561" cy="1272168"/>
          </a:xfrm>
        </p:grpSpPr>
        <p:grpSp>
          <p:nvGrpSpPr>
            <p:cNvPr id="177" name="Group 176">
              <a:extLst>
                <a:ext uri="{FF2B5EF4-FFF2-40B4-BE49-F238E27FC236}">
                  <a16:creationId xmlns:a16="http://schemas.microsoft.com/office/drawing/2014/main" id="{5B39F245-9C52-7A3A-FCCB-917A3258D599}"/>
                </a:ext>
              </a:extLst>
            </p:cNvPr>
            <p:cNvGrpSpPr/>
            <p:nvPr/>
          </p:nvGrpSpPr>
          <p:grpSpPr>
            <a:xfrm>
              <a:off x="5142447" y="285376"/>
              <a:ext cx="3216561" cy="1272168"/>
              <a:chOff x="2698105" y="3204588"/>
              <a:chExt cx="3216561" cy="1272168"/>
            </a:xfrm>
          </p:grpSpPr>
          <p:sp>
            <p:nvSpPr>
              <p:cNvPr id="178" name="Rectangle: Rounded Corners 177">
                <a:extLst>
                  <a:ext uri="{FF2B5EF4-FFF2-40B4-BE49-F238E27FC236}">
                    <a16:creationId xmlns:a16="http://schemas.microsoft.com/office/drawing/2014/main" id="{FDB4BCF3-715F-0120-3881-F80A3F36AD3C}"/>
                  </a:ext>
                </a:extLst>
              </p:cNvPr>
              <p:cNvSpPr/>
              <p:nvPr/>
            </p:nvSpPr>
            <p:spPr>
              <a:xfrm>
                <a:off x="2698105" y="3204588"/>
                <a:ext cx="3216561" cy="1272168"/>
              </a:xfrm>
              <a:prstGeom prst="roundRect">
                <a:avLst>
                  <a:gd name="adj" fmla="val 5101"/>
                </a:avLst>
              </a:prstGeom>
              <a:solidFill>
                <a:srgbClr val="0078D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 API Host (2)</a:t>
                </a: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753DE876-CEB1-3496-0DB9-B3A22055D949}"/>
                  </a:ext>
                </a:extLst>
              </p:cNvPr>
              <p:cNvSpPr/>
              <p:nvPr/>
            </p:nvSpPr>
            <p:spPr>
              <a:xfrm>
                <a:off x="3001084" y="3526720"/>
                <a:ext cx="1039660" cy="37985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Other APIs</a:t>
                </a:r>
                <a:endParaRPr lang="en-NZ" sz="1200" dirty="0"/>
              </a:p>
            </p:txBody>
          </p:sp>
          <p:pic>
            <p:nvPicPr>
              <p:cNvPr id="180" name="Picture 8" descr="App Service - Web App | Microsoft Azure Mono">
                <a:extLst>
                  <a:ext uri="{FF2B5EF4-FFF2-40B4-BE49-F238E27FC236}">
                    <a16:creationId xmlns:a16="http://schemas.microsoft.com/office/drawing/2014/main" id="{30097C3C-BA30-08AC-263E-85D5D4DB89A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78776" y="3953000"/>
                <a:ext cx="450277" cy="4173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71CA4B64-BBBA-FBE8-CE4F-9C7B5918563F}"/>
                </a:ext>
              </a:extLst>
            </p:cNvPr>
            <p:cNvSpPr/>
            <p:nvPr/>
          </p:nvSpPr>
          <p:spPr>
            <a:xfrm>
              <a:off x="6858638" y="645253"/>
              <a:ext cx="1169933" cy="306177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HostRecorder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83" name="Straight Arrow Connector 38">
              <a:extLst>
                <a:ext uri="{FF2B5EF4-FFF2-40B4-BE49-F238E27FC236}">
                  <a16:creationId xmlns:a16="http://schemas.microsoft.com/office/drawing/2014/main" id="{495DA6AB-7B0F-C415-B2DE-4A5F7E84CAEB}"/>
                </a:ext>
              </a:extLst>
            </p:cNvPr>
            <p:cNvCxnSpPr>
              <a:cxnSpLocks/>
              <a:stCxn id="179" idx="3"/>
              <a:endCxn id="182" idx="1"/>
            </p:cNvCxnSpPr>
            <p:nvPr/>
          </p:nvCxnSpPr>
          <p:spPr>
            <a:xfrm>
              <a:off x="6485086" y="797437"/>
              <a:ext cx="373552" cy="905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917D1C44-1D4E-7E37-AE56-8DC6284F8E8C}"/>
                </a:ext>
              </a:extLst>
            </p:cNvPr>
            <p:cNvSpPr txBox="1"/>
            <p:nvPr/>
          </p:nvSpPr>
          <p:spPr>
            <a:xfrm>
              <a:off x="6453818" y="317518"/>
              <a:ext cx="14927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800" dirty="0"/>
                <a:t>+ Traces/Crashes/Measures</a:t>
              </a:r>
            </a:p>
            <a:p>
              <a:r>
                <a:rPr lang="en-NZ" sz="800" dirty="0"/>
                <a:t>Audits/Usages</a:t>
              </a:r>
            </a:p>
          </p:txBody>
        </p:sp>
      </p:grpSp>
      <p:grpSp>
        <p:nvGrpSpPr>
          <p:cNvPr id="277" name="Group 276">
            <a:extLst>
              <a:ext uri="{FF2B5EF4-FFF2-40B4-BE49-F238E27FC236}">
                <a16:creationId xmlns:a16="http://schemas.microsoft.com/office/drawing/2014/main" id="{2E4C4615-C751-A78A-1594-530765A7C30C}"/>
              </a:ext>
            </a:extLst>
          </p:cNvPr>
          <p:cNvGrpSpPr/>
          <p:nvPr/>
        </p:nvGrpSpPr>
        <p:grpSpPr>
          <a:xfrm>
            <a:off x="5146016" y="4052454"/>
            <a:ext cx="3212992" cy="2361751"/>
            <a:chOff x="5146016" y="2839293"/>
            <a:chExt cx="3212992" cy="2361751"/>
          </a:xfrm>
        </p:grpSpPr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79CE5E8B-7050-54BB-4FEC-402F4067C4CB}"/>
                </a:ext>
              </a:extLst>
            </p:cNvPr>
            <p:cNvSpPr/>
            <p:nvPr/>
          </p:nvSpPr>
          <p:spPr>
            <a:xfrm>
              <a:off x="6593831" y="3222985"/>
              <a:ext cx="175950" cy="175950"/>
            </a:xfrm>
            <a:prstGeom prst="ellipse">
              <a:avLst/>
            </a:prstGeom>
            <a:solidFill>
              <a:srgbClr val="0078D7"/>
            </a:solidFill>
            <a:ln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dirty="0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4D5B1FC5-355F-D779-27F2-0E1616741948}"/>
                </a:ext>
              </a:extLst>
            </p:cNvPr>
            <p:cNvSpPr/>
            <p:nvPr/>
          </p:nvSpPr>
          <p:spPr>
            <a:xfrm>
              <a:off x="5151350" y="4058889"/>
              <a:ext cx="175950" cy="17595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96B99708-837C-E579-0827-22206F609EB9}"/>
                </a:ext>
              </a:extLst>
            </p:cNvPr>
            <p:cNvSpPr/>
            <p:nvPr/>
          </p:nvSpPr>
          <p:spPr>
            <a:xfrm>
              <a:off x="5157986" y="4625864"/>
              <a:ext cx="175950" cy="17595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47" name="Rectangle: Rounded Corners 46">
              <a:extLst>
                <a:ext uri="{FF2B5EF4-FFF2-40B4-BE49-F238E27FC236}">
                  <a16:creationId xmlns:a16="http://schemas.microsoft.com/office/drawing/2014/main" id="{B44A569B-35FE-1BC1-9722-3ECC9E514393}"/>
                </a:ext>
              </a:extLst>
            </p:cNvPr>
            <p:cNvSpPr/>
            <p:nvPr/>
          </p:nvSpPr>
          <p:spPr>
            <a:xfrm>
              <a:off x="5146016" y="2839293"/>
              <a:ext cx="3212992" cy="2361751"/>
            </a:xfrm>
            <a:prstGeom prst="roundRect">
              <a:avLst>
                <a:gd name="adj" fmla="val 4576"/>
              </a:avLst>
            </a:prstGeom>
            <a:solidFill>
              <a:srgbClr val="0078D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en-US" sz="1200" dirty="0"/>
                <a:t>              </a:t>
              </a:r>
              <a:r>
                <a:rPr lang="en-US" sz="1200" dirty="0" err="1"/>
                <a:t>BackEnd</a:t>
              </a:r>
              <a:r>
                <a:rPr lang="en-US" sz="1200" dirty="0"/>
                <a:t> API Host (1)</a:t>
              </a:r>
              <a:endParaRPr lang="en-NZ" dirty="0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C4C74057-B086-B52F-0A6F-A44483AC67D8}"/>
                </a:ext>
              </a:extLst>
            </p:cNvPr>
            <p:cNvSpPr/>
            <p:nvPr/>
          </p:nvSpPr>
          <p:spPr>
            <a:xfrm>
              <a:off x="5308720" y="3040435"/>
              <a:ext cx="1237773" cy="445873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Other APIs</a:t>
              </a:r>
              <a:endParaRPr lang="en-NZ" sz="1200" dirty="0">
                <a:solidFill>
                  <a:schemeClr val="bg1"/>
                </a:solidFill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3507010C-DE69-575A-0FED-FBCE2EB24490}"/>
                </a:ext>
              </a:extLst>
            </p:cNvPr>
            <p:cNvSpPr/>
            <p:nvPr/>
          </p:nvSpPr>
          <p:spPr>
            <a:xfrm>
              <a:off x="5301997" y="4149220"/>
              <a:ext cx="1221842" cy="445873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Ancillary API</a:t>
              </a:r>
              <a:endParaRPr lang="en-NZ" sz="1200" dirty="0">
                <a:solidFill>
                  <a:schemeClr val="bg1"/>
                </a:solidFill>
              </a:endParaRPr>
            </a:p>
          </p:txBody>
        </p:sp>
        <p:pic>
          <p:nvPicPr>
            <p:cNvPr id="57" name="Picture 8" descr="App Service - Web App | Microsoft Azure Mono">
              <a:extLst>
                <a:ext uri="{FF2B5EF4-FFF2-40B4-BE49-F238E27FC236}">
                  <a16:creationId xmlns:a16="http://schemas.microsoft.com/office/drawing/2014/main" id="{8AA66BF7-E839-2983-8626-E3F363685F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9260" y="4650828"/>
              <a:ext cx="450277" cy="4502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DA5FEB2-D31D-D8E0-50E8-E4554192A373}"/>
                </a:ext>
              </a:extLst>
            </p:cNvPr>
            <p:cNvSpPr/>
            <p:nvPr/>
          </p:nvSpPr>
          <p:spPr>
            <a:xfrm>
              <a:off x="7020843" y="3370873"/>
              <a:ext cx="1169933" cy="306177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HostRecorder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24" name="Straight Arrow Connector 38">
              <a:extLst>
                <a:ext uri="{FF2B5EF4-FFF2-40B4-BE49-F238E27FC236}">
                  <a16:creationId xmlns:a16="http://schemas.microsoft.com/office/drawing/2014/main" id="{DF0440B5-6D0B-E640-63B2-459D806653A5}"/>
                </a:ext>
              </a:extLst>
            </p:cNvPr>
            <p:cNvCxnSpPr>
              <a:cxnSpLocks/>
              <a:stCxn id="49" idx="3"/>
              <a:endCxn id="123" idx="1"/>
            </p:cNvCxnSpPr>
            <p:nvPr/>
          </p:nvCxnSpPr>
          <p:spPr>
            <a:xfrm>
              <a:off x="6546493" y="3263372"/>
              <a:ext cx="474350" cy="260590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B144BAC2-2681-6E0E-0F2A-6205B50FC9C9}"/>
                </a:ext>
              </a:extLst>
            </p:cNvPr>
            <p:cNvSpPr/>
            <p:nvPr/>
          </p:nvSpPr>
          <p:spPr>
            <a:xfrm>
              <a:off x="5301997" y="3584856"/>
              <a:ext cx="1237773" cy="445873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Recording API</a:t>
              </a:r>
              <a:endParaRPr lang="en-NZ" sz="1200" dirty="0">
                <a:solidFill>
                  <a:schemeClr val="bg1"/>
                </a:solidFill>
              </a:endParaRPr>
            </a:p>
          </p:txBody>
        </p:sp>
        <p:cxnSp>
          <p:nvCxnSpPr>
            <p:cNvPr id="166" name="Straight Arrow Connector 38">
              <a:extLst>
                <a:ext uri="{FF2B5EF4-FFF2-40B4-BE49-F238E27FC236}">
                  <a16:creationId xmlns:a16="http://schemas.microsoft.com/office/drawing/2014/main" id="{EDC29464-B4EE-A40E-D8AA-7DECB8391688}"/>
                </a:ext>
              </a:extLst>
            </p:cNvPr>
            <p:cNvCxnSpPr>
              <a:cxnSpLocks/>
              <a:stCxn id="159" idx="3"/>
              <a:endCxn id="123" idx="1"/>
            </p:cNvCxnSpPr>
            <p:nvPr/>
          </p:nvCxnSpPr>
          <p:spPr>
            <a:xfrm flipV="1">
              <a:off x="6539770" y="3523962"/>
              <a:ext cx="481073" cy="283831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5A1B7C83-BD19-672F-14A1-0351AE1B5832}"/>
                </a:ext>
              </a:extLst>
            </p:cNvPr>
            <p:cNvSpPr txBox="1"/>
            <p:nvPr/>
          </p:nvSpPr>
          <p:spPr>
            <a:xfrm>
              <a:off x="6570966" y="2926708"/>
              <a:ext cx="14927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800" dirty="0"/>
                <a:t>+ Traces/Crashes/Measures</a:t>
              </a:r>
            </a:p>
            <a:p>
              <a:r>
                <a:rPr lang="en-NZ" sz="800" dirty="0"/>
                <a:t>Audits/Usages</a:t>
              </a:r>
            </a:p>
          </p:txBody>
        </p: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BF70E56B-28EE-371C-D03E-43BF4B66FF5A}"/>
                </a:ext>
              </a:extLst>
            </p:cNvPr>
            <p:cNvSpPr txBox="1"/>
            <p:nvPr/>
          </p:nvSpPr>
          <p:spPr>
            <a:xfrm>
              <a:off x="6555093" y="3839070"/>
              <a:ext cx="1103187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800" dirty="0"/>
                <a:t>+ Usages/Measures</a:t>
              </a:r>
            </a:p>
          </p:txBody>
        </p:sp>
      </p:grpSp>
      <p:cxnSp>
        <p:nvCxnSpPr>
          <p:cNvPr id="28" name="Straight Arrow Connector 29">
            <a:extLst>
              <a:ext uri="{FF2B5EF4-FFF2-40B4-BE49-F238E27FC236}">
                <a16:creationId xmlns:a16="http://schemas.microsoft.com/office/drawing/2014/main" id="{2487AE29-09FA-E0B9-3624-FBE19DED6341}"/>
              </a:ext>
            </a:extLst>
          </p:cNvPr>
          <p:cNvCxnSpPr>
            <a:cxnSpLocks/>
            <a:stCxn id="33" idx="3"/>
            <a:endCxn id="123" idx="3"/>
          </p:cNvCxnSpPr>
          <p:nvPr/>
        </p:nvCxnSpPr>
        <p:spPr>
          <a:xfrm flipH="1">
            <a:off x="8190776" y="3220028"/>
            <a:ext cx="696265" cy="1517095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8C982128-8DBE-1C9F-C7FB-CB8174C42D94}"/>
              </a:ext>
            </a:extLst>
          </p:cNvPr>
          <p:cNvGrpSpPr/>
          <p:nvPr/>
        </p:nvGrpSpPr>
        <p:grpSpPr>
          <a:xfrm>
            <a:off x="5130763" y="644768"/>
            <a:ext cx="3216561" cy="1886135"/>
            <a:chOff x="5142446" y="57977"/>
            <a:chExt cx="3216561" cy="1886135"/>
          </a:xfrm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746E4B18-59E7-1CA5-4EDD-D708F44E310A}"/>
                </a:ext>
              </a:extLst>
            </p:cNvPr>
            <p:cNvGrpSpPr/>
            <p:nvPr/>
          </p:nvGrpSpPr>
          <p:grpSpPr>
            <a:xfrm>
              <a:off x="5142446" y="57977"/>
              <a:ext cx="3216561" cy="1886135"/>
              <a:chOff x="2698105" y="3204587"/>
              <a:chExt cx="3216561" cy="1886135"/>
            </a:xfrm>
          </p:grpSpPr>
          <p:sp>
            <p:nvSpPr>
              <p:cNvPr id="263" name="Rectangle: Rounded Corners 262">
                <a:extLst>
                  <a:ext uri="{FF2B5EF4-FFF2-40B4-BE49-F238E27FC236}">
                    <a16:creationId xmlns:a16="http://schemas.microsoft.com/office/drawing/2014/main" id="{319EF625-F8BA-44B1-613A-AF4A23B0597C}"/>
                  </a:ext>
                </a:extLst>
              </p:cNvPr>
              <p:cNvSpPr/>
              <p:nvPr/>
            </p:nvSpPr>
            <p:spPr>
              <a:xfrm>
                <a:off x="2698105" y="3204587"/>
                <a:ext cx="3216561" cy="1886135"/>
              </a:xfrm>
              <a:prstGeom prst="roundRect">
                <a:avLst>
                  <a:gd name="adj" fmla="val 5101"/>
                </a:avLst>
              </a:prstGeom>
              <a:solidFill>
                <a:srgbClr val="0078D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 4FrontEnd Host</a:t>
                </a:r>
              </a:p>
            </p:txBody>
          </p:sp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26B2E57F-F4F3-8BFB-5050-AFB4A01591EB}"/>
                  </a:ext>
                </a:extLst>
              </p:cNvPr>
              <p:cNvSpPr/>
              <p:nvPr/>
            </p:nvSpPr>
            <p:spPr>
              <a:xfrm>
                <a:off x="3001084" y="3526720"/>
                <a:ext cx="1039660" cy="37985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Any APIs</a:t>
                </a:r>
                <a:endParaRPr lang="en-NZ" sz="1200" dirty="0"/>
              </a:p>
            </p:txBody>
          </p:sp>
          <p:pic>
            <p:nvPicPr>
              <p:cNvPr id="265" name="Picture 8" descr="App Service - Web App | Microsoft Azure Mono">
                <a:extLst>
                  <a:ext uri="{FF2B5EF4-FFF2-40B4-BE49-F238E27FC236}">
                    <a16:creationId xmlns:a16="http://schemas.microsoft.com/office/drawing/2014/main" id="{CF771138-2DD8-8859-11CD-D2B0378D640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78776" y="4550527"/>
                <a:ext cx="450277" cy="4173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6E57702C-3BBF-5565-E964-DBD93FC9F045}"/>
                </a:ext>
              </a:extLst>
            </p:cNvPr>
            <p:cNvSpPr/>
            <p:nvPr/>
          </p:nvSpPr>
          <p:spPr>
            <a:xfrm>
              <a:off x="6858637" y="644188"/>
              <a:ext cx="1169933" cy="306177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HostRecorder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261" name="Straight Arrow Connector 38">
              <a:extLst>
                <a:ext uri="{FF2B5EF4-FFF2-40B4-BE49-F238E27FC236}">
                  <a16:creationId xmlns:a16="http://schemas.microsoft.com/office/drawing/2014/main" id="{328F0A6B-32E4-87C4-D3CD-3630061280E6}"/>
                </a:ext>
              </a:extLst>
            </p:cNvPr>
            <p:cNvCxnSpPr>
              <a:cxnSpLocks/>
              <a:stCxn id="264" idx="3"/>
              <a:endCxn id="260" idx="1"/>
            </p:cNvCxnSpPr>
            <p:nvPr/>
          </p:nvCxnSpPr>
          <p:spPr>
            <a:xfrm>
              <a:off x="6485085" y="570039"/>
              <a:ext cx="373552" cy="227238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33E55B85-0DC0-89C2-4352-877FA9B9CBF4}"/>
                </a:ext>
              </a:extLst>
            </p:cNvPr>
            <p:cNvSpPr txBox="1"/>
            <p:nvPr/>
          </p:nvSpPr>
          <p:spPr>
            <a:xfrm>
              <a:off x="6453817" y="90120"/>
              <a:ext cx="14927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800" dirty="0"/>
                <a:t>+ Traces/Crashes/Measures</a:t>
              </a:r>
            </a:p>
            <a:p>
              <a:r>
                <a:rPr lang="en-NZ" sz="800" dirty="0"/>
                <a:t>Audits/Usages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43614FB-F9BE-49F3-C0F7-9FF74A2F24AC}"/>
                </a:ext>
              </a:extLst>
            </p:cNvPr>
            <p:cNvSpPr/>
            <p:nvPr/>
          </p:nvSpPr>
          <p:spPr>
            <a:xfrm>
              <a:off x="5445425" y="864717"/>
              <a:ext cx="1039660" cy="37985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Recording API</a:t>
              </a:r>
              <a:endParaRPr lang="en-NZ" sz="1200" dirty="0"/>
            </a:p>
          </p:txBody>
        </p:sp>
        <p:cxnSp>
          <p:nvCxnSpPr>
            <p:cNvPr id="281" name="Straight Arrow Connector 38">
              <a:extLst>
                <a:ext uri="{FF2B5EF4-FFF2-40B4-BE49-F238E27FC236}">
                  <a16:creationId xmlns:a16="http://schemas.microsoft.com/office/drawing/2014/main" id="{CEE99303-E3E8-4070-89F7-4A6B46023D6F}"/>
                </a:ext>
              </a:extLst>
            </p:cNvPr>
            <p:cNvCxnSpPr>
              <a:cxnSpLocks/>
              <a:stCxn id="26" idx="3"/>
              <a:endCxn id="260" idx="1"/>
            </p:cNvCxnSpPr>
            <p:nvPr/>
          </p:nvCxnSpPr>
          <p:spPr>
            <a:xfrm flipV="1">
              <a:off x="6485085" y="797277"/>
              <a:ext cx="373552" cy="257369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cxnSp>
        <p:nvCxnSpPr>
          <p:cNvPr id="41" name="Straight Arrow Connector 38">
            <a:extLst>
              <a:ext uri="{FF2B5EF4-FFF2-40B4-BE49-F238E27FC236}">
                <a16:creationId xmlns:a16="http://schemas.microsoft.com/office/drawing/2014/main" id="{E6623D6C-8E4F-C492-4177-BAFC0DFC10CC}"/>
              </a:ext>
            </a:extLst>
          </p:cNvPr>
          <p:cNvCxnSpPr>
            <a:cxnSpLocks/>
            <a:stCxn id="19" idx="3"/>
            <a:endCxn id="26" idx="1"/>
          </p:cNvCxnSpPr>
          <p:nvPr/>
        </p:nvCxnSpPr>
        <p:spPr>
          <a:xfrm flipV="1">
            <a:off x="3131778" y="1641437"/>
            <a:ext cx="2301964" cy="4255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3" name="Straight Arrow Connector 29">
            <a:extLst>
              <a:ext uri="{FF2B5EF4-FFF2-40B4-BE49-F238E27FC236}">
                <a16:creationId xmlns:a16="http://schemas.microsoft.com/office/drawing/2014/main" id="{D253527E-4D96-7836-BDCE-B942CD4E4131}"/>
              </a:ext>
            </a:extLst>
          </p:cNvPr>
          <p:cNvCxnSpPr>
            <a:cxnSpLocks/>
            <a:stCxn id="53" idx="1"/>
            <a:endCxn id="66" idx="3"/>
          </p:cNvCxnSpPr>
          <p:nvPr/>
        </p:nvCxnSpPr>
        <p:spPr>
          <a:xfrm rot="10800000" flipH="1">
            <a:off x="5301996" y="3220026"/>
            <a:ext cx="5816357" cy="2365293"/>
          </a:xfrm>
          <a:prstGeom prst="bentConnector5">
            <a:avLst>
              <a:gd name="adj1" fmla="val -7043"/>
              <a:gd name="adj2" fmla="val -49415"/>
              <a:gd name="adj3" fmla="val 103930"/>
            </a:avLst>
          </a:prstGeom>
          <a:ln w="19050" cap="flat" cmpd="sng" algn="ctr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9" name="Straight Arrow Connector 29">
            <a:extLst>
              <a:ext uri="{FF2B5EF4-FFF2-40B4-BE49-F238E27FC236}">
                <a16:creationId xmlns:a16="http://schemas.microsoft.com/office/drawing/2014/main" id="{3EC017AA-BD93-8925-1729-39C301932929}"/>
              </a:ext>
            </a:extLst>
          </p:cNvPr>
          <p:cNvCxnSpPr>
            <a:cxnSpLocks/>
            <a:stCxn id="132" idx="1"/>
            <a:endCxn id="53" idx="3"/>
          </p:cNvCxnSpPr>
          <p:nvPr/>
        </p:nvCxnSpPr>
        <p:spPr>
          <a:xfrm rot="10800000" flipV="1">
            <a:off x="6523839" y="4243020"/>
            <a:ext cx="2670162" cy="1342298"/>
          </a:xfrm>
          <a:prstGeom prst="bentConnector3">
            <a:avLst>
              <a:gd name="adj1" fmla="val 9652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8" name="Straight Arrow Connector 29">
            <a:extLst>
              <a:ext uri="{FF2B5EF4-FFF2-40B4-BE49-F238E27FC236}">
                <a16:creationId xmlns:a16="http://schemas.microsoft.com/office/drawing/2014/main" id="{668DD861-FCE8-C55C-0E2C-DD55DFDA929C}"/>
              </a:ext>
            </a:extLst>
          </p:cNvPr>
          <p:cNvCxnSpPr>
            <a:cxnSpLocks/>
            <a:stCxn id="102" idx="1"/>
            <a:endCxn id="53" idx="3"/>
          </p:cNvCxnSpPr>
          <p:nvPr/>
        </p:nvCxnSpPr>
        <p:spPr>
          <a:xfrm rot="10800000">
            <a:off x="6523839" y="5585319"/>
            <a:ext cx="3483502" cy="153819"/>
          </a:xfrm>
          <a:prstGeom prst="bentConnector3">
            <a:avLst>
              <a:gd name="adj1" fmla="val 23491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0" name="Straight Arrow Connector 29">
            <a:extLst>
              <a:ext uri="{FF2B5EF4-FFF2-40B4-BE49-F238E27FC236}">
                <a16:creationId xmlns:a16="http://schemas.microsoft.com/office/drawing/2014/main" id="{03149885-B8D0-9C60-4BDF-B4173499ECCA}"/>
              </a:ext>
            </a:extLst>
          </p:cNvPr>
          <p:cNvCxnSpPr>
            <a:cxnSpLocks/>
            <a:stCxn id="2" idx="1"/>
            <a:endCxn id="123" idx="3"/>
          </p:cNvCxnSpPr>
          <p:nvPr/>
        </p:nvCxnSpPr>
        <p:spPr>
          <a:xfrm flipH="1">
            <a:off x="8190776" y="2046924"/>
            <a:ext cx="1003225" cy="2690199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6" name="Straight Arrow Connector 29">
            <a:extLst>
              <a:ext uri="{FF2B5EF4-FFF2-40B4-BE49-F238E27FC236}">
                <a16:creationId xmlns:a16="http://schemas.microsoft.com/office/drawing/2014/main" id="{ED94095D-AB74-930E-400E-F66A9ADEE52D}"/>
              </a:ext>
            </a:extLst>
          </p:cNvPr>
          <p:cNvCxnSpPr>
            <a:cxnSpLocks/>
            <a:stCxn id="2" idx="1"/>
            <a:endCxn id="182" idx="3"/>
          </p:cNvCxnSpPr>
          <p:nvPr/>
        </p:nvCxnSpPr>
        <p:spPr>
          <a:xfrm flipH="1">
            <a:off x="8028571" y="2046924"/>
            <a:ext cx="1165430" cy="1132467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9" name="Straight Arrow Connector 29">
            <a:extLst>
              <a:ext uri="{FF2B5EF4-FFF2-40B4-BE49-F238E27FC236}">
                <a16:creationId xmlns:a16="http://schemas.microsoft.com/office/drawing/2014/main" id="{21B5DBA8-B914-6BD0-2686-C3FA13FA4D4A}"/>
              </a:ext>
            </a:extLst>
          </p:cNvPr>
          <p:cNvCxnSpPr>
            <a:cxnSpLocks/>
            <a:stCxn id="33" idx="3"/>
            <a:endCxn id="182" idx="3"/>
          </p:cNvCxnSpPr>
          <p:nvPr/>
        </p:nvCxnSpPr>
        <p:spPr>
          <a:xfrm flipH="1" flipV="1">
            <a:off x="8028571" y="3179391"/>
            <a:ext cx="858470" cy="40637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6" name="Straight Arrow Connector 29">
            <a:extLst>
              <a:ext uri="{FF2B5EF4-FFF2-40B4-BE49-F238E27FC236}">
                <a16:creationId xmlns:a16="http://schemas.microsoft.com/office/drawing/2014/main" id="{154CA2BD-6BD0-7A6F-DA7F-83DF2251DD5E}"/>
              </a:ext>
            </a:extLst>
          </p:cNvPr>
          <p:cNvCxnSpPr>
            <a:cxnSpLocks/>
            <a:stCxn id="2" idx="1"/>
            <a:endCxn id="260" idx="3"/>
          </p:cNvCxnSpPr>
          <p:nvPr/>
        </p:nvCxnSpPr>
        <p:spPr>
          <a:xfrm flipH="1" flipV="1">
            <a:off x="8016887" y="1384068"/>
            <a:ext cx="1177114" cy="662856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9" name="Straight Arrow Connector 29">
            <a:extLst>
              <a:ext uri="{FF2B5EF4-FFF2-40B4-BE49-F238E27FC236}">
                <a16:creationId xmlns:a16="http://schemas.microsoft.com/office/drawing/2014/main" id="{62E5D350-CDCC-7C85-11EE-E3FBBF601760}"/>
              </a:ext>
            </a:extLst>
          </p:cNvPr>
          <p:cNvCxnSpPr>
            <a:cxnSpLocks/>
            <a:stCxn id="33" idx="3"/>
            <a:endCxn id="260" idx="3"/>
          </p:cNvCxnSpPr>
          <p:nvPr/>
        </p:nvCxnSpPr>
        <p:spPr>
          <a:xfrm flipH="1" flipV="1">
            <a:off x="8016887" y="1384068"/>
            <a:ext cx="870154" cy="1835960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68241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76BDB9F-0119-D883-61AA-E4CAEB426C5B}"/>
              </a:ext>
            </a:extLst>
          </p:cNvPr>
          <p:cNvSpPr/>
          <p:nvPr/>
        </p:nvSpPr>
        <p:spPr>
          <a:xfrm>
            <a:off x="9194001" y="1842282"/>
            <a:ext cx="1932705" cy="40928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APMs</a:t>
            </a:r>
          </a:p>
        </p:txBody>
      </p:sp>
      <p:cxnSp>
        <p:nvCxnSpPr>
          <p:cNvPr id="272" name="Straight Arrow Connector 29">
            <a:extLst>
              <a:ext uri="{FF2B5EF4-FFF2-40B4-BE49-F238E27FC236}">
                <a16:creationId xmlns:a16="http://schemas.microsoft.com/office/drawing/2014/main" id="{F9CA8899-94F1-BFAC-107C-53B404DBA8C2}"/>
              </a:ext>
            </a:extLst>
          </p:cNvPr>
          <p:cNvCxnSpPr>
            <a:cxnSpLocks/>
            <a:endCxn id="263" idx="3"/>
          </p:cNvCxnSpPr>
          <p:nvPr/>
        </p:nvCxnSpPr>
        <p:spPr>
          <a:xfrm flipH="1" flipV="1">
            <a:off x="8347324" y="1587836"/>
            <a:ext cx="1486111" cy="300112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" name="Straight Arrow Connector 29">
            <a:extLst>
              <a:ext uri="{FF2B5EF4-FFF2-40B4-BE49-F238E27FC236}">
                <a16:creationId xmlns:a16="http://schemas.microsoft.com/office/drawing/2014/main" id="{4F6BB14F-4BE4-0377-B76F-C48DBAB4D20A}"/>
              </a:ext>
            </a:extLst>
          </p:cNvPr>
          <p:cNvCxnSpPr>
            <a:cxnSpLocks/>
            <a:endCxn id="35" idx="2"/>
          </p:cNvCxnSpPr>
          <p:nvPr/>
        </p:nvCxnSpPr>
        <p:spPr>
          <a:xfrm flipH="1">
            <a:off x="9517508" y="2207137"/>
            <a:ext cx="315927" cy="812925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Arrow Connector 29">
            <a:extLst>
              <a:ext uri="{FF2B5EF4-FFF2-40B4-BE49-F238E27FC236}">
                <a16:creationId xmlns:a16="http://schemas.microsoft.com/office/drawing/2014/main" id="{F7F8DC36-AEE5-4611-8D60-043846A24226}"/>
              </a:ext>
            </a:extLst>
          </p:cNvPr>
          <p:cNvCxnSpPr>
            <a:cxnSpLocks/>
            <a:endCxn id="66" idx="0"/>
          </p:cNvCxnSpPr>
          <p:nvPr/>
        </p:nvCxnSpPr>
        <p:spPr>
          <a:xfrm>
            <a:off x="9833435" y="2207137"/>
            <a:ext cx="805269" cy="812923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8" name="Straight Arrow Connector 29">
            <a:extLst>
              <a:ext uri="{FF2B5EF4-FFF2-40B4-BE49-F238E27FC236}">
                <a16:creationId xmlns:a16="http://schemas.microsoft.com/office/drawing/2014/main" id="{B2A3FE83-40C4-4276-3E0C-740512E57162}"/>
              </a:ext>
            </a:extLst>
          </p:cNvPr>
          <p:cNvCxnSpPr>
            <a:cxnSpLocks/>
            <a:endCxn id="47" idx="3"/>
          </p:cNvCxnSpPr>
          <p:nvPr/>
        </p:nvCxnSpPr>
        <p:spPr>
          <a:xfrm flipH="1">
            <a:off x="8359008" y="2207137"/>
            <a:ext cx="1474427" cy="3026193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9" name="Straight Arrow Connector 29">
            <a:extLst>
              <a:ext uri="{FF2B5EF4-FFF2-40B4-BE49-F238E27FC236}">
                <a16:creationId xmlns:a16="http://schemas.microsoft.com/office/drawing/2014/main" id="{8D7F3878-1E8C-BB8D-AD03-033B207562F5}"/>
              </a:ext>
            </a:extLst>
          </p:cNvPr>
          <p:cNvCxnSpPr>
            <a:cxnSpLocks/>
            <a:endCxn id="178" idx="3"/>
          </p:cNvCxnSpPr>
          <p:nvPr/>
        </p:nvCxnSpPr>
        <p:spPr>
          <a:xfrm flipH="1">
            <a:off x="8359008" y="2207137"/>
            <a:ext cx="1474427" cy="1095372"/>
          </a:xfrm>
          <a:prstGeom prst="straightConnector1">
            <a:avLst/>
          </a:prstGeom>
          <a:ln w="12700" cap="flat" cmpd="sng" algn="ctr">
            <a:solidFill>
              <a:srgbClr val="7030A0"/>
            </a:solidFill>
            <a:prstDash val="sysDot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19F9D48E-E98F-1F73-D305-C85697A29063}"/>
              </a:ext>
            </a:extLst>
          </p:cNvPr>
          <p:cNvGrpSpPr/>
          <p:nvPr/>
        </p:nvGrpSpPr>
        <p:grpSpPr>
          <a:xfrm>
            <a:off x="2073581" y="927591"/>
            <a:ext cx="1242482" cy="1325733"/>
            <a:chOff x="588817" y="995618"/>
            <a:chExt cx="1242482" cy="1325733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858398B-CA17-CB5B-882A-CE05FB82F292}"/>
                </a:ext>
              </a:extLst>
            </p:cNvPr>
            <p:cNvSpPr/>
            <p:nvPr/>
          </p:nvSpPr>
          <p:spPr>
            <a:xfrm>
              <a:off x="1367978" y="2076136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37AF17B-B9EC-C0EE-C317-4BE4B731795E}"/>
                </a:ext>
              </a:extLst>
            </p:cNvPr>
            <p:cNvSpPr/>
            <p:nvPr/>
          </p:nvSpPr>
          <p:spPr>
            <a:xfrm>
              <a:off x="885968" y="2067931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2AA576C4-7E7E-29B3-0DD3-182E82CF2A1A}"/>
                </a:ext>
              </a:extLst>
            </p:cNvPr>
            <p:cNvSpPr/>
            <p:nvPr/>
          </p:nvSpPr>
          <p:spPr>
            <a:xfrm>
              <a:off x="588818" y="995618"/>
              <a:ext cx="1242481" cy="1325733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Web</a:t>
              </a:r>
              <a:br>
                <a:rPr lang="en-US" sz="1200" dirty="0">
                  <a:solidFill>
                    <a:schemeClr val="tx1"/>
                  </a:solidFill>
                </a:rPr>
              </a:br>
              <a:r>
                <a:rPr lang="en-US" sz="1200" dirty="0">
                  <a:solidFill>
                    <a:schemeClr val="tx1"/>
                  </a:solidFill>
                </a:rPr>
                <a:t>Browsers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49E817D-D598-318A-6BBE-987C6DECE258}"/>
                </a:ext>
              </a:extLst>
            </p:cNvPr>
            <p:cNvSpPr txBox="1"/>
            <p:nvPr/>
          </p:nvSpPr>
          <p:spPr>
            <a:xfrm>
              <a:off x="588817" y="2057030"/>
              <a:ext cx="122832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>
                  <a:solidFill>
                    <a:schemeClr val="bg2">
                      <a:lumMod val="50000"/>
                    </a:schemeClr>
                  </a:solidFill>
                </a:rPr>
                <a:t>Chrome,  Firefox, </a:t>
              </a:r>
              <a:r>
                <a:rPr lang="en-US" sz="900" dirty="0" err="1">
                  <a:solidFill>
                    <a:schemeClr val="bg2">
                      <a:lumMod val="50000"/>
                    </a:schemeClr>
                  </a:solidFill>
                </a:rPr>
                <a:t>etc</a:t>
              </a:r>
              <a:endParaRPr lang="en-NZ" sz="9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CEC3D6FA-CFD7-DE60-DEA6-DCF6F6C136B6}"/>
                </a:ext>
              </a:extLst>
            </p:cNvPr>
            <p:cNvGrpSpPr/>
            <p:nvPr/>
          </p:nvGrpSpPr>
          <p:grpSpPr>
            <a:xfrm>
              <a:off x="789067" y="1404142"/>
              <a:ext cx="857947" cy="619153"/>
              <a:chOff x="789067" y="1612369"/>
              <a:chExt cx="857947" cy="619153"/>
            </a:xfrm>
          </p:grpSpPr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FC521CA0-7870-F423-1017-DF185DF6BF6F}"/>
                  </a:ext>
                </a:extLst>
              </p:cNvPr>
              <p:cNvSpPr/>
              <p:nvPr/>
            </p:nvSpPr>
            <p:spPr>
              <a:xfrm>
                <a:off x="789067" y="1612369"/>
                <a:ext cx="857947" cy="619153"/>
              </a:xfrm>
              <a:prstGeom prst="roundRect">
                <a:avLst>
                  <a:gd name="adj" fmla="val 9701"/>
                </a:avLst>
              </a:prstGeom>
              <a:solidFill>
                <a:srgbClr val="2B2C2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 sz="1200" dirty="0"/>
              </a:p>
            </p:txBody>
          </p:sp>
          <p:pic>
            <p:nvPicPr>
              <p:cNvPr id="21" name="Picture 6" descr="What is React JS? | Ironhack Blog">
                <a:extLst>
                  <a:ext uri="{FF2B5EF4-FFF2-40B4-BE49-F238E27FC236}">
                    <a16:creationId xmlns:a16="http://schemas.microsoft.com/office/drawing/2014/main" id="{3018FAF2-E35D-16F9-6528-07508791B48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6679" y="1776909"/>
                <a:ext cx="725292" cy="30307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3E38B9E1-E382-5B93-B33E-C502F12761B6}"/>
              </a:ext>
            </a:extLst>
          </p:cNvPr>
          <p:cNvSpPr txBox="1"/>
          <p:nvPr/>
        </p:nvSpPr>
        <p:spPr>
          <a:xfrm>
            <a:off x="8802992" y="3454577"/>
            <a:ext cx="10983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+Audits/Usages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A04463A-E0EF-FAC0-C088-1CBD54A117A5}"/>
              </a:ext>
            </a:extLst>
          </p:cNvPr>
          <p:cNvSpPr txBox="1"/>
          <p:nvPr/>
        </p:nvSpPr>
        <p:spPr>
          <a:xfrm rot="5400000">
            <a:off x="10910995" y="4898336"/>
            <a:ext cx="11945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 Usages / Audits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674347A6-01DB-2B4C-CD77-423C4BCF39FB}"/>
              </a:ext>
            </a:extLst>
          </p:cNvPr>
          <p:cNvGrpSpPr/>
          <p:nvPr/>
        </p:nvGrpSpPr>
        <p:grpSpPr>
          <a:xfrm>
            <a:off x="10007341" y="4848510"/>
            <a:ext cx="1111013" cy="1781254"/>
            <a:chOff x="3806550" y="4946699"/>
            <a:chExt cx="1111013" cy="1781254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D2C08B74-FF1B-FD94-AF29-32A4E819B1A6}"/>
                </a:ext>
              </a:extLst>
            </p:cNvPr>
            <p:cNvSpPr/>
            <p:nvPr/>
          </p:nvSpPr>
          <p:spPr>
            <a:xfrm>
              <a:off x="3806550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Product Metrics</a:t>
              </a:r>
              <a:endParaRPr lang="en-NZ" sz="4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pic>
          <p:nvPicPr>
            <p:cNvPr id="103" name="Picture 2" descr="Mixpanel | Attribution Platform - Ematic Solutions">
              <a:extLst>
                <a:ext uri="{FF2B5EF4-FFF2-40B4-BE49-F238E27FC236}">
                  <a16:creationId xmlns:a16="http://schemas.microsoft.com/office/drawing/2014/main" id="{572FC521-E143-BA17-6F85-FBDBA220791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460" t="13489" r="2189" b="10958"/>
            <a:stretch/>
          </p:blipFill>
          <p:spPr bwMode="auto">
            <a:xfrm rot="20400000">
              <a:off x="3884797" y="5440538"/>
              <a:ext cx="940471" cy="26719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717767FE-7BF0-ACA7-EF66-5A9F0D233B7A}"/>
                </a:ext>
              </a:extLst>
            </p:cNvPr>
            <p:cNvSpPr/>
            <p:nvPr/>
          </p:nvSpPr>
          <p:spPr>
            <a:xfrm rot="20400000">
              <a:off x="3891737" y="6102981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pic>
          <p:nvPicPr>
            <p:cNvPr id="105" name="Picture 12" descr="Analyze the impact of personalization in Google Analytics">
              <a:extLst>
                <a:ext uri="{FF2B5EF4-FFF2-40B4-BE49-F238E27FC236}">
                  <a16:creationId xmlns:a16="http://schemas.microsoft.com/office/drawing/2014/main" id="{37F9FE0A-9362-889A-62D5-D912CFF493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3074" t="-1409" r="-5031" b="-4078"/>
            <a:stretch/>
          </p:blipFill>
          <p:spPr bwMode="auto">
            <a:xfrm rot="20400000">
              <a:off x="3972053" y="5105614"/>
              <a:ext cx="765959" cy="25564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06" name="Picture 14" descr="Amplitude Analytics Reviews, Ratings &amp; Features 2023 | Gartner Peer Insights">
              <a:extLst>
                <a:ext uri="{FF2B5EF4-FFF2-40B4-BE49-F238E27FC236}">
                  <a16:creationId xmlns:a16="http://schemas.microsoft.com/office/drawing/2014/main" id="{EEB7BB8D-E23F-B147-8779-384F65663A6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393" b="28622"/>
            <a:stretch/>
          </p:blipFill>
          <p:spPr bwMode="auto">
            <a:xfrm rot="20400000">
              <a:off x="3892561" y="5779495"/>
              <a:ext cx="924942" cy="25137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</p:grpSp>
      <p:sp>
        <p:nvSpPr>
          <p:cNvPr id="131" name="TextBox 130">
            <a:extLst>
              <a:ext uri="{FF2B5EF4-FFF2-40B4-BE49-F238E27FC236}">
                <a16:creationId xmlns:a16="http://schemas.microsoft.com/office/drawing/2014/main" id="{681038C5-BBBE-CDB2-8F3E-DB406DA6D973}"/>
              </a:ext>
            </a:extLst>
          </p:cNvPr>
          <p:cNvSpPr txBox="1"/>
          <p:nvPr/>
        </p:nvSpPr>
        <p:spPr>
          <a:xfrm>
            <a:off x="9125964" y="1408576"/>
            <a:ext cx="11673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+Traces/Crashes</a:t>
            </a:r>
          </a:p>
          <a:p>
            <a:r>
              <a:rPr lang="en-NZ" sz="1000" dirty="0"/>
              <a:t>/Measures 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A8A727FC-229F-90EA-1C27-A2488A604E59}"/>
              </a:ext>
            </a:extLst>
          </p:cNvPr>
          <p:cNvSpPr/>
          <p:nvPr/>
        </p:nvSpPr>
        <p:spPr>
          <a:xfrm>
            <a:off x="9194001" y="3985016"/>
            <a:ext cx="1932705" cy="5160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NZ" dirty="0">
                <a:solidFill>
                  <a:schemeClr val="bg2">
                    <a:lumMod val="75000"/>
                  </a:schemeClr>
                </a:solidFill>
              </a:rPr>
              <a:t>Data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60CA0E4-79E3-2704-539B-87D00ADF7142}"/>
              </a:ext>
            </a:extLst>
          </p:cNvPr>
          <p:cNvSpPr txBox="1"/>
          <p:nvPr/>
        </p:nvSpPr>
        <p:spPr>
          <a:xfrm>
            <a:off x="8563450" y="4021713"/>
            <a:ext cx="6206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+Audits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B0E19051-8B08-2093-839C-FF25C1416D25}"/>
              </a:ext>
            </a:extLst>
          </p:cNvPr>
          <p:cNvSpPr txBox="1"/>
          <p:nvPr/>
        </p:nvSpPr>
        <p:spPr>
          <a:xfrm>
            <a:off x="9314050" y="5492916"/>
            <a:ext cx="68159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+Usages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D1F30FD8-3C5F-66D3-43AA-C8F69E367088}"/>
              </a:ext>
            </a:extLst>
          </p:cNvPr>
          <p:cNvSpPr txBox="1"/>
          <p:nvPr/>
        </p:nvSpPr>
        <p:spPr>
          <a:xfrm>
            <a:off x="267419" y="207034"/>
            <a:ext cx="24657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Recording - AWS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E5E79C2-B915-C350-C7F7-010B0A4A06FB}"/>
              </a:ext>
            </a:extLst>
          </p:cNvPr>
          <p:cNvSpPr txBox="1"/>
          <p:nvPr/>
        </p:nvSpPr>
        <p:spPr>
          <a:xfrm>
            <a:off x="3706848" y="1351201"/>
            <a:ext cx="11063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/>
              <a:t>+Traces/</a:t>
            </a:r>
            <a:r>
              <a:rPr lang="en-NZ" sz="800" dirty="0" err="1"/>
              <a:t>PageViews</a:t>
            </a:r>
            <a:endParaRPr lang="en-NZ" sz="800" dirty="0"/>
          </a:p>
          <a:p>
            <a:r>
              <a:rPr lang="en-NZ" sz="800" dirty="0"/>
              <a:t>/Usages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1A442F5E-FE79-C70A-9D9A-128467862624}"/>
              </a:ext>
            </a:extLst>
          </p:cNvPr>
          <p:cNvSpPr txBox="1"/>
          <p:nvPr/>
        </p:nvSpPr>
        <p:spPr>
          <a:xfrm rot="16200000">
            <a:off x="4267102" y="6053610"/>
            <a:ext cx="9444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/>
              <a:t>+ Usages/Audits</a:t>
            </a:r>
          </a:p>
        </p:txBody>
      </p:sp>
      <p:cxnSp>
        <p:nvCxnSpPr>
          <p:cNvPr id="28" name="Straight Arrow Connector 29">
            <a:extLst>
              <a:ext uri="{FF2B5EF4-FFF2-40B4-BE49-F238E27FC236}">
                <a16:creationId xmlns:a16="http://schemas.microsoft.com/office/drawing/2014/main" id="{2487AE29-09FA-E0B9-3624-FBE19DED6341}"/>
              </a:ext>
            </a:extLst>
          </p:cNvPr>
          <p:cNvCxnSpPr>
            <a:cxnSpLocks/>
            <a:stCxn id="33" idx="3"/>
            <a:endCxn id="123" idx="3"/>
          </p:cNvCxnSpPr>
          <p:nvPr/>
        </p:nvCxnSpPr>
        <p:spPr>
          <a:xfrm flipH="1">
            <a:off x="8190776" y="3220028"/>
            <a:ext cx="696265" cy="1517095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Straight Arrow Connector 38">
            <a:extLst>
              <a:ext uri="{FF2B5EF4-FFF2-40B4-BE49-F238E27FC236}">
                <a16:creationId xmlns:a16="http://schemas.microsoft.com/office/drawing/2014/main" id="{E6623D6C-8E4F-C492-4177-BAFC0DFC10CC}"/>
              </a:ext>
            </a:extLst>
          </p:cNvPr>
          <p:cNvCxnSpPr>
            <a:cxnSpLocks/>
            <a:stCxn id="19" idx="3"/>
            <a:endCxn id="26" idx="1"/>
          </p:cNvCxnSpPr>
          <p:nvPr/>
        </p:nvCxnSpPr>
        <p:spPr>
          <a:xfrm flipV="1">
            <a:off x="3131778" y="1641437"/>
            <a:ext cx="2301964" cy="4255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3" name="Straight Arrow Connector 29">
            <a:extLst>
              <a:ext uri="{FF2B5EF4-FFF2-40B4-BE49-F238E27FC236}">
                <a16:creationId xmlns:a16="http://schemas.microsoft.com/office/drawing/2014/main" id="{D253527E-4D96-7836-BDCE-B942CD4E4131}"/>
              </a:ext>
            </a:extLst>
          </p:cNvPr>
          <p:cNvCxnSpPr>
            <a:cxnSpLocks/>
            <a:stCxn id="53" idx="1"/>
            <a:endCxn id="66" idx="3"/>
          </p:cNvCxnSpPr>
          <p:nvPr/>
        </p:nvCxnSpPr>
        <p:spPr>
          <a:xfrm rot="10800000" flipH="1">
            <a:off x="5301996" y="3220026"/>
            <a:ext cx="5816357" cy="2365293"/>
          </a:xfrm>
          <a:prstGeom prst="bentConnector5">
            <a:avLst>
              <a:gd name="adj1" fmla="val -7043"/>
              <a:gd name="adj2" fmla="val -49415"/>
              <a:gd name="adj3" fmla="val 103930"/>
            </a:avLst>
          </a:prstGeom>
          <a:ln w="19050" cap="flat" cmpd="sng" algn="ctr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9" name="Straight Arrow Connector 29">
            <a:extLst>
              <a:ext uri="{FF2B5EF4-FFF2-40B4-BE49-F238E27FC236}">
                <a16:creationId xmlns:a16="http://schemas.microsoft.com/office/drawing/2014/main" id="{3EC017AA-BD93-8925-1729-39C301932929}"/>
              </a:ext>
            </a:extLst>
          </p:cNvPr>
          <p:cNvCxnSpPr>
            <a:cxnSpLocks/>
            <a:stCxn id="132" idx="1"/>
            <a:endCxn id="53" idx="3"/>
          </p:cNvCxnSpPr>
          <p:nvPr/>
        </p:nvCxnSpPr>
        <p:spPr>
          <a:xfrm rot="10800000" flipV="1">
            <a:off x="6523839" y="4243020"/>
            <a:ext cx="2670162" cy="1342298"/>
          </a:xfrm>
          <a:prstGeom prst="bentConnector3">
            <a:avLst>
              <a:gd name="adj1" fmla="val 9652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8" name="Straight Arrow Connector 29">
            <a:extLst>
              <a:ext uri="{FF2B5EF4-FFF2-40B4-BE49-F238E27FC236}">
                <a16:creationId xmlns:a16="http://schemas.microsoft.com/office/drawing/2014/main" id="{668DD861-FCE8-C55C-0E2C-DD55DFDA929C}"/>
              </a:ext>
            </a:extLst>
          </p:cNvPr>
          <p:cNvCxnSpPr>
            <a:cxnSpLocks/>
            <a:stCxn id="102" idx="1"/>
            <a:endCxn id="53" idx="3"/>
          </p:cNvCxnSpPr>
          <p:nvPr/>
        </p:nvCxnSpPr>
        <p:spPr>
          <a:xfrm rot="10800000">
            <a:off x="6523839" y="5585319"/>
            <a:ext cx="3483502" cy="153819"/>
          </a:xfrm>
          <a:prstGeom prst="bentConnector3">
            <a:avLst>
              <a:gd name="adj1" fmla="val 23491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0" name="Straight Arrow Connector 29">
            <a:extLst>
              <a:ext uri="{FF2B5EF4-FFF2-40B4-BE49-F238E27FC236}">
                <a16:creationId xmlns:a16="http://schemas.microsoft.com/office/drawing/2014/main" id="{03149885-B8D0-9C60-4BDF-B4173499ECCA}"/>
              </a:ext>
            </a:extLst>
          </p:cNvPr>
          <p:cNvCxnSpPr>
            <a:cxnSpLocks/>
            <a:stCxn id="2" idx="1"/>
            <a:endCxn id="123" idx="3"/>
          </p:cNvCxnSpPr>
          <p:nvPr/>
        </p:nvCxnSpPr>
        <p:spPr>
          <a:xfrm flipH="1">
            <a:off x="8190776" y="2046924"/>
            <a:ext cx="1003225" cy="2690199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6" name="Straight Arrow Connector 29">
            <a:extLst>
              <a:ext uri="{FF2B5EF4-FFF2-40B4-BE49-F238E27FC236}">
                <a16:creationId xmlns:a16="http://schemas.microsoft.com/office/drawing/2014/main" id="{ED94095D-AB74-930E-400E-F66A9ADEE52D}"/>
              </a:ext>
            </a:extLst>
          </p:cNvPr>
          <p:cNvCxnSpPr>
            <a:cxnSpLocks/>
            <a:stCxn id="2" idx="1"/>
            <a:endCxn id="182" idx="3"/>
          </p:cNvCxnSpPr>
          <p:nvPr/>
        </p:nvCxnSpPr>
        <p:spPr>
          <a:xfrm flipH="1">
            <a:off x="8028571" y="2046924"/>
            <a:ext cx="1165430" cy="1132467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9" name="Straight Arrow Connector 29">
            <a:extLst>
              <a:ext uri="{FF2B5EF4-FFF2-40B4-BE49-F238E27FC236}">
                <a16:creationId xmlns:a16="http://schemas.microsoft.com/office/drawing/2014/main" id="{21B5DBA8-B914-6BD0-2686-C3FA13FA4D4A}"/>
              </a:ext>
            </a:extLst>
          </p:cNvPr>
          <p:cNvCxnSpPr>
            <a:cxnSpLocks/>
            <a:stCxn id="33" idx="3"/>
            <a:endCxn id="182" idx="3"/>
          </p:cNvCxnSpPr>
          <p:nvPr/>
        </p:nvCxnSpPr>
        <p:spPr>
          <a:xfrm flipH="1" flipV="1">
            <a:off x="8028571" y="3179391"/>
            <a:ext cx="858470" cy="40637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6" name="Straight Arrow Connector 29">
            <a:extLst>
              <a:ext uri="{FF2B5EF4-FFF2-40B4-BE49-F238E27FC236}">
                <a16:creationId xmlns:a16="http://schemas.microsoft.com/office/drawing/2014/main" id="{154CA2BD-6BD0-7A6F-DA7F-83DF2251DD5E}"/>
              </a:ext>
            </a:extLst>
          </p:cNvPr>
          <p:cNvCxnSpPr>
            <a:cxnSpLocks/>
            <a:stCxn id="2" idx="1"/>
            <a:endCxn id="260" idx="3"/>
          </p:cNvCxnSpPr>
          <p:nvPr/>
        </p:nvCxnSpPr>
        <p:spPr>
          <a:xfrm flipH="1" flipV="1">
            <a:off x="8016887" y="1384068"/>
            <a:ext cx="1177114" cy="662856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9" name="Straight Arrow Connector 29">
            <a:extLst>
              <a:ext uri="{FF2B5EF4-FFF2-40B4-BE49-F238E27FC236}">
                <a16:creationId xmlns:a16="http://schemas.microsoft.com/office/drawing/2014/main" id="{62E5D350-CDCC-7C85-11EE-E3FBBF601760}"/>
              </a:ext>
            </a:extLst>
          </p:cNvPr>
          <p:cNvCxnSpPr>
            <a:cxnSpLocks/>
            <a:stCxn id="33" idx="3"/>
            <a:endCxn id="260" idx="3"/>
          </p:cNvCxnSpPr>
          <p:nvPr/>
        </p:nvCxnSpPr>
        <p:spPr>
          <a:xfrm flipH="1" flipV="1">
            <a:off x="8016887" y="1384068"/>
            <a:ext cx="870154" cy="1835960"/>
          </a:xfrm>
          <a:prstGeom prst="straightConnector1">
            <a:avLst/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72576569-940D-F256-9DC8-267CD9862CF0}"/>
              </a:ext>
            </a:extLst>
          </p:cNvPr>
          <p:cNvGrpSpPr/>
          <p:nvPr/>
        </p:nvGrpSpPr>
        <p:grpSpPr>
          <a:xfrm>
            <a:off x="5130763" y="644768"/>
            <a:ext cx="3216561" cy="1886135"/>
            <a:chOff x="5130763" y="644768"/>
            <a:chExt cx="3216561" cy="1886135"/>
          </a:xfrm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746E4B18-59E7-1CA5-4EDD-D708F44E310A}"/>
                </a:ext>
              </a:extLst>
            </p:cNvPr>
            <p:cNvGrpSpPr/>
            <p:nvPr/>
          </p:nvGrpSpPr>
          <p:grpSpPr>
            <a:xfrm>
              <a:off x="5130763" y="644768"/>
              <a:ext cx="3216561" cy="1886135"/>
              <a:chOff x="2698105" y="3204587"/>
              <a:chExt cx="3216561" cy="1886135"/>
            </a:xfrm>
          </p:grpSpPr>
          <p:sp>
            <p:nvSpPr>
              <p:cNvPr id="263" name="Rectangle: Rounded Corners 262">
                <a:extLst>
                  <a:ext uri="{FF2B5EF4-FFF2-40B4-BE49-F238E27FC236}">
                    <a16:creationId xmlns:a16="http://schemas.microsoft.com/office/drawing/2014/main" id="{319EF625-F8BA-44B1-613A-AF4A23B0597C}"/>
                  </a:ext>
                </a:extLst>
              </p:cNvPr>
              <p:cNvSpPr/>
              <p:nvPr/>
            </p:nvSpPr>
            <p:spPr>
              <a:xfrm>
                <a:off x="2698105" y="3204587"/>
                <a:ext cx="3216561" cy="1886135"/>
              </a:xfrm>
              <a:prstGeom prst="roundRect">
                <a:avLst>
                  <a:gd name="adj" fmla="val 5101"/>
                </a:avLst>
              </a:prstGeom>
              <a:solidFill>
                <a:srgbClr val="FF99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 4FrontEnd Host</a:t>
                </a:r>
              </a:p>
            </p:txBody>
          </p:sp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26B2E57F-F4F3-8BFB-5050-AFB4A01591EB}"/>
                  </a:ext>
                </a:extLst>
              </p:cNvPr>
              <p:cNvSpPr/>
              <p:nvPr/>
            </p:nvSpPr>
            <p:spPr>
              <a:xfrm>
                <a:off x="3001084" y="3526720"/>
                <a:ext cx="1039660" cy="379857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Any APIs</a:t>
                </a:r>
                <a:endParaRPr lang="en-NZ" sz="1200" dirty="0"/>
              </a:p>
            </p:txBody>
          </p:sp>
        </p:grpSp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6E57702C-3BBF-5565-E964-DBD93FC9F045}"/>
                </a:ext>
              </a:extLst>
            </p:cNvPr>
            <p:cNvSpPr/>
            <p:nvPr/>
          </p:nvSpPr>
          <p:spPr>
            <a:xfrm>
              <a:off x="6846954" y="1230979"/>
              <a:ext cx="1169933" cy="306177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HostRecorder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261" name="Straight Arrow Connector 38">
              <a:extLst>
                <a:ext uri="{FF2B5EF4-FFF2-40B4-BE49-F238E27FC236}">
                  <a16:creationId xmlns:a16="http://schemas.microsoft.com/office/drawing/2014/main" id="{328F0A6B-32E4-87C4-D3CD-3630061280E6}"/>
                </a:ext>
              </a:extLst>
            </p:cNvPr>
            <p:cNvCxnSpPr>
              <a:cxnSpLocks/>
              <a:stCxn id="264" idx="3"/>
              <a:endCxn id="260" idx="1"/>
            </p:cNvCxnSpPr>
            <p:nvPr/>
          </p:nvCxnSpPr>
          <p:spPr>
            <a:xfrm>
              <a:off x="6473402" y="1156830"/>
              <a:ext cx="373552" cy="227238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33E55B85-0DC0-89C2-4352-877FA9B9CBF4}"/>
                </a:ext>
              </a:extLst>
            </p:cNvPr>
            <p:cNvSpPr txBox="1"/>
            <p:nvPr/>
          </p:nvSpPr>
          <p:spPr>
            <a:xfrm>
              <a:off x="6442134" y="676911"/>
              <a:ext cx="14927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800" dirty="0"/>
                <a:t>+ Traces/Crashes/Measures</a:t>
              </a:r>
            </a:p>
            <a:p>
              <a:r>
                <a:rPr lang="en-NZ" sz="800" dirty="0"/>
                <a:t>Audits/Usages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43614FB-F9BE-49F3-C0F7-9FF74A2F24AC}"/>
                </a:ext>
              </a:extLst>
            </p:cNvPr>
            <p:cNvSpPr/>
            <p:nvPr/>
          </p:nvSpPr>
          <p:spPr>
            <a:xfrm>
              <a:off x="5433742" y="1451508"/>
              <a:ext cx="1039660" cy="379857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Recording API</a:t>
              </a:r>
              <a:endParaRPr lang="en-NZ" sz="1200" dirty="0"/>
            </a:p>
          </p:txBody>
        </p:sp>
        <p:cxnSp>
          <p:nvCxnSpPr>
            <p:cNvPr id="281" name="Straight Arrow Connector 38">
              <a:extLst>
                <a:ext uri="{FF2B5EF4-FFF2-40B4-BE49-F238E27FC236}">
                  <a16:creationId xmlns:a16="http://schemas.microsoft.com/office/drawing/2014/main" id="{CEE99303-E3E8-4070-89F7-4A6B46023D6F}"/>
                </a:ext>
              </a:extLst>
            </p:cNvPr>
            <p:cNvCxnSpPr>
              <a:cxnSpLocks/>
              <a:stCxn id="26" idx="3"/>
              <a:endCxn id="260" idx="1"/>
            </p:cNvCxnSpPr>
            <p:nvPr/>
          </p:nvCxnSpPr>
          <p:spPr>
            <a:xfrm flipV="1">
              <a:off x="6473402" y="1384068"/>
              <a:ext cx="373552" cy="257369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4" name="Picture 4" descr="Aws Lambda Vector Logo - Download Free SVG Icon | Worldvectorlogo">
              <a:extLst>
                <a:ext uri="{FF2B5EF4-FFF2-40B4-BE49-F238E27FC236}">
                  <a16:creationId xmlns:a16="http://schemas.microsoft.com/office/drawing/2014/main" id="{9D9A08BB-764F-EAAC-2F92-339CE8D42A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39782" y="2021294"/>
              <a:ext cx="396942" cy="4058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6764AE9D-2CC4-CDA1-02EC-2AAC591A513D}"/>
              </a:ext>
            </a:extLst>
          </p:cNvPr>
          <p:cNvGrpSpPr/>
          <p:nvPr/>
        </p:nvGrpSpPr>
        <p:grpSpPr>
          <a:xfrm>
            <a:off x="5142447" y="2666425"/>
            <a:ext cx="3216561" cy="1272168"/>
            <a:chOff x="5142447" y="2666425"/>
            <a:chExt cx="3216561" cy="1272168"/>
          </a:xfrm>
        </p:grpSpPr>
        <p:grpSp>
          <p:nvGrpSpPr>
            <p:cNvPr id="177" name="Group 176">
              <a:extLst>
                <a:ext uri="{FF2B5EF4-FFF2-40B4-BE49-F238E27FC236}">
                  <a16:creationId xmlns:a16="http://schemas.microsoft.com/office/drawing/2014/main" id="{5B39F245-9C52-7A3A-FCCB-917A3258D599}"/>
                </a:ext>
              </a:extLst>
            </p:cNvPr>
            <p:cNvGrpSpPr/>
            <p:nvPr/>
          </p:nvGrpSpPr>
          <p:grpSpPr>
            <a:xfrm>
              <a:off x="5142447" y="2666425"/>
              <a:ext cx="3216561" cy="1272168"/>
              <a:chOff x="2698105" y="3204588"/>
              <a:chExt cx="3216561" cy="1272168"/>
            </a:xfrm>
          </p:grpSpPr>
          <p:sp>
            <p:nvSpPr>
              <p:cNvPr id="178" name="Rectangle: Rounded Corners 177">
                <a:extLst>
                  <a:ext uri="{FF2B5EF4-FFF2-40B4-BE49-F238E27FC236}">
                    <a16:creationId xmlns:a16="http://schemas.microsoft.com/office/drawing/2014/main" id="{FDB4BCF3-715F-0120-3881-F80A3F36AD3C}"/>
                  </a:ext>
                </a:extLst>
              </p:cNvPr>
              <p:cNvSpPr/>
              <p:nvPr/>
            </p:nvSpPr>
            <p:spPr>
              <a:xfrm>
                <a:off x="2698105" y="3204588"/>
                <a:ext cx="3216561" cy="1272168"/>
              </a:xfrm>
              <a:prstGeom prst="roundRect">
                <a:avLst>
                  <a:gd name="adj" fmla="val 5101"/>
                </a:avLst>
              </a:prstGeom>
              <a:solidFill>
                <a:srgbClr val="FF99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 API Host (2)</a:t>
                </a: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753DE876-CEB1-3496-0DB9-B3A22055D949}"/>
                  </a:ext>
                </a:extLst>
              </p:cNvPr>
              <p:cNvSpPr/>
              <p:nvPr/>
            </p:nvSpPr>
            <p:spPr>
              <a:xfrm>
                <a:off x="3001084" y="3526720"/>
                <a:ext cx="1039660" cy="379857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Other APIs</a:t>
                </a:r>
                <a:endParaRPr lang="en-NZ" sz="1200" dirty="0"/>
              </a:p>
            </p:txBody>
          </p:sp>
        </p:grp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71CA4B64-BBBA-FBE8-CE4F-9C7B5918563F}"/>
                </a:ext>
              </a:extLst>
            </p:cNvPr>
            <p:cNvSpPr/>
            <p:nvPr/>
          </p:nvSpPr>
          <p:spPr>
            <a:xfrm>
              <a:off x="6858638" y="3026302"/>
              <a:ext cx="1169933" cy="306177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HostRecorder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83" name="Straight Arrow Connector 38">
              <a:extLst>
                <a:ext uri="{FF2B5EF4-FFF2-40B4-BE49-F238E27FC236}">
                  <a16:creationId xmlns:a16="http://schemas.microsoft.com/office/drawing/2014/main" id="{495DA6AB-7B0F-C415-B2DE-4A5F7E84CAEB}"/>
                </a:ext>
              </a:extLst>
            </p:cNvPr>
            <p:cNvCxnSpPr>
              <a:cxnSpLocks/>
              <a:stCxn id="179" idx="3"/>
              <a:endCxn id="182" idx="1"/>
            </p:cNvCxnSpPr>
            <p:nvPr/>
          </p:nvCxnSpPr>
          <p:spPr>
            <a:xfrm>
              <a:off x="6485086" y="3178486"/>
              <a:ext cx="373552" cy="905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917D1C44-1D4E-7E37-AE56-8DC6284F8E8C}"/>
                </a:ext>
              </a:extLst>
            </p:cNvPr>
            <p:cNvSpPr txBox="1"/>
            <p:nvPr/>
          </p:nvSpPr>
          <p:spPr>
            <a:xfrm>
              <a:off x="6453818" y="2698567"/>
              <a:ext cx="14927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800" dirty="0"/>
                <a:t>+ Traces/Crashes/Measures</a:t>
              </a:r>
            </a:p>
            <a:p>
              <a:r>
                <a:rPr lang="en-NZ" sz="800" dirty="0"/>
                <a:t>Audits/Usages</a:t>
              </a:r>
            </a:p>
          </p:txBody>
        </p:sp>
        <p:pic>
          <p:nvPicPr>
            <p:cNvPr id="5" name="Picture 4" descr="Aws Lambda Vector Logo - Download Free SVG Icon | Worldvectorlogo">
              <a:extLst>
                <a:ext uri="{FF2B5EF4-FFF2-40B4-BE49-F238E27FC236}">
                  <a16:creationId xmlns:a16="http://schemas.microsoft.com/office/drawing/2014/main" id="{FF0612DD-11DF-8776-6EE9-1FD19EABA9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39325" y="3432745"/>
              <a:ext cx="396942" cy="4058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E972505-2766-C993-B4BC-CE74188066FC}"/>
              </a:ext>
            </a:extLst>
          </p:cNvPr>
          <p:cNvGrpSpPr/>
          <p:nvPr/>
        </p:nvGrpSpPr>
        <p:grpSpPr>
          <a:xfrm>
            <a:off x="5146016" y="4052454"/>
            <a:ext cx="3212992" cy="2361751"/>
            <a:chOff x="5146016" y="4052454"/>
            <a:chExt cx="3212992" cy="2361751"/>
          </a:xfrm>
        </p:grpSpPr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79CE5E8B-7050-54BB-4FEC-402F4067C4CB}"/>
                </a:ext>
              </a:extLst>
            </p:cNvPr>
            <p:cNvSpPr/>
            <p:nvPr/>
          </p:nvSpPr>
          <p:spPr>
            <a:xfrm>
              <a:off x="6593831" y="4436146"/>
              <a:ext cx="175950" cy="175950"/>
            </a:xfrm>
            <a:prstGeom prst="ellipse">
              <a:avLst/>
            </a:prstGeom>
            <a:solidFill>
              <a:srgbClr val="0078D7"/>
            </a:solidFill>
            <a:ln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dirty="0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4D5B1FC5-355F-D779-27F2-0E1616741948}"/>
                </a:ext>
              </a:extLst>
            </p:cNvPr>
            <p:cNvSpPr/>
            <p:nvPr/>
          </p:nvSpPr>
          <p:spPr>
            <a:xfrm>
              <a:off x="5151350" y="5272050"/>
              <a:ext cx="175950" cy="17595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96B99708-837C-E579-0827-22206F609EB9}"/>
                </a:ext>
              </a:extLst>
            </p:cNvPr>
            <p:cNvSpPr/>
            <p:nvPr/>
          </p:nvSpPr>
          <p:spPr>
            <a:xfrm>
              <a:off x="5157986" y="5839025"/>
              <a:ext cx="175950" cy="17595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47" name="Rectangle: Rounded Corners 46">
              <a:extLst>
                <a:ext uri="{FF2B5EF4-FFF2-40B4-BE49-F238E27FC236}">
                  <a16:creationId xmlns:a16="http://schemas.microsoft.com/office/drawing/2014/main" id="{B44A569B-35FE-1BC1-9722-3ECC9E514393}"/>
                </a:ext>
              </a:extLst>
            </p:cNvPr>
            <p:cNvSpPr/>
            <p:nvPr/>
          </p:nvSpPr>
          <p:spPr>
            <a:xfrm>
              <a:off x="5146016" y="4052454"/>
              <a:ext cx="3212992" cy="2361751"/>
            </a:xfrm>
            <a:prstGeom prst="roundRect">
              <a:avLst>
                <a:gd name="adj" fmla="val 4576"/>
              </a:avLst>
            </a:prstGeom>
            <a:solidFill>
              <a:srgbClr val="FF99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en-US" sz="1200" dirty="0"/>
                <a:t>              </a:t>
              </a:r>
              <a:r>
                <a:rPr lang="en-US" sz="1200" dirty="0" err="1"/>
                <a:t>BackEnd</a:t>
              </a:r>
              <a:r>
                <a:rPr lang="en-US" sz="1200" dirty="0"/>
                <a:t> API Host (1)</a:t>
              </a:r>
              <a:endParaRPr lang="en-NZ" dirty="0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C4C74057-B086-B52F-0A6F-A44483AC67D8}"/>
                </a:ext>
              </a:extLst>
            </p:cNvPr>
            <p:cNvSpPr/>
            <p:nvPr/>
          </p:nvSpPr>
          <p:spPr>
            <a:xfrm>
              <a:off x="5308720" y="4253596"/>
              <a:ext cx="1237773" cy="44587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Other APIs</a:t>
              </a:r>
              <a:endParaRPr lang="en-NZ" sz="1200" dirty="0">
                <a:solidFill>
                  <a:schemeClr val="bg1"/>
                </a:solidFill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3507010C-DE69-575A-0FED-FBCE2EB24490}"/>
                </a:ext>
              </a:extLst>
            </p:cNvPr>
            <p:cNvSpPr/>
            <p:nvPr/>
          </p:nvSpPr>
          <p:spPr>
            <a:xfrm>
              <a:off x="5301997" y="5362381"/>
              <a:ext cx="1221842" cy="44587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Ancillary API</a:t>
              </a:r>
              <a:endParaRPr lang="en-NZ" sz="1200" dirty="0">
                <a:solidFill>
                  <a:schemeClr val="bg1"/>
                </a:solidFill>
              </a:endParaRPr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DA5FEB2-D31D-D8E0-50E8-E4554192A373}"/>
                </a:ext>
              </a:extLst>
            </p:cNvPr>
            <p:cNvSpPr/>
            <p:nvPr/>
          </p:nvSpPr>
          <p:spPr>
            <a:xfrm>
              <a:off x="7020843" y="4584034"/>
              <a:ext cx="1169933" cy="306177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HostRecorder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124" name="Straight Arrow Connector 38">
              <a:extLst>
                <a:ext uri="{FF2B5EF4-FFF2-40B4-BE49-F238E27FC236}">
                  <a16:creationId xmlns:a16="http://schemas.microsoft.com/office/drawing/2014/main" id="{DF0440B5-6D0B-E640-63B2-459D806653A5}"/>
                </a:ext>
              </a:extLst>
            </p:cNvPr>
            <p:cNvCxnSpPr>
              <a:cxnSpLocks/>
              <a:stCxn id="49" idx="3"/>
              <a:endCxn id="123" idx="1"/>
            </p:cNvCxnSpPr>
            <p:nvPr/>
          </p:nvCxnSpPr>
          <p:spPr>
            <a:xfrm>
              <a:off x="6546493" y="4476533"/>
              <a:ext cx="474350" cy="260590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B144BAC2-2681-6E0E-0F2A-6205B50FC9C9}"/>
                </a:ext>
              </a:extLst>
            </p:cNvPr>
            <p:cNvSpPr/>
            <p:nvPr/>
          </p:nvSpPr>
          <p:spPr>
            <a:xfrm>
              <a:off x="5301997" y="4798017"/>
              <a:ext cx="1237773" cy="44587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</a:rPr>
                <a:t>Recording API</a:t>
              </a:r>
              <a:endParaRPr lang="en-NZ" sz="1200" dirty="0">
                <a:solidFill>
                  <a:schemeClr val="bg1"/>
                </a:solidFill>
              </a:endParaRPr>
            </a:p>
          </p:txBody>
        </p:sp>
        <p:cxnSp>
          <p:nvCxnSpPr>
            <p:cNvPr id="166" name="Straight Arrow Connector 38">
              <a:extLst>
                <a:ext uri="{FF2B5EF4-FFF2-40B4-BE49-F238E27FC236}">
                  <a16:creationId xmlns:a16="http://schemas.microsoft.com/office/drawing/2014/main" id="{EDC29464-B4EE-A40E-D8AA-7DECB8391688}"/>
                </a:ext>
              </a:extLst>
            </p:cNvPr>
            <p:cNvCxnSpPr>
              <a:cxnSpLocks/>
              <a:stCxn id="159" idx="3"/>
              <a:endCxn id="123" idx="1"/>
            </p:cNvCxnSpPr>
            <p:nvPr/>
          </p:nvCxnSpPr>
          <p:spPr>
            <a:xfrm flipV="1">
              <a:off x="6539770" y="4737123"/>
              <a:ext cx="481073" cy="283831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5A1B7C83-BD19-672F-14A1-0351AE1B5832}"/>
                </a:ext>
              </a:extLst>
            </p:cNvPr>
            <p:cNvSpPr txBox="1"/>
            <p:nvPr/>
          </p:nvSpPr>
          <p:spPr>
            <a:xfrm>
              <a:off x="6570966" y="4139869"/>
              <a:ext cx="14927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800" dirty="0"/>
                <a:t>+ Traces/Crashes/Measures</a:t>
              </a:r>
            </a:p>
            <a:p>
              <a:r>
                <a:rPr lang="en-NZ" sz="800" dirty="0"/>
                <a:t>Audits/Usages</a:t>
              </a:r>
            </a:p>
          </p:txBody>
        </p: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BF70E56B-28EE-371C-D03E-43BF4B66FF5A}"/>
                </a:ext>
              </a:extLst>
            </p:cNvPr>
            <p:cNvSpPr txBox="1"/>
            <p:nvPr/>
          </p:nvSpPr>
          <p:spPr>
            <a:xfrm>
              <a:off x="6555093" y="5052231"/>
              <a:ext cx="1103187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800" dirty="0"/>
                <a:t>+ Usages/Measures</a:t>
              </a:r>
            </a:p>
          </p:txBody>
        </p:sp>
        <p:pic>
          <p:nvPicPr>
            <p:cNvPr id="6" name="Picture 5" descr="Aws Lambda Vector Logo - Download Free SVG Icon | Worldvectorlogo">
              <a:extLst>
                <a:ext uri="{FF2B5EF4-FFF2-40B4-BE49-F238E27FC236}">
                  <a16:creationId xmlns:a16="http://schemas.microsoft.com/office/drawing/2014/main" id="{EA8C6660-D0E4-0E00-A717-B25EEC9AC9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34259" y="5919065"/>
              <a:ext cx="396942" cy="4058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F39D0EE-9C5F-351B-FC70-4AED910EF7D5}"/>
              </a:ext>
            </a:extLst>
          </p:cNvPr>
          <p:cNvGrpSpPr/>
          <p:nvPr/>
        </p:nvGrpSpPr>
        <p:grpSpPr>
          <a:xfrm>
            <a:off x="9240090" y="1894512"/>
            <a:ext cx="1073247" cy="304824"/>
            <a:chOff x="8868697" y="1695584"/>
            <a:chExt cx="1073247" cy="304824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B52FDB3-ADD8-EF4E-C039-76CAE3A9A166}"/>
                </a:ext>
              </a:extLst>
            </p:cNvPr>
            <p:cNvSpPr/>
            <p:nvPr/>
          </p:nvSpPr>
          <p:spPr>
            <a:xfrm>
              <a:off x="8868697" y="1695584"/>
              <a:ext cx="1073247" cy="304824"/>
            </a:xfrm>
            <a:prstGeom prst="roundRect">
              <a:avLst>
                <a:gd name="adj" fmla="val 4751"/>
              </a:avLst>
            </a:prstGeom>
            <a:solidFill>
              <a:srgbClr val="43572B"/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NZ" sz="1000" dirty="0"/>
                <a:t>CloudWatch</a:t>
              </a:r>
              <a:endParaRPr lang="en-NZ" sz="1600" dirty="0"/>
            </a:p>
          </p:txBody>
        </p:sp>
        <p:pic>
          <p:nvPicPr>
            <p:cNvPr id="13" name="Picture 8" descr="What is AWS CloudWatch?">
              <a:extLst>
                <a:ext uri="{FF2B5EF4-FFF2-40B4-BE49-F238E27FC236}">
                  <a16:creationId xmlns:a16="http://schemas.microsoft.com/office/drawing/2014/main" id="{438A62CF-669D-CA57-341D-7E94AFA2E9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93255" y="1737400"/>
              <a:ext cx="236354" cy="236354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27050AE7-0F1B-B32F-C65D-78EA820FB94D}"/>
              </a:ext>
            </a:extLst>
          </p:cNvPr>
          <p:cNvGrpSpPr/>
          <p:nvPr/>
        </p:nvGrpSpPr>
        <p:grpSpPr>
          <a:xfrm>
            <a:off x="8887041" y="3009826"/>
            <a:ext cx="2231314" cy="406788"/>
            <a:chOff x="1484434" y="5064281"/>
            <a:chExt cx="2231314" cy="406788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E817187-6433-B450-907B-1570DF727094}"/>
                </a:ext>
              </a:extLst>
            </p:cNvPr>
            <p:cNvGrpSpPr/>
            <p:nvPr/>
          </p:nvGrpSpPr>
          <p:grpSpPr>
            <a:xfrm>
              <a:off x="1484434" y="5064281"/>
              <a:ext cx="1242435" cy="406788"/>
              <a:chOff x="8781059" y="4344282"/>
              <a:chExt cx="1242435" cy="406788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CFB5837D-368B-FC79-1BB1-021BABCC46C0}"/>
                  </a:ext>
                </a:extLst>
              </p:cNvPr>
              <p:cNvGrpSpPr/>
              <p:nvPr/>
            </p:nvGrpSpPr>
            <p:grpSpPr>
              <a:xfrm>
                <a:off x="8781059" y="4344282"/>
                <a:ext cx="1242435" cy="406788"/>
                <a:chOff x="7656619" y="5506371"/>
                <a:chExt cx="1591766" cy="517641"/>
              </a:xfrm>
            </p:grpSpPr>
            <p:sp>
              <p:nvSpPr>
                <p:cNvPr id="23" name="Cylinder 22">
                  <a:extLst>
                    <a:ext uri="{FF2B5EF4-FFF2-40B4-BE49-F238E27FC236}">
                      <a16:creationId xmlns:a16="http://schemas.microsoft.com/office/drawing/2014/main" id="{C511D92F-FA39-8481-814B-88667AA326F5}"/>
                    </a:ext>
                  </a:extLst>
                </p:cNvPr>
                <p:cNvSpPr/>
                <p:nvPr/>
              </p:nvSpPr>
              <p:spPr>
                <a:xfrm rot="5400000">
                  <a:off x="7543882" y="5627835"/>
                  <a:ext cx="508914" cy="283439"/>
                </a:xfrm>
                <a:prstGeom prst="can">
                  <a:avLst/>
                </a:prstGeom>
                <a:solidFill>
                  <a:srgbClr val="B91254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24" name="Cylinder 23">
                  <a:extLst>
                    <a:ext uri="{FF2B5EF4-FFF2-40B4-BE49-F238E27FC236}">
                      <a16:creationId xmlns:a16="http://schemas.microsoft.com/office/drawing/2014/main" id="{93D7DB5B-C96C-2B2D-76EA-F8AC812B0D1F}"/>
                    </a:ext>
                  </a:extLst>
                </p:cNvPr>
                <p:cNvSpPr/>
                <p:nvPr/>
              </p:nvSpPr>
              <p:spPr>
                <a:xfrm rot="5400000">
                  <a:off x="7872894" y="5627831"/>
                  <a:ext cx="508913" cy="283439"/>
                </a:xfrm>
                <a:prstGeom prst="can">
                  <a:avLst/>
                </a:prstGeom>
                <a:solidFill>
                  <a:srgbClr val="B91254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25" name="Cylinder 24">
                  <a:extLst>
                    <a:ext uri="{FF2B5EF4-FFF2-40B4-BE49-F238E27FC236}">
                      <a16:creationId xmlns:a16="http://schemas.microsoft.com/office/drawing/2014/main" id="{CE2CDAE0-EFAC-31D2-5B19-4DC92B01D857}"/>
                    </a:ext>
                  </a:extLst>
                </p:cNvPr>
                <p:cNvSpPr/>
                <p:nvPr/>
              </p:nvSpPr>
              <p:spPr>
                <a:xfrm rot="5400000">
                  <a:off x="8209897" y="5627834"/>
                  <a:ext cx="508913" cy="283439"/>
                </a:xfrm>
                <a:prstGeom prst="can">
                  <a:avLst/>
                </a:prstGeom>
                <a:solidFill>
                  <a:srgbClr val="FA4887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27" name="Cylinder 26">
                  <a:extLst>
                    <a:ext uri="{FF2B5EF4-FFF2-40B4-BE49-F238E27FC236}">
                      <a16:creationId xmlns:a16="http://schemas.microsoft.com/office/drawing/2014/main" id="{7CF00D80-9A5F-C23E-88B2-8EFA46E06C80}"/>
                    </a:ext>
                  </a:extLst>
                </p:cNvPr>
                <p:cNvSpPr/>
                <p:nvPr/>
              </p:nvSpPr>
              <p:spPr>
                <a:xfrm rot="5400000">
                  <a:off x="8519833" y="5627834"/>
                  <a:ext cx="508912" cy="283439"/>
                </a:xfrm>
                <a:prstGeom prst="can">
                  <a:avLst/>
                </a:prstGeom>
                <a:solidFill>
                  <a:srgbClr val="FA4887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29" name="Cylinder 28">
                  <a:extLst>
                    <a:ext uri="{FF2B5EF4-FFF2-40B4-BE49-F238E27FC236}">
                      <a16:creationId xmlns:a16="http://schemas.microsoft.com/office/drawing/2014/main" id="{741D5FEC-DC69-7DFE-439A-2321FDB6D495}"/>
                    </a:ext>
                  </a:extLst>
                </p:cNvPr>
                <p:cNvSpPr/>
                <p:nvPr/>
              </p:nvSpPr>
              <p:spPr>
                <a:xfrm rot="5400000">
                  <a:off x="8852209" y="5619108"/>
                  <a:ext cx="508913" cy="283439"/>
                </a:xfrm>
                <a:prstGeom prst="can">
                  <a:avLst/>
                </a:prstGeom>
                <a:solidFill>
                  <a:srgbClr val="FA4887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B7AC53DF-289A-AA11-F6A6-531EEF8DA96E}"/>
                    </a:ext>
                  </a:extLst>
                </p:cNvPr>
                <p:cNvSpPr txBox="1"/>
                <p:nvPr/>
              </p:nvSpPr>
              <p:spPr>
                <a:xfrm>
                  <a:off x="8369951" y="5576118"/>
                  <a:ext cx="852979" cy="3524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effectLst>
                        <a:glow rad="101600">
                          <a:schemeClr val="bg1">
                            <a:alpha val="60000"/>
                          </a:schemeClr>
                        </a:glow>
                      </a:effectLst>
                    </a:rPr>
                    <a:t>SQS</a:t>
                  </a:r>
                  <a:endParaRPr lang="en-NZ" sz="1200" dirty="0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endParaRPr>
                </a:p>
              </p:txBody>
            </p:sp>
          </p:grpSp>
          <p:pic>
            <p:nvPicPr>
              <p:cNvPr id="22" name="Picture 6" descr="Amazon SQS Component | Prismatic Docs">
                <a:extLst>
                  <a:ext uri="{FF2B5EF4-FFF2-40B4-BE49-F238E27FC236}">
                    <a16:creationId xmlns:a16="http://schemas.microsoft.com/office/drawing/2014/main" id="{36156A18-0674-D3AD-38A2-7B6A007F8B7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853240" y="4420912"/>
                <a:ext cx="277872" cy="2778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6614064C-9EAC-3F64-B9D5-78FD7C36E7FB}"/>
                </a:ext>
              </a:extLst>
            </p:cNvPr>
            <p:cNvGrpSpPr/>
            <p:nvPr/>
          </p:nvGrpSpPr>
          <p:grpSpPr>
            <a:xfrm>
              <a:off x="2756448" y="5071136"/>
              <a:ext cx="959300" cy="399929"/>
              <a:chOff x="10053073" y="4351137"/>
              <a:chExt cx="959300" cy="399929"/>
            </a:xfrm>
          </p:grpSpPr>
          <p:sp>
            <p:nvSpPr>
              <p:cNvPr id="42" name="Rectangle: Rounded Corners 41">
                <a:extLst>
                  <a:ext uri="{FF2B5EF4-FFF2-40B4-BE49-F238E27FC236}">
                    <a16:creationId xmlns:a16="http://schemas.microsoft.com/office/drawing/2014/main" id="{C4E659A2-7413-3B37-EBB2-039DCDAB2C19}"/>
                  </a:ext>
                </a:extLst>
              </p:cNvPr>
              <p:cNvSpPr/>
              <p:nvPr/>
            </p:nvSpPr>
            <p:spPr>
              <a:xfrm>
                <a:off x="10053073" y="4351137"/>
                <a:ext cx="959300" cy="399929"/>
              </a:xfrm>
              <a:prstGeom prst="roundRect">
                <a:avLst>
                  <a:gd name="adj" fmla="val 6468"/>
                </a:avLst>
              </a:prstGeom>
              <a:solidFill>
                <a:srgbClr val="FA7E14"/>
              </a:solidFill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sz="1100" dirty="0">
                    <a:solidFill>
                      <a:schemeClr val="tx1"/>
                    </a:solidFill>
                  </a:rPr>
                  <a:t>Lambdas</a:t>
                </a:r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43" name="Picture 4" descr="Aws Lambda Vector Logo - Download Free SVG Icon | Worldvectorlogo">
                <a:extLst>
                  <a:ext uri="{FF2B5EF4-FFF2-40B4-BE49-F238E27FC236}">
                    <a16:creationId xmlns:a16="http://schemas.microsoft.com/office/drawing/2014/main" id="{40B447A4-14E0-2CCA-55EA-31B729E1822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098482" y="4428928"/>
                <a:ext cx="227723" cy="23285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95721AB-5210-3934-8140-B08C9BF8001A}"/>
              </a:ext>
            </a:extLst>
          </p:cNvPr>
          <p:cNvGrpSpPr/>
          <p:nvPr/>
        </p:nvGrpSpPr>
        <p:grpSpPr>
          <a:xfrm>
            <a:off x="9250139" y="4019987"/>
            <a:ext cx="421342" cy="456681"/>
            <a:chOff x="8813773" y="2558797"/>
            <a:chExt cx="421342" cy="456681"/>
          </a:xfrm>
        </p:grpSpPr>
        <p:sp>
          <p:nvSpPr>
            <p:cNvPr id="50" name="Cylinder 49">
              <a:extLst>
                <a:ext uri="{FF2B5EF4-FFF2-40B4-BE49-F238E27FC236}">
                  <a16:creationId xmlns:a16="http://schemas.microsoft.com/office/drawing/2014/main" id="{7507E0D5-1D40-ABE9-9F4E-387FA8DAA56D}"/>
                </a:ext>
              </a:extLst>
            </p:cNvPr>
            <p:cNvSpPr/>
            <p:nvPr/>
          </p:nvSpPr>
          <p:spPr>
            <a:xfrm>
              <a:off x="8813773" y="2558797"/>
              <a:ext cx="421342" cy="456681"/>
            </a:xfrm>
            <a:prstGeom prst="can">
              <a:avLst/>
            </a:prstGeom>
            <a:solidFill>
              <a:srgbClr val="2E73B8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900" dirty="0">
                  <a:solidFill>
                    <a:schemeClr val="tx1"/>
                  </a:solidFill>
                </a:rPr>
                <a:t>RDS</a:t>
              </a:r>
              <a:endParaRPr lang="en-NZ" sz="900" dirty="0">
                <a:solidFill>
                  <a:schemeClr val="tx1"/>
                </a:solidFill>
              </a:endParaRP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A5EF6665-2687-282C-B979-942A55C0F88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flipH="1">
              <a:off x="8840009" y="2693076"/>
              <a:ext cx="171180" cy="188122"/>
            </a:xfrm>
            <a:prstGeom prst="rect">
              <a:avLst/>
            </a:prstGeom>
          </p:spPr>
        </p:pic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A1AB578-D3A3-0D69-7C11-468D7553FA4F}"/>
              </a:ext>
            </a:extLst>
          </p:cNvPr>
          <p:cNvGrpSpPr/>
          <p:nvPr/>
        </p:nvGrpSpPr>
        <p:grpSpPr>
          <a:xfrm>
            <a:off x="9688249" y="4021713"/>
            <a:ext cx="452146" cy="456681"/>
            <a:chOff x="9234888" y="2563772"/>
            <a:chExt cx="452146" cy="456681"/>
          </a:xfrm>
        </p:grpSpPr>
        <p:sp>
          <p:nvSpPr>
            <p:cNvPr id="56" name="Cylinder 55">
              <a:extLst>
                <a:ext uri="{FF2B5EF4-FFF2-40B4-BE49-F238E27FC236}">
                  <a16:creationId xmlns:a16="http://schemas.microsoft.com/office/drawing/2014/main" id="{07D672B9-F58E-34BE-F403-4BCC43C4B6B1}"/>
                </a:ext>
              </a:extLst>
            </p:cNvPr>
            <p:cNvSpPr/>
            <p:nvPr/>
          </p:nvSpPr>
          <p:spPr>
            <a:xfrm>
              <a:off x="9265692" y="2563772"/>
              <a:ext cx="421342" cy="456681"/>
            </a:xfrm>
            <a:prstGeom prst="can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rgbClr val="0070C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36000" rtlCol="0" anchor="ctr"/>
            <a:lstStyle/>
            <a:p>
              <a:pPr algn="r"/>
              <a:r>
                <a:rPr 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</a:t>
              </a:r>
              <a:r>
                <a:rPr lang="en-US" sz="7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Dyna</a:t>
              </a:r>
            </a:p>
            <a:p>
              <a:pPr algn="r"/>
              <a:r>
                <a:rPr lang="en-US" sz="7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moDB</a:t>
              </a:r>
              <a:endParaRPr lang="en-NZ" sz="8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pic>
          <p:nvPicPr>
            <p:cNvPr id="58" name="Picture 2" descr="Amazon DynamoDB - Wikipedia">
              <a:extLst>
                <a:ext uri="{FF2B5EF4-FFF2-40B4-BE49-F238E27FC236}">
                  <a16:creationId xmlns:a16="http://schemas.microsoft.com/office/drawing/2014/main" id="{68D7BA12-B45F-4996-2809-B5D99EBBBEA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34888" y="2674937"/>
              <a:ext cx="260774" cy="2362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210868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Rectangle 147">
            <a:extLst>
              <a:ext uri="{FF2B5EF4-FFF2-40B4-BE49-F238E27FC236}">
                <a16:creationId xmlns:a16="http://schemas.microsoft.com/office/drawing/2014/main" id="{CC9A2B0C-E1EB-DDE6-C0B3-7BD8ACB80D2E}"/>
              </a:ext>
            </a:extLst>
          </p:cNvPr>
          <p:cNvSpPr/>
          <p:nvPr/>
        </p:nvSpPr>
        <p:spPr>
          <a:xfrm>
            <a:off x="3351174" y="3678343"/>
            <a:ext cx="8170265" cy="168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NZ" dirty="0">
                <a:solidFill>
                  <a:schemeClr val="tx1"/>
                </a:solidFill>
              </a:rPr>
              <a:t>Message Delivery Confirmation</a:t>
            </a: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5C282A27-BF55-000A-0FF3-1965AE91FD02}"/>
              </a:ext>
            </a:extLst>
          </p:cNvPr>
          <p:cNvSpPr/>
          <p:nvPr/>
        </p:nvSpPr>
        <p:spPr>
          <a:xfrm>
            <a:off x="3351175" y="830580"/>
            <a:ext cx="8170265" cy="27897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NZ" dirty="0">
                <a:solidFill>
                  <a:schemeClr val="tx1"/>
                </a:solidFill>
              </a:rPr>
              <a:t>Reliable Message Sending</a:t>
            </a:r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19F9D48E-E98F-1F73-D305-C85697A29063}"/>
              </a:ext>
            </a:extLst>
          </p:cNvPr>
          <p:cNvGrpSpPr/>
          <p:nvPr/>
        </p:nvGrpSpPr>
        <p:grpSpPr>
          <a:xfrm>
            <a:off x="193284" y="985083"/>
            <a:ext cx="1242482" cy="1325733"/>
            <a:chOff x="588817" y="995618"/>
            <a:chExt cx="1242482" cy="1325733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858398B-CA17-CB5B-882A-CE05FB82F292}"/>
                </a:ext>
              </a:extLst>
            </p:cNvPr>
            <p:cNvSpPr/>
            <p:nvPr/>
          </p:nvSpPr>
          <p:spPr>
            <a:xfrm>
              <a:off x="1367978" y="2076136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37AF17B-B9EC-C0EE-C317-4BE4B731795E}"/>
                </a:ext>
              </a:extLst>
            </p:cNvPr>
            <p:cNvSpPr/>
            <p:nvPr/>
          </p:nvSpPr>
          <p:spPr>
            <a:xfrm>
              <a:off x="885968" y="2067931"/>
              <a:ext cx="145579" cy="14557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 sz="120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2AA576C4-7E7E-29B3-0DD3-182E82CF2A1A}"/>
                </a:ext>
              </a:extLst>
            </p:cNvPr>
            <p:cNvSpPr/>
            <p:nvPr/>
          </p:nvSpPr>
          <p:spPr>
            <a:xfrm>
              <a:off x="588818" y="995618"/>
              <a:ext cx="1242481" cy="1325733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Web</a:t>
              </a:r>
              <a:br>
                <a:rPr lang="en-US" sz="1200" dirty="0">
                  <a:solidFill>
                    <a:schemeClr val="tx1"/>
                  </a:solidFill>
                </a:rPr>
              </a:br>
              <a:r>
                <a:rPr lang="en-US" sz="1200" dirty="0">
                  <a:solidFill>
                    <a:schemeClr val="tx1"/>
                  </a:solidFill>
                </a:rPr>
                <a:t>Browsers</a:t>
              </a:r>
              <a:endParaRPr lang="en-NZ" sz="1200" dirty="0">
                <a:solidFill>
                  <a:schemeClr val="tx1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49E817D-D598-318A-6BBE-987C6DECE258}"/>
                </a:ext>
              </a:extLst>
            </p:cNvPr>
            <p:cNvSpPr txBox="1"/>
            <p:nvPr/>
          </p:nvSpPr>
          <p:spPr>
            <a:xfrm>
              <a:off x="588817" y="2057030"/>
              <a:ext cx="122832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>
                  <a:solidFill>
                    <a:schemeClr val="bg2">
                      <a:lumMod val="50000"/>
                    </a:schemeClr>
                  </a:solidFill>
                </a:rPr>
                <a:t>Chrome,  Firefox, </a:t>
              </a:r>
              <a:r>
                <a:rPr lang="en-US" sz="900" dirty="0" err="1">
                  <a:solidFill>
                    <a:schemeClr val="bg2">
                      <a:lumMod val="50000"/>
                    </a:schemeClr>
                  </a:solidFill>
                </a:rPr>
                <a:t>etc</a:t>
              </a:r>
              <a:endParaRPr lang="en-NZ" sz="9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CEC3D6FA-CFD7-DE60-DEA6-DCF6F6C136B6}"/>
                </a:ext>
              </a:extLst>
            </p:cNvPr>
            <p:cNvGrpSpPr/>
            <p:nvPr/>
          </p:nvGrpSpPr>
          <p:grpSpPr>
            <a:xfrm>
              <a:off x="789067" y="1404142"/>
              <a:ext cx="857947" cy="619153"/>
              <a:chOff x="789067" y="1612369"/>
              <a:chExt cx="857947" cy="619153"/>
            </a:xfrm>
          </p:grpSpPr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FC521CA0-7870-F423-1017-DF185DF6BF6F}"/>
                  </a:ext>
                </a:extLst>
              </p:cNvPr>
              <p:cNvSpPr/>
              <p:nvPr/>
            </p:nvSpPr>
            <p:spPr>
              <a:xfrm>
                <a:off x="789067" y="1612369"/>
                <a:ext cx="857947" cy="619153"/>
              </a:xfrm>
              <a:prstGeom prst="roundRect">
                <a:avLst>
                  <a:gd name="adj" fmla="val 9701"/>
                </a:avLst>
              </a:prstGeom>
              <a:solidFill>
                <a:srgbClr val="2B2C2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 sz="1200" dirty="0"/>
              </a:p>
            </p:txBody>
          </p:sp>
          <p:pic>
            <p:nvPicPr>
              <p:cNvPr id="21" name="Picture 6" descr="What is React JS? | Ironhack Blog">
                <a:extLst>
                  <a:ext uri="{FF2B5EF4-FFF2-40B4-BE49-F238E27FC236}">
                    <a16:creationId xmlns:a16="http://schemas.microsoft.com/office/drawing/2014/main" id="{3018FAF2-E35D-16F9-6528-07508791B48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6679" y="1776909"/>
                <a:ext cx="725292" cy="30307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3E38B9E1-E382-5B93-B33E-C502F12761B6}"/>
              </a:ext>
            </a:extLst>
          </p:cNvPr>
          <p:cNvSpPr txBox="1"/>
          <p:nvPr/>
        </p:nvSpPr>
        <p:spPr>
          <a:xfrm>
            <a:off x="7747705" y="1379832"/>
            <a:ext cx="115929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</a:t>
            </a:r>
            <a:r>
              <a:rPr lang="en-NZ" sz="1000" dirty="0" err="1"/>
              <a:t>EmailMessages</a:t>
            </a:r>
            <a:endParaRPr lang="en-NZ" sz="1000" dirty="0"/>
          </a:p>
        </p:txBody>
      </p: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805B6A06-F369-AF13-2C33-3F6063A377E3}"/>
              </a:ext>
            </a:extLst>
          </p:cNvPr>
          <p:cNvGrpSpPr/>
          <p:nvPr/>
        </p:nvGrpSpPr>
        <p:grpSpPr>
          <a:xfrm>
            <a:off x="8887040" y="1451829"/>
            <a:ext cx="2231314" cy="406788"/>
            <a:chOff x="8781059" y="4344282"/>
            <a:chExt cx="2231314" cy="406788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A374FF3-90B5-7BC0-FEA1-4627E37C7C86}"/>
                </a:ext>
              </a:extLst>
            </p:cNvPr>
            <p:cNvGrpSpPr/>
            <p:nvPr/>
          </p:nvGrpSpPr>
          <p:grpSpPr>
            <a:xfrm>
              <a:off x="8781059" y="4344282"/>
              <a:ext cx="1242435" cy="406788"/>
              <a:chOff x="7156883" y="5814395"/>
              <a:chExt cx="1591766" cy="517641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D8D2D9CC-F26E-2614-4B97-B5A29C3C3CA8}"/>
                  </a:ext>
                </a:extLst>
              </p:cNvPr>
              <p:cNvGrpSpPr/>
              <p:nvPr/>
            </p:nvGrpSpPr>
            <p:grpSpPr>
              <a:xfrm>
                <a:off x="7156883" y="5814395"/>
                <a:ext cx="1591766" cy="517641"/>
                <a:chOff x="7656619" y="5506371"/>
                <a:chExt cx="1591766" cy="517641"/>
              </a:xfrm>
            </p:grpSpPr>
            <p:sp>
              <p:nvSpPr>
                <p:cNvPr id="33" name="Cylinder 32">
                  <a:extLst>
                    <a:ext uri="{FF2B5EF4-FFF2-40B4-BE49-F238E27FC236}">
                      <a16:creationId xmlns:a16="http://schemas.microsoft.com/office/drawing/2014/main" id="{A43604E1-8CE8-84BE-6853-11071738B1E9}"/>
                    </a:ext>
                  </a:extLst>
                </p:cNvPr>
                <p:cNvSpPr/>
                <p:nvPr/>
              </p:nvSpPr>
              <p:spPr>
                <a:xfrm rot="5400000">
                  <a:off x="7543882" y="5627835"/>
                  <a:ext cx="508914" cy="283439"/>
                </a:xfrm>
                <a:prstGeom prst="can">
                  <a:avLst/>
                </a:prstGeom>
                <a:solidFill>
                  <a:srgbClr val="00B4E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4" name="Cylinder 33">
                  <a:extLst>
                    <a:ext uri="{FF2B5EF4-FFF2-40B4-BE49-F238E27FC236}">
                      <a16:creationId xmlns:a16="http://schemas.microsoft.com/office/drawing/2014/main" id="{E2036C0D-0927-CE8C-59B1-B747AB45E266}"/>
                    </a:ext>
                  </a:extLst>
                </p:cNvPr>
                <p:cNvSpPr/>
                <p:nvPr/>
              </p:nvSpPr>
              <p:spPr>
                <a:xfrm rot="5400000">
                  <a:off x="7872894" y="5627831"/>
                  <a:ext cx="508913" cy="283439"/>
                </a:xfrm>
                <a:prstGeom prst="can">
                  <a:avLst/>
                </a:prstGeom>
                <a:solidFill>
                  <a:srgbClr val="00B4E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5" name="Cylinder 34">
                  <a:extLst>
                    <a:ext uri="{FF2B5EF4-FFF2-40B4-BE49-F238E27FC236}">
                      <a16:creationId xmlns:a16="http://schemas.microsoft.com/office/drawing/2014/main" id="{1D4443CE-1A84-7A7F-5C97-3C32039472F9}"/>
                    </a:ext>
                  </a:extLst>
                </p:cNvPr>
                <p:cNvSpPr/>
                <p:nvPr/>
              </p:nvSpPr>
              <p:spPr>
                <a:xfrm rot="5400000">
                  <a:off x="8209897" y="5627834"/>
                  <a:ext cx="508913" cy="283439"/>
                </a:xfrm>
                <a:prstGeom prst="can">
                  <a:avLst/>
                </a:prstGeom>
                <a:solidFill>
                  <a:srgbClr val="96D9E2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6" name="Cylinder 35">
                  <a:extLst>
                    <a:ext uri="{FF2B5EF4-FFF2-40B4-BE49-F238E27FC236}">
                      <a16:creationId xmlns:a16="http://schemas.microsoft.com/office/drawing/2014/main" id="{F8E20C9C-93AB-2ADD-888B-96574880C368}"/>
                    </a:ext>
                  </a:extLst>
                </p:cNvPr>
                <p:cNvSpPr/>
                <p:nvPr/>
              </p:nvSpPr>
              <p:spPr>
                <a:xfrm rot="5400000">
                  <a:off x="8519833" y="5627834"/>
                  <a:ext cx="508912" cy="283439"/>
                </a:xfrm>
                <a:prstGeom prst="can">
                  <a:avLst/>
                </a:prstGeom>
                <a:solidFill>
                  <a:srgbClr val="96D9E2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7" name="Cylinder 36">
                  <a:extLst>
                    <a:ext uri="{FF2B5EF4-FFF2-40B4-BE49-F238E27FC236}">
                      <a16:creationId xmlns:a16="http://schemas.microsoft.com/office/drawing/2014/main" id="{6768C654-8516-AC19-A75B-0A1DEEC7C6D7}"/>
                    </a:ext>
                  </a:extLst>
                </p:cNvPr>
                <p:cNvSpPr/>
                <p:nvPr/>
              </p:nvSpPr>
              <p:spPr>
                <a:xfrm rot="5400000">
                  <a:off x="8852209" y="5619108"/>
                  <a:ext cx="508913" cy="283439"/>
                </a:xfrm>
                <a:prstGeom prst="can">
                  <a:avLst/>
                </a:prstGeom>
                <a:solidFill>
                  <a:srgbClr val="96D9E2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NZ" dirty="0"/>
                </a:p>
              </p:txBody>
            </p:sp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7862E33-19C8-7E5C-4181-94843EB828EC}"/>
                    </a:ext>
                  </a:extLst>
                </p:cNvPr>
                <p:cNvSpPr txBox="1"/>
                <p:nvPr/>
              </p:nvSpPr>
              <p:spPr>
                <a:xfrm>
                  <a:off x="8369951" y="5576118"/>
                  <a:ext cx="852979" cy="33290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dirty="0">
                      <a:effectLst>
                        <a:glow rad="101600">
                          <a:schemeClr val="bg1">
                            <a:alpha val="60000"/>
                          </a:schemeClr>
                        </a:glow>
                      </a:effectLst>
                    </a:rPr>
                    <a:t>Queues</a:t>
                  </a:r>
                  <a:endParaRPr lang="en-NZ" sz="1200" dirty="0">
                    <a:effectLst>
                      <a:glow rad="101600">
                        <a:schemeClr val="bg1">
                          <a:alpha val="60000"/>
                        </a:schemeClr>
                      </a:glow>
                    </a:effectLst>
                  </a:endParaRPr>
                </a:p>
              </p:txBody>
            </p:sp>
          </p:grpSp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4CE39ED0-1454-1944-C8FC-38A9C27AEA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236015" y="5920348"/>
                <a:ext cx="348582" cy="317597"/>
              </a:xfrm>
              <a:prstGeom prst="rect">
                <a:avLst/>
              </a:prstGeom>
            </p:spPr>
          </p:pic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AD38C339-22AD-F1E4-D54A-B6BCBD6D48A7}"/>
                </a:ext>
              </a:extLst>
            </p:cNvPr>
            <p:cNvGrpSpPr/>
            <p:nvPr/>
          </p:nvGrpSpPr>
          <p:grpSpPr>
            <a:xfrm>
              <a:off x="10053073" y="4351137"/>
              <a:ext cx="959300" cy="399929"/>
              <a:chOff x="7334798" y="4191253"/>
              <a:chExt cx="959300" cy="399929"/>
            </a:xfrm>
          </p:grpSpPr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A422FA4D-FEAC-B639-7374-05E1F501C49D}"/>
                  </a:ext>
                </a:extLst>
              </p:cNvPr>
              <p:cNvSpPr/>
              <p:nvPr/>
            </p:nvSpPr>
            <p:spPr>
              <a:xfrm>
                <a:off x="7334798" y="4191253"/>
                <a:ext cx="959300" cy="399929"/>
              </a:xfrm>
              <a:prstGeom prst="roundRect">
                <a:avLst>
                  <a:gd name="adj" fmla="val 6468"/>
                </a:avLst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sz="1000" dirty="0">
                    <a:solidFill>
                      <a:schemeClr val="tx1"/>
                    </a:solidFill>
                  </a:rPr>
                  <a:t>Functions</a:t>
                </a:r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67" name="Picture 4" descr="Azure Functions (@AzureFunctions) / Twitter">
                <a:extLst>
                  <a:ext uri="{FF2B5EF4-FFF2-40B4-BE49-F238E27FC236}">
                    <a16:creationId xmlns:a16="http://schemas.microsoft.com/office/drawing/2014/main" id="{5735C5A8-AEDC-9FC0-FE2D-D71C6DB6755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364438" y="4251747"/>
                <a:ext cx="278939" cy="27893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151" name="TextBox 150">
            <a:extLst>
              <a:ext uri="{FF2B5EF4-FFF2-40B4-BE49-F238E27FC236}">
                <a16:creationId xmlns:a16="http://schemas.microsoft.com/office/drawing/2014/main" id="{B0E19051-8B08-2093-839C-FF25C1416D25}"/>
              </a:ext>
            </a:extLst>
          </p:cNvPr>
          <p:cNvSpPr txBox="1"/>
          <p:nvPr/>
        </p:nvSpPr>
        <p:spPr>
          <a:xfrm>
            <a:off x="8846189" y="3628606"/>
            <a:ext cx="8707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+Email Data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D1F30FD8-3C5F-66D3-43AA-C8F69E367088}"/>
              </a:ext>
            </a:extLst>
          </p:cNvPr>
          <p:cNvSpPr txBox="1"/>
          <p:nvPr/>
        </p:nvSpPr>
        <p:spPr>
          <a:xfrm>
            <a:off x="267419" y="207034"/>
            <a:ext cx="31822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Email Delivery (Azure)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9CE5E8B-7050-54BB-4FEC-402F4067C4CB}"/>
              </a:ext>
            </a:extLst>
          </p:cNvPr>
          <p:cNvSpPr/>
          <p:nvPr/>
        </p:nvSpPr>
        <p:spPr>
          <a:xfrm>
            <a:off x="5506652" y="1494098"/>
            <a:ext cx="175950" cy="175950"/>
          </a:xfrm>
          <a:prstGeom prst="ellipse">
            <a:avLst/>
          </a:prstGeom>
          <a:solidFill>
            <a:srgbClr val="0078D7"/>
          </a:solidFill>
          <a:ln>
            <a:solidFill>
              <a:srgbClr val="0078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4D5B1FC5-355F-D779-27F2-0E1616741948}"/>
              </a:ext>
            </a:extLst>
          </p:cNvPr>
          <p:cNvSpPr/>
          <p:nvPr/>
        </p:nvSpPr>
        <p:spPr>
          <a:xfrm>
            <a:off x="4064171" y="2330002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6B99708-837C-E579-0827-22206F609EB9}"/>
              </a:ext>
            </a:extLst>
          </p:cNvPr>
          <p:cNvSpPr/>
          <p:nvPr/>
        </p:nvSpPr>
        <p:spPr>
          <a:xfrm>
            <a:off x="4070807" y="2896977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B44A569B-35FE-1BC1-9722-3ECC9E514393}"/>
              </a:ext>
            </a:extLst>
          </p:cNvPr>
          <p:cNvSpPr/>
          <p:nvPr/>
        </p:nvSpPr>
        <p:spPr>
          <a:xfrm>
            <a:off x="4058837" y="1110405"/>
            <a:ext cx="3710788" cy="3645563"/>
          </a:xfrm>
          <a:prstGeom prst="roundRect">
            <a:avLst>
              <a:gd name="adj" fmla="val 4576"/>
            </a:avLst>
          </a:prstGeom>
          <a:solidFill>
            <a:srgbClr val="0078D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200" dirty="0"/>
              <a:t>              </a:t>
            </a:r>
            <a:r>
              <a:rPr lang="en-US" sz="1200" dirty="0" err="1"/>
              <a:t>BackEnd</a:t>
            </a:r>
            <a:r>
              <a:rPr lang="en-US" sz="1200" dirty="0"/>
              <a:t> API Host (1)</a:t>
            </a:r>
            <a:endParaRPr lang="en-NZ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4C74057-B086-B52F-0A6F-A44483AC67D8}"/>
              </a:ext>
            </a:extLst>
          </p:cNvPr>
          <p:cNvSpPr/>
          <p:nvPr/>
        </p:nvSpPr>
        <p:spPr>
          <a:xfrm>
            <a:off x="4221541" y="1474510"/>
            <a:ext cx="1237773" cy="44587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Any API</a:t>
            </a:r>
            <a:endParaRPr lang="en-NZ" sz="1200" dirty="0">
              <a:solidFill>
                <a:schemeClr val="bg1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507010C-DE69-575A-0FED-FBCE2EB24490}"/>
              </a:ext>
            </a:extLst>
          </p:cNvPr>
          <p:cNvSpPr/>
          <p:nvPr/>
        </p:nvSpPr>
        <p:spPr>
          <a:xfrm>
            <a:off x="4214818" y="2984290"/>
            <a:ext cx="1221842" cy="44587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Ancillary API</a:t>
            </a:r>
            <a:endParaRPr lang="en-NZ" sz="1200" dirty="0">
              <a:solidFill>
                <a:schemeClr val="bg1"/>
              </a:solidFill>
            </a:endParaRPr>
          </a:p>
        </p:txBody>
      </p:sp>
      <p:pic>
        <p:nvPicPr>
          <p:cNvPr id="57" name="Picture 8" descr="App Service - Web App | Microsoft Azure Mono">
            <a:extLst>
              <a:ext uri="{FF2B5EF4-FFF2-40B4-BE49-F238E27FC236}">
                <a16:creationId xmlns:a16="http://schemas.microsoft.com/office/drawing/2014/main" id="{8AA66BF7-E839-2983-8626-E3F363685F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4078" y="4202155"/>
            <a:ext cx="450277" cy="450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3" name="Rectangle 122">
            <a:extLst>
              <a:ext uri="{FF2B5EF4-FFF2-40B4-BE49-F238E27FC236}">
                <a16:creationId xmlns:a16="http://schemas.microsoft.com/office/drawing/2014/main" id="{6DA5FEB2-D31D-D8E0-50E8-E4554192A373}"/>
              </a:ext>
            </a:extLst>
          </p:cNvPr>
          <p:cNvSpPr/>
          <p:nvPr/>
        </p:nvSpPr>
        <p:spPr>
          <a:xfrm>
            <a:off x="5887607" y="1805339"/>
            <a:ext cx="1757846" cy="30617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EmailNotificationsService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124" name="Straight Arrow Connector 38">
            <a:extLst>
              <a:ext uri="{FF2B5EF4-FFF2-40B4-BE49-F238E27FC236}">
                <a16:creationId xmlns:a16="http://schemas.microsoft.com/office/drawing/2014/main" id="{DF0440B5-6D0B-E640-63B2-459D806653A5}"/>
              </a:ext>
            </a:extLst>
          </p:cNvPr>
          <p:cNvCxnSpPr>
            <a:cxnSpLocks/>
            <a:stCxn id="49" idx="3"/>
            <a:endCxn id="5" idx="1"/>
          </p:cNvCxnSpPr>
          <p:nvPr/>
        </p:nvCxnSpPr>
        <p:spPr>
          <a:xfrm flipV="1">
            <a:off x="5459314" y="1402151"/>
            <a:ext cx="428292" cy="295296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8C982128-8DBE-1C9F-C7FB-CB8174C42D94}"/>
              </a:ext>
            </a:extLst>
          </p:cNvPr>
          <p:cNvGrpSpPr/>
          <p:nvPr/>
        </p:nvGrpSpPr>
        <p:grpSpPr>
          <a:xfrm>
            <a:off x="1759774" y="981082"/>
            <a:ext cx="2461767" cy="1886135"/>
            <a:chOff x="5142447" y="57977"/>
            <a:chExt cx="2461767" cy="1886135"/>
          </a:xfrm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746E4B18-59E7-1CA5-4EDD-D708F44E310A}"/>
                </a:ext>
              </a:extLst>
            </p:cNvPr>
            <p:cNvGrpSpPr/>
            <p:nvPr/>
          </p:nvGrpSpPr>
          <p:grpSpPr>
            <a:xfrm>
              <a:off x="5142447" y="57977"/>
              <a:ext cx="1463068" cy="1886135"/>
              <a:chOff x="2698106" y="3204587"/>
              <a:chExt cx="1463068" cy="1886135"/>
            </a:xfrm>
          </p:grpSpPr>
          <p:sp>
            <p:nvSpPr>
              <p:cNvPr id="263" name="Rectangle: Rounded Corners 262">
                <a:extLst>
                  <a:ext uri="{FF2B5EF4-FFF2-40B4-BE49-F238E27FC236}">
                    <a16:creationId xmlns:a16="http://schemas.microsoft.com/office/drawing/2014/main" id="{319EF625-F8BA-44B1-613A-AF4A23B0597C}"/>
                  </a:ext>
                </a:extLst>
              </p:cNvPr>
              <p:cNvSpPr/>
              <p:nvPr/>
            </p:nvSpPr>
            <p:spPr>
              <a:xfrm>
                <a:off x="2698106" y="3204587"/>
                <a:ext cx="1463068" cy="1886135"/>
              </a:xfrm>
              <a:prstGeom prst="roundRect">
                <a:avLst>
                  <a:gd name="adj" fmla="val 5101"/>
                </a:avLst>
              </a:prstGeom>
              <a:solidFill>
                <a:srgbClr val="0078D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</a:t>
                </a:r>
              </a:p>
              <a:p>
                <a:r>
                  <a:rPr lang="en-US" sz="1200" dirty="0"/>
                  <a:t>            4FrontEnd</a:t>
                </a:r>
              </a:p>
              <a:p>
                <a:r>
                  <a:rPr lang="en-US" sz="1200" dirty="0"/>
                  <a:t>                     Host</a:t>
                </a:r>
              </a:p>
            </p:txBody>
          </p:sp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26B2E57F-F4F3-8BFB-5050-AFB4A01591EB}"/>
                  </a:ext>
                </a:extLst>
              </p:cNvPr>
              <p:cNvSpPr/>
              <p:nvPr/>
            </p:nvSpPr>
            <p:spPr>
              <a:xfrm>
                <a:off x="2981500" y="3735851"/>
                <a:ext cx="1039660" cy="37985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Any API</a:t>
                </a:r>
                <a:endParaRPr lang="en-NZ" sz="1200" dirty="0"/>
              </a:p>
            </p:txBody>
          </p:sp>
          <p:pic>
            <p:nvPicPr>
              <p:cNvPr id="265" name="Picture 8" descr="App Service - Web App | Microsoft Azure Mono">
                <a:extLst>
                  <a:ext uri="{FF2B5EF4-FFF2-40B4-BE49-F238E27FC236}">
                    <a16:creationId xmlns:a16="http://schemas.microsoft.com/office/drawing/2014/main" id="{CF771138-2DD8-8859-11CD-D2B0378D640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78776" y="4550527"/>
                <a:ext cx="450277" cy="4173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cxnSp>
          <p:nvCxnSpPr>
            <p:cNvPr id="261" name="Straight Arrow Connector 38">
              <a:extLst>
                <a:ext uri="{FF2B5EF4-FFF2-40B4-BE49-F238E27FC236}">
                  <a16:creationId xmlns:a16="http://schemas.microsoft.com/office/drawing/2014/main" id="{328F0A6B-32E4-87C4-D3CD-3630061280E6}"/>
                </a:ext>
              </a:extLst>
            </p:cNvPr>
            <p:cNvCxnSpPr>
              <a:cxnSpLocks/>
              <a:stCxn id="264" idx="3"/>
              <a:endCxn id="49" idx="1"/>
            </p:cNvCxnSpPr>
            <p:nvPr/>
          </p:nvCxnSpPr>
          <p:spPr>
            <a:xfrm flipV="1">
              <a:off x="6465501" y="774342"/>
              <a:ext cx="1138713" cy="4828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cxnSp>
        <p:nvCxnSpPr>
          <p:cNvPr id="41" name="Straight Arrow Connector 38">
            <a:extLst>
              <a:ext uri="{FF2B5EF4-FFF2-40B4-BE49-F238E27FC236}">
                <a16:creationId xmlns:a16="http://schemas.microsoft.com/office/drawing/2014/main" id="{E6623D6C-8E4F-C492-4177-BAFC0DFC10CC}"/>
              </a:ext>
            </a:extLst>
          </p:cNvPr>
          <p:cNvCxnSpPr>
            <a:cxnSpLocks/>
            <a:stCxn id="19" idx="3"/>
            <a:endCxn id="264" idx="1"/>
          </p:cNvCxnSpPr>
          <p:nvPr/>
        </p:nvCxnSpPr>
        <p:spPr>
          <a:xfrm flipV="1">
            <a:off x="1251481" y="1702275"/>
            <a:ext cx="791687" cy="909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3" name="Straight Arrow Connector 29">
            <a:extLst>
              <a:ext uri="{FF2B5EF4-FFF2-40B4-BE49-F238E27FC236}">
                <a16:creationId xmlns:a16="http://schemas.microsoft.com/office/drawing/2014/main" id="{D253527E-4D96-7836-BDCE-B942CD4E4131}"/>
              </a:ext>
            </a:extLst>
          </p:cNvPr>
          <p:cNvCxnSpPr>
            <a:cxnSpLocks/>
            <a:stCxn id="53" idx="1"/>
            <a:endCxn id="66" idx="3"/>
          </p:cNvCxnSpPr>
          <p:nvPr/>
        </p:nvCxnSpPr>
        <p:spPr>
          <a:xfrm rot="10800000" flipH="1">
            <a:off x="4214818" y="1658649"/>
            <a:ext cx="6903536" cy="1548578"/>
          </a:xfrm>
          <a:prstGeom prst="bentConnector5">
            <a:avLst>
              <a:gd name="adj1" fmla="val -6060"/>
              <a:gd name="adj2" fmla="val 28460"/>
              <a:gd name="adj3" fmla="val 103311"/>
            </a:avLst>
          </a:prstGeom>
          <a:ln w="19050" cap="flat" cmpd="sng" algn="ctr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A702916-4ECA-D538-85DD-333AE12FB0C7}"/>
              </a:ext>
            </a:extLst>
          </p:cNvPr>
          <p:cNvGrpSpPr/>
          <p:nvPr/>
        </p:nvGrpSpPr>
        <p:grpSpPr>
          <a:xfrm>
            <a:off x="10086233" y="2974714"/>
            <a:ext cx="1111013" cy="1781254"/>
            <a:chOff x="6116204" y="4946699"/>
            <a:chExt cx="1111013" cy="1781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9DD06C0-7047-79B3-1E9F-8455DB71531E}"/>
                </a:ext>
              </a:extLst>
            </p:cNvPr>
            <p:cNvSpPr/>
            <p:nvPr/>
          </p:nvSpPr>
          <p:spPr>
            <a:xfrm>
              <a:off x="6116204" y="4946699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400" dirty="0">
                  <a:solidFill>
                    <a:schemeClr val="bg2">
                      <a:lumMod val="75000"/>
                    </a:schemeClr>
                  </a:solidFill>
                </a:rPr>
                <a:t>Email Delivery</a:t>
              </a:r>
              <a:endParaRPr lang="en-NZ" sz="6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AFA002A-BCFB-A07D-E58C-0941D444E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rot="20400000">
              <a:off x="6219420" y="5789055"/>
              <a:ext cx="918256" cy="24988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4C66A33-6C7E-73B6-29E3-59291DBB7B2C}"/>
                </a:ext>
              </a:extLst>
            </p:cNvPr>
            <p:cNvSpPr/>
            <p:nvPr/>
          </p:nvSpPr>
          <p:spPr>
            <a:xfrm rot="20400000">
              <a:off x="6215253" y="6097598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pic>
          <p:nvPicPr>
            <p:cNvPr id="22" name="Picture 18" descr="Postmark - Our Preferred Transactional Email Provider for WordPress">
              <a:extLst>
                <a:ext uri="{FF2B5EF4-FFF2-40B4-BE49-F238E27FC236}">
                  <a16:creationId xmlns:a16="http://schemas.microsoft.com/office/drawing/2014/main" id="{3ECCD4AC-C871-9D25-D355-0A49394F949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E002"/>
                </a:clrFrom>
                <a:clrTo>
                  <a:srgbClr val="FFE002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4105" b="28369"/>
            <a:stretch/>
          </p:blipFill>
          <p:spPr bwMode="auto">
            <a:xfrm rot="20400000">
              <a:off x="6170163" y="5448651"/>
              <a:ext cx="1016770" cy="27061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23" name="Picture 20" descr="How to setup Mailgun for WordPress - AcyMailing Blog">
              <a:extLst>
                <a:ext uri="{FF2B5EF4-FFF2-40B4-BE49-F238E27FC236}">
                  <a16:creationId xmlns:a16="http://schemas.microsoft.com/office/drawing/2014/main" id="{6B6380D7-918E-3E9F-077B-E29E9C8A4F0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323" t="29275" r="19487" b="29494"/>
            <a:stretch/>
          </p:blipFill>
          <p:spPr bwMode="auto">
            <a:xfrm rot="20400000">
              <a:off x="6253877" y="5175754"/>
              <a:ext cx="849344" cy="21363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55E7DE66-A73C-5AB5-D3F4-3255C6DBE4B7}"/>
              </a:ext>
            </a:extLst>
          </p:cNvPr>
          <p:cNvSpPr/>
          <p:nvPr/>
        </p:nvSpPr>
        <p:spPr>
          <a:xfrm>
            <a:off x="5893805" y="3243916"/>
            <a:ext cx="1747319" cy="30617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IEmailDeliveryService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B23A060-2295-8A91-A893-601BAD9637F7}"/>
              </a:ext>
            </a:extLst>
          </p:cNvPr>
          <p:cNvCxnSpPr>
            <a:cxnSpLocks/>
            <a:stCxn id="53" idx="3"/>
            <a:endCxn id="27" idx="1"/>
          </p:cNvCxnSpPr>
          <p:nvPr/>
        </p:nvCxnSpPr>
        <p:spPr>
          <a:xfrm>
            <a:off x="5436660" y="3207227"/>
            <a:ext cx="457145" cy="189778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6D6FF735-4DAD-0CFF-F385-05CB0CD5D088}"/>
              </a:ext>
            </a:extLst>
          </p:cNvPr>
          <p:cNvSpPr/>
          <p:nvPr/>
        </p:nvSpPr>
        <p:spPr>
          <a:xfrm>
            <a:off x="5893556" y="2317376"/>
            <a:ext cx="1745173" cy="30617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IEmailSchedulingService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72" name="Straight Arrow Connector 38">
            <a:extLst>
              <a:ext uri="{FF2B5EF4-FFF2-40B4-BE49-F238E27FC236}">
                <a16:creationId xmlns:a16="http://schemas.microsoft.com/office/drawing/2014/main" id="{CF0AE3C9-FCBE-186C-0D81-23ECF8E89574}"/>
              </a:ext>
            </a:extLst>
          </p:cNvPr>
          <p:cNvCxnSpPr>
            <a:cxnSpLocks/>
            <a:stCxn id="123" idx="2"/>
            <a:endCxn id="43" idx="0"/>
          </p:cNvCxnSpPr>
          <p:nvPr/>
        </p:nvCxnSpPr>
        <p:spPr>
          <a:xfrm rot="5400000">
            <a:off x="6663407" y="2214253"/>
            <a:ext cx="205860" cy="387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E850715-C4EE-B4B4-4479-CF6F52577F94}"/>
              </a:ext>
            </a:extLst>
          </p:cNvPr>
          <p:cNvSpPr txBox="1"/>
          <p:nvPr/>
        </p:nvSpPr>
        <p:spPr>
          <a:xfrm>
            <a:off x="10548932" y="2417977"/>
            <a:ext cx="77136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00" dirty="0"/>
              <a:t>+5 replays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C0045E-9A80-4E1C-F40E-114AEB2C1868}"/>
              </a:ext>
            </a:extLst>
          </p:cNvPr>
          <p:cNvSpPr/>
          <p:nvPr/>
        </p:nvSpPr>
        <p:spPr>
          <a:xfrm>
            <a:off x="5887606" y="1249062"/>
            <a:ext cx="1757846" cy="30617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INotificationsService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7" name="Straight Arrow Connector 38">
            <a:extLst>
              <a:ext uri="{FF2B5EF4-FFF2-40B4-BE49-F238E27FC236}">
                <a16:creationId xmlns:a16="http://schemas.microsoft.com/office/drawing/2014/main" id="{F5B40357-D618-3A80-278F-7F5E37C989D0}"/>
              </a:ext>
            </a:extLst>
          </p:cNvPr>
          <p:cNvCxnSpPr>
            <a:cxnSpLocks/>
            <a:stCxn id="5" idx="2"/>
            <a:endCxn id="123" idx="0"/>
          </p:cNvCxnSpPr>
          <p:nvPr/>
        </p:nvCxnSpPr>
        <p:spPr>
          <a:xfrm rot="16200000" flipH="1">
            <a:off x="6641479" y="1680288"/>
            <a:ext cx="250100" cy="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Straight Arrow Connector 29">
            <a:extLst>
              <a:ext uri="{FF2B5EF4-FFF2-40B4-BE49-F238E27FC236}">
                <a16:creationId xmlns:a16="http://schemas.microsoft.com/office/drawing/2014/main" id="{2487AE29-09FA-E0B9-3624-FBE19DED6341}"/>
              </a:ext>
            </a:extLst>
          </p:cNvPr>
          <p:cNvCxnSpPr>
            <a:cxnSpLocks/>
            <a:stCxn id="33" idx="3"/>
            <a:endCxn id="43" idx="3"/>
          </p:cNvCxnSpPr>
          <p:nvPr/>
        </p:nvCxnSpPr>
        <p:spPr>
          <a:xfrm rot="10800000" flipV="1">
            <a:off x="7638729" y="1658651"/>
            <a:ext cx="1248312" cy="811813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8" name="Straight Arrow Connector 29">
            <a:extLst>
              <a:ext uri="{FF2B5EF4-FFF2-40B4-BE49-F238E27FC236}">
                <a16:creationId xmlns:a16="http://schemas.microsoft.com/office/drawing/2014/main" id="{668DD861-FCE8-C55C-0E2C-DD55DFDA929C}"/>
              </a:ext>
            </a:extLst>
          </p:cNvPr>
          <p:cNvCxnSpPr>
            <a:cxnSpLocks/>
            <a:stCxn id="13" idx="1"/>
            <a:endCxn id="27" idx="3"/>
          </p:cNvCxnSpPr>
          <p:nvPr/>
        </p:nvCxnSpPr>
        <p:spPr>
          <a:xfrm rot="10800000">
            <a:off x="7641125" y="3397005"/>
            <a:ext cx="2445109" cy="468336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bg2">
                <a:lumMod val="50000"/>
              </a:schemeClr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4D66CF74-B7A3-FD5A-FEEE-E0E99F3427BA}"/>
              </a:ext>
            </a:extLst>
          </p:cNvPr>
          <p:cNvSpPr/>
          <p:nvPr/>
        </p:nvSpPr>
        <p:spPr>
          <a:xfrm>
            <a:off x="4209643" y="3674024"/>
            <a:ext cx="1221842" cy="44587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bg1"/>
                </a:solidFill>
              </a:rPr>
              <a:t>e.g.Mailgun</a:t>
            </a:r>
            <a:r>
              <a:rPr lang="en-US" sz="1200" dirty="0">
                <a:solidFill>
                  <a:schemeClr val="bg1"/>
                </a:solidFill>
              </a:rPr>
              <a:t> API</a:t>
            </a:r>
            <a:endParaRPr lang="en-NZ" sz="1200" dirty="0">
              <a:solidFill>
                <a:schemeClr val="bg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6782774-851F-CEDC-D988-DC1D2437E040}"/>
              </a:ext>
            </a:extLst>
          </p:cNvPr>
          <p:cNvSpPr/>
          <p:nvPr/>
        </p:nvSpPr>
        <p:spPr>
          <a:xfrm>
            <a:off x="5900528" y="2880051"/>
            <a:ext cx="1747319" cy="30617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IEmailDeliveryRepository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62" name="Straight Arrow Connector 38">
            <a:extLst>
              <a:ext uri="{FF2B5EF4-FFF2-40B4-BE49-F238E27FC236}">
                <a16:creationId xmlns:a16="http://schemas.microsoft.com/office/drawing/2014/main" id="{503FCA6F-3900-4E90-05D2-637A76274EEA}"/>
              </a:ext>
            </a:extLst>
          </p:cNvPr>
          <p:cNvCxnSpPr>
            <a:cxnSpLocks/>
            <a:stCxn id="53" idx="3"/>
            <a:endCxn id="61" idx="1"/>
          </p:cNvCxnSpPr>
          <p:nvPr/>
        </p:nvCxnSpPr>
        <p:spPr>
          <a:xfrm flipV="1">
            <a:off x="5436660" y="3033140"/>
            <a:ext cx="463868" cy="174087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ED726FC5-61D5-46AA-DA1F-C4B65A79B3F0}"/>
              </a:ext>
            </a:extLst>
          </p:cNvPr>
          <p:cNvSpPr txBox="1"/>
          <p:nvPr/>
        </p:nvSpPr>
        <p:spPr>
          <a:xfrm>
            <a:off x="8287684" y="4638390"/>
            <a:ext cx="129394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50" dirty="0"/>
              <a:t>+ Webhook Events</a:t>
            </a:r>
          </a:p>
        </p:txBody>
      </p:sp>
      <p:cxnSp>
        <p:nvCxnSpPr>
          <p:cNvPr id="99" name="Straight Arrow Connector 29">
            <a:extLst>
              <a:ext uri="{FF2B5EF4-FFF2-40B4-BE49-F238E27FC236}">
                <a16:creationId xmlns:a16="http://schemas.microsoft.com/office/drawing/2014/main" id="{DAACB764-FD7F-1947-3321-644C1799E088}"/>
              </a:ext>
            </a:extLst>
          </p:cNvPr>
          <p:cNvCxnSpPr>
            <a:cxnSpLocks/>
            <a:stCxn id="3" idx="1"/>
            <a:endCxn id="13" idx="3"/>
          </p:cNvCxnSpPr>
          <p:nvPr/>
        </p:nvCxnSpPr>
        <p:spPr>
          <a:xfrm rot="10800000" flipH="1">
            <a:off x="4209642" y="3865341"/>
            <a:ext cx="6987603" cy="31620"/>
          </a:xfrm>
          <a:prstGeom prst="bentConnector5">
            <a:avLst>
              <a:gd name="adj1" fmla="val -6111"/>
              <a:gd name="adj2" fmla="val -3126199"/>
              <a:gd name="adj3" fmla="val 103272"/>
            </a:avLst>
          </a:prstGeom>
          <a:ln w="19050" cap="flat" cmpd="sng" algn="ctr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13" name="Graphic 112" descr="Badge 1 with solid fill">
            <a:extLst>
              <a:ext uri="{FF2B5EF4-FFF2-40B4-BE49-F238E27FC236}">
                <a16:creationId xmlns:a16="http://schemas.microsoft.com/office/drawing/2014/main" id="{E9682060-2C56-351E-F297-D70FA139860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69760" y="1112793"/>
            <a:ext cx="445873" cy="445873"/>
          </a:xfrm>
          <a:prstGeom prst="rect">
            <a:avLst/>
          </a:prstGeom>
        </p:spPr>
      </p:pic>
      <p:sp>
        <p:nvSpPr>
          <p:cNvPr id="120" name="Rectangle 119">
            <a:extLst>
              <a:ext uri="{FF2B5EF4-FFF2-40B4-BE49-F238E27FC236}">
                <a16:creationId xmlns:a16="http://schemas.microsoft.com/office/drawing/2014/main" id="{C2BE556D-AAB9-65D3-AF4B-F8AB14C8B564}"/>
              </a:ext>
            </a:extLst>
          </p:cNvPr>
          <p:cNvSpPr/>
          <p:nvPr/>
        </p:nvSpPr>
        <p:spPr>
          <a:xfrm>
            <a:off x="5885708" y="3744412"/>
            <a:ext cx="1747319" cy="30617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IEmailDeliveryRepository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121" name="Straight Arrow Connector 38">
            <a:extLst>
              <a:ext uri="{FF2B5EF4-FFF2-40B4-BE49-F238E27FC236}">
                <a16:creationId xmlns:a16="http://schemas.microsoft.com/office/drawing/2014/main" id="{0F750BF9-D49B-E197-03A7-4A52FC43A95B}"/>
              </a:ext>
            </a:extLst>
          </p:cNvPr>
          <p:cNvCxnSpPr>
            <a:cxnSpLocks/>
            <a:stCxn id="3" idx="3"/>
            <a:endCxn id="120" idx="1"/>
          </p:cNvCxnSpPr>
          <p:nvPr/>
        </p:nvCxnSpPr>
        <p:spPr>
          <a:xfrm>
            <a:off x="5431485" y="3896961"/>
            <a:ext cx="454223" cy="540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37" name="Graphic 136" descr="Badge with solid fill">
            <a:extLst>
              <a:ext uri="{FF2B5EF4-FFF2-40B4-BE49-F238E27FC236}">
                <a16:creationId xmlns:a16="http://schemas.microsoft.com/office/drawing/2014/main" id="{B123BBB5-CF43-2223-A59B-6976627D717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93200" y="1697446"/>
            <a:ext cx="445873" cy="445873"/>
          </a:xfrm>
          <a:prstGeom prst="rect">
            <a:avLst/>
          </a:prstGeom>
        </p:spPr>
      </p:pic>
      <p:pic>
        <p:nvPicPr>
          <p:cNvPr id="138" name="Graphic 137" descr="Badge 3 with solid fill">
            <a:extLst>
              <a:ext uri="{FF2B5EF4-FFF2-40B4-BE49-F238E27FC236}">
                <a16:creationId xmlns:a16="http://schemas.microsoft.com/office/drawing/2014/main" id="{D6EE0F57-8851-CF14-6EFF-761C86D5C7B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356529" y="2872799"/>
            <a:ext cx="445873" cy="445873"/>
          </a:xfrm>
          <a:prstGeom prst="rect">
            <a:avLst/>
          </a:prstGeom>
        </p:spPr>
      </p:pic>
      <p:pic>
        <p:nvPicPr>
          <p:cNvPr id="139" name="Graphic 138" descr="Badge 4 with solid fill">
            <a:extLst>
              <a:ext uri="{FF2B5EF4-FFF2-40B4-BE49-F238E27FC236}">
                <a16:creationId xmlns:a16="http://schemas.microsoft.com/office/drawing/2014/main" id="{F8E0B45E-4ECC-E92D-2A39-0674E020B99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887040" y="3173248"/>
            <a:ext cx="445873" cy="445873"/>
          </a:xfrm>
          <a:prstGeom prst="rect">
            <a:avLst/>
          </a:prstGeom>
        </p:spPr>
      </p:pic>
      <p:pic>
        <p:nvPicPr>
          <p:cNvPr id="145" name="Graphic 144" descr="Badge 5 with solid fill">
            <a:extLst>
              <a:ext uri="{FF2B5EF4-FFF2-40B4-BE49-F238E27FC236}">
                <a16:creationId xmlns:a16="http://schemas.microsoft.com/office/drawing/2014/main" id="{4CDF0917-8F32-0A0C-D891-D804CFFFDAC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5785" y="4162446"/>
            <a:ext cx="445873" cy="445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6494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151">
            <a:extLst>
              <a:ext uri="{FF2B5EF4-FFF2-40B4-BE49-F238E27FC236}">
                <a16:creationId xmlns:a16="http://schemas.microsoft.com/office/drawing/2014/main" id="{D1F30FD8-3C5F-66D3-43AA-C8F69E367088}"/>
              </a:ext>
            </a:extLst>
          </p:cNvPr>
          <p:cNvSpPr txBox="1"/>
          <p:nvPr/>
        </p:nvSpPr>
        <p:spPr>
          <a:xfrm>
            <a:off x="267419" y="207034"/>
            <a:ext cx="57534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Authenticating a Person with Credentials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9CE5E8B-7050-54BB-4FEC-402F4067C4CB}"/>
              </a:ext>
            </a:extLst>
          </p:cNvPr>
          <p:cNvSpPr/>
          <p:nvPr/>
        </p:nvSpPr>
        <p:spPr>
          <a:xfrm>
            <a:off x="8141204" y="3055474"/>
            <a:ext cx="175950" cy="175950"/>
          </a:xfrm>
          <a:prstGeom prst="ellipse">
            <a:avLst/>
          </a:prstGeom>
          <a:solidFill>
            <a:srgbClr val="0078D7"/>
          </a:solidFill>
          <a:ln>
            <a:solidFill>
              <a:srgbClr val="0078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4D5B1FC5-355F-D779-27F2-0E1616741948}"/>
              </a:ext>
            </a:extLst>
          </p:cNvPr>
          <p:cNvSpPr/>
          <p:nvPr/>
        </p:nvSpPr>
        <p:spPr>
          <a:xfrm>
            <a:off x="6698723" y="3891378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6B99708-837C-E579-0827-22206F609EB9}"/>
              </a:ext>
            </a:extLst>
          </p:cNvPr>
          <p:cNvSpPr/>
          <p:nvPr/>
        </p:nvSpPr>
        <p:spPr>
          <a:xfrm>
            <a:off x="6705359" y="4458353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B44A569B-35FE-1BC1-9722-3ECC9E514393}"/>
              </a:ext>
            </a:extLst>
          </p:cNvPr>
          <p:cNvSpPr/>
          <p:nvPr/>
        </p:nvSpPr>
        <p:spPr>
          <a:xfrm>
            <a:off x="6693389" y="2671782"/>
            <a:ext cx="3710788" cy="2869587"/>
          </a:xfrm>
          <a:prstGeom prst="roundRect">
            <a:avLst>
              <a:gd name="adj" fmla="val 4576"/>
            </a:avLst>
          </a:prstGeom>
          <a:solidFill>
            <a:srgbClr val="0078D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200" dirty="0"/>
              <a:t>              </a:t>
            </a:r>
            <a:r>
              <a:rPr lang="en-US" sz="1200" dirty="0" err="1"/>
              <a:t>BackEnd</a:t>
            </a:r>
            <a:r>
              <a:rPr lang="en-US" sz="1200" dirty="0"/>
              <a:t> API Host (1)</a:t>
            </a:r>
            <a:endParaRPr lang="en-NZ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4C74057-B086-B52F-0A6F-A44483AC67D8}"/>
              </a:ext>
            </a:extLst>
          </p:cNvPr>
          <p:cNvSpPr/>
          <p:nvPr/>
        </p:nvSpPr>
        <p:spPr>
          <a:xfrm>
            <a:off x="6856093" y="3035886"/>
            <a:ext cx="1237773" cy="44587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Identity API</a:t>
            </a:r>
            <a:endParaRPr lang="en-NZ" sz="1200" dirty="0">
              <a:solidFill>
                <a:schemeClr val="bg1"/>
              </a:solidFill>
            </a:endParaRPr>
          </a:p>
        </p:txBody>
      </p:sp>
      <p:pic>
        <p:nvPicPr>
          <p:cNvPr id="57" name="Picture 8" descr="App Service - Web App | Microsoft Azure Mono">
            <a:extLst>
              <a:ext uri="{FF2B5EF4-FFF2-40B4-BE49-F238E27FC236}">
                <a16:creationId xmlns:a16="http://schemas.microsoft.com/office/drawing/2014/main" id="{8AA66BF7-E839-2983-8626-E3F363685F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6633" y="4945038"/>
            <a:ext cx="450277" cy="450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4" name="Straight Arrow Connector 38">
            <a:extLst>
              <a:ext uri="{FF2B5EF4-FFF2-40B4-BE49-F238E27FC236}">
                <a16:creationId xmlns:a16="http://schemas.microsoft.com/office/drawing/2014/main" id="{DF0440B5-6D0B-E640-63B2-459D806653A5}"/>
              </a:ext>
            </a:extLst>
          </p:cNvPr>
          <p:cNvCxnSpPr>
            <a:cxnSpLocks/>
            <a:stCxn id="49" idx="3"/>
            <a:endCxn id="5" idx="1"/>
          </p:cNvCxnSpPr>
          <p:nvPr/>
        </p:nvCxnSpPr>
        <p:spPr>
          <a:xfrm flipV="1">
            <a:off x="8093866" y="3020931"/>
            <a:ext cx="425318" cy="237892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8C982128-8DBE-1C9F-C7FB-CB8174C42D94}"/>
              </a:ext>
            </a:extLst>
          </p:cNvPr>
          <p:cNvGrpSpPr/>
          <p:nvPr/>
        </p:nvGrpSpPr>
        <p:grpSpPr>
          <a:xfrm>
            <a:off x="3285359" y="2542458"/>
            <a:ext cx="3570734" cy="1886135"/>
            <a:chOff x="5142447" y="57977"/>
            <a:chExt cx="3570734" cy="1886135"/>
          </a:xfrm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746E4B18-59E7-1CA5-4EDD-D708F44E310A}"/>
                </a:ext>
              </a:extLst>
            </p:cNvPr>
            <p:cNvGrpSpPr/>
            <p:nvPr/>
          </p:nvGrpSpPr>
          <p:grpSpPr>
            <a:xfrm>
              <a:off x="5142447" y="57977"/>
              <a:ext cx="1463068" cy="1886135"/>
              <a:chOff x="2698106" y="3204587"/>
              <a:chExt cx="1463068" cy="1886135"/>
            </a:xfrm>
          </p:grpSpPr>
          <p:sp>
            <p:nvSpPr>
              <p:cNvPr id="263" name="Rectangle: Rounded Corners 262">
                <a:extLst>
                  <a:ext uri="{FF2B5EF4-FFF2-40B4-BE49-F238E27FC236}">
                    <a16:creationId xmlns:a16="http://schemas.microsoft.com/office/drawing/2014/main" id="{319EF625-F8BA-44B1-613A-AF4A23B0597C}"/>
                  </a:ext>
                </a:extLst>
              </p:cNvPr>
              <p:cNvSpPr/>
              <p:nvPr/>
            </p:nvSpPr>
            <p:spPr>
              <a:xfrm>
                <a:off x="2698106" y="3204587"/>
                <a:ext cx="1463068" cy="1886135"/>
              </a:xfrm>
              <a:prstGeom prst="roundRect">
                <a:avLst>
                  <a:gd name="adj" fmla="val 5101"/>
                </a:avLst>
              </a:prstGeom>
              <a:solidFill>
                <a:srgbClr val="0078D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</a:t>
                </a:r>
              </a:p>
              <a:p>
                <a:r>
                  <a:rPr lang="en-US" sz="1200" dirty="0"/>
                  <a:t>            4FrontEnd</a:t>
                </a:r>
              </a:p>
              <a:p>
                <a:r>
                  <a:rPr lang="en-US" sz="1200" dirty="0"/>
                  <a:t>                     Host</a:t>
                </a:r>
              </a:p>
            </p:txBody>
          </p:sp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26B2E57F-F4F3-8BFB-5050-AFB4A01591EB}"/>
                  </a:ext>
                </a:extLst>
              </p:cNvPr>
              <p:cNvSpPr/>
              <p:nvPr/>
            </p:nvSpPr>
            <p:spPr>
              <a:xfrm>
                <a:off x="2981500" y="3735851"/>
                <a:ext cx="1039660" cy="37985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AuthN</a:t>
                </a:r>
                <a:r>
                  <a:rPr lang="en-US" sz="1200" dirty="0"/>
                  <a:t> API</a:t>
                </a:r>
                <a:endParaRPr lang="en-NZ" sz="1200" dirty="0"/>
              </a:p>
            </p:txBody>
          </p:sp>
          <p:pic>
            <p:nvPicPr>
              <p:cNvPr id="265" name="Picture 8" descr="App Service - Web App | Microsoft Azure Mono">
                <a:extLst>
                  <a:ext uri="{FF2B5EF4-FFF2-40B4-BE49-F238E27FC236}">
                    <a16:creationId xmlns:a16="http://schemas.microsoft.com/office/drawing/2014/main" id="{CF771138-2DD8-8859-11CD-D2B0378D640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78776" y="4550527"/>
                <a:ext cx="450277" cy="4173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cxnSp>
          <p:nvCxnSpPr>
            <p:cNvPr id="261" name="Straight Arrow Connector 38">
              <a:extLst>
                <a:ext uri="{FF2B5EF4-FFF2-40B4-BE49-F238E27FC236}">
                  <a16:creationId xmlns:a16="http://schemas.microsoft.com/office/drawing/2014/main" id="{328F0A6B-32E4-87C4-D3CD-3630061280E6}"/>
                </a:ext>
              </a:extLst>
            </p:cNvPr>
            <p:cNvCxnSpPr>
              <a:cxnSpLocks/>
              <a:stCxn id="264" idx="3"/>
              <a:endCxn id="49" idx="1"/>
            </p:cNvCxnSpPr>
            <p:nvPr/>
          </p:nvCxnSpPr>
          <p:spPr>
            <a:xfrm flipV="1">
              <a:off x="6465501" y="774342"/>
              <a:ext cx="2247680" cy="4828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cxnSp>
        <p:nvCxnSpPr>
          <p:cNvPr id="41" name="Straight Arrow Connector 38">
            <a:extLst>
              <a:ext uri="{FF2B5EF4-FFF2-40B4-BE49-F238E27FC236}">
                <a16:creationId xmlns:a16="http://schemas.microsoft.com/office/drawing/2014/main" id="{E6623D6C-8E4F-C492-4177-BAFC0DFC10CC}"/>
              </a:ext>
            </a:extLst>
          </p:cNvPr>
          <p:cNvCxnSpPr>
            <a:cxnSpLocks/>
            <a:stCxn id="29" idx="3"/>
            <a:endCxn id="264" idx="1"/>
          </p:cNvCxnSpPr>
          <p:nvPr/>
        </p:nvCxnSpPr>
        <p:spPr>
          <a:xfrm flipV="1">
            <a:off x="1291002" y="3263651"/>
            <a:ext cx="2277751" cy="2964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95C3B309-7F55-4448-C689-6CD0EE4188AC}"/>
              </a:ext>
            </a:extLst>
          </p:cNvPr>
          <p:cNvSpPr/>
          <p:nvPr/>
        </p:nvSpPr>
        <p:spPr>
          <a:xfrm>
            <a:off x="6975031" y="128744"/>
            <a:ext cx="999895" cy="1353781"/>
          </a:xfrm>
          <a:prstGeom prst="roundRect">
            <a:avLst>
              <a:gd name="adj" fmla="val 8177"/>
            </a:avLst>
          </a:prstGeom>
          <a:solidFill>
            <a:schemeClr val="bg2"/>
          </a:solidFill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3rd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Party API </a:t>
            </a:r>
            <a:r>
              <a:rPr lang="en-US" sz="1100" dirty="0">
                <a:solidFill>
                  <a:schemeClr val="tx1"/>
                </a:solidFill>
              </a:rPr>
              <a:t>Integrations</a:t>
            </a:r>
            <a:endParaRPr lang="en-NZ" sz="1200" dirty="0">
              <a:solidFill>
                <a:schemeClr val="tx1"/>
              </a:solidFill>
            </a:endParaRPr>
          </a:p>
        </p:txBody>
      </p:sp>
      <p:cxnSp>
        <p:nvCxnSpPr>
          <p:cNvPr id="86" name="Straight Arrow Connector 38">
            <a:extLst>
              <a:ext uri="{FF2B5EF4-FFF2-40B4-BE49-F238E27FC236}">
                <a16:creationId xmlns:a16="http://schemas.microsoft.com/office/drawing/2014/main" id="{10A707C5-5C85-53FB-C42B-04C349808B96}"/>
              </a:ext>
            </a:extLst>
          </p:cNvPr>
          <p:cNvCxnSpPr>
            <a:cxnSpLocks/>
            <a:stCxn id="85" idx="2"/>
            <a:endCxn id="49" idx="0"/>
          </p:cNvCxnSpPr>
          <p:nvPr/>
        </p:nvCxnSpPr>
        <p:spPr>
          <a:xfrm rot="16200000" flipH="1">
            <a:off x="6698299" y="2259204"/>
            <a:ext cx="1553361" cy="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5DC0045E-9A80-4E1C-F40E-114AEB2C1868}"/>
              </a:ext>
            </a:extLst>
          </p:cNvPr>
          <p:cNvSpPr/>
          <p:nvPr/>
        </p:nvSpPr>
        <p:spPr>
          <a:xfrm>
            <a:off x="8519184" y="2810438"/>
            <a:ext cx="1757846" cy="42098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>
                <a:solidFill>
                  <a:schemeClr val="tx1"/>
                </a:solidFill>
              </a:rPr>
              <a:t>IPasswordCredentials</a:t>
            </a:r>
            <a:endParaRPr lang="en-US" sz="1000" dirty="0">
              <a:solidFill>
                <a:schemeClr val="tx1"/>
              </a:solidFill>
            </a:endParaRP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.Authenticate</a:t>
            </a:r>
            <a:endParaRPr lang="en-US" sz="1000" dirty="0">
              <a:solidFill>
                <a:schemeClr val="tx1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0BC41C9-83F4-7EA7-723D-23E001DC3BA0}"/>
              </a:ext>
            </a:extLst>
          </p:cNvPr>
          <p:cNvGrpSpPr/>
          <p:nvPr/>
        </p:nvGrpSpPr>
        <p:grpSpPr>
          <a:xfrm>
            <a:off x="1729808" y="3659850"/>
            <a:ext cx="1503337" cy="599712"/>
            <a:chOff x="335225" y="2298310"/>
            <a:chExt cx="1503337" cy="59971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2EB2843-3307-AFF6-9EEF-7502FF60561C}"/>
                </a:ext>
              </a:extLst>
            </p:cNvPr>
            <p:cNvSpPr txBox="1"/>
            <p:nvPr/>
          </p:nvSpPr>
          <p:spPr>
            <a:xfrm>
              <a:off x="518970" y="2320941"/>
              <a:ext cx="1319592" cy="577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50" dirty="0"/>
                <a:t>Cookie: auth-</a:t>
              </a:r>
              <a:r>
                <a:rPr lang="en-NZ" sz="1050" dirty="0" err="1"/>
                <a:t>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Cookie: auth-</a:t>
              </a:r>
              <a:r>
                <a:rPr lang="en-NZ" sz="1050" dirty="0" err="1"/>
                <a:t>reftok</a:t>
              </a:r>
              <a:endParaRPr lang="en-NZ" sz="1050" dirty="0"/>
            </a:p>
          </p:txBody>
        </p:sp>
        <p:pic>
          <p:nvPicPr>
            <p:cNvPr id="10" name="Graphic 9" descr="Gingerbread cookie with solid fill">
              <a:extLst>
                <a:ext uri="{FF2B5EF4-FFF2-40B4-BE49-F238E27FC236}">
                  <a16:creationId xmlns:a16="http://schemas.microsoft.com/office/drawing/2014/main" id="{25AD677D-0263-FE22-A861-4894A50C90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8472" y="2298310"/>
              <a:ext cx="281781" cy="281781"/>
            </a:xfrm>
            <a:prstGeom prst="rect">
              <a:avLst/>
            </a:prstGeom>
          </p:spPr>
        </p:pic>
        <p:pic>
          <p:nvPicPr>
            <p:cNvPr id="11" name="Graphic 10" descr="Gingerbread cookie with solid fill">
              <a:extLst>
                <a:ext uri="{FF2B5EF4-FFF2-40B4-BE49-F238E27FC236}">
                  <a16:creationId xmlns:a16="http://schemas.microsoft.com/office/drawing/2014/main" id="{352C9F25-6957-0FF0-70BD-72A21893C8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25" y="2596450"/>
              <a:ext cx="281781" cy="281781"/>
            </a:xfrm>
            <a:prstGeom prst="rect">
              <a:avLst/>
            </a:prstGeom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716CC9C-A435-F7A6-4F09-D353BE3DADFC}"/>
              </a:ext>
            </a:extLst>
          </p:cNvPr>
          <p:cNvGrpSpPr/>
          <p:nvPr/>
        </p:nvGrpSpPr>
        <p:grpSpPr>
          <a:xfrm>
            <a:off x="143689" y="2503177"/>
            <a:ext cx="1147313" cy="1526876"/>
            <a:chOff x="232914" y="643346"/>
            <a:chExt cx="1147313" cy="1526876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0CECC3D-7FD8-E732-900E-3D31718429E8}"/>
                </a:ext>
              </a:extLst>
            </p:cNvPr>
            <p:cNvSpPr/>
            <p:nvPr/>
          </p:nvSpPr>
          <p:spPr>
            <a:xfrm>
              <a:off x="232914" y="643346"/>
              <a:ext cx="1147313" cy="1526876"/>
            </a:xfrm>
            <a:prstGeom prst="rect">
              <a:avLst/>
            </a:prstGeom>
            <a:solidFill>
              <a:schemeClr val="bg2"/>
            </a:solidFill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2000" dirty="0">
                  <a:solidFill>
                    <a:schemeClr val="tx1"/>
                  </a:solidFill>
                </a:rPr>
                <a:t>Sign-in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9574DB1-9155-5CA6-CC05-78BF5175D774}"/>
                </a:ext>
              </a:extLst>
            </p:cNvPr>
            <p:cNvSpPr txBox="1"/>
            <p:nvPr/>
          </p:nvSpPr>
          <p:spPr>
            <a:xfrm>
              <a:off x="334462" y="1237095"/>
              <a:ext cx="918841" cy="2769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Username: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1E0F100-4F08-BB12-2FB0-AB1BA5A5AE78}"/>
                </a:ext>
              </a:extLst>
            </p:cNvPr>
            <p:cNvSpPr txBox="1"/>
            <p:nvPr/>
          </p:nvSpPr>
          <p:spPr>
            <a:xfrm>
              <a:off x="334462" y="1544074"/>
              <a:ext cx="918841" cy="2769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NZ" sz="1200" dirty="0"/>
                <a:t>Password:</a:t>
              </a:r>
            </a:p>
          </p:txBody>
        </p:sp>
      </p:grpSp>
      <p:pic>
        <p:nvPicPr>
          <p:cNvPr id="82" name="Graphic 81" descr="Badge 8 with solid fill">
            <a:extLst>
              <a:ext uri="{FF2B5EF4-FFF2-40B4-BE49-F238E27FC236}">
                <a16:creationId xmlns:a16="http://schemas.microsoft.com/office/drawing/2014/main" id="{B23FE497-DC73-C369-C5C2-6E3B85F075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44675" y="3676269"/>
            <a:ext cx="445873" cy="445873"/>
          </a:xfrm>
          <a:prstGeom prst="rect">
            <a:avLst/>
          </a:prstGeom>
        </p:spPr>
      </p:pic>
      <p:pic>
        <p:nvPicPr>
          <p:cNvPr id="90" name="Graphic 89" descr="Badge 6 with solid fill">
            <a:extLst>
              <a:ext uri="{FF2B5EF4-FFF2-40B4-BE49-F238E27FC236}">
                <a16:creationId xmlns:a16="http://schemas.microsoft.com/office/drawing/2014/main" id="{6B0BF8B9-7336-9BDC-9DE8-83A9CC5548B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74970" y="4031932"/>
            <a:ext cx="445873" cy="445873"/>
          </a:xfrm>
          <a:prstGeom prst="rect">
            <a:avLst/>
          </a:prstGeom>
        </p:spPr>
      </p:pic>
      <p:pic>
        <p:nvPicPr>
          <p:cNvPr id="92" name="Graphic 91" descr="Badge with solid fill">
            <a:extLst>
              <a:ext uri="{FF2B5EF4-FFF2-40B4-BE49-F238E27FC236}">
                <a16:creationId xmlns:a16="http://schemas.microsoft.com/office/drawing/2014/main" id="{37BA1F29-B5AA-2358-3B8F-3D0530BF02E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36270" y="2360377"/>
            <a:ext cx="445873" cy="445873"/>
          </a:xfrm>
          <a:prstGeom prst="rect">
            <a:avLst/>
          </a:prstGeom>
        </p:spPr>
      </p:pic>
      <p:pic>
        <p:nvPicPr>
          <p:cNvPr id="94" name="Graphic 93" descr="Badge 3 with solid fill">
            <a:extLst>
              <a:ext uri="{FF2B5EF4-FFF2-40B4-BE49-F238E27FC236}">
                <a16:creationId xmlns:a16="http://schemas.microsoft.com/office/drawing/2014/main" id="{84E1A214-AA52-514F-5E99-A0AF50F32AF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474970" y="2378604"/>
            <a:ext cx="445873" cy="445873"/>
          </a:xfrm>
          <a:prstGeom prst="rect">
            <a:avLst/>
          </a:prstGeom>
        </p:spPr>
      </p:pic>
      <p:pic>
        <p:nvPicPr>
          <p:cNvPr id="98" name="Graphic 97" descr="Badge 1 with solid fill">
            <a:extLst>
              <a:ext uri="{FF2B5EF4-FFF2-40B4-BE49-F238E27FC236}">
                <a16:creationId xmlns:a16="http://schemas.microsoft.com/office/drawing/2014/main" id="{393192CA-1A7F-895A-9FD5-DEC43265E9CC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7466" y="2036358"/>
            <a:ext cx="445873" cy="445873"/>
          </a:xfrm>
          <a:prstGeom prst="rect">
            <a:avLst/>
          </a:prstGeom>
        </p:spPr>
      </p:pic>
      <p:pic>
        <p:nvPicPr>
          <p:cNvPr id="100" name="Graphic 99" descr="Badge 7 with solid fill">
            <a:extLst>
              <a:ext uri="{FF2B5EF4-FFF2-40B4-BE49-F238E27FC236}">
                <a16:creationId xmlns:a16="http://schemas.microsoft.com/office/drawing/2014/main" id="{156A0CE7-8EE5-1969-47FF-5ED69D713F6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389735" y="3436913"/>
            <a:ext cx="445873" cy="445873"/>
          </a:xfrm>
          <a:prstGeom prst="rect">
            <a:avLst/>
          </a:prstGeom>
        </p:spPr>
      </p:pic>
      <p:grpSp>
        <p:nvGrpSpPr>
          <p:cNvPr id="101" name="Group 100">
            <a:extLst>
              <a:ext uri="{FF2B5EF4-FFF2-40B4-BE49-F238E27FC236}">
                <a16:creationId xmlns:a16="http://schemas.microsoft.com/office/drawing/2014/main" id="{9A58BF62-7CE7-B079-0E58-2CA5C2DF2554}"/>
              </a:ext>
            </a:extLst>
          </p:cNvPr>
          <p:cNvGrpSpPr/>
          <p:nvPr/>
        </p:nvGrpSpPr>
        <p:grpSpPr>
          <a:xfrm>
            <a:off x="10153668" y="5911468"/>
            <a:ext cx="1932705" cy="516007"/>
            <a:chOff x="9194001" y="3088730"/>
            <a:chExt cx="1932705" cy="516007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872289D9-DBAD-CD3B-77C2-205671D73CFD}"/>
                </a:ext>
              </a:extLst>
            </p:cNvPr>
            <p:cNvSpPr/>
            <p:nvPr/>
          </p:nvSpPr>
          <p:spPr>
            <a:xfrm>
              <a:off x="9194001" y="3088730"/>
              <a:ext cx="1932705" cy="5160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NZ" dirty="0">
                  <a:solidFill>
                    <a:schemeClr val="bg2">
                      <a:lumMod val="75000"/>
                    </a:schemeClr>
                  </a:solidFill>
                </a:rPr>
                <a:t>Data</a:t>
              </a:r>
            </a:p>
          </p:txBody>
        </p: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CDCF46B4-A68F-D951-5691-E8E737C13197}"/>
                </a:ext>
              </a:extLst>
            </p:cNvPr>
            <p:cNvGrpSpPr/>
            <p:nvPr/>
          </p:nvGrpSpPr>
          <p:grpSpPr>
            <a:xfrm>
              <a:off x="9763593" y="3119600"/>
              <a:ext cx="516948" cy="456681"/>
              <a:chOff x="8813773" y="3114097"/>
              <a:chExt cx="516948" cy="456681"/>
            </a:xfrm>
          </p:grpSpPr>
          <p:sp>
            <p:nvSpPr>
              <p:cNvPr id="107" name="Cylinder 106">
                <a:extLst>
                  <a:ext uri="{FF2B5EF4-FFF2-40B4-BE49-F238E27FC236}">
                    <a16:creationId xmlns:a16="http://schemas.microsoft.com/office/drawing/2014/main" id="{6475B00F-EF49-CA43-2E5F-BFE98D8E1E64}"/>
                  </a:ext>
                </a:extLst>
              </p:cNvPr>
              <p:cNvSpPr/>
              <p:nvPr/>
            </p:nvSpPr>
            <p:spPr>
              <a:xfrm>
                <a:off x="8813773" y="3114097"/>
                <a:ext cx="516948" cy="456681"/>
              </a:xfrm>
              <a:prstGeom prst="can">
                <a:avLst/>
              </a:prstGeom>
              <a:solidFill>
                <a:schemeClr val="bg1">
                  <a:lumMod val="65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36000" rtlCol="0" anchor="ctr"/>
              <a:lstStyle/>
              <a:p>
                <a:pPr algn="r"/>
                <a:r>
                  <a:rPr 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Table </a:t>
                </a:r>
                <a:r>
                  <a:rPr lang="en-US" sz="8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Storage</a:t>
                </a:r>
                <a:endParaRPr lang="en-NZ" sz="9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74A9404A-92EE-3C6E-39FC-A3DF3FCC48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833187" y="3243336"/>
                <a:ext cx="192678" cy="151968"/>
              </a:xfrm>
              <a:prstGeom prst="rect">
                <a:avLst/>
              </a:prstGeom>
            </p:spPr>
          </p:pic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86D25FBF-36B8-7EED-1E45-A9817F5858C7}"/>
                </a:ext>
              </a:extLst>
            </p:cNvPr>
            <p:cNvGrpSpPr/>
            <p:nvPr/>
          </p:nvGrpSpPr>
          <p:grpSpPr>
            <a:xfrm>
              <a:off x="9220741" y="3113848"/>
              <a:ext cx="516948" cy="456681"/>
              <a:chOff x="8813773" y="2558797"/>
              <a:chExt cx="516948" cy="456681"/>
            </a:xfrm>
          </p:grpSpPr>
          <p:sp>
            <p:nvSpPr>
              <p:cNvPr id="105" name="Cylinder 104">
                <a:extLst>
                  <a:ext uri="{FF2B5EF4-FFF2-40B4-BE49-F238E27FC236}">
                    <a16:creationId xmlns:a16="http://schemas.microsoft.com/office/drawing/2014/main" id="{94FD5AC2-B1D1-CDB8-FC78-FE52C15745A8}"/>
                  </a:ext>
                </a:extLst>
              </p:cNvPr>
              <p:cNvSpPr/>
              <p:nvPr/>
            </p:nvSpPr>
            <p:spPr>
              <a:xfrm>
                <a:off x="8813773" y="2558797"/>
                <a:ext cx="516948" cy="456681"/>
              </a:xfrm>
              <a:prstGeom prst="can">
                <a:avLst/>
              </a:prstGeom>
              <a:solidFill>
                <a:srgbClr val="BB1932"/>
              </a:solidFill>
              <a:ln>
                <a:solidFill>
                  <a:srgbClr val="74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36000" rtlCol="0" anchor="ctr"/>
              <a:lstStyle/>
              <a:p>
                <a:pPr algn="r"/>
                <a:r>
                  <a:rPr lang="en-US" sz="900" dirty="0">
                    <a:solidFill>
                      <a:schemeClr val="tx1"/>
                    </a:solidFill>
                  </a:rPr>
                  <a:t>Azure SQL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9B62692-C3BE-E3FE-5CDA-9F28E22650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829354" y="2735984"/>
                <a:ext cx="182393" cy="176250"/>
              </a:xfrm>
              <a:prstGeom prst="rect">
                <a:avLst/>
              </a:prstGeom>
              <a:ln>
                <a:noFill/>
              </a:ln>
            </p:spPr>
          </p:pic>
        </p:grpSp>
      </p:grpSp>
      <p:sp>
        <p:nvSpPr>
          <p:cNvPr id="110" name="Rectangle 109">
            <a:extLst>
              <a:ext uri="{FF2B5EF4-FFF2-40B4-BE49-F238E27FC236}">
                <a16:creationId xmlns:a16="http://schemas.microsoft.com/office/drawing/2014/main" id="{F826D727-9153-8301-4416-309635D33170}"/>
              </a:ext>
            </a:extLst>
          </p:cNvPr>
          <p:cNvSpPr/>
          <p:nvPr/>
        </p:nvSpPr>
        <p:spPr>
          <a:xfrm>
            <a:off x="8519184" y="4195614"/>
            <a:ext cx="1757846" cy="3061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VerifyPassword</a:t>
            </a:r>
            <a:endParaRPr lang="en-NZ" sz="1050" dirty="0">
              <a:solidFill>
                <a:schemeClr val="tx1"/>
              </a:solidFill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093BE42-DFF1-952A-CCE1-559413C805B3}"/>
              </a:ext>
            </a:extLst>
          </p:cNvPr>
          <p:cNvSpPr/>
          <p:nvPr/>
        </p:nvSpPr>
        <p:spPr>
          <a:xfrm>
            <a:off x="8519184" y="4634302"/>
            <a:ext cx="1757846" cy="62431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IAuthTokensService</a:t>
            </a:r>
            <a:endParaRPr lang="en-NZ" sz="1050" dirty="0">
              <a:solidFill>
                <a:schemeClr val="tx1"/>
              </a:solidFill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21D2592-678F-11CF-F2F3-F5D254977F72}"/>
              </a:ext>
            </a:extLst>
          </p:cNvPr>
          <p:cNvSpPr/>
          <p:nvPr/>
        </p:nvSpPr>
        <p:spPr>
          <a:xfrm>
            <a:off x="8598000" y="4874890"/>
            <a:ext cx="1602311" cy="3061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CreateJWTTokens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119" name="Straight Arrow Connector 38">
            <a:extLst>
              <a:ext uri="{FF2B5EF4-FFF2-40B4-BE49-F238E27FC236}">
                <a16:creationId xmlns:a16="http://schemas.microsoft.com/office/drawing/2014/main" id="{FA9ACAEE-11C0-E6CB-FCC9-67EBDAA1749C}"/>
              </a:ext>
            </a:extLst>
          </p:cNvPr>
          <p:cNvCxnSpPr>
            <a:cxnSpLocks/>
            <a:stCxn id="118" idx="1"/>
            <a:endCxn id="49" idx="2"/>
          </p:cNvCxnSpPr>
          <p:nvPr/>
        </p:nvCxnSpPr>
        <p:spPr>
          <a:xfrm rot="10800000">
            <a:off x="7474980" y="3481759"/>
            <a:ext cx="1123020" cy="1546220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E26BE6BD-1F6A-B8D6-966D-6DAB8B549040}"/>
              </a:ext>
            </a:extLst>
          </p:cNvPr>
          <p:cNvSpPr txBox="1"/>
          <p:nvPr/>
        </p:nvSpPr>
        <p:spPr>
          <a:xfrm>
            <a:off x="5051200" y="3653109"/>
            <a:ext cx="147348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JSON: </a:t>
            </a:r>
            <a:r>
              <a:rPr lang="en-NZ" sz="1050" dirty="0" err="1"/>
              <a:t>access_token</a:t>
            </a:r>
            <a:r>
              <a:rPr lang="en-NZ" sz="1050" dirty="0"/>
              <a:t>, </a:t>
            </a:r>
          </a:p>
          <a:p>
            <a:pPr algn="ctr"/>
            <a:r>
              <a:rPr lang="en-NZ" sz="1050" dirty="0" err="1"/>
              <a:t>refresh_token</a:t>
            </a:r>
            <a:endParaRPr lang="en-NZ" sz="1050" dirty="0"/>
          </a:p>
        </p:txBody>
      </p:sp>
      <p:sp>
        <p:nvSpPr>
          <p:cNvPr id="130" name="Arrow: Right 129">
            <a:extLst>
              <a:ext uri="{FF2B5EF4-FFF2-40B4-BE49-F238E27FC236}">
                <a16:creationId xmlns:a16="http://schemas.microsoft.com/office/drawing/2014/main" id="{CBDCF013-E556-2DA2-70B4-ADEFC7E1CE9E}"/>
              </a:ext>
            </a:extLst>
          </p:cNvPr>
          <p:cNvSpPr/>
          <p:nvPr/>
        </p:nvSpPr>
        <p:spPr>
          <a:xfrm>
            <a:off x="4944543" y="2909893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1" name="Arrow: Right 130">
            <a:extLst>
              <a:ext uri="{FF2B5EF4-FFF2-40B4-BE49-F238E27FC236}">
                <a16:creationId xmlns:a16="http://schemas.microsoft.com/office/drawing/2014/main" id="{8C4915BC-5E4A-BC81-E465-1DD366F4A4D1}"/>
              </a:ext>
            </a:extLst>
          </p:cNvPr>
          <p:cNvSpPr/>
          <p:nvPr/>
        </p:nvSpPr>
        <p:spPr>
          <a:xfrm flipH="1">
            <a:off x="4941088" y="3403905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2977101-7F6A-5EE4-6026-469C217C8E64}"/>
              </a:ext>
            </a:extLst>
          </p:cNvPr>
          <p:cNvSpPr txBox="1"/>
          <p:nvPr/>
        </p:nvSpPr>
        <p:spPr>
          <a:xfrm>
            <a:off x="4918448" y="2720604"/>
            <a:ext cx="160492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(username + password)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0BF259-4EB6-7100-AE21-759BB385F7BA}"/>
              </a:ext>
            </a:extLst>
          </p:cNvPr>
          <p:cNvSpPr/>
          <p:nvPr/>
        </p:nvSpPr>
        <p:spPr>
          <a:xfrm>
            <a:off x="8519184" y="3429000"/>
            <a:ext cx="1757846" cy="58961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IEndUsersService</a:t>
            </a:r>
            <a:endParaRPr lang="en-NZ" sz="1050" dirty="0">
              <a:solidFill>
                <a:schemeClr val="tx1"/>
              </a:solidFill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6DA5FEB2-D31D-D8E0-50E8-E4554192A373}"/>
              </a:ext>
            </a:extLst>
          </p:cNvPr>
          <p:cNvSpPr/>
          <p:nvPr/>
        </p:nvSpPr>
        <p:spPr>
          <a:xfrm>
            <a:off x="8600661" y="3653109"/>
            <a:ext cx="1598404" cy="3061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Lookup User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72" name="Straight Arrow Connector 38">
            <a:extLst>
              <a:ext uri="{FF2B5EF4-FFF2-40B4-BE49-F238E27FC236}">
                <a16:creationId xmlns:a16="http://schemas.microsoft.com/office/drawing/2014/main" id="{CF0AE3C9-FCBE-186C-0D81-23ECF8E89574}"/>
              </a:ext>
            </a:extLst>
          </p:cNvPr>
          <p:cNvCxnSpPr>
            <a:cxnSpLocks/>
            <a:stCxn id="123" idx="2"/>
            <a:endCxn id="110" idx="0"/>
          </p:cNvCxnSpPr>
          <p:nvPr/>
        </p:nvCxnSpPr>
        <p:spPr>
          <a:xfrm rot="5400000">
            <a:off x="9280821" y="4076572"/>
            <a:ext cx="236328" cy="1756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3" name="Straight Arrow Connector 38">
            <a:extLst>
              <a:ext uri="{FF2B5EF4-FFF2-40B4-BE49-F238E27FC236}">
                <a16:creationId xmlns:a16="http://schemas.microsoft.com/office/drawing/2014/main" id="{3202A95C-B16F-D660-C5DC-16BAD34973CD}"/>
              </a:ext>
            </a:extLst>
          </p:cNvPr>
          <p:cNvCxnSpPr>
            <a:cxnSpLocks/>
            <a:stCxn id="110" idx="3"/>
            <a:endCxn id="102" idx="0"/>
          </p:cNvCxnSpPr>
          <p:nvPr/>
        </p:nvCxnSpPr>
        <p:spPr>
          <a:xfrm>
            <a:off x="10277030" y="4348703"/>
            <a:ext cx="842991" cy="1562765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6" name="Straight Arrow Connector 38">
            <a:extLst>
              <a:ext uri="{FF2B5EF4-FFF2-40B4-BE49-F238E27FC236}">
                <a16:creationId xmlns:a16="http://schemas.microsoft.com/office/drawing/2014/main" id="{5D664BA5-556E-8EC4-054D-A7BA43ECAA90}"/>
              </a:ext>
            </a:extLst>
          </p:cNvPr>
          <p:cNvCxnSpPr>
            <a:cxnSpLocks/>
            <a:stCxn id="123" idx="3"/>
          </p:cNvCxnSpPr>
          <p:nvPr/>
        </p:nvCxnSpPr>
        <p:spPr>
          <a:xfrm>
            <a:off x="10199065" y="3806198"/>
            <a:ext cx="1202360" cy="2105270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1" name="Straight Arrow Connector 38">
            <a:extLst>
              <a:ext uri="{FF2B5EF4-FFF2-40B4-BE49-F238E27FC236}">
                <a16:creationId xmlns:a16="http://schemas.microsoft.com/office/drawing/2014/main" id="{91A833AC-AD07-59AD-4FB1-295EACF7FDBA}"/>
              </a:ext>
            </a:extLst>
          </p:cNvPr>
          <p:cNvCxnSpPr>
            <a:cxnSpLocks/>
            <a:stCxn id="110" idx="2"/>
            <a:endCxn id="118" idx="0"/>
          </p:cNvCxnSpPr>
          <p:nvPr/>
        </p:nvCxnSpPr>
        <p:spPr>
          <a:xfrm rot="16200000" flipH="1">
            <a:off x="9212082" y="4687815"/>
            <a:ext cx="373099" cy="1049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Arrow Connector 38">
            <a:extLst>
              <a:ext uri="{FF2B5EF4-FFF2-40B4-BE49-F238E27FC236}">
                <a16:creationId xmlns:a16="http://schemas.microsoft.com/office/drawing/2014/main" id="{F5B40357-D618-3A80-278F-7F5E37C989D0}"/>
              </a:ext>
            </a:extLst>
          </p:cNvPr>
          <p:cNvCxnSpPr>
            <a:cxnSpLocks/>
            <a:stCxn id="5" idx="2"/>
            <a:endCxn id="123" idx="0"/>
          </p:cNvCxnSpPr>
          <p:nvPr/>
        </p:nvCxnSpPr>
        <p:spPr>
          <a:xfrm rot="16200000" flipH="1">
            <a:off x="9188143" y="3441388"/>
            <a:ext cx="421685" cy="1756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2" name="Arrow: Bent 171">
            <a:extLst>
              <a:ext uri="{FF2B5EF4-FFF2-40B4-BE49-F238E27FC236}">
                <a16:creationId xmlns:a16="http://schemas.microsoft.com/office/drawing/2014/main" id="{F87CFA6E-ED8D-A017-68AF-4F7FAC112CD5}"/>
              </a:ext>
            </a:extLst>
          </p:cNvPr>
          <p:cNvSpPr/>
          <p:nvPr/>
        </p:nvSpPr>
        <p:spPr>
          <a:xfrm rot="16200000">
            <a:off x="7198892" y="3909610"/>
            <a:ext cx="1395719" cy="701910"/>
          </a:xfrm>
          <a:prstGeom prst="ben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>
              <a:solidFill>
                <a:schemeClr val="tx1"/>
              </a:solidFill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30C69977-FD62-26CE-E94C-1046A85E3D1C}"/>
              </a:ext>
            </a:extLst>
          </p:cNvPr>
          <p:cNvSpPr txBox="1"/>
          <p:nvPr/>
        </p:nvSpPr>
        <p:spPr>
          <a:xfrm rot="16200000">
            <a:off x="7426841" y="4047120"/>
            <a:ext cx="1064714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 err="1"/>
              <a:t>access_token</a:t>
            </a:r>
            <a:r>
              <a:rPr lang="en-NZ" sz="1050" dirty="0"/>
              <a:t>, </a:t>
            </a:r>
          </a:p>
          <a:p>
            <a:pPr algn="ctr"/>
            <a:r>
              <a:rPr lang="en-NZ" sz="1050" dirty="0" err="1"/>
              <a:t>refresh_token</a:t>
            </a:r>
            <a:endParaRPr lang="en-NZ" sz="1050" dirty="0"/>
          </a:p>
        </p:txBody>
      </p:sp>
      <p:sp>
        <p:nvSpPr>
          <p:cNvPr id="174" name="Arrow: Right 173">
            <a:extLst>
              <a:ext uri="{FF2B5EF4-FFF2-40B4-BE49-F238E27FC236}">
                <a16:creationId xmlns:a16="http://schemas.microsoft.com/office/drawing/2014/main" id="{34F6021B-42A3-B3C6-7C4E-B11800E25E5F}"/>
              </a:ext>
            </a:extLst>
          </p:cNvPr>
          <p:cNvSpPr/>
          <p:nvPr/>
        </p:nvSpPr>
        <p:spPr>
          <a:xfrm flipH="1">
            <a:off x="1549828" y="3403905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75" name="Arrow: Right 174">
            <a:extLst>
              <a:ext uri="{FF2B5EF4-FFF2-40B4-BE49-F238E27FC236}">
                <a16:creationId xmlns:a16="http://schemas.microsoft.com/office/drawing/2014/main" id="{8755E453-427F-385B-B10A-1C8299794CDC}"/>
              </a:ext>
            </a:extLst>
          </p:cNvPr>
          <p:cNvSpPr/>
          <p:nvPr/>
        </p:nvSpPr>
        <p:spPr>
          <a:xfrm>
            <a:off x="1558568" y="2909893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B5FDDB6A-1943-D138-0DD7-6C7744612BBD}"/>
              </a:ext>
            </a:extLst>
          </p:cNvPr>
          <p:cNvSpPr txBox="1"/>
          <p:nvPr/>
        </p:nvSpPr>
        <p:spPr>
          <a:xfrm>
            <a:off x="1532473" y="2720604"/>
            <a:ext cx="160492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(username + password)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7D471276-CD4F-8D90-7130-1616E2895021}"/>
              </a:ext>
            </a:extLst>
          </p:cNvPr>
          <p:cNvSpPr txBox="1"/>
          <p:nvPr/>
        </p:nvSpPr>
        <p:spPr>
          <a:xfrm>
            <a:off x="3733823" y="3532891"/>
            <a:ext cx="98296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Bake cookies</a:t>
            </a:r>
          </a:p>
        </p:txBody>
      </p:sp>
      <p:sp>
        <p:nvSpPr>
          <p:cNvPr id="178" name="Arrow: Right 177">
            <a:extLst>
              <a:ext uri="{FF2B5EF4-FFF2-40B4-BE49-F238E27FC236}">
                <a16:creationId xmlns:a16="http://schemas.microsoft.com/office/drawing/2014/main" id="{07C2C3E5-A548-0A57-26B7-56E18AAD3C84}"/>
              </a:ext>
            </a:extLst>
          </p:cNvPr>
          <p:cNvSpPr/>
          <p:nvPr/>
        </p:nvSpPr>
        <p:spPr>
          <a:xfrm rot="5400000">
            <a:off x="7160770" y="1956716"/>
            <a:ext cx="1042572" cy="290836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9181B0E-D4BD-0846-7002-8FFFB8A7D733}"/>
              </a:ext>
            </a:extLst>
          </p:cNvPr>
          <p:cNvSpPr txBox="1"/>
          <p:nvPr/>
        </p:nvSpPr>
        <p:spPr>
          <a:xfrm>
            <a:off x="7660944" y="1824723"/>
            <a:ext cx="96051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(username</a:t>
            </a:r>
          </a:p>
          <a:p>
            <a:pPr algn="ctr"/>
            <a:r>
              <a:rPr lang="en-NZ" sz="1050" dirty="0"/>
              <a:t> + password)</a:t>
            </a:r>
          </a:p>
        </p:txBody>
      </p:sp>
      <p:pic>
        <p:nvPicPr>
          <p:cNvPr id="181" name="Graphic 180" descr="Badge 1 with solid fill">
            <a:extLst>
              <a:ext uri="{FF2B5EF4-FFF2-40B4-BE49-F238E27FC236}">
                <a16:creationId xmlns:a16="http://schemas.microsoft.com/office/drawing/2014/main" id="{DE5DE2CF-7146-AF82-CE29-077DDA0C5F2A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986001" y="1482342"/>
            <a:ext cx="445873" cy="445873"/>
          </a:xfrm>
          <a:prstGeom prst="rect">
            <a:avLst/>
          </a:prstGeom>
        </p:spPr>
      </p:pic>
      <p:sp>
        <p:nvSpPr>
          <p:cNvPr id="182" name="Arrow: Right 181">
            <a:extLst>
              <a:ext uri="{FF2B5EF4-FFF2-40B4-BE49-F238E27FC236}">
                <a16:creationId xmlns:a16="http://schemas.microsoft.com/office/drawing/2014/main" id="{19988B0A-5008-5F0D-4E4B-F423DEFF39A1}"/>
              </a:ext>
            </a:extLst>
          </p:cNvPr>
          <p:cNvSpPr/>
          <p:nvPr/>
        </p:nvSpPr>
        <p:spPr>
          <a:xfrm rot="16200000">
            <a:off x="6658005" y="1934836"/>
            <a:ext cx="1042572" cy="290836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pic>
        <p:nvPicPr>
          <p:cNvPr id="183" name="Graphic 182" descr="Badge with solid fill">
            <a:extLst>
              <a:ext uri="{FF2B5EF4-FFF2-40B4-BE49-F238E27FC236}">
                <a16:creationId xmlns:a16="http://schemas.microsoft.com/office/drawing/2014/main" id="{EE7F3A03-10AC-0AEA-77D4-AF164415DFDD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7761149" y="2623419"/>
            <a:ext cx="445873" cy="445873"/>
          </a:xfrm>
          <a:prstGeom prst="rect">
            <a:avLst/>
          </a:prstGeom>
        </p:spPr>
      </p:pic>
      <p:pic>
        <p:nvPicPr>
          <p:cNvPr id="184" name="Graphic 183" descr="Badge 3 with solid fill">
            <a:extLst>
              <a:ext uri="{FF2B5EF4-FFF2-40B4-BE49-F238E27FC236}">
                <a16:creationId xmlns:a16="http://schemas.microsoft.com/office/drawing/2014/main" id="{7468828B-DEEE-5962-7D6B-35E7B2096C13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064616" y="4510856"/>
            <a:ext cx="445873" cy="445873"/>
          </a:xfrm>
          <a:prstGeom prst="rect">
            <a:avLst/>
          </a:prstGeom>
        </p:spPr>
      </p:pic>
      <p:pic>
        <p:nvPicPr>
          <p:cNvPr id="185" name="Graphic 184" descr="Badge 4 with solid fill">
            <a:extLst>
              <a:ext uri="{FF2B5EF4-FFF2-40B4-BE49-F238E27FC236}">
                <a16:creationId xmlns:a16="http://schemas.microsoft.com/office/drawing/2014/main" id="{460FD386-5E02-6691-4E52-D6DCAD48F22D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6651736" y="1861587"/>
            <a:ext cx="445873" cy="445873"/>
          </a:xfrm>
          <a:prstGeom prst="rect">
            <a:avLst/>
          </a:prstGeom>
        </p:spPr>
      </p:pic>
      <p:pic>
        <p:nvPicPr>
          <p:cNvPr id="96" name="Graphic 95" descr="Badge 5 with solid fill">
            <a:extLst>
              <a:ext uri="{FF2B5EF4-FFF2-40B4-BE49-F238E27FC236}">
                <a16:creationId xmlns:a16="http://schemas.microsoft.com/office/drawing/2014/main" id="{8DC59D51-2F26-31BF-4B33-EA0EFEF2FFDB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865771" y="4333109"/>
            <a:ext cx="445873" cy="445873"/>
          </a:xfrm>
          <a:prstGeom prst="rect">
            <a:avLst/>
          </a:prstGeom>
        </p:spPr>
      </p:pic>
      <p:pic>
        <p:nvPicPr>
          <p:cNvPr id="84" name="Graphic 83" descr="Badge 4 with solid fill">
            <a:extLst>
              <a:ext uri="{FF2B5EF4-FFF2-40B4-BE49-F238E27FC236}">
                <a16:creationId xmlns:a16="http://schemas.microsoft.com/office/drawing/2014/main" id="{66965557-0FD4-6FCC-B0FA-EE0A2F1199ED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8046569" y="2623420"/>
            <a:ext cx="445873" cy="445873"/>
          </a:xfrm>
          <a:prstGeom prst="rect">
            <a:avLst/>
          </a:prstGeom>
        </p:spPr>
      </p:pic>
      <p:sp>
        <p:nvSpPr>
          <p:cNvPr id="186" name="TextBox 185">
            <a:extLst>
              <a:ext uri="{FF2B5EF4-FFF2-40B4-BE49-F238E27FC236}">
                <a16:creationId xmlns:a16="http://schemas.microsoft.com/office/drawing/2014/main" id="{AD9084D0-F61F-CECF-7D15-ACA7B2F68652}"/>
              </a:ext>
            </a:extLst>
          </p:cNvPr>
          <p:cNvSpPr txBox="1"/>
          <p:nvPr/>
        </p:nvSpPr>
        <p:spPr>
          <a:xfrm>
            <a:off x="5635204" y="1512717"/>
            <a:ext cx="147348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JSON: </a:t>
            </a:r>
            <a:r>
              <a:rPr lang="en-NZ" sz="1050" dirty="0" err="1"/>
              <a:t>access_token</a:t>
            </a:r>
            <a:r>
              <a:rPr lang="en-NZ" sz="1050" dirty="0"/>
              <a:t>, </a:t>
            </a:r>
          </a:p>
          <a:p>
            <a:pPr algn="ctr"/>
            <a:r>
              <a:rPr lang="en-NZ" sz="1050" dirty="0" err="1"/>
              <a:t>refresh_token</a:t>
            </a:r>
            <a:endParaRPr lang="en-NZ" sz="1050" dirty="0"/>
          </a:p>
        </p:txBody>
      </p:sp>
    </p:spTree>
    <p:extLst>
      <p:ext uri="{BB962C8B-B14F-4D97-AF65-F5344CB8AC3E}">
        <p14:creationId xmlns:p14="http://schemas.microsoft.com/office/powerpoint/2010/main" val="26059789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151">
            <a:extLst>
              <a:ext uri="{FF2B5EF4-FFF2-40B4-BE49-F238E27FC236}">
                <a16:creationId xmlns:a16="http://schemas.microsoft.com/office/drawing/2014/main" id="{D1F30FD8-3C5F-66D3-43AA-C8F69E367088}"/>
              </a:ext>
            </a:extLst>
          </p:cNvPr>
          <p:cNvSpPr txBox="1"/>
          <p:nvPr/>
        </p:nvSpPr>
        <p:spPr>
          <a:xfrm>
            <a:off x="267419" y="207034"/>
            <a:ext cx="47788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Authenticating a Person with SSO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9CE5E8B-7050-54BB-4FEC-402F4067C4CB}"/>
              </a:ext>
            </a:extLst>
          </p:cNvPr>
          <p:cNvSpPr/>
          <p:nvPr/>
        </p:nvSpPr>
        <p:spPr>
          <a:xfrm>
            <a:off x="8141204" y="3055474"/>
            <a:ext cx="175950" cy="175950"/>
          </a:xfrm>
          <a:prstGeom prst="ellipse">
            <a:avLst/>
          </a:prstGeom>
          <a:solidFill>
            <a:srgbClr val="0078D7"/>
          </a:solidFill>
          <a:ln>
            <a:solidFill>
              <a:srgbClr val="0078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4D5B1FC5-355F-D779-27F2-0E1616741948}"/>
              </a:ext>
            </a:extLst>
          </p:cNvPr>
          <p:cNvSpPr/>
          <p:nvPr/>
        </p:nvSpPr>
        <p:spPr>
          <a:xfrm>
            <a:off x="6698723" y="3891378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6B99708-837C-E579-0827-22206F609EB9}"/>
              </a:ext>
            </a:extLst>
          </p:cNvPr>
          <p:cNvSpPr/>
          <p:nvPr/>
        </p:nvSpPr>
        <p:spPr>
          <a:xfrm>
            <a:off x="6705359" y="4458353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B44A569B-35FE-1BC1-9722-3ECC9E514393}"/>
              </a:ext>
            </a:extLst>
          </p:cNvPr>
          <p:cNvSpPr/>
          <p:nvPr/>
        </p:nvSpPr>
        <p:spPr>
          <a:xfrm>
            <a:off x="6693389" y="2671782"/>
            <a:ext cx="3710788" cy="2869587"/>
          </a:xfrm>
          <a:prstGeom prst="roundRect">
            <a:avLst>
              <a:gd name="adj" fmla="val 4576"/>
            </a:avLst>
          </a:prstGeom>
          <a:solidFill>
            <a:srgbClr val="0078D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200" dirty="0"/>
              <a:t>              </a:t>
            </a:r>
            <a:r>
              <a:rPr lang="en-US" sz="1200" dirty="0" err="1"/>
              <a:t>BackEnd</a:t>
            </a:r>
            <a:r>
              <a:rPr lang="en-US" sz="1200" dirty="0"/>
              <a:t> API Host (1)</a:t>
            </a:r>
            <a:endParaRPr lang="en-NZ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4C74057-B086-B52F-0A6F-A44483AC67D8}"/>
              </a:ext>
            </a:extLst>
          </p:cNvPr>
          <p:cNvSpPr/>
          <p:nvPr/>
        </p:nvSpPr>
        <p:spPr>
          <a:xfrm>
            <a:off x="6856093" y="3035886"/>
            <a:ext cx="1237773" cy="44587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Identity API</a:t>
            </a:r>
            <a:endParaRPr lang="en-NZ" sz="1200" dirty="0">
              <a:solidFill>
                <a:schemeClr val="bg1"/>
              </a:solidFill>
            </a:endParaRPr>
          </a:p>
        </p:txBody>
      </p:sp>
      <p:pic>
        <p:nvPicPr>
          <p:cNvPr id="57" name="Picture 8" descr="App Service - Web App | Microsoft Azure Mono">
            <a:extLst>
              <a:ext uri="{FF2B5EF4-FFF2-40B4-BE49-F238E27FC236}">
                <a16:creationId xmlns:a16="http://schemas.microsoft.com/office/drawing/2014/main" id="{8AA66BF7-E839-2983-8626-E3F363685F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6633" y="4945038"/>
            <a:ext cx="450277" cy="450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4" name="Straight Arrow Connector 38">
            <a:extLst>
              <a:ext uri="{FF2B5EF4-FFF2-40B4-BE49-F238E27FC236}">
                <a16:creationId xmlns:a16="http://schemas.microsoft.com/office/drawing/2014/main" id="{DF0440B5-6D0B-E640-63B2-459D806653A5}"/>
              </a:ext>
            </a:extLst>
          </p:cNvPr>
          <p:cNvCxnSpPr>
            <a:cxnSpLocks/>
            <a:stCxn id="49" idx="3"/>
            <a:endCxn id="5" idx="1"/>
          </p:cNvCxnSpPr>
          <p:nvPr/>
        </p:nvCxnSpPr>
        <p:spPr>
          <a:xfrm flipV="1">
            <a:off x="8093866" y="3155071"/>
            <a:ext cx="425318" cy="103752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8C982128-8DBE-1C9F-C7FB-CB8174C42D94}"/>
              </a:ext>
            </a:extLst>
          </p:cNvPr>
          <p:cNvGrpSpPr/>
          <p:nvPr/>
        </p:nvGrpSpPr>
        <p:grpSpPr>
          <a:xfrm>
            <a:off x="3285359" y="2542458"/>
            <a:ext cx="3570734" cy="1886135"/>
            <a:chOff x="5142447" y="57977"/>
            <a:chExt cx="3570734" cy="1886135"/>
          </a:xfrm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746E4B18-59E7-1CA5-4EDD-D708F44E310A}"/>
                </a:ext>
              </a:extLst>
            </p:cNvPr>
            <p:cNvGrpSpPr/>
            <p:nvPr/>
          </p:nvGrpSpPr>
          <p:grpSpPr>
            <a:xfrm>
              <a:off x="5142447" y="57977"/>
              <a:ext cx="1463068" cy="1886135"/>
              <a:chOff x="2698106" y="3204587"/>
              <a:chExt cx="1463068" cy="1886135"/>
            </a:xfrm>
          </p:grpSpPr>
          <p:sp>
            <p:nvSpPr>
              <p:cNvPr id="263" name="Rectangle: Rounded Corners 262">
                <a:extLst>
                  <a:ext uri="{FF2B5EF4-FFF2-40B4-BE49-F238E27FC236}">
                    <a16:creationId xmlns:a16="http://schemas.microsoft.com/office/drawing/2014/main" id="{319EF625-F8BA-44B1-613A-AF4A23B0597C}"/>
                  </a:ext>
                </a:extLst>
              </p:cNvPr>
              <p:cNvSpPr/>
              <p:nvPr/>
            </p:nvSpPr>
            <p:spPr>
              <a:xfrm>
                <a:off x="2698106" y="3204587"/>
                <a:ext cx="1463068" cy="1886135"/>
              </a:xfrm>
              <a:prstGeom prst="roundRect">
                <a:avLst>
                  <a:gd name="adj" fmla="val 5101"/>
                </a:avLst>
              </a:prstGeom>
              <a:solidFill>
                <a:srgbClr val="0078D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</a:t>
                </a:r>
              </a:p>
              <a:p>
                <a:r>
                  <a:rPr lang="en-US" sz="1200" dirty="0"/>
                  <a:t>            4FrontEnd</a:t>
                </a:r>
              </a:p>
              <a:p>
                <a:r>
                  <a:rPr lang="en-US" sz="1200" dirty="0"/>
                  <a:t>                     Host</a:t>
                </a:r>
              </a:p>
            </p:txBody>
          </p:sp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26B2E57F-F4F3-8BFB-5050-AFB4A01591EB}"/>
                  </a:ext>
                </a:extLst>
              </p:cNvPr>
              <p:cNvSpPr/>
              <p:nvPr/>
            </p:nvSpPr>
            <p:spPr>
              <a:xfrm>
                <a:off x="2981500" y="3735851"/>
                <a:ext cx="1039660" cy="37985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AuthN</a:t>
                </a:r>
                <a:r>
                  <a:rPr lang="en-US" sz="1200" dirty="0"/>
                  <a:t> API</a:t>
                </a:r>
                <a:endParaRPr lang="en-NZ" sz="1200" dirty="0"/>
              </a:p>
            </p:txBody>
          </p:sp>
          <p:pic>
            <p:nvPicPr>
              <p:cNvPr id="265" name="Picture 8" descr="App Service - Web App | Microsoft Azure Mono">
                <a:extLst>
                  <a:ext uri="{FF2B5EF4-FFF2-40B4-BE49-F238E27FC236}">
                    <a16:creationId xmlns:a16="http://schemas.microsoft.com/office/drawing/2014/main" id="{CF771138-2DD8-8859-11CD-D2B0378D640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78776" y="4550527"/>
                <a:ext cx="450277" cy="4173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cxnSp>
          <p:nvCxnSpPr>
            <p:cNvPr id="261" name="Straight Arrow Connector 38">
              <a:extLst>
                <a:ext uri="{FF2B5EF4-FFF2-40B4-BE49-F238E27FC236}">
                  <a16:creationId xmlns:a16="http://schemas.microsoft.com/office/drawing/2014/main" id="{328F0A6B-32E4-87C4-D3CD-3630061280E6}"/>
                </a:ext>
              </a:extLst>
            </p:cNvPr>
            <p:cNvCxnSpPr>
              <a:cxnSpLocks/>
              <a:stCxn id="264" idx="3"/>
              <a:endCxn id="49" idx="1"/>
            </p:cNvCxnSpPr>
            <p:nvPr/>
          </p:nvCxnSpPr>
          <p:spPr>
            <a:xfrm flipV="1">
              <a:off x="6465501" y="774342"/>
              <a:ext cx="2247680" cy="4828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cxnSp>
        <p:nvCxnSpPr>
          <p:cNvPr id="41" name="Straight Arrow Connector 38">
            <a:extLst>
              <a:ext uri="{FF2B5EF4-FFF2-40B4-BE49-F238E27FC236}">
                <a16:creationId xmlns:a16="http://schemas.microsoft.com/office/drawing/2014/main" id="{E6623D6C-8E4F-C492-4177-BAFC0DFC10CC}"/>
              </a:ext>
            </a:extLst>
          </p:cNvPr>
          <p:cNvCxnSpPr>
            <a:cxnSpLocks/>
            <a:stCxn id="29" idx="3"/>
            <a:endCxn id="264" idx="1"/>
          </p:cNvCxnSpPr>
          <p:nvPr/>
        </p:nvCxnSpPr>
        <p:spPr>
          <a:xfrm flipV="1">
            <a:off x="1291002" y="3263651"/>
            <a:ext cx="2277751" cy="2964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95C3B309-7F55-4448-C689-6CD0EE4188AC}"/>
              </a:ext>
            </a:extLst>
          </p:cNvPr>
          <p:cNvSpPr/>
          <p:nvPr/>
        </p:nvSpPr>
        <p:spPr>
          <a:xfrm>
            <a:off x="6975031" y="128744"/>
            <a:ext cx="999895" cy="1353781"/>
          </a:xfrm>
          <a:prstGeom prst="roundRect">
            <a:avLst>
              <a:gd name="adj" fmla="val 8177"/>
            </a:avLst>
          </a:prstGeom>
          <a:solidFill>
            <a:schemeClr val="bg2"/>
          </a:solidFill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3rd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Party API </a:t>
            </a:r>
            <a:r>
              <a:rPr lang="en-US" sz="1100" dirty="0">
                <a:solidFill>
                  <a:schemeClr val="tx1"/>
                </a:solidFill>
              </a:rPr>
              <a:t>Integrations</a:t>
            </a:r>
            <a:endParaRPr lang="en-NZ" sz="1200" dirty="0">
              <a:solidFill>
                <a:schemeClr val="tx1"/>
              </a:solidFill>
            </a:endParaRPr>
          </a:p>
        </p:txBody>
      </p:sp>
      <p:cxnSp>
        <p:nvCxnSpPr>
          <p:cNvPr id="86" name="Straight Arrow Connector 38">
            <a:extLst>
              <a:ext uri="{FF2B5EF4-FFF2-40B4-BE49-F238E27FC236}">
                <a16:creationId xmlns:a16="http://schemas.microsoft.com/office/drawing/2014/main" id="{10A707C5-5C85-53FB-C42B-04C349808B96}"/>
              </a:ext>
            </a:extLst>
          </p:cNvPr>
          <p:cNvCxnSpPr>
            <a:cxnSpLocks/>
            <a:stCxn id="85" idx="2"/>
            <a:endCxn id="49" idx="0"/>
          </p:cNvCxnSpPr>
          <p:nvPr/>
        </p:nvCxnSpPr>
        <p:spPr>
          <a:xfrm rot="16200000" flipH="1">
            <a:off x="6698299" y="2259204"/>
            <a:ext cx="1553361" cy="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5DC0045E-9A80-4E1C-F40E-114AEB2C1868}"/>
              </a:ext>
            </a:extLst>
          </p:cNvPr>
          <p:cNvSpPr/>
          <p:nvPr/>
        </p:nvSpPr>
        <p:spPr>
          <a:xfrm>
            <a:off x="8519184" y="2720605"/>
            <a:ext cx="1757846" cy="86893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 err="1">
                <a:solidFill>
                  <a:schemeClr val="tx1"/>
                </a:solidFill>
              </a:rPr>
              <a:t>ISSOAuthenticationProvider</a:t>
            </a:r>
            <a:r>
              <a:rPr lang="en-NZ" sz="1000" dirty="0">
                <a:solidFill>
                  <a:schemeClr val="tx1"/>
                </a:solidFill>
              </a:rPr>
              <a:t>.Authenticate</a:t>
            </a:r>
            <a:endParaRPr lang="en-US" sz="1000" dirty="0">
              <a:solidFill>
                <a:schemeClr val="tx1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0BC41C9-83F4-7EA7-723D-23E001DC3BA0}"/>
              </a:ext>
            </a:extLst>
          </p:cNvPr>
          <p:cNvGrpSpPr/>
          <p:nvPr/>
        </p:nvGrpSpPr>
        <p:grpSpPr>
          <a:xfrm>
            <a:off x="1729808" y="3659850"/>
            <a:ext cx="1503337" cy="599712"/>
            <a:chOff x="335225" y="2298310"/>
            <a:chExt cx="1503337" cy="59971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2EB2843-3307-AFF6-9EEF-7502FF60561C}"/>
                </a:ext>
              </a:extLst>
            </p:cNvPr>
            <p:cNvSpPr txBox="1"/>
            <p:nvPr/>
          </p:nvSpPr>
          <p:spPr>
            <a:xfrm>
              <a:off x="518970" y="2320941"/>
              <a:ext cx="1319592" cy="577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50" dirty="0"/>
                <a:t>Cookie: auth-</a:t>
              </a:r>
              <a:r>
                <a:rPr lang="en-NZ" sz="1050" dirty="0" err="1"/>
                <a:t>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Cookie: auth-</a:t>
              </a:r>
              <a:r>
                <a:rPr lang="en-NZ" sz="1050" dirty="0" err="1"/>
                <a:t>reftok</a:t>
              </a:r>
              <a:endParaRPr lang="en-NZ" sz="1050" dirty="0"/>
            </a:p>
          </p:txBody>
        </p:sp>
        <p:pic>
          <p:nvPicPr>
            <p:cNvPr id="10" name="Graphic 9" descr="Gingerbread cookie with solid fill">
              <a:extLst>
                <a:ext uri="{FF2B5EF4-FFF2-40B4-BE49-F238E27FC236}">
                  <a16:creationId xmlns:a16="http://schemas.microsoft.com/office/drawing/2014/main" id="{25AD677D-0263-FE22-A861-4894A50C90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8472" y="2298310"/>
              <a:ext cx="281781" cy="281781"/>
            </a:xfrm>
            <a:prstGeom prst="rect">
              <a:avLst/>
            </a:prstGeom>
          </p:spPr>
        </p:pic>
        <p:pic>
          <p:nvPicPr>
            <p:cNvPr id="11" name="Graphic 10" descr="Gingerbread cookie with solid fill">
              <a:extLst>
                <a:ext uri="{FF2B5EF4-FFF2-40B4-BE49-F238E27FC236}">
                  <a16:creationId xmlns:a16="http://schemas.microsoft.com/office/drawing/2014/main" id="{352C9F25-6957-0FF0-70BD-72A21893C8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25" y="2596450"/>
              <a:ext cx="281781" cy="281781"/>
            </a:xfrm>
            <a:prstGeom prst="rect">
              <a:avLst/>
            </a:prstGeom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716CC9C-A435-F7A6-4F09-D353BE3DADFC}"/>
              </a:ext>
            </a:extLst>
          </p:cNvPr>
          <p:cNvGrpSpPr/>
          <p:nvPr/>
        </p:nvGrpSpPr>
        <p:grpSpPr>
          <a:xfrm>
            <a:off x="143689" y="2503177"/>
            <a:ext cx="1147313" cy="1526876"/>
            <a:chOff x="232914" y="643346"/>
            <a:chExt cx="1147313" cy="1526876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0CECC3D-7FD8-E732-900E-3D31718429E8}"/>
                </a:ext>
              </a:extLst>
            </p:cNvPr>
            <p:cNvSpPr/>
            <p:nvPr/>
          </p:nvSpPr>
          <p:spPr>
            <a:xfrm>
              <a:off x="232914" y="643346"/>
              <a:ext cx="1147313" cy="1526876"/>
            </a:xfrm>
            <a:custGeom>
              <a:avLst/>
              <a:gdLst>
                <a:gd name="csX0" fmla="*/ 0 w 1147313"/>
                <a:gd name="csY0" fmla="*/ 0 h 1526876"/>
                <a:gd name="csX1" fmla="*/ 596603 w 1147313"/>
                <a:gd name="csY1" fmla="*/ 0 h 1526876"/>
                <a:gd name="csX2" fmla="*/ 1147313 w 1147313"/>
                <a:gd name="csY2" fmla="*/ 0 h 1526876"/>
                <a:gd name="csX3" fmla="*/ 1147313 w 1147313"/>
                <a:gd name="csY3" fmla="*/ 508959 h 1526876"/>
                <a:gd name="csX4" fmla="*/ 1147313 w 1147313"/>
                <a:gd name="csY4" fmla="*/ 972111 h 1526876"/>
                <a:gd name="csX5" fmla="*/ 1147313 w 1147313"/>
                <a:gd name="csY5" fmla="*/ 1526876 h 1526876"/>
                <a:gd name="csX6" fmla="*/ 573657 w 1147313"/>
                <a:gd name="csY6" fmla="*/ 1526876 h 1526876"/>
                <a:gd name="csX7" fmla="*/ 0 w 1147313"/>
                <a:gd name="csY7" fmla="*/ 1526876 h 1526876"/>
                <a:gd name="csX8" fmla="*/ 0 w 1147313"/>
                <a:gd name="csY8" fmla="*/ 987380 h 1526876"/>
                <a:gd name="csX9" fmla="*/ 0 w 1147313"/>
                <a:gd name="csY9" fmla="*/ 524227 h 1526876"/>
                <a:gd name="csX10" fmla="*/ 0 w 1147313"/>
                <a:gd name="csY10" fmla="*/ 0 h 1526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147313" h="1526876" fill="none" extrusionOk="0">
                  <a:moveTo>
                    <a:pt x="0" y="0"/>
                  </a:moveTo>
                  <a:cubicBezTo>
                    <a:pt x="278663" y="-28106"/>
                    <a:pt x="368345" y="47664"/>
                    <a:pt x="596603" y="0"/>
                  </a:cubicBezTo>
                  <a:cubicBezTo>
                    <a:pt x="824861" y="-47664"/>
                    <a:pt x="968918" y="47712"/>
                    <a:pt x="1147313" y="0"/>
                  </a:cubicBezTo>
                  <a:cubicBezTo>
                    <a:pt x="1149157" y="187696"/>
                    <a:pt x="1104806" y="368504"/>
                    <a:pt x="1147313" y="508959"/>
                  </a:cubicBezTo>
                  <a:cubicBezTo>
                    <a:pt x="1189820" y="649414"/>
                    <a:pt x="1143493" y="846168"/>
                    <a:pt x="1147313" y="972111"/>
                  </a:cubicBezTo>
                  <a:cubicBezTo>
                    <a:pt x="1151133" y="1098054"/>
                    <a:pt x="1099533" y="1271010"/>
                    <a:pt x="1147313" y="1526876"/>
                  </a:cubicBezTo>
                  <a:cubicBezTo>
                    <a:pt x="876653" y="1573104"/>
                    <a:pt x="763886" y="1476534"/>
                    <a:pt x="573657" y="1526876"/>
                  </a:cubicBezTo>
                  <a:cubicBezTo>
                    <a:pt x="383428" y="1577218"/>
                    <a:pt x="192425" y="1463576"/>
                    <a:pt x="0" y="1526876"/>
                  </a:cubicBezTo>
                  <a:cubicBezTo>
                    <a:pt x="-28178" y="1260903"/>
                    <a:pt x="31735" y="1183225"/>
                    <a:pt x="0" y="987380"/>
                  </a:cubicBezTo>
                  <a:cubicBezTo>
                    <a:pt x="-31735" y="791535"/>
                    <a:pt x="39203" y="748199"/>
                    <a:pt x="0" y="524227"/>
                  </a:cubicBezTo>
                  <a:cubicBezTo>
                    <a:pt x="-39203" y="300255"/>
                    <a:pt x="30215" y="207503"/>
                    <a:pt x="0" y="0"/>
                  </a:cubicBezTo>
                  <a:close/>
                </a:path>
                <a:path w="1147313" h="1526876" stroke="0" extrusionOk="0">
                  <a:moveTo>
                    <a:pt x="0" y="0"/>
                  </a:moveTo>
                  <a:cubicBezTo>
                    <a:pt x="114910" y="-57849"/>
                    <a:pt x="319071" y="53657"/>
                    <a:pt x="539237" y="0"/>
                  </a:cubicBezTo>
                  <a:cubicBezTo>
                    <a:pt x="759403" y="-53657"/>
                    <a:pt x="1025526" y="71489"/>
                    <a:pt x="1147313" y="0"/>
                  </a:cubicBezTo>
                  <a:cubicBezTo>
                    <a:pt x="1163334" y="164491"/>
                    <a:pt x="1139443" y="276038"/>
                    <a:pt x="1147313" y="463152"/>
                  </a:cubicBezTo>
                  <a:cubicBezTo>
                    <a:pt x="1155183" y="650266"/>
                    <a:pt x="1106515" y="710134"/>
                    <a:pt x="1147313" y="941574"/>
                  </a:cubicBezTo>
                  <a:cubicBezTo>
                    <a:pt x="1188111" y="1173014"/>
                    <a:pt x="1143065" y="1399826"/>
                    <a:pt x="1147313" y="1526876"/>
                  </a:cubicBezTo>
                  <a:cubicBezTo>
                    <a:pt x="879551" y="1542340"/>
                    <a:pt x="773381" y="1465571"/>
                    <a:pt x="550710" y="1526876"/>
                  </a:cubicBezTo>
                  <a:cubicBezTo>
                    <a:pt x="328039" y="1588181"/>
                    <a:pt x="184730" y="1498966"/>
                    <a:pt x="0" y="1526876"/>
                  </a:cubicBezTo>
                  <a:cubicBezTo>
                    <a:pt x="-37488" y="1405773"/>
                    <a:pt x="49549" y="1249793"/>
                    <a:pt x="0" y="1033186"/>
                  </a:cubicBezTo>
                  <a:cubicBezTo>
                    <a:pt x="-49549" y="816579"/>
                    <a:pt x="2816" y="738139"/>
                    <a:pt x="0" y="508959"/>
                  </a:cubicBezTo>
                  <a:cubicBezTo>
                    <a:pt x="-2816" y="279779"/>
                    <a:pt x="35456" y="251169"/>
                    <a:pt x="0" y="0"/>
                  </a:cubicBezTo>
                  <a:close/>
                </a:path>
              </a:pathLst>
            </a:custGeom>
            <a:solidFill>
              <a:schemeClr val="bg2"/>
            </a:solidFill>
            <a:ln w="76200">
              <a:gradFill flip="none" rotWithShape="1">
                <a:gsLst>
                  <a:gs pos="0">
                    <a:srgbClr val="FF0000"/>
                  </a:gs>
                  <a:gs pos="34000">
                    <a:srgbClr val="FFFF00"/>
                  </a:gs>
                  <a:gs pos="66000">
                    <a:srgbClr val="00B050"/>
                  </a:gs>
                  <a:gs pos="100000">
                    <a:srgbClr val="00B0F0"/>
                  </a:gs>
                </a:gsLst>
                <a:lin ang="2700000" scaled="1"/>
                <a:tileRect/>
              </a:gradFill>
              <a:extLst>
                <a:ext uri="{C807C97D-BFC1-408E-A445-0C87EB9F89A2}">
                  <ask:lineSketchStyleProps xmlns:ask="http://schemas.microsoft.com/office/drawing/2018/sketchyshapes" sd="2412646178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2000" dirty="0">
                  <a:solidFill>
                    <a:schemeClr val="tx1"/>
                  </a:solidFill>
                </a:rPr>
                <a:t>Sign-in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9574DB1-9155-5CA6-CC05-78BF5175D774}"/>
                </a:ext>
              </a:extLst>
            </p:cNvPr>
            <p:cNvSpPr txBox="1"/>
            <p:nvPr/>
          </p:nvSpPr>
          <p:spPr>
            <a:xfrm>
              <a:off x="334462" y="1237095"/>
              <a:ext cx="918841" cy="276999"/>
            </a:xfrm>
            <a:custGeom>
              <a:avLst/>
              <a:gdLst>
                <a:gd name="csX0" fmla="*/ 0 w 918841"/>
                <a:gd name="csY0" fmla="*/ 0 h 276999"/>
                <a:gd name="csX1" fmla="*/ 477797 w 918841"/>
                <a:gd name="csY1" fmla="*/ 0 h 276999"/>
                <a:gd name="csX2" fmla="*/ 918841 w 918841"/>
                <a:gd name="csY2" fmla="*/ 0 h 276999"/>
                <a:gd name="csX3" fmla="*/ 918841 w 918841"/>
                <a:gd name="csY3" fmla="*/ 276999 h 276999"/>
                <a:gd name="csX4" fmla="*/ 477797 w 918841"/>
                <a:gd name="csY4" fmla="*/ 276999 h 276999"/>
                <a:gd name="csX5" fmla="*/ 0 w 918841"/>
                <a:gd name="csY5" fmla="*/ 276999 h 276999"/>
                <a:gd name="csX6" fmla="*/ 0 w 918841"/>
                <a:gd name="csY6" fmla="*/ 0 h 2769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18841" h="276999" extrusionOk="0">
                  <a:moveTo>
                    <a:pt x="0" y="0"/>
                  </a:moveTo>
                  <a:cubicBezTo>
                    <a:pt x="200680" y="-35953"/>
                    <a:pt x="368387" y="44891"/>
                    <a:pt x="477797" y="0"/>
                  </a:cubicBezTo>
                  <a:cubicBezTo>
                    <a:pt x="587207" y="-44891"/>
                    <a:pt x="785408" y="3401"/>
                    <a:pt x="918841" y="0"/>
                  </a:cubicBezTo>
                  <a:cubicBezTo>
                    <a:pt x="923047" y="75778"/>
                    <a:pt x="903766" y="157920"/>
                    <a:pt x="918841" y="276999"/>
                  </a:cubicBezTo>
                  <a:cubicBezTo>
                    <a:pt x="752794" y="291805"/>
                    <a:pt x="630299" y="251397"/>
                    <a:pt x="477797" y="276999"/>
                  </a:cubicBezTo>
                  <a:cubicBezTo>
                    <a:pt x="325295" y="302601"/>
                    <a:pt x="208705" y="263890"/>
                    <a:pt x="0" y="276999"/>
                  </a:cubicBezTo>
                  <a:cubicBezTo>
                    <a:pt x="-6802" y="147497"/>
                    <a:pt x="5788" y="63625"/>
                    <a:pt x="0" y="0"/>
                  </a:cubicBezTo>
                  <a:close/>
                </a:path>
              </a:pathLst>
            </a:custGeom>
            <a:noFill/>
            <a:ln>
              <a:gradFill flip="none" rotWithShape="1">
                <a:gsLst>
                  <a:gs pos="0">
                    <a:srgbClr val="FF0000"/>
                  </a:gs>
                  <a:gs pos="34000">
                    <a:srgbClr val="FFFF00"/>
                  </a:gs>
                  <a:gs pos="66000">
                    <a:srgbClr val="00B050"/>
                  </a:gs>
                  <a:gs pos="100000">
                    <a:srgbClr val="00B0F0"/>
                  </a:gs>
                </a:gsLst>
                <a:lin ang="2700000" scaled="1"/>
                <a:tileRect/>
              </a:gradFill>
              <a:extLst>
                <a:ext uri="{C807C97D-BFC1-408E-A445-0C87EB9F89A2}">
                  <ask:lineSketchStyleProps xmlns:ask="http://schemas.microsoft.com/office/drawing/2018/sketchyshapes" sd="4029871008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Username: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1E0F100-4F08-BB12-2FB0-AB1BA5A5AE78}"/>
                </a:ext>
              </a:extLst>
            </p:cNvPr>
            <p:cNvSpPr txBox="1"/>
            <p:nvPr/>
          </p:nvSpPr>
          <p:spPr>
            <a:xfrm>
              <a:off x="334462" y="1544074"/>
              <a:ext cx="918841" cy="276999"/>
            </a:xfrm>
            <a:custGeom>
              <a:avLst/>
              <a:gdLst>
                <a:gd name="csX0" fmla="*/ 0 w 918841"/>
                <a:gd name="csY0" fmla="*/ 0 h 276999"/>
                <a:gd name="csX1" fmla="*/ 477797 w 918841"/>
                <a:gd name="csY1" fmla="*/ 0 h 276999"/>
                <a:gd name="csX2" fmla="*/ 918841 w 918841"/>
                <a:gd name="csY2" fmla="*/ 0 h 276999"/>
                <a:gd name="csX3" fmla="*/ 918841 w 918841"/>
                <a:gd name="csY3" fmla="*/ 276999 h 276999"/>
                <a:gd name="csX4" fmla="*/ 450232 w 918841"/>
                <a:gd name="csY4" fmla="*/ 276999 h 276999"/>
                <a:gd name="csX5" fmla="*/ 0 w 918841"/>
                <a:gd name="csY5" fmla="*/ 276999 h 276999"/>
                <a:gd name="csX6" fmla="*/ 0 w 918841"/>
                <a:gd name="csY6" fmla="*/ 0 h 2769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18841" h="276999" extrusionOk="0">
                  <a:moveTo>
                    <a:pt x="0" y="0"/>
                  </a:moveTo>
                  <a:cubicBezTo>
                    <a:pt x="168649" y="-287"/>
                    <a:pt x="244829" y="5045"/>
                    <a:pt x="477797" y="0"/>
                  </a:cubicBezTo>
                  <a:cubicBezTo>
                    <a:pt x="710765" y="-5045"/>
                    <a:pt x="752231" y="9581"/>
                    <a:pt x="918841" y="0"/>
                  </a:cubicBezTo>
                  <a:cubicBezTo>
                    <a:pt x="921232" y="102415"/>
                    <a:pt x="910045" y="166371"/>
                    <a:pt x="918841" y="276999"/>
                  </a:cubicBezTo>
                  <a:cubicBezTo>
                    <a:pt x="704649" y="291524"/>
                    <a:pt x="662221" y="259112"/>
                    <a:pt x="450232" y="276999"/>
                  </a:cubicBezTo>
                  <a:cubicBezTo>
                    <a:pt x="238243" y="294886"/>
                    <a:pt x="185231" y="247214"/>
                    <a:pt x="0" y="276999"/>
                  </a:cubicBezTo>
                  <a:cubicBezTo>
                    <a:pt x="-15625" y="189260"/>
                    <a:pt x="23019" y="126057"/>
                    <a:pt x="0" y="0"/>
                  </a:cubicBezTo>
                  <a:close/>
                </a:path>
              </a:pathLst>
            </a:custGeom>
            <a:noFill/>
            <a:ln>
              <a:gradFill flip="none" rotWithShape="1">
                <a:gsLst>
                  <a:gs pos="0">
                    <a:srgbClr val="FF0000"/>
                  </a:gs>
                  <a:gs pos="34000">
                    <a:srgbClr val="FFFF00"/>
                  </a:gs>
                  <a:gs pos="66000">
                    <a:srgbClr val="00B050"/>
                  </a:gs>
                  <a:gs pos="100000">
                    <a:srgbClr val="00B0F0"/>
                  </a:gs>
                </a:gsLst>
                <a:lin ang="2700000" scaled="1"/>
                <a:tileRect/>
              </a:gradFill>
              <a:extLst>
                <a:ext uri="{C807C97D-BFC1-408E-A445-0C87EB9F89A2}">
                  <ask:lineSketchStyleProps xmlns:ask="http://schemas.microsoft.com/office/drawing/2018/sketchyshapes" sd="165450329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NZ" sz="1200" dirty="0"/>
                <a:t>Password:</a:t>
              </a:r>
            </a:p>
          </p:txBody>
        </p:sp>
      </p:grpSp>
      <p:pic>
        <p:nvPicPr>
          <p:cNvPr id="90" name="Graphic 89" descr="Badge 6 with solid fill">
            <a:extLst>
              <a:ext uri="{FF2B5EF4-FFF2-40B4-BE49-F238E27FC236}">
                <a16:creationId xmlns:a16="http://schemas.microsoft.com/office/drawing/2014/main" id="{6B0BF8B9-7336-9BDC-9DE8-83A9CC5548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98478" y="1878536"/>
            <a:ext cx="445873" cy="445873"/>
          </a:xfrm>
          <a:prstGeom prst="rect">
            <a:avLst/>
          </a:prstGeom>
        </p:spPr>
      </p:pic>
      <p:pic>
        <p:nvPicPr>
          <p:cNvPr id="92" name="Graphic 91" descr="Badge with solid fill">
            <a:extLst>
              <a:ext uri="{FF2B5EF4-FFF2-40B4-BE49-F238E27FC236}">
                <a16:creationId xmlns:a16="http://schemas.microsoft.com/office/drawing/2014/main" id="{37BA1F29-B5AA-2358-3B8F-3D0530BF02E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36270" y="2360377"/>
            <a:ext cx="445873" cy="445873"/>
          </a:xfrm>
          <a:prstGeom prst="rect">
            <a:avLst/>
          </a:prstGeom>
        </p:spPr>
      </p:pic>
      <p:pic>
        <p:nvPicPr>
          <p:cNvPr id="94" name="Graphic 93" descr="Badge 3 with solid fill">
            <a:extLst>
              <a:ext uri="{FF2B5EF4-FFF2-40B4-BE49-F238E27FC236}">
                <a16:creationId xmlns:a16="http://schemas.microsoft.com/office/drawing/2014/main" id="{84E1A214-AA52-514F-5E99-A0AF50F32AF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74970" y="2378604"/>
            <a:ext cx="445873" cy="445873"/>
          </a:xfrm>
          <a:prstGeom prst="rect">
            <a:avLst/>
          </a:prstGeom>
        </p:spPr>
      </p:pic>
      <p:pic>
        <p:nvPicPr>
          <p:cNvPr id="98" name="Graphic 97" descr="Badge 1 with solid fill">
            <a:extLst>
              <a:ext uri="{FF2B5EF4-FFF2-40B4-BE49-F238E27FC236}">
                <a16:creationId xmlns:a16="http://schemas.microsoft.com/office/drawing/2014/main" id="{393192CA-1A7F-895A-9FD5-DEC43265E9C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90164" y="4116107"/>
            <a:ext cx="445873" cy="445873"/>
          </a:xfrm>
          <a:prstGeom prst="rect">
            <a:avLst/>
          </a:prstGeom>
        </p:spPr>
      </p:pic>
      <p:grpSp>
        <p:nvGrpSpPr>
          <p:cNvPr id="101" name="Group 100">
            <a:extLst>
              <a:ext uri="{FF2B5EF4-FFF2-40B4-BE49-F238E27FC236}">
                <a16:creationId xmlns:a16="http://schemas.microsoft.com/office/drawing/2014/main" id="{9A58BF62-7CE7-B079-0E58-2CA5C2DF2554}"/>
              </a:ext>
            </a:extLst>
          </p:cNvPr>
          <p:cNvGrpSpPr/>
          <p:nvPr/>
        </p:nvGrpSpPr>
        <p:grpSpPr>
          <a:xfrm>
            <a:off x="10153668" y="5911468"/>
            <a:ext cx="1932705" cy="516007"/>
            <a:chOff x="9194001" y="3088730"/>
            <a:chExt cx="1932705" cy="516007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872289D9-DBAD-CD3B-77C2-205671D73CFD}"/>
                </a:ext>
              </a:extLst>
            </p:cNvPr>
            <p:cNvSpPr/>
            <p:nvPr/>
          </p:nvSpPr>
          <p:spPr>
            <a:xfrm>
              <a:off x="9194001" y="3088730"/>
              <a:ext cx="1932705" cy="5160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NZ" dirty="0">
                  <a:solidFill>
                    <a:schemeClr val="bg2">
                      <a:lumMod val="75000"/>
                    </a:schemeClr>
                  </a:solidFill>
                </a:rPr>
                <a:t>Data</a:t>
              </a:r>
            </a:p>
          </p:txBody>
        </p: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CDCF46B4-A68F-D951-5691-E8E737C13197}"/>
                </a:ext>
              </a:extLst>
            </p:cNvPr>
            <p:cNvGrpSpPr/>
            <p:nvPr/>
          </p:nvGrpSpPr>
          <p:grpSpPr>
            <a:xfrm>
              <a:off x="9763593" y="3119600"/>
              <a:ext cx="516948" cy="456681"/>
              <a:chOff x="8813773" y="3114097"/>
              <a:chExt cx="516948" cy="456681"/>
            </a:xfrm>
          </p:grpSpPr>
          <p:sp>
            <p:nvSpPr>
              <p:cNvPr id="107" name="Cylinder 106">
                <a:extLst>
                  <a:ext uri="{FF2B5EF4-FFF2-40B4-BE49-F238E27FC236}">
                    <a16:creationId xmlns:a16="http://schemas.microsoft.com/office/drawing/2014/main" id="{6475B00F-EF49-CA43-2E5F-BFE98D8E1E64}"/>
                  </a:ext>
                </a:extLst>
              </p:cNvPr>
              <p:cNvSpPr/>
              <p:nvPr/>
            </p:nvSpPr>
            <p:spPr>
              <a:xfrm>
                <a:off x="8813773" y="3114097"/>
                <a:ext cx="516948" cy="456681"/>
              </a:xfrm>
              <a:prstGeom prst="can">
                <a:avLst/>
              </a:prstGeom>
              <a:solidFill>
                <a:schemeClr val="bg1">
                  <a:lumMod val="65000"/>
                </a:schemeClr>
              </a:solidFill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36000" rtlCol="0" anchor="ctr"/>
              <a:lstStyle/>
              <a:p>
                <a:pPr algn="r"/>
                <a:r>
                  <a:rPr 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Table </a:t>
                </a:r>
                <a:r>
                  <a:rPr lang="en-US" sz="8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Storage</a:t>
                </a:r>
                <a:endParaRPr lang="en-NZ" sz="9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74A9404A-92EE-3C6E-39FC-A3DF3FCC48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833187" y="3243336"/>
                <a:ext cx="192678" cy="151968"/>
              </a:xfrm>
              <a:prstGeom prst="rect">
                <a:avLst/>
              </a:prstGeom>
            </p:spPr>
          </p:pic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86D25FBF-36B8-7EED-1E45-A9817F5858C7}"/>
                </a:ext>
              </a:extLst>
            </p:cNvPr>
            <p:cNvGrpSpPr/>
            <p:nvPr/>
          </p:nvGrpSpPr>
          <p:grpSpPr>
            <a:xfrm>
              <a:off x="9220741" y="3113848"/>
              <a:ext cx="516948" cy="456681"/>
              <a:chOff x="8813773" y="2558797"/>
              <a:chExt cx="516948" cy="456681"/>
            </a:xfrm>
          </p:grpSpPr>
          <p:sp>
            <p:nvSpPr>
              <p:cNvPr id="105" name="Cylinder 104">
                <a:extLst>
                  <a:ext uri="{FF2B5EF4-FFF2-40B4-BE49-F238E27FC236}">
                    <a16:creationId xmlns:a16="http://schemas.microsoft.com/office/drawing/2014/main" id="{94FD5AC2-B1D1-CDB8-FC78-FE52C15745A8}"/>
                  </a:ext>
                </a:extLst>
              </p:cNvPr>
              <p:cNvSpPr/>
              <p:nvPr/>
            </p:nvSpPr>
            <p:spPr>
              <a:xfrm>
                <a:off x="8813773" y="2558797"/>
                <a:ext cx="516948" cy="456681"/>
              </a:xfrm>
              <a:prstGeom prst="can">
                <a:avLst/>
              </a:prstGeom>
              <a:solidFill>
                <a:srgbClr val="BB1932"/>
              </a:solidFill>
              <a:ln>
                <a:solidFill>
                  <a:srgbClr val="74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36000" rtlCol="0" anchor="ctr"/>
              <a:lstStyle/>
              <a:p>
                <a:pPr algn="r"/>
                <a:r>
                  <a:rPr lang="en-US" sz="900" dirty="0">
                    <a:solidFill>
                      <a:schemeClr val="tx1"/>
                    </a:solidFill>
                  </a:rPr>
                  <a:t>Azure SQL</a:t>
                </a:r>
                <a:endParaRPr lang="en-NZ" sz="9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9B62692-C3BE-E3FE-5CDA-9F28E22650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8829354" y="2735984"/>
                <a:ext cx="182393" cy="176250"/>
              </a:xfrm>
              <a:prstGeom prst="rect">
                <a:avLst/>
              </a:prstGeom>
              <a:ln>
                <a:noFill/>
              </a:ln>
            </p:spPr>
          </p:pic>
        </p:grpSp>
      </p:grp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093BE42-DFF1-952A-CCE1-559413C805B3}"/>
              </a:ext>
            </a:extLst>
          </p:cNvPr>
          <p:cNvSpPr/>
          <p:nvPr/>
        </p:nvSpPr>
        <p:spPr>
          <a:xfrm>
            <a:off x="8519184" y="4634302"/>
            <a:ext cx="1757846" cy="62431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 err="1">
                <a:solidFill>
                  <a:schemeClr val="tx1"/>
                </a:solidFill>
              </a:rPr>
              <a:t>IAuthTokensService</a:t>
            </a:r>
            <a:endParaRPr lang="en-NZ" sz="1050" dirty="0">
              <a:solidFill>
                <a:schemeClr val="tx1"/>
              </a:solidFill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21D2592-678F-11CF-F2F3-F5D254977F72}"/>
              </a:ext>
            </a:extLst>
          </p:cNvPr>
          <p:cNvSpPr/>
          <p:nvPr/>
        </p:nvSpPr>
        <p:spPr>
          <a:xfrm>
            <a:off x="8598000" y="4874890"/>
            <a:ext cx="1602311" cy="3061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CreateJWTTokens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119" name="Straight Arrow Connector 38">
            <a:extLst>
              <a:ext uri="{FF2B5EF4-FFF2-40B4-BE49-F238E27FC236}">
                <a16:creationId xmlns:a16="http://schemas.microsoft.com/office/drawing/2014/main" id="{FA9ACAEE-11C0-E6CB-FCC9-67EBDAA1749C}"/>
              </a:ext>
            </a:extLst>
          </p:cNvPr>
          <p:cNvCxnSpPr>
            <a:cxnSpLocks/>
            <a:stCxn id="118" idx="1"/>
            <a:endCxn id="49" idx="2"/>
          </p:cNvCxnSpPr>
          <p:nvPr/>
        </p:nvCxnSpPr>
        <p:spPr>
          <a:xfrm rot="10800000">
            <a:off x="7474980" y="3481759"/>
            <a:ext cx="1123020" cy="1546220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E26BE6BD-1F6A-B8D6-966D-6DAB8B549040}"/>
              </a:ext>
            </a:extLst>
          </p:cNvPr>
          <p:cNvSpPr txBox="1"/>
          <p:nvPr/>
        </p:nvSpPr>
        <p:spPr>
          <a:xfrm>
            <a:off x="5051200" y="3653109"/>
            <a:ext cx="147348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JSON: </a:t>
            </a:r>
            <a:r>
              <a:rPr lang="en-NZ" sz="1050" dirty="0" err="1"/>
              <a:t>access_token</a:t>
            </a:r>
            <a:r>
              <a:rPr lang="en-NZ" sz="1050" dirty="0"/>
              <a:t>, </a:t>
            </a:r>
          </a:p>
          <a:p>
            <a:pPr algn="ctr"/>
            <a:r>
              <a:rPr lang="en-NZ" sz="1050" dirty="0" err="1"/>
              <a:t>refresh_token</a:t>
            </a:r>
            <a:endParaRPr lang="en-NZ" sz="1050" dirty="0"/>
          </a:p>
        </p:txBody>
      </p:sp>
      <p:sp>
        <p:nvSpPr>
          <p:cNvPr id="130" name="Arrow: Right 129">
            <a:extLst>
              <a:ext uri="{FF2B5EF4-FFF2-40B4-BE49-F238E27FC236}">
                <a16:creationId xmlns:a16="http://schemas.microsoft.com/office/drawing/2014/main" id="{CBDCF013-E556-2DA2-70B4-ADEFC7E1CE9E}"/>
              </a:ext>
            </a:extLst>
          </p:cNvPr>
          <p:cNvSpPr/>
          <p:nvPr/>
        </p:nvSpPr>
        <p:spPr>
          <a:xfrm>
            <a:off x="4944543" y="2909893"/>
            <a:ext cx="1628129" cy="290836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1" name="Arrow: Right 130">
            <a:extLst>
              <a:ext uri="{FF2B5EF4-FFF2-40B4-BE49-F238E27FC236}">
                <a16:creationId xmlns:a16="http://schemas.microsoft.com/office/drawing/2014/main" id="{8C4915BC-5E4A-BC81-E465-1DD366F4A4D1}"/>
              </a:ext>
            </a:extLst>
          </p:cNvPr>
          <p:cNvSpPr/>
          <p:nvPr/>
        </p:nvSpPr>
        <p:spPr>
          <a:xfrm flipH="1">
            <a:off x="4941088" y="3403905"/>
            <a:ext cx="1628129" cy="290836"/>
          </a:xfrm>
          <a:prstGeom prst="rightArrow">
            <a:avLst/>
          </a:prstGeom>
          <a:solidFill>
            <a:srgbClr val="FA7E14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2977101-7F6A-5EE4-6026-469C217C8E64}"/>
              </a:ext>
            </a:extLst>
          </p:cNvPr>
          <p:cNvSpPr txBox="1"/>
          <p:nvPr/>
        </p:nvSpPr>
        <p:spPr>
          <a:xfrm>
            <a:off x="4878378" y="2720604"/>
            <a:ext cx="168507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(OAuth2 code + provider)</a:t>
            </a:r>
          </a:p>
        </p:txBody>
      </p:sp>
      <p:cxnSp>
        <p:nvCxnSpPr>
          <p:cNvPr id="72" name="Straight Arrow Connector 38">
            <a:extLst>
              <a:ext uri="{FF2B5EF4-FFF2-40B4-BE49-F238E27FC236}">
                <a16:creationId xmlns:a16="http://schemas.microsoft.com/office/drawing/2014/main" id="{CF0AE3C9-FCBE-186C-0D81-23ECF8E89574}"/>
              </a:ext>
            </a:extLst>
          </p:cNvPr>
          <p:cNvCxnSpPr>
            <a:cxnSpLocks/>
            <a:stCxn id="123" idx="2"/>
            <a:endCxn id="118" idx="0"/>
          </p:cNvCxnSpPr>
          <p:nvPr/>
        </p:nvCxnSpPr>
        <p:spPr>
          <a:xfrm rot="5400000">
            <a:off x="9160783" y="4635810"/>
            <a:ext cx="477454" cy="707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6" name="Straight Arrow Connector 38">
            <a:extLst>
              <a:ext uri="{FF2B5EF4-FFF2-40B4-BE49-F238E27FC236}">
                <a16:creationId xmlns:a16="http://schemas.microsoft.com/office/drawing/2014/main" id="{5D664BA5-556E-8EC4-054D-A7BA43ECAA90}"/>
              </a:ext>
            </a:extLst>
          </p:cNvPr>
          <p:cNvCxnSpPr>
            <a:cxnSpLocks/>
            <a:stCxn id="123" idx="3"/>
            <a:endCxn id="102" idx="0"/>
          </p:cNvCxnSpPr>
          <p:nvPr/>
        </p:nvCxnSpPr>
        <p:spPr>
          <a:xfrm>
            <a:off x="10199065" y="4244348"/>
            <a:ext cx="920956" cy="1667120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2" name="Arrow: Bent 171">
            <a:extLst>
              <a:ext uri="{FF2B5EF4-FFF2-40B4-BE49-F238E27FC236}">
                <a16:creationId xmlns:a16="http://schemas.microsoft.com/office/drawing/2014/main" id="{F87CFA6E-ED8D-A017-68AF-4F7FAC112CD5}"/>
              </a:ext>
            </a:extLst>
          </p:cNvPr>
          <p:cNvSpPr/>
          <p:nvPr/>
        </p:nvSpPr>
        <p:spPr>
          <a:xfrm rot="16200000">
            <a:off x="7198892" y="3909610"/>
            <a:ext cx="1395719" cy="701910"/>
          </a:xfrm>
          <a:prstGeom prst="bentArrow">
            <a:avLst/>
          </a:prstGeom>
          <a:solidFill>
            <a:srgbClr val="FA7E14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>
              <a:solidFill>
                <a:schemeClr val="tx1"/>
              </a:solidFill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30C69977-FD62-26CE-E94C-1046A85E3D1C}"/>
              </a:ext>
            </a:extLst>
          </p:cNvPr>
          <p:cNvSpPr txBox="1"/>
          <p:nvPr/>
        </p:nvSpPr>
        <p:spPr>
          <a:xfrm rot="16200000">
            <a:off x="7426841" y="4047120"/>
            <a:ext cx="1064714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 err="1"/>
              <a:t>access_token</a:t>
            </a:r>
            <a:r>
              <a:rPr lang="en-NZ" sz="1050" dirty="0"/>
              <a:t>, </a:t>
            </a:r>
          </a:p>
          <a:p>
            <a:pPr algn="ctr"/>
            <a:r>
              <a:rPr lang="en-NZ" sz="1050" dirty="0" err="1"/>
              <a:t>refresh_token</a:t>
            </a:r>
            <a:endParaRPr lang="en-NZ" sz="1050" dirty="0"/>
          </a:p>
        </p:txBody>
      </p:sp>
      <p:sp>
        <p:nvSpPr>
          <p:cNvPr id="174" name="Arrow: Right 173">
            <a:extLst>
              <a:ext uri="{FF2B5EF4-FFF2-40B4-BE49-F238E27FC236}">
                <a16:creationId xmlns:a16="http://schemas.microsoft.com/office/drawing/2014/main" id="{34F6021B-42A3-B3C6-7C4E-B11800E25E5F}"/>
              </a:ext>
            </a:extLst>
          </p:cNvPr>
          <p:cNvSpPr/>
          <p:nvPr/>
        </p:nvSpPr>
        <p:spPr>
          <a:xfrm flipH="1">
            <a:off x="1549828" y="3403905"/>
            <a:ext cx="1628129" cy="290836"/>
          </a:xfrm>
          <a:prstGeom prst="rightArrow">
            <a:avLst/>
          </a:prstGeom>
          <a:solidFill>
            <a:srgbClr val="FA7E14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75" name="Arrow: Right 174">
            <a:extLst>
              <a:ext uri="{FF2B5EF4-FFF2-40B4-BE49-F238E27FC236}">
                <a16:creationId xmlns:a16="http://schemas.microsoft.com/office/drawing/2014/main" id="{8755E453-427F-385B-B10A-1C8299794CDC}"/>
              </a:ext>
            </a:extLst>
          </p:cNvPr>
          <p:cNvSpPr/>
          <p:nvPr/>
        </p:nvSpPr>
        <p:spPr>
          <a:xfrm>
            <a:off x="1558568" y="2909893"/>
            <a:ext cx="1628129" cy="290836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B5FDDB6A-1943-D138-0DD7-6C7744612BBD}"/>
              </a:ext>
            </a:extLst>
          </p:cNvPr>
          <p:cNvSpPr txBox="1"/>
          <p:nvPr/>
        </p:nvSpPr>
        <p:spPr>
          <a:xfrm>
            <a:off x="1492403" y="2720604"/>
            <a:ext cx="168507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(OAuth2 code + provider)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7D471276-CD4F-8D90-7130-1616E2895021}"/>
              </a:ext>
            </a:extLst>
          </p:cNvPr>
          <p:cNvSpPr txBox="1"/>
          <p:nvPr/>
        </p:nvSpPr>
        <p:spPr>
          <a:xfrm>
            <a:off x="3733823" y="3532891"/>
            <a:ext cx="98296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Bake cookies</a:t>
            </a:r>
          </a:p>
        </p:txBody>
      </p:sp>
      <p:sp>
        <p:nvSpPr>
          <p:cNvPr id="178" name="Arrow: Right 177">
            <a:extLst>
              <a:ext uri="{FF2B5EF4-FFF2-40B4-BE49-F238E27FC236}">
                <a16:creationId xmlns:a16="http://schemas.microsoft.com/office/drawing/2014/main" id="{07C2C3E5-A548-0A57-26B7-56E18AAD3C84}"/>
              </a:ext>
            </a:extLst>
          </p:cNvPr>
          <p:cNvSpPr/>
          <p:nvPr/>
        </p:nvSpPr>
        <p:spPr>
          <a:xfrm rot="5400000">
            <a:off x="7160770" y="1956716"/>
            <a:ext cx="1042572" cy="290836"/>
          </a:xfrm>
          <a:prstGeom prst="rightArrow">
            <a:avLst/>
          </a:prstGeom>
          <a:solidFill>
            <a:srgbClr val="00206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9181B0E-D4BD-0846-7002-8FFFB8A7D733}"/>
              </a:ext>
            </a:extLst>
          </p:cNvPr>
          <p:cNvSpPr txBox="1"/>
          <p:nvPr/>
        </p:nvSpPr>
        <p:spPr>
          <a:xfrm>
            <a:off x="7726446" y="1914887"/>
            <a:ext cx="100700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(OAuth2 code</a:t>
            </a:r>
          </a:p>
          <a:p>
            <a:pPr algn="ctr"/>
            <a:r>
              <a:rPr lang="en-NZ" sz="1050" dirty="0"/>
              <a:t> + provider)</a:t>
            </a:r>
          </a:p>
        </p:txBody>
      </p:sp>
      <p:pic>
        <p:nvPicPr>
          <p:cNvPr id="181" name="Graphic 180" descr="Badge 1 with solid fill">
            <a:extLst>
              <a:ext uri="{FF2B5EF4-FFF2-40B4-BE49-F238E27FC236}">
                <a16:creationId xmlns:a16="http://schemas.microsoft.com/office/drawing/2014/main" id="{DE5DE2CF-7146-AF82-CE29-077DDA0C5F2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986001" y="1482342"/>
            <a:ext cx="445873" cy="445873"/>
          </a:xfrm>
          <a:prstGeom prst="rect">
            <a:avLst/>
          </a:prstGeom>
        </p:spPr>
      </p:pic>
      <p:sp>
        <p:nvSpPr>
          <p:cNvPr id="182" name="Arrow: Right 181">
            <a:extLst>
              <a:ext uri="{FF2B5EF4-FFF2-40B4-BE49-F238E27FC236}">
                <a16:creationId xmlns:a16="http://schemas.microsoft.com/office/drawing/2014/main" id="{19988B0A-5008-5F0D-4E4B-F423DEFF39A1}"/>
              </a:ext>
            </a:extLst>
          </p:cNvPr>
          <p:cNvSpPr/>
          <p:nvPr/>
        </p:nvSpPr>
        <p:spPr>
          <a:xfrm rot="16200000">
            <a:off x="6658005" y="1934836"/>
            <a:ext cx="1042572" cy="290836"/>
          </a:xfrm>
          <a:prstGeom prst="rightArrow">
            <a:avLst/>
          </a:prstGeom>
          <a:solidFill>
            <a:srgbClr val="FA7E14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pic>
        <p:nvPicPr>
          <p:cNvPr id="183" name="Graphic 182" descr="Badge with solid fill">
            <a:extLst>
              <a:ext uri="{FF2B5EF4-FFF2-40B4-BE49-F238E27FC236}">
                <a16:creationId xmlns:a16="http://schemas.microsoft.com/office/drawing/2014/main" id="{EE7F3A03-10AC-0AEA-77D4-AF164415DFD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761149" y="2623419"/>
            <a:ext cx="445873" cy="445873"/>
          </a:xfrm>
          <a:prstGeom prst="rect">
            <a:avLst/>
          </a:prstGeom>
        </p:spPr>
      </p:pic>
      <p:pic>
        <p:nvPicPr>
          <p:cNvPr id="184" name="Graphic 183" descr="Badge 3 with solid fill">
            <a:extLst>
              <a:ext uri="{FF2B5EF4-FFF2-40B4-BE49-F238E27FC236}">
                <a16:creationId xmlns:a16="http://schemas.microsoft.com/office/drawing/2014/main" id="{7468828B-DEEE-5962-7D6B-35E7B2096C13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189111" y="1946661"/>
            <a:ext cx="445873" cy="445873"/>
          </a:xfrm>
          <a:prstGeom prst="rect">
            <a:avLst/>
          </a:prstGeom>
        </p:spPr>
      </p:pic>
      <p:pic>
        <p:nvPicPr>
          <p:cNvPr id="84" name="Graphic 83" descr="Badge 4 with solid fill">
            <a:extLst>
              <a:ext uri="{FF2B5EF4-FFF2-40B4-BE49-F238E27FC236}">
                <a16:creationId xmlns:a16="http://schemas.microsoft.com/office/drawing/2014/main" id="{66965557-0FD4-6FCC-B0FA-EE0A2F1199ED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046569" y="2623420"/>
            <a:ext cx="445873" cy="445873"/>
          </a:xfrm>
          <a:prstGeom prst="rect">
            <a:avLst/>
          </a:prstGeom>
        </p:spPr>
      </p:pic>
      <p:sp>
        <p:nvSpPr>
          <p:cNvPr id="186" name="TextBox 185">
            <a:extLst>
              <a:ext uri="{FF2B5EF4-FFF2-40B4-BE49-F238E27FC236}">
                <a16:creationId xmlns:a16="http://schemas.microsoft.com/office/drawing/2014/main" id="{AD9084D0-F61F-CECF-7D15-ACA7B2F68652}"/>
              </a:ext>
            </a:extLst>
          </p:cNvPr>
          <p:cNvSpPr txBox="1"/>
          <p:nvPr/>
        </p:nvSpPr>
        <p:spPr>
          <a:xfrm>
            <a:off x="5635204" y="1512717"/>
            <a:ext cx="147348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JSON: </a:t>
            </a:r>
            <a:r>
              <a:rPr lang="en-NZ" sz="1050" dirty="0" err="1"/>
              <a:t>access_token</a:t>
            </a:r>
            <a:r>
              <a:rPr lang="en-NZ" sz="1050" dirty="0"/>
              <a:t>, </a:t>
            </a:r>
          </a:p>
          <a:p>
            <a:pPr algn="ctr"/>
            <a:r>
              <a:rPr lang="en-NZ" sz="1050" dirty="0" err="1"/>
              <a:t>refresh_token</a:t>
            </a:r>
            <a:endParaRPr lang="en-NZ" sz="1050" dirty="0"/>
          </a:p>
        </p:txBody>
      </p:sp>
      <p:sp>
        <p:nvSpPr>
          <p:cNvPr id="2" name="Arrow: Curved Left 1">
            <a:extLst>
              <a:ext uri="{FF2B5EF4-FFF2-40B4-BE49-F238E27FC236}">
                <a16:creationId xmlns:a16="http://schemas.microsoft.com/office/drawing/2014/main" id="{79590FEA-EF97-AAE0-3690-E7B1E7DA62C5}"/>
              </a:ext>
            </a:extLst>
          </p:cNvPr>
          <p:cNvSpPr/>
          <p:nvPr/>
        </p:nvSpPr>
        <p:spPr>
          <a:xfrm rot="5400000">
            <a:off x="227831" y="3973220"/>
            <a:ext cx="814856" cy="988483"/>
          </a:xfrm>
          <a:prstGeom prst="curvedLeftArrow">
            <a:avLst>
              <a:gd name="adj1" fmla="val 25000"/>
              <a:gd name="adj2" fmla="val 52029"/>
              <a:gd name="adj3" fmla="val 29688"/>
            </a:avLst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68F882-F9B2-59C0-20EF-16BEE446E2A6}"/>
              </a:ext>
            </a:extLst>
          </p:cNvPr>
          <p:cNvSpPr txBox="1"/>
          <p:nvPr/>
        </p:nvSpPr>
        <p:spPr>
          <a:xfrm>
            <a:off x="155305" y="4830003"/>
            <a:ext cx="10438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/>
              <a:t>OAuth2</a:t>
            </a:r>
          </a:p>
          <a:p>
            <a:r>
              <a:rPr lang="en-NZ" sz="1100" dirty="0"/>
              <a:t>Authorization</a:t>
            </a:r>
          </a:p>
          <a:p>
            <a:r>
              <a:rPr lang="en-NZ" sz="1100" dirty="0"/>
              <a:t>Code Flow w/</a:t>
            </a:r>
          </a:p>
          <a:p>
            <a:r>
              <a:rPr lang="en-NZ" sz="1100" dirty="0"/>
              <a:t>3</a:t>
            </a:r>
            <a:r>
              <a:rPr lang="en-NZ" sz="1100" baseline="30000" dirty="0"/>
              <a:t>rd</a:t>
            </a:r>
            <a:r>
              <a:rPr lang="en-NZ" sz="1100" dirty="0"/>
              <a:t> party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006243E-8EF8-347D-05B2-87A353BEB5C4}"/>
              </a:ext>
            </a:extLst>
          </p:cNvPr>
          <p:cNvGrpSpPr/>
          <p:nvPr/>
        </p:nvGrpSpPr>
        <p:grpSpPr>
          <a:xfrm>
            <a:off x="10835642" y="591715"/>
            <a:ext cx="1111013" cy="1781254"/>
            <a:chOff x="8425859" y="4939656"/>
            <a:chExt cx="1111013" cy="178125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B65C758-08FE-ABDC-9BC9-D3D2A16FE8E1}"/>
                </a:ext>
              </a:extLst>
            </p:cNvPr>
            <p:cNvSpPr/>
            <p:nvPr/>
          </p:nvSpPr>
          <p:spPr>
            <a:xfrm>
              <a:off x="8425859" y="4939656"/>
              <a:ext cx="1111013" cy="17812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Single Sign On</a:t>
              </a:r>
              <a:endParaRPr lang="en-NZ" sz="4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pic>
          <p:nvPicPr>
            <p:cNvPr id="6" name="Picture 2" descr="google - Wikipedia">
              <a:extLst>
                <a:ext uri="{FF2B5EF4-FFF2-40B4-BE49-F238E27FC236}">
                  <a16:creationId xmlns:a16="http://schemas.microsoft.com/office/drawing/2014/main" id="{E9B9E4F6-5AA6-DE6D-CC35-0A42F2582D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3973" r="-12631"/>
            <a:stretch/>
          </p:blipFill>
          <p:spPr bwMode="auto">
            <a:xfrm rot="20400000">
              <a:off x="8575461" y="5810312"/>
              <a:ext cx="857550" cy="22812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pic>
          <p:nvPicPr>
            <p:cNvPr id="12" name="Picture 4">
              <a:extLst>
                <a:ext uri="{FF2B5EF4-FFF2-40B4-BE49-F238E27FC236}">
                  <a16:creationId xmlns:a16="http://schemas.microsoft.com/office/drawing/2014/main" id="{F4444E52-D70B-95C9-DB7F-761AA85D3E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00000">
              <a:off x="8508912" y="5522290"/>
              <a:ext cx="990648" cy="20952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E812C45-FA79-7773-69BC-4704F9C9FE47}"/>
                </a:ext>
              </a:extLst>
            </p:cNvPr>
            <p:cNvSpPr/>
            <p:nvPr/>
          </p:nvSpPr>
          <p:spPr>
            <a:xfrm rot="20400000">
              <a:off x="8540941" y="6107792"/>
              <a:ext cx="926590" cy="19672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Another?</a:t>
              </a:r>
              <a:endParaRPr lang="en-NZ" sz="12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pic>
          <p:nvPicPr>
            <p:cNvPr id="14" name="Picture 22" descr="Facebook - log in or sign up">
              <a:extLst>
                <a:ext uri="{FF2B5EF4-FFF2-40B4-BE49-F238E27FC236}">
                  <a16:creationId xmlns:a16="http://schemas.microsoft.com/office/drawing/2014/main" id="{4678A286-6561-D010-A8CF-DF9E41D6248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065" b="20642"/>
            <a:stretch/>
          </p:blipFill>
          <p:spPr bwMode="auto">
            <a:xfrm rot="20400000">
              <a:off x="8490137" y="5242807"/>
              <a:ext cx="1003534" cy="20935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</p:pic>
      </p:grpSp>
      <p:cxnSp>
        <p:nvCxnSpPr>
          <p:cNvPr id="16" name="Straight Arrow Connector 38">
            <a:extLst>
              <a:ext uri="{FF2B5EF4-FFF2-40B4-BE49-F238E27FC236}">
                <a16:creationId xmlns:a16="http://schemas.microsoft.com/office/drawing/2014/main" id="{4E1BDFED-79C1-387F-F8F9-F0CF5F2BC76B}"/>
              </a:ext>
            </a:extLst>
          </p:cNvPr>
          <p:cNvCxnSpPr>
            <a:cxnSpLocks/>
            <a:stCxn id="33" idx="3"/>
            <a:endCxn id="6" idx="1"/>
          </p:cNvCxnSpPr>
          <p:nvPr/>
        </p:nvCxnSpPr>
        <p:spPr>
          <a:xfrm flipV="1">
            <a:off x="10199065" y="1723082"/>
            <a:ext cx="812037" cy="1616120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22EB6C5-3198-0067-0A67-01C984B1B04D}"/>
              </a:ext>
            </a:extLst>
          </p:cNvPr>
          <p:cNvSpPr txBox="1"/>
          <p:nvPr/>
        </p:nvSpPr>
        <p:spPr>
          <a:xfrm>
            <a:off x="9783682" y="1328002"/>
            <a:ext cx="100700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(OAuth2 code</a:t>
            </a:r>
          </a:p>
          <a:p>
            <a:pPr algn="ctr"/>
            <a:r>
              <a:rPr lang="en-NZ" sz="1050" dirty="0"/>
              <a:t>+ secret)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EBA76F-B3CD-1BA7-5FF7-82FE02275975}"/>
              </a:ext>
            </a:extLst>
          </p:cNvPr>
          <p:cNvSpPr txBox="1"/>
          <p:nvPr/>
        </p:nvSpPr>
        <p:spPr>
          <a:xfrm>
            <a:off x="11120947" y="3122911"/>
            <a:ext cx="97975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(auth tokens)</a:t>
            </a:r>
          </a:p>
        </p:txBody>
      </p:sp>
      <p:cxnSp>
        <p:nvCxnSpPr>
          <p:cNvPr id="21" name="Straight Arrow Connector 38">
            <a:extLst>
              <a:ext uri="{FF2B5EF4-FFF2-40B4-BE49-F238E27FC236}">
                <a16:creationId xmlns:a16="http://schemas.microsoft.com/office/drawing/2014/main" id="{2C4C7ECD-6BDD-7FDE-90FA-A8F7234ECB66}"/>
              </a:ext>
            </a:extLst>
          </p:cNvPr>
          <p:cNvCxnSpPr>
            <a:cxnSpLocks/>
            <a:stCxn id="6" idx="3"/>
            <a:endCxn id="24" idx="3"/>
          </p:cNvCxnSpPr>
          <p:nvPr/>
        </p:nvCxnSpPr>
        <p:spPr>
          <a:xfrm flipH="1">
            <a:off x="10277030" y="1429782"/>
            <a:ext cx="1539906" cy="2670130"/>
          </a:xfrm>
          <a:prstGeom prst="bentConnector3">
            <a:avLst>
              <a:gd name="adj1" fmla="val -16524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DF2F487-5899-DD1D-0EC9-33C7D29E6C21}"/>
              </a:ext>
            </a:extLst>
          </p:cNvPr>
          <p:cNvSpPr/>
          <p:nvPr/>
        </p:nvSpPr>
        <p:spPr>
          <a:xfrm>
            <a:off x="8600661" y="3186113"/>
            <a:ext cx="1598404" cy="3061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Verify </a:t>
            </a:r>
            <a:r>
              <a:rPr lang="en-US" sz="1050" dirty="0" err="1">
                <a:solidFill>
                  <a:schemeClr val="tx1"/>
                </a:solidFill>
              </a:rPr>
              <a:t>AuthCode</a:t>
            </a:r>
            <a:endParaRPr lang="en-NZ" sz="1050" dirty="0">
              <a:solidFill>
                <a:schemeClr val="tx1"/>
              </a:solidFill>
            </a:endParaRPr>
          </a:p>
        </p:txBody>
      </p:sp>
      <p:pic>
        <p:nvPicPr>
          <p:cNvPr id="52" name="Graphic 51" descr="Badge 5 with solid fill">
            <a:extLst>
              <a:ext uri="{FF2B5EF4-FFF2-40B4-BE49-F238E27FC236}">
                <a16:creationId xmlns:a16="http://schemas.microsoft.com/office/drawing/2014/main" id="{645DAAF7-5268-5F54-D21B-77EA75A42ECF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0009131" y="1723725"/>
            <a:ext cx="445873" cy="445873"/>
          </a:xfrm>
          <a:prstGeom prst="rect">
            <a:avLst/>
          </a:prstGeom>
        </p:spPr>
      </p:pic>
      <p:pic>
        <p:nvPicPr>
          <p:cNvPr id="54" name="Graphic 53" descr="Badge 7 with solid fill">
            <a:extLst>
              <a:ext uri="{FF2B5EF4-FFF2-40B4-BE49-F238E27FC236}">
                <a16:creationId xmlns:a16="http://schemas.microsoft.com/office/drawing/2014/main" id="{CBD01549-0700-F619-0C31-68E8852AD93F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6842394" y="4317004"/>
            <a:ext cx="445873" cy="445873"/>
          </a:xfrm>
          <a:prstGeom prst="rect">
            <a:avLst/>
          </a:prstGeom>
        </p:spPr>
      </p:pic>
      <p:pic>
        <p:nvPicPr>
          <p:cNvPr id="55" name="Graphic 54" descr="Badge 8 with solid fill">
            <a:extLst>
              <a:ext uri="{FF2B5EF4-FFF2-40B4-BE49-F238E27FC236}">
                <a16:creationId xmlns:a16="http://schemas.microsoft.com/office/drawing/2014/main" id="{38C59F02-8FF0-7835-2150-C5E4DA3A9147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5474970" y="4021588"/>
            <a:ext cx="445873" cy="445873"/>
          </a:xfrm>
          <a:prstGeom prst="rect">
            <a:avLst/>
          </a:prstGeom>
        </p:spPr>
      </p:pic>
      <p:pic>
        <p:nvPicPr>
          <p:cNvPr id="58" name="Graphic 57" descr="Badge 9 with solid fill">
            <a:extLst>
              <a:ext uri="{FF2B5EF4-FFF2-40B4-BE49-F238E27FC236}">
                <a16:creationId xmlns:a16="http://schemas.microsoft.com/office/drawing/2014/main" id="{815B3480-E853-E48B-C886-BC1A8414D1CA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3374333" y="3435671"/>
            <a:ext cx="470636" cy="470636"/>
          </a:xfrm>
          <a:prstGeom prst="rect">
            <a:avLst/>
          </a:prstGeom>
        </p:spPr>
      </p:pic>
      <p:pic>
        <p:nvPicPr>
          <p:cNvPr id="60" name="Graphic 59" descr="Badge 10 with solid fill">
            <a:extLst>
              <a:ext uri="{FF2B5EF4-FFF2-40B4-BE49-F238E27FC236}">
                <a16:creationId xmlns:a16="http://schemas.microsoft.com/office/drawing/2014/main" id="{D140C949-D924-14C8-211C-D409C56220F9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1298374" y="3715505"/>
            <a:ext cx="470636" cy="47063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87AC90C2-0A49-7B08-AFE9-4F89E34C0543}"/>
              </a:ext>
            </a:extLst>
          </p:cNvPr>
          <p:cNvSpPr/>
          <p:nvPr/>
        </p:nvSpPr>
        <p:spPr>
          <a:xfrm>
            <a:off x="8519184" y="3665446"/>
            <a:ext cx="1757846" cy="86893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dirty="0" err="1">
                <a:solidFill>
                  <a:schemeClr val="tx1"/>
                </a:solidFill>
              </a:rPr>
              <a:t>ISSOProviderService</a:t>
            </a:r>
            <a:endParaRPr lang="en-US" sz="1000" dirty="0">
              <a:solidFill>
                <a:schemeClr val="tx1"/>
              </a:solidFill>
            </a:endParaRPr>
          </a:p>
          <a:p>
            <a:pPr algn="ctr"/>
            <a:r>
              <a:rPr lang="en-NZ" sz="1000" dirty="0">
                <a:solidFill>
                  <a:schemeClr val="tx1"/>
                </a:solidFill>
              </a:rPr>
              <a:t>.</a:t>
            </a:r>
            <a:r>
              <a:rPr lang="en-NZ" sz="1000" dirty="0" err="1">
                <a:solidFill>
                  <a:schemeClr val="tx1"/>
                </a:solidFill>
              </a:rPr>
              <a:t>SaveUserInfo</a:t>
            </a:r>
            <a:endParaRPr lang="en-US" sz="1000" dirty="0">
              <a:solidFill>
                <a:schemeClr val="tx1"/>
              </a:solidFill>
            </a:endParaRPr>
          </a:p>
        </p:txBody>
      </p:sp>
      <p:pic>
        <p:nvPicPr>
          <p:cNvPr id="62" name="Graphic 61" descr="Badge 4 with solid fill">
            <a:extLst>
              <a:ext uri="{FF2B5EF4-FFF2-40B4-BE49-F238E27FC236}">
                <a16:creationId xmlns:a16="http://schemas.microsoft.com/office/drawing/2014/main" id="{B4109BFA-77EA-54EA-9526-A459BD7CC0DE}"/>
              </a:ext>
            </a:extLst>
          </p:cNvPr>
          <p:cNvPicPr>
            <a:picLocks noChangeAspect="1"/>
          </p:cNvPicPr>
          <p:nvPr/>
        </p:nvPicPr>
        <p:blipFill>
          <a:blip r:embed="rId3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11021056" y="2754593"/>
            <a:ext cx="445873" cy="445873"/>
          </a:xfrm>
          <a:prstGeom prst="rect">
            <a:avLst/>
          </a:prstGeom>
        </p:spPr>
      </p:pic>
      <p:pic>
        <p:nvPicPr>
          <p:cNvPr id="63" name="Graphic 62" descr="Badge 5 with solid fill">
            <a:extLst>
              <a:ext uri="{FF2B5EF4-FFF2-40B4-BE49-F238E27FC236}">
                <a16:creationId xmlns:a16="http://schemas.microsoft.com/office/drawing/2014/main" id="{51AD336F-6EBE-D70B-650F-19733C7ECB42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7061826" y="4512552"/>
            <a:ext cx="445873" cy="445873"/>
          </a:xfrm>
          <a:prstGeom prst="rect">
            <a:avLst/>
          </a:prstGeom>
        </p:spPr>
      </p:pic>
      <p:pic>
        <p:nvPicPr>
          <p:cNvPr id="53" name="Graphic 52" descr="Badge 6 with solid fill">
            <a:extLst>
              <a:ext uri="{FF2B5EF4-FFF2-40B4-BE49-F238E27FC236}">
                <a16:creationId xmlns:a16="http://schemas.microsoft.com/office/drawing/2014/main" id="{C0376A66-0868-8CDC-363A-08DCDBD52D33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10803791" y="2962250"/>
            <a:ext cx="445873" cy="445873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7555764E-1FFA-090B-8382-C7B802B3212C}"/>
              </a:ext>
            </a:extLst>
          </p:cNvPr>
          <p:cNvSpPr txBox="1"/>
          <p:nvPr/>
        </p:nvSpPr>
        <p:spPr>
          <a:xfrm>
            <a:off x="837858" y="5467636"/>
            <a:ext cx="1441420" cy="879038"/>
          </a:xfrm>
          <a:prstGeom prst="flowChartDocument">
            <a:avLst/>
          </a:prstGeom>
          <a:solidFill>
            <a:schemeClr val="accent3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/>
            </a:lvl1pPr>
          </a:lstStyle>
          <a:p>
            <a:r>
              <a:rPr lang="en-NZ" dirty="0"/>
              <a:t>/authorize</a:t>
            </a:r>
          </a:p>
          <a:p>
            <a:r>
              <a:rPr lang="en-NZ" dirty="0"/>
              <a:t>?</a:t>
            </a:r>
            <a:r>
              <a:rPr lang="en-NZ" dirty="0" err="1"/>
              <a:t>client_id</a:t>
            </a:r>
            <a:r>
              <a:rPr lang="en-NZ" dirty="0"/>
              <a:t>=</a:t>
            </a:r>
          </a:p>
          <a:p>
            <a:r>
              <a:rPr lang="en-NZ" dirty="0"/>
              <a:t>&amp;</a:t>
            </a:r>
            <a:r>
              <a:rPr lang="en-NZ" dirty="0" err="1"/>
              <a:t>response_type</a:t>
            </a:r>
            <a:r>
              <a:rPr lang="en-NZ" dirty="0"/>
              <a:t>=code</a:t>
            </a:r>
          </a:p>
          <a:p>
            <a:r>
              <a:rPr lang="en-NZ" dirty="0"/>
              <a:t>&amp;</a:t>
            </a:r>
            <a:r>
              <a:rPr lang="en-NZ" dirty="0" err="1"/>
              <a:t>redirect_uri</a:t>
            </a:r>
            <a:r>
              <a:rPr lang="en-NZ" dirty="0"/>
              <a:t>=/login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6387497-DE10-FD71-D423-1E79B8A2D260}"/>
              </a:ext>
            </a:extLst>
          </p:cNvPr>
          <p:cNvSpPr txBox="1"/>
          <p:nvPr/>
        </p:nvSpPr>
        <p:spPr>
          <a:xfrm>
            <a:off x="8855020" y="40998"/>
            <a:ext cx="1935668" cy="1452324"/>
          </a:xfrm>
          <a:prstGeom prst="flowChartDocument">
            <a:avLst/>
          </a:prstGeom>
          <a:solidFill>
            <a:schemeClr val="accent3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/>
            </a:lvl1pPr>
          </a:lstStyle>
          <a:p>
            <a:r>
              <a:rPr lang="en-NZ" dirty="0"/>
              <a:t>/</a:t>
            </a:r>
            <a:r>
              <a:rPr lang="en-NZ" dirty="0" err="1"/>
              <a:t>oauth</a:t>
            </a:r>
            <a:r>
              <a:rPr lang="en-NZ" dirty="0"/>
              <a:t>/token</a:t>
            </a:r>
          </a:p>
          <a:p>
            <a:r>
              <a:rPr lang="en-NZ" dirty="0"/>
              <a:t>?</a:t>
            </a:r>
            <a:r>
              <a:rPr lang="en-NZ" dirty="0" err="1"/>
              <a:t>client_id</a:t>
            </a:r>
            <a:r>
              <a:rPr lang="en-NZ" dirty="0"/>
              <a:t>=</a:t>
            </a:r>
          </a:p>
          <a:p>
            <a:r>
              <a:rPr lang="en-NZ" dirty="0"/>
              <a:t>&amp;</a:t>
            </a:r>
            <a:r>
              <a:rPr lang="en-NZ" dirty="0" err="1"/>
              <a:t>client_secret</a:t>
            </a:r>
            <a:r>
              <a:rPr lang="en-NZ" dirty="0"/>
              <a:t>=</a:t>
            </a:r>
          </a:p>
          <a:p>
            <a:r>
              <a:rPr lang="en-NZ" dirty="0"/>
              <a:t>&amp;</a:t>
            </a:r>
            <a:r>
              <a:rPr lang="en-NZ" dirty="0" err="1"/>
              <a:t>grant_type</a:t>
            </a:r>
            <a:r>
              <a:rPr lang="en-NZ" dirty="0"/>
              <a:t>=</a:t>
            </a:r>
            <a:r>
              <a:rPr lang="en-NZ" dirty="0" err="1"/>
              <a:t>authorization_code</a:t>
            </a:r>
            <a:endParaRPr lang="en-NZ" dirty="0"/>
          </a:p>
          <a:p>
            <a:r>
              <a:rPr lang="en-NZ" dirty="0"/>
              <a:t>&amp;</a:t>
            </a:r>
            <a:r>
              <a:rPr lang="en-NZ" dirty="0" err="1"/>
              <a:t>redirect_uri</a:t>
            </a:r>
            <a:r>
              <a:rPr lang="en-NZ" dirty="0"/>
              <a:t>=/login</a:t>
            </a:r>
          </a:p>
          <a:p>
            <a:r>
              <a:rPr lang="en-NZ" dirty="0"/>
              <a:t>&amp;code=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6DA5FEB2-D31D-D8E0-50E8-E4554192A373}"/>
              </a:ext>
            </a:extLst>
          </p:cNvPr>
          <p:cNvSpPr/>
          <p:nvPr/>
        </p:nvSpPr>
        <p:spPr>
          <a:xfrm>
            <a:off x="8600661" y="4091259"/>
            <a:ext cx="1598404" cy="3061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Save OAuth2 Tokens</a:t>
            </a:r>
            <a:endParaRPr lang="en-NZ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29097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Rectangle 187">
            <a:extLst>
              <a:ext uri="{FF2B5EF4-FFF2-40B4-BE49-F238E27FC236}">
                <a16:creationId xmlns:a16="http://schemas.microsoft.com/office/drawing/2014/main" id="{EE8D8331-4123-0B1A-4A41-AD0426D0EA72}"/>
              </a:ext>
            </a:extLst>
          </p:cNvPr>
          <p:cNvSpPr/>
          <p:nvPr/>
        </p:nvSpPr>
        <p:spPr>
          <a:xfrm>
            <a:off x="198120" y="3223451"/>
            <a:ext cx="11788140" cy="1800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NZ" dirty="0">
                <a:solidFill>
                  <a:schemeClr val="tx1"/>
                </a:solidFill>
              </a:rPr>
              <a:t>OOB SMS/Email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FB53D9CC-6DCD-4A66-01C5-9EA8C372E5EE}"/>
              </a:ext>
            </a:extLst>
          </p:cNvPr>
          <p:cNvSpPr/>
          <p:nvPr/>
        </p:nvSpPr>
        <p:spPr>
          <a:xfrm>
            <a:off x="198120" y="5105399"/>
            <a:ext cx="11788140" cy="131064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NZ" dirty="0">
                <a:solidFill>
                  <a:schemeClr val="tx1"/>
                </a:solidFill>
              </a:rPr>
              <a:t>TOTP Authenticator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3D27FF-03F8-E0B1-447B-CF4B21800E05}"/>
              </a:ext>
            </a:extLst>
          </p:cNvPr>
          <p:cNvSpPr txBox="1"/>
          <p:nvPr/>
        </p:nvSpPr>
        <p:spPr>
          <a:xfrm>
            <a:off x="267419" y="207034"/>
            <a:ext cx="63642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Authenticating a Person with MFA (first time)</a:t>
            </a: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56A7476-0659-6242-F36D-082C3B6E6488}"/>
              </a:ext>
            </a:extLst>
          </p:cNvPr>
          <p:cNvGrpSpPr/>
          <p:nvPr/>
        </p:nvGrpSpPr>
        <p:grpSpPr>
          <a:xfrm>
            <a:off x="3148553" y="829559"/>
            <a:ext cx="1131216" cy="5957740"/>
            <a:chOff x="631596" y="829559"/>
            <a:chExt cx="1131216" cy="595774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EF0B02E-1890-65A9-BED1-391E6347983B}"/>
                </a:ext>
              </a:extLst>
            </p:cNvPr>
            <p:cNvSpPr/>
            <p:nvPr/>
          </p:nvSpPr>
          <p:spPr>
            <a:xfrm>
              <a:off x="631596" y="829559"/>
              <a:ext cx="1131216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Person</a:t>
              </a:r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C7429410-B197-5CC4-8446-4956B723CB17}"/>
                </a:ext>
              </a:extLst>
            </p:cNvPr>
            <p:cNvCxnSpPr>
              <a:stCxn id="73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A2A98D8D-EEBA-DCA1-FFA6-3E8CF3C460CD}"/>
              </a:ext>
            </a:extLst>
          </p:cNvPr>
          <p:cNvGrpSpPr/>
          <p:nvPr/>
        </p:nvGrpSpPr>
        <p:grpSpPr>
          <a:xfrm>
            <a:off x="5465976" y="829559"/>
            <a:ext cx="1932494" cy="5957740"/>
            <a:chOff x="1533427" y="815419"/>
            <a:chExt cx="1932494" cy="5957740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29946343-BBFB-31BB-2539-B9323836F983}"/>
                </a:ext>
              </a:extLst>
            </p:cNvPr>
            <p:cNvSpPr/>
            <p:nvPr/>
          </p:nvSpPr>
          <p:spPr>
            <a:xfrm>
              <a:off x="1533427" y="815419"/>
              <a:ext cx="1932494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Client UI</a:t>
              </a:r>
            </a:p>
          </p:txBody>
        </p: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541E2DC1-414F-0133-9B8C-37B554AED24E}"/>
                </a:ext>
              </a:extLst>
            </p:cNvPr>
            <p:cNvCxnSpPr>
              <a:cxnSpLocks/>
              <a:stCxn id="78" idx="2"/>
            </p:cNvCxnSpPr>
            <p:nvPr/>
          </p:nvCxnSpPr>
          <p:spPr>
            <a:xfrm flipH="1">
              <a:off x="2490247" y="118306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6F4D6E70-0211-DC85-482C-9E47DB7B2172}"/>
              </a:ext>
            </a:extLst>
          </p:cNvPr>
          <p:cNvGrpSpPr/>
          <p:nvPr/>
        </p:nvGrpSpPr>
        <p:grpSpPr>
          <a:xfrm>
            <a:off x="1733747" y="829559"/>
            <a:ext cx="1131216" cy="5957740"/>
            <a:chOff x="631596" y="829559"/>
            <a:chExt cx="1131216" cy="595774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D3658FF6-529E-5FA6-DBDD-94081C942BD6}"/>
                </a:ext>
              </a:extLst>
            </p:cNvPr>
            <p:cNvSpPr/>
            <p:nvPr/>
          </p:nvSpPr>
          <p:spPr>
            <a:xfrm>
              <a:off x="631596" y="829559"/>
              <a:ext cx="1131216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Mobile Phone</a:t>
              </a:r>
            </a:p>
            <a:p>
              <a:pPr algn="ctr"/>
              <a:r>
                <a:rPr lang="en-NZ" sz="1200" dirty="0"/>
                <a:t>Email Inbox</a:t>
              </a:r>
            </a:p>
          </p:txBody>
        </p: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B50D7740-AA6C-3E3F-995E-299099897D70}"/>
                </a:ext>
              </a:extLst>
            </p:cNvPr>
            <p:cNvCxnSpPr>
              <a:stCxn id="81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B09C3A81-9AA3-956D-AA04-7A4134D43609}"/>
              </a:ext>
            </a:extLst>
          </p:cNvPr>
          <p:cNvGrpSpPr/>
          <p:nvPr/>
        </p:nvGrpSpPr>
        <p:grpSpPr>
          <a:xfrm>
            <a:off x="318155" y="829559"/>
            <a:ext cx="1131216" cy="5957740"/>
            <a:chOff x="-936396" y="677159"/>
            <a:chExt cx="1131216" cy="5957740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F538824-8AD8-4044-34E5-0A0586205249}"/>
                </a:ext>
              </a:extLst>
            </p:cNvPr>
            <p:cNvSpPr/>
            <p:nvPr/>
          </p:nvSpPr>
          <p:spPr>
            <a:xfrm>
              <a:off x="-936396" y="677159"/>
              <a:ext cx="1131216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Authenticator App</a:t>
              </a:r>
            </a:p>
          </p:txBody>
        </p: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AA19A77-01A4-BD0E-5398-1B6D2CF6B9C7}"/>
                </a:ext>
              </a:extLst>
            </p:cNvPr>
            <p:cNvCxnSpPr>
              <a:stCxn id="84" idx="2"/>
            </p:cNvCxnSpPr>
            <p:nvPr/>
          </p:nvCxnSpPr>
          <p:spPr>
            <a:xfrm flipH="1">
              <a:off x="-380215" y="10448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AB3C54D-2D40-81B9-C806-F913E3C7944D}"/>
              </a:ext>
            </a:extLst>
          </p:cNvPr>
          <p:cNvGrpSpPr/>
          <p:nvPr/>
        </p:nvGrpSpPr>
        <p:grpSpPr>
          <a:xfrm>
            <a:off x="9223108" y="843699"/>
            <a:ext cx="1475764" cy="5957740"/>
            <a:chOff x="459322" y="829559"/>
            <a:chExt cx="1475764" cy="5957740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48BF9287-EC47-906F-F8A2-3C76B1C2AA1C}"/>
                </a:ext>
              </a:extLst>
            </p:cNvPr>
            <p:cNvSpPr/>
            <p:nvPr/>
          </p:nvSpPr>
          <p:spPr>
            <a:xfrm>
              <a:off x="459322" y="829559"/>
              <a:ext cx="1475764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Identity API</a:t>
              </a:r>
            </a:p>
          </p:txBody>
        </p: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7DA77C3B-C72A-C137-55BC-DB04A1EBE429}"/>
                </a:ext>
              </a:extLst>
            </p:cNvPr>
            <p:cNvCxnSpPr>
              <a:cxnSpLocks/>
              <a:stCxn id="88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2AA5A8DA-9D4A-3CCF-AED2-180BE448D116}"/>
              </a:ext>
            </a:extLst>
          </p:cNvPr>
          <p:cNvGrpSpPr/>
          <p:nvPr/>
        </p:nvGrpSpPr>
        <p:grpSpPr>
          <a:xfrm>
            <a:off x="3714161" y="1250144"/>
            <a:ext cx="2708635" cy="276999"/>
            <a:chOff x="3714161" y="1250144"/>
            <a:chExt cx="2708635" cy="276999"/>
          </a:xfrm>
        </p:grpSpPr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A2B180B8-836F-9A77-01C4-31D3ABD4C46E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A4E079B3-8A04-6780-EF1E-DFA5D03816D7}"/>
                </a:ext>
              </a:extLst>
            </p:cNvPr>
            <p:cNvSpPr txBox="1"/>
            <p:nvPr/>
          </p:nvSpPr>
          <p:spPr>
            <a:xfrm>
              <a:off x="4412144" y="1250144"/>
              <a:ext cx="139333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email + password</a:t>
              </a:r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BCA9D36-F4AA-3B3B-3DC8-DFC7B8DE4065}"/>
              </a:ext>
            </a:extLst>
          </p:cNvPr>
          <p:cNvGrpSpPr/>
          <p:nvPr/>
        </p:nvGrpSpPr>
        <p:grpSpPr>
          <a:xfrm>
            <a:off x="6432223" y="1250143"/>
            <a:ext cx="3519340" cy="415498"/>
            <a:chOff x="6432223" y="1250143"/>
            <a:chExt cx="3519340" cy="415498"/>
          </a:xfrm>
        </p:grpSpPr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984D35C2-5C5B-28C8-A0F2-E4CA60F045FB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656C6CDB-9EED-8AC3-2C32-58E7AE0742EF}"/>
                </a:ext>
              </a:extLst>
            </p:cNvPr>
            <p:cNvSpPr txBox="1"/>
            <p:nvPr/>
          </p:nvSpPr>
          <p:spPr>
            <a:xfrm>
              <a:off x="7371252" y="1250143"/>
              <a:ext cx="164339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00" b="1" dirty="0"/>
                <a:t>POST /passwords/auth</a:t>
              </a:r>
            </a:p>
            <a:p>
              <a:pPr algn="ctr"/>
              <a:r>
                <a:rPr lang="en-NZ" sz="900" dirty="0"/>
                <a:t> </a:t>
              </a:r>
              <a:r>
                <a:rPr lang="en-NZ" sz="800" dirty="0"/>
                <a:t>+ </a:t>
              </a:r>
              <a:r>
                <a:rPr lang="en-NZ" sz="1100" dirty="0" err="1"/>
                <a:t>Username+Password</a:t>
              </a:r>
              <a:endParaRPr lang="en-NZ" sz="1200" dirty="0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8578A899-DA58-364A-44AF-5057CE922AFC}"/>
              </a:ext>
            </a:extLst>
          </p:cNvPr>
          <p:cNvGrpSpPr/>
          <p:nvPr/>
        </p:nvGrpSpPr>
        <p:grpSpPr>
          <a:xfrm>
            <a:off x="6422796" y="1579069"/>
            <a:ext cx="3538194" cy="276999"/>
            <a:chOff x="6422796" y="1480009"/>
            <a:chExt cx="3538194" cy="276999"/>
          </a:xfrm>
        </p:grpSpPr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73377C5F-202B-50BD-C1AC-9AF465444F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0C96D14F-E39C-6F46-B2AD-C42B674F7EF0}"/>
                </a:ext>
              </a:extLst>
            </p:cNvPr>
            <p:cNvSpPr txBox="1"/>
            <p:nvPr/>
          </p:nvSpPr>
          <p:spPr>
            <a:xfrm>
              <a:off x="7113055" y="1480009"/>
              <a:ext cx="2347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401 – </a:t>
              </a:r>
              <a:r>
                <a:rPr lang="en-NZ" sz="1100" dirty="0"/>
                <a:t>“</a:t>
              </a:r>
              <a:r>
                <a:rPr lang="en-NZ" sz="1100" dirty="0" err="1"/>
                <a:t>mfa_required</a:t>
              </a:r>
              <a:r>
                <a:rPr lang="en-NZ" sz="1100" dirty="0"/>
                <a:t>” + </a:t>
              </a:r>
              <a:r>
                <a:rPr lang="en-NZ" sz="1100" dirty="0" err="1"/>
                <a:t>MfaToken</a:t>
              </a:r>
              <a:endParaRPr lang="en-NZ" sz="1200" dirty="0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C1C142F-4F0C-0CEF-A360-DCCE25D3F1A1}"/>
              </a:ext>
            </a:extLst>
          </p:cNvPr>
          <p:cNvGrpSpPr/>
          <p:nvPr/>
        </p:nvGrpSpPr>
        <p:grpSpPr>
          <a:xfrm>
            <a:off x="6447761" y="1905388"/>
            <a:ext cx="3519340" cy="276999"/>
            <a:chOff x="6432223" y="1250143"/>
            <a:chExt cx="3519340" cy="276999"/>
          </a:xfrm>
        </p:grpSpPr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212FD764-87E4-012D-6A32-3A361392B4EA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903622CF-4123-214C-053B-965602CC59CA}"/>
                </a:ext>
              </a:extLst>
            </p:cNvPr>
            <p:cNvSpPr txBox="1"/>
            <p:nvPr/>
          </p:nvSpPr>
          <p:spPr>
            <a:xfrm>
              <a:off x="7063472" y="1250143"/>
              <a:ext cx="2258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00" b="1" dirty="0"/>
                <a:t>GET /passwords/</a:t>
              </a:r>
              <a:r>
                <a:rPr lang="en-NZ" sz="1000" b="1" dirty="0" err="1"/>
                <a:t>mfa</a:t>
              </a:r>
              <a:r>
                <a:rPr lang="en-NZ" sz="1200" dirty="0"/>
                <a:t> + </a:t>
              </a:r>
              <a:r>
                <a:rPr lang="en-NZ" sz="1100" dirty="0" err="1"/>
                <a:t>MfaToken</a:t>
              </a:r>
              <a:endParaRPr lang="en-NZ" sz="1200" dirty="0"/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4DFAC17-D671-A488-A1D2-9D781129D56C}"/>
              </a:ext>
            </a:extLst>
          </p:cNvPr>
          <p:cNvGrpSpPr/>
          <p:nvPr/>
        </p:nvGrpSpPr>
        <p:grpSpPr>
          <a:xfrm>
            <a:off x="6413369" y="2241054"/>
            <a:ext cx="3538194" cy="276999"/>
            <a:chOff x="6422796" y="1480009"/>
            <a:chExt cx="3538194" cy="276999"/>
          </a:xfrm>
        </p:grpSpPr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E3BFF617-DDC1-314E-CCBF-738804759B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63D76D5-1417-159C-48F2-B3BB9EE68E81}"/>
                </a:ext>
              </a:extLst>
            </p:cNvPr>
            <p:cNvSpPr txBox="1"/>
            <p:nvPr/>
          </p:nvSpPr>
          <p:spPr>
            <a:xfrm>
              <a:off x="7323054" y="1480009"/>
              <a:ext cx="192713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“no authenticators”</a:t>
              </a:r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9F04915E-CDAF-1050-EA7D-5CD2F7389FD1}"/>
              </a:ext>
            </a:extLst>
          </p:cNvPr>
          <p:cNvGrpSpPr/>
          <p:nvPr/>
        </p:nvGrpSpPr>
        <p:grpSpPr>
          <a:xfrm>
            <a:off x="3714161" y="2418993"/>
            <a:ext cx="2708635" cy="276999"/>
            <a:chOff x="6422796" y="1480010"/>
            <a:chExt cx="2708635" cy="276999"/>
          </a:xfrm>
        </p:grpSpPr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49814B80-4174-E0B8-8F48-915327E5A3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34A6292C-CBD3-2468-63B6-41F955F169A3}"/>
                </a:ext>
              </a:extLst>
            </p:cNvPr>
            <p:cNvSpPr txBox="1"/>
            <p:nvPr/>
          </p:nvSpPr>
          <p:spPr>
            <a:xfrm>
              <a:off x="7106355" y="1480010"/>
              <a:ext cx="142218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Choose 2</a:t>
              </a:r>
              <a:r>
                <a:rPr lang="en-NZ" sz="1200" baseline="30000" dirty="0"/>
                <a:t>nd</a:t>
              </a:r>
              <a:r>
                <a:rPr lang="en-NZ" sz="1200" dirty="0"/>
                <a:t> Factor</a:t>
              </a:r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C42811D5-79C3-7DD4-6968-4F70ADB51AC5}"/>
              </a:ext>
            </a:extLst>
          </p:cNvPr>
          <p:cNvGrpSpPr/>
          <p:nvPr/>
        </p:nvGrpSpPr>
        <p:grpSpPr>
          <a:xfrm>
            <a:off x="3739126" y="2774321"/>
            <a:ext cx="2708635" cy="276999"/>
            <a:chOff x="3714161" y="1250144"/>
            <a:chExt cx="2708635" cy="276999"/>
          </a:xfrm>
        </p:grpSpPr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C0DA8314-5ADA-A3FF-25D7-5A8B5BE18F88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CC3412D4-67FE-2289-61A9-42E06FEFA98D}"/>
                </a:ext>
              </a:extLst>
            </p:cNvPr>
            <p:cNvSpPr txBox="1"/>
            <p:nvPr/>
          </p:nvSpPr>
          <p:spPr>
            <a:xfrm>
              <a:off x="4089144" y="1250144"/>
              <a:ext cx="20393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Chosen Authenticator Type</a:t>
              </a: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E47BB070-B5C6-7E1D-0E76-D259297E03AC}"/>
              </a:ext>
            </a:extLst>
          </p:cNvPr>
          <p:cNvGrpSpPr/>
          <p:nvPr/>
        </p:nvGrpSpPr>
        <p:grpSpPr>
          <a:xfrm>
            <a:off x="6457188" y="2797181"/>
            <a:ext cx="3519340" cy="415498"/>
            <a:chOff x="6432223" y="1273003"/>
            <a:chExt cx="3519340" cy="415498"/>
          </a:xfrm>
        </p:grpSpPr>
        <p:cxnSp>
          <p:nvCxnSpPr>
            <p:cNvPr id="122" name="Straight Arrow Connector 121">
              <a:extLst>
                <a:ext uri="{FF2B5EF4-FFF2-40B4-BE49-F238E27FC236}">
                  <a16:creationId xmlns:a16="http://schemas.microsoft.com/office/drawing/2014/main" id="{EACE86FC-F9C5-1C58-7326-50FE8C9F55B4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0A0A0329-D2AC-A72B-F955-1980723F4D49}"/>
                </a:ext>
              </a:extLst>
            </p:cNvPr>
            <p:cNvSpPr txBox="1"/>
            <p:nvPr/>
          </p:nvSpPr>
          <p:spPr>
            <a:xfrm>
              <a:off x="7004169" y="1273003"/>
              <a:ext cx="2377574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00" b="1" dirty="0"/>
                <a:t>POST /passwords/</a:t>
              </a:r>
              <a:r>
                <a:rPr lang="en-NZ" sz="1000" b="1" dirty="0" err="1"/>
                <a:t>mfa</a:t>
              </a:r>
              <a:r>
                <a:rPr lang="en-NZ" sz="1000" b="1" dirty="0"/>
                <a:t>/authenticators</a:t>
              </a:r>
            </a:p>
            <a:p>
              <a:pPr algn="ctr"/>
              <a:r>
                <a:rPr lang="en-NZ" sz="900" dirty="0"/>
                <a:t> </a:t>
              </a:r>
              <a:r>
                <a:rPr lang="en-NZ" sz="800" dirty="0"/>
                <a:t>+ </a:t>
              </a:r>
              <a:r>
                <a:rPr lang="en-NZ" sz="1100" dirty="0" err="1"/>
                <a:t>MfaToken+Type</a:t>
              </a:r>
              <a:endParaRPr lang="en-NZ" sz="1200" dirty="0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71B9DB9C-314B-ABAD-181B-F4E3A18F6CF9}"/>
              </a:ext>
            </a:extLst>
          </p:cNvPr>
          <p:cNvGrpSpPr/>
          <p:nvPr/>
        </p:nvGrpSpPr>
        <p:grpSpPr>
          <a:xfrm>
            <a:off x="6413369" y="3344822"/>
            <a:ext cx="3538194" cy="276999"/>
            <a:chOff x="6422796" y="1480009"/>
            <a:chExt cx="3538194" cy="276999"/>
          </a:xfrm>
        </p:grpSpPr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0198F320-726D-7C55-EB79-EB128433FF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FCCEF251-3AD4-B3FD-5317-1DE2D7E23F84}"/>
                </a:ext>
              </a:extLst>
            </p:cNvPr>
            <p:cNvSpPr txBox="1"/>
            <p:nvPr/>
          </p:nvSpPr>
          <p:spPr>
            <a:xfrm>
              <a:off x="7153142" y="1480009"/>
              <a:ext cx="22669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</a:t>
              </a:r>
              <a:r>
                <a:rPr lang="en-NZ" sz="1100" dirty="0" err="1"/>
                <a:t>OobCode+recoverycodes</a:t>
              </a:r>
              <a:endParaRPr lang="en-NZ" sz="1100" dirty="0"/>
            </a:p>
          </p:txBody>
        </p:sp>
      </p:grp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850B7F31-E799-7F36-187E-AED5D66326C3}"/>
              </a:ext>
            </a:extLst>
          </p:cNvPr>
          <p:cNvSpPr/>
          <p:nvPr/>
        </p:nvSpPr>
        <p:spPr>
          <a:xfrm>
            <a:off x="9967890" y="2653852"/>
            <a:ext cx="906292" cy="165047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Associate!</a:t>
            </a:r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0774D110-1734-0962-44C3-0ACBE4B30B54}"/>
              </a:ext>
            </a:extLst>
          </p:cNvPr>
          <p:cNvGrpSpPr/>
          <p:nvPr/>
        </p:nvGrpSpPr>
        <p:grpSpPr>
          <a:xfrm>
            <a:off x="10914433" y="843699"/>
            <a:ext cx="1175144" cy="5957740"/>
            <a:chOff x="609632" y="829559"/>
            <a:chExt cx="1175144" cy="5957740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3968C43-D968-7665-E367-C5F270DE6AF2}"/>
                </a:ext>
              </a:extLst>
            </p:cNvPr>
            <p:cNvSpPr/>
            <p:nvPr/>
          </p:nvSpPr>
          <p:spPr>
            <a:xfrm>
              <a:off x="609632" y="829559"/>
              <a:ext cx="1175144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3</a:t>
              </a:r>
              <a:r>
                <a:rPr lang="en-NZ" baseline="30000" dirty="0"/>
                <a:t>rd</a:t>
              </a:r>
              <a:r>
                <a:rPr lang="en-NZ" dirty="0"/>
                <a:t> Party</a:t>
              </a:r>
            </a:p>
          </p:txBody>
        </p: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1ABED4D6-4136-6FDC-CD35-FC1F201BC748}"/>
                </a:ext>
              </a:extLst>
            </p:cNvPr>
            <p:cNvCxnSpPr>
              <a:cxnSpLocks/>
              <a:stCxn id="138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63893B29-4EFB-BE8B-8DA9-AC1B527FE09D}"/>
              </a:ext>
            </a:extLst>
          </p:cNvPr>
          <p:cNvGrpSpPr/>
          <p:nvPr/>
        </p:nvGrpSpPr>
        <p:grpSpPr>
          <a:xfrm>
            <a:off x="9963419" y="3201682"/>
            <a:ext cx="1552027" cy="230832"/>
            <a:chOff x="6409687" y="1250784"/>
            <a:chExt cx="1552027" cy="230832"/>
          </a:xfrm>
        </p:grpSpPr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2A24646A-97F6-17E3-3A9B-2479B90AC7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2223" y="1480008"/>
              <a:ext cx="1516050" cy="1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F282C9A3-9FB7-EF00-764E-733850D5F4E6}"/>
                </a:ext>
              </a:extLst>
            </p:cNvPr>
            <p:cNvSpPr txBox="1"/>
            <p:nvPr/>
          </p:nvSpPr>
          <p:spPr>
            <a:xfrm>
              <a:off x="6409687" y="1250784"/>
              <a:ext cx="155202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900" b="1" dirty="0"/>
                <a:t>Send SMS/Email Message</a:t>
              </a:r>
              <a:endParaRPr lang="en-NZ" sz="1100" dirty="0"/>
            </a:p>
          </p:txBody>
        </p:sp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A7B4DEB4-36EB-5218-20B2-1FE4AD420B22}"/>
              </a:ext>
            </a:extLst>
          </p:cNvPr>
          <p:cNvGrpSpPr/>
          <p:nvPr/>
        </p:nvGrpSpPr>
        <p:grpSpPr>
          <a:xfrm>
            <a:off x="6422796" y="5173143"/>
            <a:ext cx="3538194" cy="276999"/>
            <a:chOff x="6422796" y="1480009"/>
            <a:chExt cx="3538194" cy="276999"/>
          </a:xfrm>
        </p:grpSpPr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E5345564-57D6-3709-A31F-1F9942E9A7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AE02B66D-4788-1372-9C25-E4B7CDB5B0EB}"/>
                </a:ext>
              </a:extLst>
            </p:cNvPr>
            <p:cNvSpPr txBox="1"/>
            <p:nvPr/>
          </p:nvSpPr>
          <p:spPr>
            <a:xfrm>
              <a:off x="6907883" y="1480009"/>
              <a:ext cx="275748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</a:t>
              </a:r>
              <a:r>
                <a:rPr lang="en-NZ" sz="1100" dirty="0" err="1"/>
                <a:t>barCodeUri+secret+recoverycodes</a:t>
              </a:r>
              <a:endParaRPr lang="en-NZ" sz="1100" dirty="0"/>
            </a:p>
          </p:txBody>
        </p:sp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3694B555-A510-C9D8-58F8-E26D6B7C1AA2}"/>
              </a:ext>
            </a:extLst>
          </p:cNvPr>
          <p:cNvGrpSpPr/>
          <p:nvPr/>
        </p:nvGrpSpPr>
        <p:grpSpPr>
          <a:xfrm>
            <a:off x="3707359" y="5180454"/>
            <a:ext cx="2708635" cy="276999"/>
            <a:chOff x="6422796" y="1480010"/>
            <a:chExt cx="2708635" cy="276999"/>
          </a:xfrm>
        </p:grpSpPr>
        <p:cxnSp>
          <p:nvCxnSpPr>
            <p:cNvPr id="154" name="Straight Arrow Connector 153">
              <a:extLst>
                <a:ext uri="{FF2B5EF4-FFF2-40B4-BE49-F238E27FC236}">
                  <a16:creationId xmlns:a16="http://schemas.microsoft.com/office/drawing/2014/main" id="{1A5410DE-F056-0999-C608-D01357B5F5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5AD30ED3-BF1E-FDBA-10F5-553B3FAB5AEA}"/>
                </a:ext>
              </a:extLst>
            </p:cNvPr>
            <p:cNvSpPr txBox="1"/>
            <p:nvPr/>
          </p:nvSpPr>
          <p:spPr>
            <a:xfrm>
              <a:off x="6678358" y="1480010"/>
              <a:ext cx="227818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Prompts user to scan </a:t>
              </a:r>
              <a:r>
                <a:rPr lang="en-NZ" sz="1200" dirty="0" err="1"/>
                <a:t>BarCode</a:t>
              </a:r>
              <a:endParaRPr lang="en-NZ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545B4F40-7983-E6E1-3404-569FBE634ED1}"/>
              </a:ext>
            </a:extLst>
          </p:cNvPr>
          <p:cNvGrpSpPr/>
          <p:nvPr/>
        </p:nvGrpSpPr>
        <p:grpSpPr>
          <a:xfrm>
            <a:off x="874336" y="5180454"/>
            <a:ext cx="2820768" cy="276999"/>
            <a:chOff x="6310663" y="1480010"/>
            <a:chExt cx="2820768" cy="276999"/>
          </a:xfrm>
        </p:grpSpPr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3590FBE2-D16E-D435-5D1C-193832AFCC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10663" y="1715681"/>
              <a:ext cx="2820768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7D13AA66-6BA9-01F9-A374-E8D824F4C6FD}"/>
                </a:ext>
              </a:extLst>
            </p:cNvPr>
            <p:cNvSpPr txBox="1"/>
            <p:nvPr/>
          </p:nvSpPr>
          <p:spPr>
            <a:xfrm>
              <a:off x="6402439" y="1480010"/>
              <a:ext cx="122982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Scans </a:t>
              </a:r>
              <a:r>
                <a:rPr lang="en-NZ" sz="1200" dirty="0" err="1"/>
                <a:t>BarCode</a:t>
              </a:r>
              <a:endParaRPr lang="en-NZ" sz="1200" dirty="0"/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A1C08A99-C5B9-6FB7-DCFF-F5CE6BC882C0}"/>
              </a:ext>
            </a:extLst>
          </p:cNvPr>
          <p:cNvGrpSpPr/>
          <p:nvPr/>
        </p:nvGrpSpPr>
        <p:grpSpPr>
          <a:xfrm>
            <a:off x="879049" y="5462329"/>
            <a:ext cx="2835112" cy="276999"/>
            <a:chOff x="3714161" y="1250144"/>
            <a:chExt cx="2835112" cy="276999"/>
          </a:xfrm>
        </p:grpSpPr>
        <p:cxnSp>
          <p:nvCxnSpPr>
            <p:cNvPr id="162" name="Straight Arrow Connector 161">
              <a:extLst>
                <a:ext uri="{FF2B5EF4-FFF2-40B4-BE49-F238E27FC236}">
                  <a16:creationId xmlns:a16="http://schemas.microsoft.com/office/drawing/2014/main" id="{63C40F9C-7C87-A585-2283-8FDF071C2C99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835112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EC95F290-5270-ADB5-5F34-A0CA83F0AB51}"/>
                </a:ext>
              </a:extLst>
            </p:cNvPr>
            <p:cNvSpPr txBox="1"/>
            <p:nvPr/>
          </p:nvSpPr>
          <p:spPr>
            <a:xfrm>
              <a:off x="4299136" y="1250144"/>
              <a:ext cx="16193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Displays 6-Digit Code</a:t>
              </a:r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1925DDDB-E4B7-CB16-99D7-15972F70C827}"/>
              </a:ext>
            </a:extLst>
          </p:cNvPr>
          <p:cNvGrpSpPr/>
          <p:nvPr/>
        </p:nvGrpSpPr>
        <p:grpSpPr>
          <a:xfrm>
            <a:off x="3714161" y="4120345"/>
            <a:ext cx="2733600" cy="276999"/>
            <a:chOff x="5123933" y="1250144"/>
            <a:chExt cx="2733600" cy="276999"/>
          </a:xfrm>
        </p:grpSpPr>
        <p:cxnSp>
          <p:nvCxnSpPr>
            <p:cNvPr id="166" name="Straight Arrow Connector 165">
              <a:extLst>
                <a:ext uri="{FF2B5EF4-FFF2-40B4-BE49-F238E27FC236}">
                  <a16:creationId xmlns:a16="http://schemas.microsoft.com/office/drawing/2014/main" id="{FCEBD050-F312-FC8B-0B0B-72D90D6D8285}"/>
                </a:ext>
              </a:extLst>
            </p:cNvPr>
            <p:cNvCxnSpPr>
              <a:cxnSpLocks/>
            </p:cNvCxnSpPr>
            <p:nvPr/>
          </p:nvCxnSpPr>
          <p:spPr>
            <a:xfrm>
              <a:off x="5123933" y="1480009"/>
              <a:ext cx="2733600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84F04230-872A-8AE6-73DD-93A967DBAB82}"/>
                </a:ext>
              </a:extLst>
            </p:cNvPr>
            <p:cNvSpPr txBox="1"/>
            <p:nvPr/>
          </p:nvSpPr>
          <p:spPr>
            <a:xfrm>
              <a:off x="5497172" y="1250144"/>
              <a:ext cx="18598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Copy/Paste 6-Digit Code</a:t>
              </a:r>
            </a:p>
          </p:txBody>
        </p: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BC3897E7-6122-8CAC-6795-39024695AB94}"/>
              </a:ext>
            </a:extLst>
          </p:cNvPr>
          <p:cNvGrpSpPr/>
          <p:nvPr/>
        </p:nvGrpSpPr>
        <p:grpSpPr>
          <a:xfrm>
            <a:off x="6447761" y="4135585"/>
            <a:ext cx="3519340" cy="430887"/>
            <a:chOff x="6432223" y="1265383"/>
            <a:chExt cx="3519340" cy="430887"/>
          </a:xfrm>
        </p:grpSpPr>
        <p:cxnSp>
          <p:nvCxnSpPr>
            <p:cNvPr id="176" name="Straight Arrow Connector 175">
              <a:extLst>
                <a:ext uri="{FF2B5EF4-FFF2-40B4-BE49-F238E27FC236}">
                  <a16:creationId xmlns:a16="http://schemas.microsoft.com/office/drawing/2014/main" id="{0263E708-9093-C0B3-FF56-BBCD7E1B750D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33B1E50D-3B56-78CC-4B28-C06E5C8A248E}"/>
                </a:ext>
              </a:extLst>
            </p:cNvPr>
            <p:cNvSpPr txBox="1"/>
            <p:nvPr/>
          </p:nvSpPr>
          <p:spPr>
            <a:xfrm>
              <a:off x="6463961" y="1265383"/>
              <a:ext cx="3457998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00" b="1" dirty="0"/>
                <a:t>POST /passwords/</a:t>
              </a:r>
              <a:r>
                <a:rPr lang="en-NZ" sz="1000" b="1" dirty="0" err="1"/>
                <a:t>mfa</a:t>
              </a:r>
              <a:r>
                <a:rPr lang="en-NZ" sz="1000" b="1" dirty="0"/>
                <a:t>/authenticators/</a:t>
              </a:r>
              <a:r>
                <a:rPr lang="en-NZ" sz="1000" b="1" dirty="0" err="1"/>
                <a:t>oobEmail</a:t>
              </a:r>
              <a:r>
                <a:rPr lang="en-NZ" sz="1000" b="1" dirty="0"/>
                <a:t>/confirm</a:t>
              </a:r>
            </a:p>
            <a:p>
              <a:pPr algn="ctr"/>
              <a:r>
                <a:rPr lang="en-NZ" sz="1200" dirty="0"/>
                <a:t> + </a:t>
              </a:r>
              <a:r>
                <a:rPr lang="en-NZ" sz="1100" dirty="0" err="1"/>
                <a:t>MfaToken+OobCode+ConfirmationCode</a:t>
              </a:r>
              <a:endParaRPr lang="en-NZ" sz="1200" dirty="0"/>
            </a:p>
          </p:txBody>
        </p:sp>
      </p:grpSp>
      <p:sp>
        <p:nvSpPr>
          <p:cNvPr id="146" name="Rectangle 145">
            <a:extLst>
              <a:ext uri="{FF2B5EF4-FFF2-40B4-BE49-F238E27FC236}">
                <a16:creationId xmlns:a16="http://schemas.microsoft.com/office/drawing/2014/main" id="{1542730A-835B-3C16-0A2F-181C40C6D276}"/>
              </a:ext>
            </a:extLst>
          </p:cNvPr>
          <p:cNvSpPr/>
          <p:nvPr/>
        </p:nvSpPr>
        <p:spPr>
          <a:xfrm>
            <a:off x="9955774" y="2940711"/>
            <a:ext cx="45719" cy="734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E7633DB-6D8D-2BA4-79B2-07E56DA0148B}"/>
              </a:ext>
            </a:extLst>
          </p:cNvPr>
          <p:cNvGrpSpPr/>
          <p:nvPr/>
        </p:nvGrpSpPr>
        <p:grpSpPr>
          <a:xfrm>
            <a:off x="2289928" y="3664646"/>
            <a:ext cx="9212077" cy="276999"/>
            <a:chOff x="2293165" y="1480009"/>
            <a:chExt cx="9212077" cy="276999"/>
          </a:xfrm>
        </p:grpSpPr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BC2B3C79-C481-231B-FB53-853BCAD3FA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93165" y="1715681"/>
              <a:ext cx="9212077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2DFEE33A-7079-1EAA-E10F-2AEE8CE1B076}"/>
                </a:ext>
              </a:extLst>
            </p:cNvPr>
            <p:cNvSpPr txBox="1"/>
            <p:nvPr/>
          </p:nvSpPr>
          <p:spPr>
            <a:xfrm>
              <a:off x="2390622" y="1480009"/>
              <a:ext cx="115448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Reads 6-digits</a:t>
              </a:r>
            </a:p>
          </p:txBody>
        </p:sp>
      </p:grpSp>
      <p:sp>
        <p:nvSpPr>
          <p:cNvPr id="178" name="Rectangle 177">
            <a:extLst>
              <a:ext uri="{FF2B5EF4-FFF2-40B4-BE49-F238E27FC236}">
                <a16:creationId xmlns:a16="http://schemas.microsoft.com/office/drawing/2014/main" id="{7D8B92D0-2167-6C5C-BFEA-35F00DFF6260}"/>
              </a:ext>
            </a:extLst>
          </p:cNvPr>
          <p:cNvSpPr/>
          <p:nvPr/>
        </p:nvSpPr>
        <p:spPr>
          <a:xfrm>
            <a:off x="9948955" y="2033365"/>
            <a:ext cx="45719" cy="511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B91AA471-D829-BE59-F358-718B90E454C3}"/>
              </a:ext>
            </a:extLst>
          </p:cNvPr>
          <p:cNvSpPr/>
          <p:nvPr/>
        </p:nvSpPr>
        <p:spPr>
          <a:xfrm>
            <a:off x="9948955" y="1378386"/>
            <a:ext cx="45719" cy="511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D48C0EB6-0BAE-333E-E5C8-2DF686614D33}"/>
              </a:ext>
            </a:extLst>
          </p:cNvPr>
          <p:cNvGrpSpPr/>
          <p:nvPr/>
        </p:nvGrpSpPr>
        <p:grpSpPr>
          <a:xfrm>
            <a:off x="6413369" y="4469641"/>
            <a:ext cx="3538194" cy="276999"/>
            <a:chOff x="6422796" y="1480009"/>
            <a:chExt cx="3538194" cy="276999"/>
          </a:xfrm>
        </p:grpSpPr>
        <p:cxnSp>
          <p:nvCxnSpPr>
            <p:cNvPr id="181" name="Straight Arrow Connector 180">
              <a:extLst>
                <a:ext uri="{FF2B5EF4-FFF2-40B4-BE49-F238E27FC236}">
                  <a16:creationId xmlns:a16="http://schemas.microsoft.com/office/drawing/2014/main" id="{82BD48BF-6222-0695-4410-B6B46AEC0C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6620AF27-3041-75F1-06A9-8C2AAB9A36A2}"/>
                </a:ext>
              </a:extLst>
            </p:cNvPr>
            <p:cNvSpPr txBox="1"/>
            <p:nvPr/>
          </p:nvSpPr>
          <p:spPr>
            <a:xfrm>
              <a:off x="7763087" y="1480009"/>
              <a:ext cx="10470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</a:t>
              </a:r>
              <a:r>
                <a:rPr lang="en-NZ" sz="1100" dirty="0"/>
                <a:t>tokens</a:t>
              </a: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A82AA233-B308-4369-6038-20953A728F16}"/>
              </a:ext>
            </a:extLst>
          </p:cNvPr>
          <p:cNvGrpSpPr/>
          <p:nvPr/>
        </p:nvGrpSpPr>
        <p:grpSpPr>
          <a:xfrm>
            <a:off x="3698623" y="4712000"/>
            <a:ext cx="2708635" cy="276999"/>
            <a:chOff x="6422796" y="1480010"/>
            <a:chExt cx="2708635" cy="276999"/>
          </a:xfrm>
        </p:grpSpPr>
        <p:cxnSp>
          <p:nvCxnSpPr>
            <p:cNvPr id="184" name="Straight Arrow Connector 183">
              <a:extLst>
                <a:ext uri="{FF2B5EF4-FFF2-40B4-BE49-F238E27FC236}">
                  <a16:creationId xmlns:a16="http://schemas.microsoft.com/office/drawing/2014/main" id="{B24F8B37-6F8F-C055-4196-330FBD8C0A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08C1334F-E79F-11DB-0C0A-CD04D14D7294}"/>
                </a:ext>
              </a:extLst>
            </p:cNvPr>
            <p:cNvSpPr txBox="1"/>
            <p:nvPr/>
          </p:nvSpPr>
          <p:spPr>
            <a:xfrm>
              <a:off x="7317151" y="1480010"/>
              <a:ext cx="100059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Access App</a:t>
              </a:r>
            </a:p>
          </p:txBody>
        </p:sp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523FA75C-F56A-999A-7B2B-5647EC890234}"/>
              </a:ext>
            </a:extLst>
          </p:cNvPr>
          <p:cNvGrpSpPr/>
          <p:nvPr/>
        </p:nvGrpSpPr>
        <p:grpSpPr>
          <a:xfrm>
            <a:off x="3698672" y="4467621"/>
            <a:ext cx="2708635" cy="276999"/>
            <a:chOff x="6422796" y="1480010"/>
            <a:chExt cx="2708635" cy="276999"/>
          </a:xfrm>
        </p:grpSpPr>
        <p:cxnSp>
          <p:nvCxnSpPr>
            <p:cNvPr id="190" name="Straight Arrow Connector 189">
              <a:extLst>
                <a:ext uri="{FF2B5EF4-FFF2-40B4-BE49-F238E27FC236}">
                  <a16:creationId xmlns:a16="http://schemas.microsoft.com/office/drawing/2014/main" id="{31B1E82B-D9E8-381C-3D62-C189C969C3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rgbClr val="FA7E1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1751DD0A-CE68-1671-D564-F0E856EC5C75}"/>
                </a:ext>
              </a:extLst>
            </p:cNvPr>
            <p:cNvSpPr txBox="1"/>
            <p:nvPr/>
          </p:nvSpPr>
          <p:spPr>
            <a:xfrm>
              <a:off x="6907587" y="1480010"/>
              <a:ext cx="181973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Display Recovery Codes</a:t>
              </a:r>
            </a:p>
          </p:txBody>
        </p:sp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6EF21682-D493-D915-91DA-D75E5D9CFE7C}"/>
              </a:ext>
            </a:extLst>
          </p:cNvPr>
          <p:cNvGrpSpPr/>
          <p:nvPr/>
        </p:nvGrpSpPr>
        <p:grpSpPr>
          <a:xfrm>
            <a:off x="3714161" y="5824929"/>
            <a:ext cx="2708635" cy="276999"/>
            <a:chOff x="6422796" y="1480010"/>
            <a:chExt cx="2708635" cy="276999"/>
          </a:xfrm>
        </p:grpSpPr>
        <p:cxnSp>
          <p:nvCxnSpPr>
            <p:cNvPr id="193" name="Straight Arrow Connector 192">
              <a:extLst>
                <a:ext uri="{FF2B5EF4-FFF2-40B4-BE49-F238E27FC236}">
                  <a16:creationId xmlns:a16="http://schemas.microsoft.com/office/drawing/2014/main" id="{345E5F96-4BBB-4ABF-8223-B4CFEAB2AB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rgbClr val="FA7E1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096563F8-3630-9FA1-CFCB-3BF95181E56B}"/>
                </a:ext>
              </a:extLst>
            </p:cNvPr>
            <p:cNvSpPr txBox="1"/>
            <p:nvPr/>
          </p:nvSpPr>
          <p:spPr>
            <a:xfrm>
              <a:off x="6907587" y="1480010"/>
              <a:ext cx="181973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Display Recovery Codes</a:t>
              </a:r>
            </a:p>
          </p:txBody>
        </p:sp>
      </p:grp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E699E796-B173-B628-574D-21FDE83F3491}"/>
              </a:ext>
            </a:extLst>
          </p:cNvPr>
          <p:cNvGrpSpPr/>
          <p:nvPr/>
        </p:nvGrpSpPr>
        <p:grpSpPr>
          <a:xfrm>
            <a:off x="6433626" y="5492027"/>
            <a:ext cx="3568606" cy="415498"/>
            <a:chOff x="6408661" y="1273003"/>
            <a:chExt cx="3568606" cy="415498"/>
          </a:xfrm>
        </p:grpSpPr>
        <p:cxnSp>
          <p:nvCxnSpPr>
            <p:cNvPr id="197" name="Straight Arrow Connector 196">
              <a:extLst>
                <a:ext uri="{FF2B5EF4-FFF2-40B4-BE49-F238E27FC236}">
                  <a16:creationId xmlns:a16="http://schemas.microsoft.com/office/drawing/2014/main" id="{DD7C2824-1B84-A360-2009-E156F622D96B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65B6B073-ED09-297F-629D-7A583403A126}"/>
                </a:ext>
              </a:extLst>
            </p:cNvPr>
            <p:cNvSpPr txBox="1"/>
            <p:nvPr/>
          </p:nvSpPr>
          <p:spPr>
            <a:xfrm>
              <a:off x="6408661" y="1273003"/>
              <a:ext cx="3568606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900" b="1" dirty="0"/>
                <a:t>POST /passwords/</a:t>
              </a:r>
              <a:r>
                <a:rPr lang="en-NZ" sz="900" b="1" dirty="0" err="1"/>
                <a:t>mfa</a:t>
              </a:r>
              <a:r>
                <a:rPr lang="en-NZ" sz="900" b="1" dirty="0"/>
                <a:t>/authenticators/</a:t>
              </a:r>
              <a:r>
                <a:rPr lang="en-NZ" sz="900" b="1" dirty="0" err="1"/>
                <a:t>TotpAuthenticator</a:t>
              </a:r>
              <a:r>
                <a:rPr lang="en-NZ" sz="900" b="1" dirty="0"/>
                <a:t>/confirm</a:t>
              </a:r>
            </a:p>
            <a:p>
              <a:pPr algn="ctr"/>
              <a:r>
                <a:rPr lang="en-NZ" sz="1200" dirty="0"/>
                <a:t> + </a:t>
              </a:r>
              <a:r>
                <a:rPr lang="en-NZ" sz="1100" dirty="0" err="1"/>
                <a:t>MfaToken+ConfirmationCode</a:t>
              </a:r>
              <a:endParaRPr lang="en-NZ" sz="1200" dirty="0"/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487AC816-79D7-2A8F-9CCA-4CB51C938B25}"/>
              </a:ext>
            </a:extLst>
          </p:cNvPr>
          <p:cNvGrpSpPr/>
          <p:nvPr/>
        </p:nvGrpSpPr>
        <p:grpSpPr>
          <a:xfrm>
            <a:off x="6422796" y="5810843"/>
            <a:ext cx="3538194" cy="276999"/>
            <a:chOff x="6422796" y="1480009"/>
            <a:chExt cx="3538194" cy="276999"/>
          </a:xfrm>
        </p:grpSpPr>
        <p:cxnSp>
          <p:nvCxnSpPr>
            <p:cNvPr id="200" name="Straight Arrow Connector 199">
              <a:extLst>
                <a:ext uri="{FF2B5EF4-FFF2-40B4-BE49-F238E27FC236}">
                  <a16:creationId xmlns:a16="http://schemas.microsoft.com/office/drawing/2014/main" id="{FED5CF6C-E7E9-3073-AC53-71C93A3B9AD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905545E5-822C-15FF-EB5F-64CDC82F6176}"/>
                </a:ext>
              </a:extLst>
            </p:cNvPr>
            <p:cNvSpPr txBox="1"/>
            <p:nvPr/>
          </p:nvSpPr>
          <p:spPr>
            <a:xfrm>
              <a:off x="7763087" y="1480009"/>
              <a:ext cx="10470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</a:t>
              </a:r>
              <a:r>
                <a:rPr lang="en-NZ" sz="1100" dirty="0"/>
                <a:t>tokens</a:t>
              </a: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11E6008B-77F9-E888-D020-9A3BC84D3358}"/>
              </a:ext>
            </a:extLst>
          </p:cNvPr>
          <p:cNvGrpSpPr/>
          <p:nvPr/>
        </p:nvGrpSpPr>
        <p:grpSpPr>
          <a:xfrm>
            <a:off x="3708050" y="6083682"/>
            <a:ext cx="2708635" cy="276999"/>
            <a:chOff x="6422796" y="1480010"/>
            <a:chExt cx="2708635" cy="276999"/>
          </a:xfrm>
        </p:grpSpPr>
        <p:cxnSp>
          <p:nvCxnSpPr>
            <p:cNvPr id="203" name="Straight Arrow Connector 202">
              <a:extLst>
                <a:ext uri="{FF2B5EF4-FFF2-40B4-BE49-F238E27FC236}">
                  <a16:creationId xmlns:a16="http://schemas.microsoft.com/office/drawing/2014/main" id="{6DDECBF6-134E-1679-CB58-6A90FF3F10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763F7446-E402-8D8C-D334-D4E5CE2DEB18}"/>
                </a:ext>
              </a:extLst>
            </p:cNvPr>
            <p:cNvSpPr txBox="1"/>
            <p:nvPr/>
          </p:nvSpPr>
          <p:spPr>
            <a:xfrm>
              <a:off x="7317151" y="1480010"/>
              <a:ext cx="100059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Access App</a:t>
              </a:r>
            </a:p>
          </p:txBody>
        </p: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8666F33E-520A-17CF-2E00-EB5DECF78505}"/>
              </a:ext>
            </a:extLst>
          </p:cNvPr>
          <p:cNvGrpSpPr/>
          <p:nvPr/>
        </p:nvGrpSpPr>
        <p:grpSpPr>
          <a:xfrm>
            <a:off x="3721642" y="5461147"/>
            <a:ext cx="2733600" cy="276999"/>
            <a:chOff x="5123933" y="1250144"/>
            <a:chExt cx="2733600" cy="276999"/>
          </a:xfrm>
        </p:grpSpPr>
        <p:cxnSp>
          <p:nvCxnSpPr>
            <p:cNvPr id="206" name="Straight Arrow Connector 205">
              <a:extLst>
                <a:ext uri="{FF2B5EF4-FFF2-40B4-BE49-F238E27FC236}">
                  <a16:creationId xmlns:a16="http://schemas.microsoft.com/office/drawing/2014/main" id="{2CD6FC72-5E08-600B-DAFB-47030162EB04}"/>
                </a:ext>
              </a:extLst>
            </p:cNvPr>
            <p:cNvCxnSpPr>
              <a:cxnSpLocks/>
            </p:cNvCxnSpPr>
            <p:nvPr/>
          </p:nvCxnSpPr>
          <p:spPr>
            <a:xfrm>
              <a:off x="5123933" y="1480009"/>
              <a:ext cx="2733600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01DEB57C-DEA1-3ADD-92AE-0719014B4985}"/>
                </a:ext>
              </a:extLst>
            </p:cNvPr>
            <p:cNvSpPr txBox="1"/>
            <p:nvPr/>
          </p:nvSpPr>
          <p:spPr>
            <a:xfrm>
              <a:off x="5497172" y="1250144"/>
              <a:ext cx="18598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Copy/Paste 6-Digit Code</a:t>
              </a:r>
            </a:p>
          </p:txBody>
        </p:sp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7106017E-F6B7-95A8-5E97-7E220B86E1B3}"/>
              </a:ext>
            </a:extLst>
          </p:cNvPr>
          <p:cNvGrpSpPr/>
          <p:nvPr/>
        </p:nvGrpSpPr>
        <p:grpSpPr>
          <a:xfrm>
            <a:off x="2284720" y="4097854"/>
            <a:ext cx="1438047" cy="276999"/>
            <a:chOff x="5111226" y="1219602"/>
            <a:chExt cx="1438047" cy="276999"/>
          </a:xfrm>
        </p:grpSpPr>
        <p:cxnSp>
          <p:nvCxnSpPr>
            <p:cNvPr id="219" name="Straight Arrow Connector 218">
              <a:extLst>
                <a:ext uri="{FF2B5EF4-FFF2-40B4-BE49-F238E27FC236}">
                  <a16:creationId xmlns:a16="http://schemas.microsoft.com/office/drawing/2014/main" id="{104A1309-CA91-402F-E4E4-C77DCBB0F422}"/>
                </a:ext>
              </a:extLst>
            </p:cNvPr>
            <p:cNvCxnSpPr>
              <a:cxnSpLocks/>
            </p:cNvCxnSpPr>
            <p:nvPr/>
          </p:nvCxnSpPr>
          <p:spPr>
            <a:xfrm>
              <a:off x="5111226" y="1471958"/>
              <a:ext cx="1438047" cy="8051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169C7F5-5C21-30D4-E50F-FB2ACC53F4A2}"/>
                </a:ext>
              </a:extLst>
            </p:cNvPr>
            <p:cNvSpPr txBox="1"/>
            <p:nvPr/>
          </p:nvSpPr>
          <p:spPr>
            <a:xfrm>
              <a:off x="5142542" y="1219602"/>
              <a:ext cx="130516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Displays 6-digits</a:t>
              </a:r>
            </a:p>
          </p:txBody>
        </p:sp>
      </p:grpSp>
      <p:sp>
        <p:nvSpPr>
          <p:cNvPr id="223" name="Rectangle: Rounded Corners 222">
            <a:extLst>
              <a:ext uri="{FF2B5EF4-FFF2-40B4-BE49-F238E27FC236}">
                <a16:creationId xmlns:a16="http://schemas.microsoft.com/office/drawing/2014/main" id="{9D3D1879-24F2-EF74-0448-061FD052C6B0}"/>
              </a:ext>
            </a:extLst>
          </p:cNvPr>
          <p:cNvSpPr/>
          <p:nvPr/>
        </p:nvSpPr>
        <p:spPr>
          <a:xfrm>
            <a:off x="9967890" y="4421918"/>
            <a:ext cx="906292" cy="165047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Confirm!</a:t>
            </a:r>
          </a:p>
        </p:txBody>
      </p:sp>
      <p:sp>
        <p:nvSpPr>
          <p:cNvPr id="224" name="Rectangle: Rounded Corners 223">
            <a:extLst>
              <a:ext uri="{FF2B5EF4-FFF2-40B4-BE49-F238E27FC236}">
                <a16:creationId xmlns:a16="http://schemas.microsoft.com/office/drawing/2014/main" id="{AC4D4ABD-CB0B-C30A-F07B-4CF2B616DA2C}"/>
              </a:ext>
            </a:extLst>
          </p:cNvPr>
          <p:cNvSpPr/>
          <p:nvPr/>
        </p:nvSpPr>
        <p:spPr>
          <a:xfrm>
            <a:off x="9967890" y="5791915"/>
            <a:ext cx="906292" cy="165047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Confirm!</a:t>
            </a:r>
          </a:p>
        </p:txBody>
      </p: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C86DC122-F254-5D7D-DF0E-AB149EEC3AB8}"/>
              </a:ext>
            </a:extLst>
          </p:cNvPr>
          <p:cNvGrpSpPr/>
          <p:nvPr/>
        </p:nvGrpSpPr>
        <p:grpSpPr>
          <a:xfrm>
            <a:off x="3715968" y="3349107"/>
            <a:ext cx="2708635" cy="276999"/>
            <a:chOff x="6422796" y="1480010"/>
            <a:chExt cx="2708635" cy="276999"/>
          </a:xfrm>
        </p:grpSpPr>
        <p:cxnSp>
          <p:nvCxnSpPr>
            <p:cNvPr id="226" name="Straight Arrow Connector 225">
              <a:extLst>
                <a:ext uri="{FF2B5EF4-FFF2-40B4-BE49-F238E27FC236}">
                  <a16:creationId xmlns:a16="http://schemas.microsoft.com/office/drawing/2014/main" id="{B53A1A22-8515-F8C9-AD7C-170781962B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83AC53F2-A051-8515-31AC-160E2BDD7F7D}"/>
                </a:ext>
              </a:extLst>
            </p:cNvPr>
            <p:cNvSpPr txBox="1"/>
            <p:nvPr/>
          </p:nvSpPr>
          <p:spPr>
            <a:xfrm>
              <a:off x="6815416" y="1480010"/>
              <a:ext cx="200407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Prompt to read SMS/email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123413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D6B18-DD8D-EE61-A0C3-6DA05D15C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FB869FF-21A8-D1AE-0AE8-8DB628B0270F}"/>
              </a:ext>
            </a:extLst>
          </p:cNvPr>
          <p:cNvSpPr/>
          <p:nvPr/>
        </p:nvSpPr>
        <p:spPr>
          <a:xfrm>
            <a:off x="198120" y="5792492"/>
            <a:ext cx="11788140" cy="98168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NZ" dirty="0">
                <a:solidFill>
                  <a:schemeClr val="tx1"/>
                </a:solidFill>
              </a:rPr>
              <a:t>Recovery Codes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833226BB-8059-A2B1-3BB7-39FF668C4EBC}"/>
              </a:ext>
            </a:extLst>
          </p:cNvPr>
          <p:cNvSpPr/>
          <p:nvPr/>
        </p:nvSpPr>
        <p:spPr>
          <a:xfrm>
            <a:off x="198120" y="3223451"/>
            <a:ext cx="11788140" cy="14555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NZ" dirty="0">
                <a:solidFill>
                  <a:schemeClr val="tx1"/>
                </a:solidFill>
              </a:rPr>
              <a:t>OOB SMS/Email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0E574172-8B83-4D69-1CCE-2C6E7EA17176}"/>
              </a:ext>
            </a:extLst>
          </p:cNvPr>
          <p:cNvSpPr/>
          <p:nvPr/>
        </p:nvSpPr>
        <p:spPr>
          <a:xfrm>
            <a:off x="198120" y="4746335"/>
            <a:ext cx="11788140" cy="9816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NZ" dirty="0">
                <a:solidFill>
                  <a:schemeClr val="tx1"/>
                </a:solidFill>
              </a:rPr>
              <a:t>TOTP Authenticator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9833F9-BD60-F0A6-40CF-8012B1720F4B}"/>
              </a:ext>
            </a:extLst>
          </p:cNvPr>
          <p:cNvSpPr txBox="1"/>
          <p:nvPr/>
        </p:nvSpPr>
        <p:spPr>
          <a:xfrm>
            <a:off x="267419" y="207034"/>
            <a:ext cx="48413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Authenticating a Person with MFA</a:t>
            </a: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D558C48D-55B5-799F-6FDD-DAE44DB0F835}"/>
              </a:ext>
            </a:extLst>
          </p:cNvPr>
          <p:cNvGrpSpPr/>
          <p:nvPr/>
        </p:nvGrpSpPr>
        <p:grpSpPr>
          <a:xfrm>
            <a:off x="3148553" y="829559"/>
            <a:ext cx="1131216" cy="5957740"/>
            <a:chOff x="631596" y="829559"/>
            <a:chExt cx="1131216" cy="595774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C94D4730-4CFE-05E7-B7E0-858AC863B791}"/>
                </a:ext>
              </a:extLst>
            </p:cNvPr>
            <p:cNvSpPr/>
            <p:nvPr/>
          </p:nvSpPr>
          <p:spPr>
            <a:xfrm>
              <a:off x="631596" y="829559"/>
              <a:ext cx="1131216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Person</a:t>
              </a:r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AEA5F6D7-98A1-5BCB-FBA7-227E8C8A83B4}"/>
                </a:ext>
              </a:extLst>
            </p:cNvPr>
            <p:cNvCxnSpPr>
              <a:stCxn id="73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005F1A21-9FD2-1CE4-1056-DEF6B8120CE3}"/>
              </a:ext>
            </a:extLst>
          </p:cNvPr>
          <p:cNvGrpSpPr/>
          <p:nvPr/>
        </p:nvGrpSpPr>
        <p:grpSpPr>
          <a:xfrm>
            <a:off x="5465976" y="829559"/>
            <a:ext cx="1932494" cy="5957740"/>
            <a:chOff x="1533427" y="815419"/>
            <a:chExt cx="1932494" cy="5957740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B85D8CCF-86DD-0F16-EAFC-1703054CCAD6}"/>
                </a:ext>
              </a:extLst>
            </p:cNvPr>
            <p:cNvSpPr/>
            <p:nvPr/>
          </p:nvSpPr>
          <p:spPr>
            <a:xfrm>
              <a:off x="1533427" y="815419"/>
              <a:ext cx="1932494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Client UI</a:t>
              </a:r>
            </a:p>
          </p:txBody>
        </p: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F8EFDDB3-877F-C164-A535-0DF71A28E448}"/>
                </a:ext>
              </a:extLst>
            </p:cNvPr>
            <p:cNvCxnSpPr>
              <a:cxnSpLocks/>
              <a:stCxn id="78" idx="2"/>
            </p:cNvCxnSpPr>
            <p:nvPr/>
          </p:nvCxnSpPr>
          <p:spPr>
            <a:xfrm flipH="1">
              <a:off x="2490247" y="118306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6D715532-0F79-3FF6-538B-AA26E0C1CE32}"/>
              </a:ext>
            </a:extLst>
          </p:cNvPr>
          <p:cNvGrpSpPr/>
          <p:nvPr/>
        </p:nvGrpSpPr>
        <p:grpSpPr>
          <a:xfrm>
            <a:off x="1733747" y="829559"/>
            <a:ext cx="1131216" cy="5957740"/>
            <a:chOff x="631596" y="829559"/>
            <a:chExt cx="1131216" cy="595774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64B2CA7-5541-D4EF-E340-DA35059DFEB8}"/>
                </a:ext>
              </a:extLst>
            </p:cNvPr>
            <p:cNvSpPr/>
            <p:nvPr/>
          </p:nvSpPr>
          <p:spPr>
            <a:xfrm>
              <a:off x="631596" y="829559"/>
              <a:ext cx="1131216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Mobile Phone</a:t>
              </a:r>
            </a:p>
            <a:p>
              <a:pPr algn="ctr"/>
              <a:r>
                <a:rPr lang="en-NZ" sz="1200" dirty="0"/>
                <a:t>Email Inbox</a:t>
              </a:r>
            </a:p>
          </p:txBody>
        </p: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283A1C7B-0E30-2492-8029-CBBE0D663B96}"/>
                </a:ext>
              </a:extLst>
            </p:cNvPr>
            <p:cNvCxnSpPr>
              <a:stCxn id="81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056DEE4C-5A24-A397-024A-0C4055BF27DC}"/>
              </a:ext>
            </a:extLst>
          </p:cNvPr>
          <p:cNvGrpSpPr/>
          <p:nvPr/>
        </p:nvGrpSpPr>
        <p:grpSpPr>
          <a:xfrm>
            <a:off x="318155" y="829559"/>
            <a:ext cx="1131216" cy="5957740"/>
            <a:chOff x="-936396" y="677159"/>
            <a:chExt cx="1131216" cy="5957740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F1DB4E55-7F58-43B6-4ABF-9A2D8F9391DC}"/>
                </a:ext>
              </a:extLst>
            </p:cNvPr>
            <p:cNvSpPr/>
            <p:nvPr/>
          </p:nvSpPr>
          <p:spPr>
            <a:xfrm>
              <a:off x="-936396" y="677159"/>
              <a:ext cx="1131216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Authenticator App</a:t>
              </a:r>
            </a:p>
          </p:txBody>
        </p: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2BCD12D6-9B65-F7C6-EAA0-C595D1912E00}"/>
                </a:ext>
              </a:extLst>
            </p:cNvPr>
            <p:cNvCxnSpPr>
              <a:stCxn id="84" idx="2"/>
            </p:cNvCxnSpPr>
            <p:nvPr/>
          </p:nvCxnSpPr>
          <p:spPr>
            <a:xfrm flipH="1">
              <a:off x="-380215" y="10448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D5FDE0A8-B5F7-5E16-280D-C743FD3E82A0}"/>
              </a:ext>
            </a:extLst>
          </p:cNvPr>
          <p:cNvGrpSpPr/>
          <p:nvPr/>
        </p:nvGrpSpPr>
        <p:grpSpPr>
          <a:xfrm>
            <a:off x="9223108" y="843699"/>
            <a:ext cx="1475764" cy="5957740"/>
            <a:chOff x="459322" y="829559"/>
            <a:chExt cx="1475764" cy="5957740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A9F64CE-8F6E-7841-0BCE-7C2AA6C3709F}"/>
                </a:ext>
              </a:extLst>
            </p:cNvPr>
            <p:cNvSpPr/>
            <p:nvPr/>
          </p:nvSpPr>
          <p:spPr>
            <a:xfrm>
              <a:off x="459322" y="829559"/>
              <a:ext cx="1475764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Identity API</a:t>
              </a:r>
            </a:p>
          </p:txBody>
        </p: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C59C33DA-AB89-7996-E205-643A8360CD2E}"/>
                </a:ext>
              </a:extLst>
            </p:cNvPr>
            <p:cNvCxnSpPr>
              <a:cxnSpLocks/>
              <a:stCxn id="88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971E0B6-26E7-87DE-C3C2-BCDB5483DB98}"/>
              </a:ext>
            </a:extLst>
          </p:cNvPr>
          <p:cNvGrpSpPr/>
          <p:nvPr/>
        </p:nvGrpSpPr>
        <p:grpSpPr>
          <a:xfrm>
            <a:off x="3714161" y="1250144"/>
            <a:ext cx="2708635" cy="276999"/>
            <a:chOff x="3714161" y="1250144"/>
            <a:chExt cx="2708635" cy="276999"/>
          </a:xfrm>
        </p:grpSpPr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C17807FB-D00F-DC4C-1C1A-783C20F709A3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98C7DF47-8F6D-A5F6-F0A8-BEBAE2073F60}"/>
                </a:ext>
              </a:extLst>
            </p:cNvPr>
            <p:cNvSpPr txBox="1"/>
            <p:nvPr/>
          </p:nvSpPr>
          <p:spPr>
            <a:xfrm>
              <a:off x="4412144" y="1250144"/>
              <a:ext cx="139333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email + password</a:t>
              </a:r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15835F6D-99BD-FE9A-8BA1-B9CC72740523}"/>
              </a:ext>
            </a:extLst>
          </p:cNvPr>
          <p:cNvGrpSpPr/>
          <p:nvPr/>
        </p:nvGrpSpPr>
        <p:grpSpPr>
          <a:xfrm>
            <a:off x="6432223" y="1250143"/>
            <a:ext cx="3519340" cy="415498"/>
            <a:chOff x="6432223" y="1250143"/>
            <a:chExt cx="3519340" cy="415498"/>
          </a:xfrm>
        </p:grpSpPr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A778ED8B-ACB7-E2C2-9FFE-C6395BF58D5A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7CB5AE9-7888-AF53-30A0-8B476B688628}"/>
                </a:ext>
              </a:extLst>
            </p:cNvPr>
            <p:cNvSpPr txBox="1"/>
            <p:nvPr/>
          </p:nvSpPr>
          <p:spPr>
            <a:xfrm>
              <a:off x="7371252" y="1250143"/>
              <a:ext cx="164339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00" b="1" dirty="0"/>
                <a:t>POST /passwords/auth</a:t>
              </a:r>
            </a:p>
            <a:p>
              <a:pPr algn="ctr"/>
              <a:r>
                <a:rPr lang="en-NZ" sz="900" dirty="0"/>
                <a:t> </a:t>
              </a:r>
              <a:r>
                <a:rPr lang="en-NZ" sz="800" dirty="0"/>
                <a:t>+ </a:t>
              </a:r>
              <a:r>
                <a:rPr lang="en-NZ" sz="1100" dirty="0" err="1"/>
                <a:t>Username+Password</a:t>
              </a:r>
              <a:endParaRPr lang="en-NZ" sz="1200" dirty="0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1252B5A7-9610-9FDA-FAB0-1CBB2656D0D0}"/>
              </a:ext>
            </a:extLst>
          </p:cNvPr>
          <p:cNvGrpSpPr/>
          <p:nvPr/>
        </p:nvGrpSpPr>
        <p:grpSpPr>
          <a:xfrm>
            <a:off x="6422796" y="1579069"/>
            <a:ext cx="3538194" cy="276999"/>
            <a:chOff x="6422796" y="1480009"/>
            <a:chExt cx="3538194" cy="276999"/>
          </a:xfrm>
        </p:grpSpPr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BF7EC2AE-BBB8-BDB2-E046-5C1CDB3FA9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564B6087-56E8-B506-D8A2-E266A189E580}"/>
                </a:ext>
              </a:extLst>
            </p:cNvPr>
            <p:cNvSpPr txBox="1"/>
            <p:nvPr/>
          </p:nvSpPr>
          <p:spPr>
            <a:xfrm>
              <a:off x="7113055" y="1480009"/>
              <a:ext cx="2347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401 – </a:t>
              </a:r>
              <a:r>
                <a:rPr lang="en-NZ" sz="1100" dirty="0"/>
                <a:t>“</a:t>
              </a:r>
              <a:r>
                <a:rPr lang="en-NZ" sz="1100" dirty="0" err="1"/>
                <a:t>mfa_required</a:t>
              </a:r>
              <a:r>
                <a:rPr lang="en-NZ" sz="1100" dirty="0"/>
                <a:t>” + </a:t>
              </a:r>
              <a:r>
                <a:rPr lang="en-NZ" sz="1100" dirty="0" err="1"/>
                <a:t>MfaToken</a:t>
              </a:r>
              <a:endParaRPr lang="en-NZ" sz="1200" dirty="0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DA733F37-E6DA-B82E-F727-A8D46A7E6393}"/>
              </a:ext>
            </a:extLst>
          </p:cNvPr>
          <p:cNvGrpSpPr/>
          <p:nvPr/>
        </p:nvGrpSpPr>
        <p:grpSpPr>
          <a:xfrm>
            <a:off x="6447761" y="1905388"/>
            <a:ext cx="3519340" cy="276999"/>
            <a:chOff x="6432223" y="1250143"/>
            <a:chExt cx="3519340" cy="276999"/>
          </a:xfrm>
        </p:grpSpPr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99126AB2-4529-482F-7F4C-FD138689CB06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05443B5F-C48F-C1C1-CED3-0296392F1D10}"/>
                </a:ext>
              </a:extLst>
            </p:cNvPr>
            <p:cNvSpPr txBox="1"/>
            <p:nvPr/>
          </p:nvSpPr>
          <p:spPr>
            <a:xfrm>
              <a:off x="7063472" y="1250143"/>
              <a:ext cx="2258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00" b="1" dirty="0"/>
                <a:t>GET /passwords/</a:t>
              </a:r>
              <a:r>
                <a:rPr lang="en-NZ" sz="1000" b="1" dirty="0" err="1"/>
                <a:t>mfa</a:t>
              </a:r>
              <a:r>
                <a:rPr lang="en-NZ" sz="1200" dirty="0"/>
                <a:t> + </a:t>
              </a:r>
              <a:r>
                <a:rPr lang="en-NZ" sz="1100" dirty="0" err="1"/>
                <a:t>MfaToken</a:t>
              </a:r>
              <a:endParaRPr lang="en-NZ" sz="1200" dirty="0"/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480E6DAC-DEC6-D020-7860-046179942C3B}"/>
              </a:ext>
            </a:extLst>
          </p:cNvPr>
          <p:cNvGrpSpPr/>
          <p:nvPr/>
        </p:nvGrpSpPr>
        <p:grpSpPr>
          <a:xfrm>
            <a:off x="6413369" y="2241054"/>
            <a:ext cx="3538194" cy="276999"/>
            <a:chOff x="6422796" y="1480009"/>
            <a:chExt cx="3538194" cy="276999"/>
          </a:xfrm>
        </p:grpSpPr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D05A4A33-9E51-C228-0CAD-CB55207460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CAA8777-3EB2-B9A1-38A8-5E62F15EDF3E}"/>
                </a:ext>
              </a:extLst>
            </p:cNvPr>
            <p:cNvSpPr txBox="1"/>
            <p:nvPr/>
          </p:nvSpPr>
          <p:spPr>
            <a:xfrm>
              <a:off x="7214852" y="1480009"/>
              <a:ext cx="214353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“some authenticators”</a:t>
              </a:r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2D5B4608-3F4A-7FA3-6375-8A23E5D44502}"/>
              </a:ext>
            </a:extLst>
          </p:cNvPr>
          <p:cNvGrpSpPr/>
          <p:nvPr/>
        </p:nvGrpSpPr>
        <p:grpSpPr>
          <a:xfrm>
            <a:off x="3714161" y="2418993"/>
            <a:ext cx="2708635" cy="276999"/>
            <a:chOff x="6422796" y="1480010"/>
            <a:chExt cx="2708635" cy="276999"/>
          </a:xfrm>
        </p:grpSpPr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35BA63D9-A2AA-3CA4-6840-F26D6506F3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D87E00FB-3E7A-1B30-4AD7-2A9D369D8155}"/>
                </a:ext>
              </a:extLst>
            </p:cNvPr>
            <p:cNvSpPr txBox="1"/>
            <p:nvPr/>
          </p:nvSpPr>
          <p:spPr>
            <a:xfrm>
              <a:off x="6981324" y="1480010"/>
              <a:ext cx="16722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Choose Authenticator</a:t>
              </a:r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84E67AB9-6DD2-0E8C-4B49-04A5E267E305}"/>
              </a:ext>
            </a:extLst>
          </p:cNvPr>
          <p:cNvGrpSpPr/>
          <p:nvPr/>
        </p:nvGrpSpPr>
        <p:grpSpPr>
          <a:xfrm>
            <a:off x="3739126" y="2774321"/>
            <a:ext cx="2708635" cy="276999"/>
            <a:chOff x="3714161" y="1250144"/>
            <a:chExt cx="2708635" cy="276999"/>
          </a:xfrm>
        </p:grpSpPr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DE8D8172-E9D8-BC3B-EAA1-015E3C6D5CBD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7B884D6B-4A6F-A844-04FD-F3DBF035BECA}"/>
                </a:ext>
              </a:extLst>
            </p:cNvPr>
            <p:cNvSpPr txBox="1"/>
            <p:nvPr/>
          </p:nvSpPr>
          <p:spPr>
            <a:xfrm>
              <a:off x="4274291" y="1250144"/>
              <a:ext cx="16690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Chosen Authenticator</a:t>
              </a: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8B10281D-D86C-E09A-0BBC-801901812DFE}"/>
              </a:ext>
            </a:extLst>
          </p:cNvPr>
          <p:cNvGrpSpPr/>
          <p:nvPr/>
        </p:nvGrpSpPr>
        <p:grpSpPr>
          <a:xfrm>
            <a:off x="6399958" y="2812421"/>
            <a:ext cx="3635932" cy="400110"/>
            <a:chOff x="6374993" y="1288243"/>
            <a:chExt cx="3635932" cy="400110"/>
          </a:xfrm>
        </p:grpSpPr>
        <p:cxnSp>
          <p:nvCxnSpPr>
            <p:cNvPr id="122" name="Straight Arrow Connector 121">
              <a:extLst>
                <a:ext uri="{FF2B5EF4-FFF2-40B4-BE49-F238E27FC236}">
                  <a16:creationId xmlns:a16="http://schemas.microsoft.com/office/drawing/2014/main" id="{FBD7295F-57E6-A78F-7578-3CEABB557ECB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68403723-1EC5-AEAD-07D3-3D0E78385D6C}"/>
                </a:ext>
              </a:extLst>
            </p:cNvPr>
            <p:cNvSpPr txBox="1"/>
            <p:nvPr/>
          </p:nvSpPr>
          <p:spPr>
            <a:xfrm>
              <a:off x="6374993" y="1288243"/>
              <a:ext cx="363593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900" b="1" dirty="0"/>
                <a:t>POST /passwords/</a:t>
              </a:r>
              <a:r>
                <a:rPr lang="en-NZ" sz="900" b="1" dirty="0" err="1"/>
                <a:t>mfa</a:t>
              </a:r>
              <a:r>
                <a:rPr lang="en-NZ" sz="900" b="1" dirty="0"/>
                <a:t>/authenticators/{</a:t>
              </a:r>
              <a:r>
                <a:rPr lang="en-NZ" sz="900" b="1" dirty="0" err="1"/>
                <a:t>AuthenticatorId</a:t>
              </a:r>
              <a:r>
                <a:rPr lang="en-NZ" sz="900" b="1" dirty="0"/>
                <a:t>}/challenge</a:t>
              </a:r>
            </a:p>
            <a:p>
              <a:pPr algn="ctr"/>
              <a:r>
                <a:rPr lang="en-NZ" sz="900" dirty="0"/>
                <a:t> </a:t>
              </a:r>
              <a:r>
                <a:rPr lang="en-NZ" sz="800" dirty="0"/>
                <a:t>+ </a:t>
              </a:r>
              <a:r>
                <a:rPr lang="en-NZ" sz="1100" dirty="0" err="1"/>
                <a:t>MfaToken</a:t>
              </a:r>
              <a:endParaRPr lang="en-NZ" sz="1200" dirty="0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946C615-DCBF-03C2-0A89-14BB5844FC36}"/>
              </a:ext>
            </a:extLst>
          </p:cNvPr>
          <p:cNvGrpSpPr/>
          <p:nvPr/>
        </p:nvGrpSpPr>
        <p:grpSpPr>
          <a:xfrm>
            <a:off x="6413369" y="3344822"/>
            <a:ext cx="3538194" cy="276999"/>
            <a:chOff x="6422796" y="1480009"/>
            <a:chExt cx="3538194" cy="276999"/>
          </a:xfrm>
        </p:grpSpPr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1D14F0C3-FDE3-DA62-9774-8DE35CBB91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7A09A1FC-EC76-BDC4-59D9-35AC23F7F9F9}"/>
                </a:ext>
              </a:extLst>
            </p:cNvPr>
            <p:cNvSpPr txBox="1"/>
            <p:nvPr/>
          </p:nvSpPr>
          <p:spPr>
            <a:xfrm>
              <a:off x="7683736" y="1480009"/>
              <a:ext cx="120577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202 – </a:t>
              </a:r>
              <a:r>
                <a:rPr lang="en-NZ" sz="1100" dirty="0" err="1"/>
                <a:t>OobCode</a:t>
              </a:r>
              <a:endParaRPr lang="en-NZ" sz="1100" dirty="0"/>
            </a:p>
          </p:txBody>
        </p:sp>
      </p:grp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F2A47260-6E91-AECA-3FF8-D9C036D99C6B}"/>
              </a:ext>
            </a:extLst>
          </p:cNvPr>
          <p:cNvSpPr/>
          <p:nvPr/>
        </p:nvSpPr>
        <p:spPr>
          <a:xfrm>
            <a:off x="9967890" y="2653852"/>
            <a:ext cx="906292" cy="165047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Challenge!</a:t>
            </a:r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E5C9F5A6-64AC-A626-1B9E-3B078CB8B216}"/>
              </a:ext>
            </a:extLst>
          </p:cNvPr>
          <p:cNvGrpSpPr/>
          <p:nvPr/>
        </p:nvGrpSpPr>
        <p:grpSpPr>
          <a:xfrm>
            <a:off x="10914433" y="843699"/>
            <a:ext cx="1175144" cy="5957740"/>
            <a:chOff x="609632" y="829559"/>
            <a:chExt cx="1175144" cy="5957740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21C8E9D-8F31-31B5-F82F-42B77CF4B616}"/>
                </a:ext>
              </a:extLst>
            </p:cNvPr>
            <p:cNvSpPr/>
            <p:nvPr/>
          </p:nvSpPr>
          <p:spPr>
            <a:xfrm>
              <a:off x="609632" y="829559"/>
              <a:ext cx="1175144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3</a:t>
              </a:r>
              <a:r>
                <a:rPr lang="en-NZ" baseline="30000" dirty="0"/>
                <a:t>rd</a:t>
              </a:r>
              <a:r>
                <a:rPr lang="en-NZ" dirty="0"/>
                <a:t> Party</a:t>
              </a:r>
            </a:p>
          </p:txBody>
        </p: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1C1F749A-D94F-71F8-960E-E5355341F7D0}"/>
                </a:ext>
              </a:extLst>
            </p:cNvPr>
            <p:cNvCxnSpPr>
              <a:cxnSpLocks/>
              <a:stCxn id="138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0BF73226-2039-8A42-19AC-7FCB01776AA9}"/>
              </a:ext>
            </a:extLst>
          </p:cNvPr>
          <p:cNvGrpSpPr/>
          <p:nvPr/>
        </p:nvGrpSpPr>
        <p:grpSpPr>
          <a:xfrm>
            <a:off x="9963419" y="3201682"/>
            <a:ext cx="1552027" cy="230832"/>
            <a:chOff x="6409687" y="1250784"/>
            <a:chExt cx="1552027" cy="230832"/>
          </a:xfrm>
        </p:grpSpPr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FA98D523-CE78-F769-040C-0D44F59E9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2223" y="1480008"/>
              <a:ext cx="1516050" cy="1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72859E9F-B82F-DC6E-2F42-8CF540A80CDC}"/>
                </a:ext>
              </a:extLst>
            </p:cNvPr>
            <p:cNvSpPr txBox="1"/>
            <p:nvPr/>
          </p:nvSpPr>
          <p:spPr>
            <a:xfrm>
              <a:off x="6409687" y="1250784"/>
              <a:ext cx="155202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900" b="1" dirty="0"/>
                <a:t>Send SMS/Email Message</a:t>
              </a:r>
              <a:endParaRPr lang="en-NZ" sz="1100" dirty="0"/>
            </a:p>
          </p:txBody>
        </p:sp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19FFE57C-F287-B0E7-5258-8514F4762DC1}"/>
              </a:ext>
            </a:extLst>
          </p:cNvPr>
          <p:cNvGrpSpPr/>
          <p:nvPr/>
        </p:nvGrpSpPr>
        <p:grpSpPr>
          <a:xfrm>
            <a:off x="6422796" y="4738803"/>
            <a:ext cx="3538194" cy="276999"/>
            <a:chOff x="6422796" y="1480009"/>
            <a:chExt cx="3538194" cy="276999"/>
          </a:xfrm>
        </p:grpSpPr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2507245D-F745-CAAC-C53C-6703D76C8A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11E29298-614B-8F41-CE53-865702DFAC2F}"/>
                </a:ext>
              </a:extLst>
            </p:cNvPr>
            <p:cNvSpPr txBox="1"/>
            <p:nvPr/>
          </p:nvSpPr>
          <p:spPr>
            <a:xfrm>
              <a:off x="8064449" y="1480009"/>
              <a:ext cx="4443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202</a:t>
              </a:r>
              <a:endParaRPr lang="en-NZ" sz="1100" dirty="0"/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9C28A6BD-CB26-3019-E1BE-808F29C6EDB0}"/>
              </a:ext>
            </a:extLst>
          </p:cNvPr>
          <p:cNvGrpSpPr/>
          <p:nvPr/>
        </p:nvGrpSpPr>
        <p:grpSpPr>
          <a:xfrm>
            <a:off x="879049" y="5027989"/>
            <a:ext cx="2835112" cy="276999"/>
            <a:chOff x="3714161" y="1250144"/>
            <a:chExt cx="2835112" cy="276999"/>
          </a:xfrm>
        </p:grpSpPr>
        <p:cxnSp>
          <p:nvCxnSpPr>
            <p:cNvPr id="162" name="Straight Arrow Connector 161">
              <a:extLst>
                <a:ext uri="{FF2B5EF4-FFF2-40B4-BE49-F238E27FC236}">
                  <a16:creationId xmlns:a16="http://schemas.microsoft.com/office/drawing/2014/main" id="{FF87105A-52A9-D1C6-C6FE-6971B49B12AE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835112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FF86E0A2-7BBF-D043-5020-231FDC1CAB0A}"/>
                </a:ext>
              </a:extLst>
            </p:cNvPr>
            <p:cNvSpPr txBox="1"/>
            <p:nvPr/>
          </p:nvSpPr>
          <p:spPr>
            <a:xfrm>
              <a:off x="4299136" y="1250144"/>
              <a:ext cx="16193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Displays 6-Digit Code</a:t>
              </a:r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B8117899-58B2-EB69-92C6-6D77E7CB4062}"/>
              </a:ext>
            </a:extLst>
          </p:cNvPr>
          <p:cNvGrpSpPr/>
          <p:nvPr/>
        </p:nvGrpSpPr>
        <p:grpSpPr>
          <a:xfrm>
            <a:off x="3714161" y="3967945"/>
            <a:ext cx="2733600" cy="276999"/>
            <a:chOff x="5123933" y="1250144"/>
            <a:chExt cx="2733600" cy="276999"/>
          </a:xfrm>
        </p:grpSpPr>
        <p:cxnSp>
          <p:nvCxnSpPr>
            <p:cNvPr id="166" name="Straight Arrow Connector 165">
              <a:extLst>
                <a:ext uri="{FF2B5EF4-FFF2-40B4-BE49-F238E27FC236}">
                  <a16:creationId xmlns:a16="http://schemas.microsoft.com/office/drawing/2014/main" id="{DBE1ED88-BCDC-8469-AF53-3AE839FD24C6}"/>
                </a:ext>
              </a:extLst>
            </p:cNvPr>
            <p:cNvCxnSpPr>
              <a:cxnSpLocks/>
            </p:cNvCxnSpPr>
            <p:nvPr/>
          </p:nvCxnSpPr>
          <p:spPr>
            <a:xfrm>
              <a:off x="5123933" y="1480009"/>
              <a:ext cx="2733600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DD6AF91D-2E6F-AF7C-EABB-CDAE86E6D5DF}"/>
                </a:ext>
              </a:extLst>
            </p:cNvPr>
            <p:cNvSpPr txBox="1"/>
            <p:nvPr/>
          </p:nvSpPr>
          <p:spPr>
            <a:xfrm>
              <a:off x="5497172" y="1250144"/>
              <a:ext cx="18598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Copy/Paste 6-Digit Code</a:t>
              </a:r>
            </a:p>
          </p:txBody>
        </p: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635ABB6C-7631-FF40-E588-1B5140B19FC9}"/>
              </a:ext>
            </a:extLst>
          </p:cNvPr>
          <p:cNvGrpSpPr/>
          <p:nvPr/>
        </p:nvGrpSpPr>
        <p:grpSpPr>
          <a:xfrm>
            <a:off x="6447761" y="3983185"/>
            <a:ext cx="3519340" cy="430887"/>
            <a:chOff x="6432223" y="1265383"/>
            <a:chExt cx="3519340" cy="430887"/>
          </a:xfrm>
        </p:grpSpPr>
        <p:cxnSp>
          <p:nvCxnSpPr>
            <p:cNvPr id="176" name="Straight Arrow Connector 175">
              <a:extLst>
                <a:ext uri="{FF2B5EF4-FFF2-40B4-BE49-F238E27FC236}">
                  <a16:creationId xmlns:a16="http://schemas.microsoft.com/office/drawing/2014/main" id="{7C5AC55C-9A21-76C2-6083-228E5F5C2B14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E5F74994-FF7D-79B2-E9FD-D0DCF5244DA2}"/>
                </a:ext>
              </a:extLst>
            </p:cNvPr>
            <p:cNvSpPr txBox="1"/>
            <p:nvPr/>
          </p:nvSpPr>
          <p:spPr>
            <a:xfrm>
              <a:off x="6526479" y="1265383"/>
              <a:ext cx="3332964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00" b="1" dirty="0"/>
                <a:t>POST /passwords/</a:t>
              </a:r>
              <a:r>
                <a:rPr lang="en-NZ" sz="1000" b="1" dirty="0" err="1"/>
                <a:t>mfa</a:t>
              </a:r>
              <a:r>
                <a:rPr lang="en-NZ" sz="1000" b="1" dirty="0"/>
                <a:t>/authenticators/</a:t>
              </a:r>
              <a:r>
                <a:rPr lang="en-NZ" sz="1000" b="1" dirty="0" err="1"/>
                <a:t>oobEmail</a:t>
              </a:r>
              <a:r>
                <a:rPr lang="en-NZ" sz="1000" b="1" dirty="0"/>
                <a:t>/verify</a:t>
              </a:r>
            </a:p>
            <a:p>
              <a:pPr algn="ctr"/>
              <a:r>
                <a:rPr lang="en-NZ" sz="1200" dirty="0"/>
                <a:t> + </a:t>
              </a:r>
              <a:r>
                <a:rPr lang="en-NZ" sz="1100" dirty="0" err="1"/>
                <a:t>MfaToken+OobCode+ConfirmationCode</a:t>
              </a:r>
              <a:endParaRPr lang="en-NZ" sz="1200" dirty="0"/>
            </a:p>
          </p:txBody>
        </p:sp>
      </p:grpSp>
      <p:sp>
        <p:nvSpPr>
          <p:cNvPr id="146" name="Rectangle 145">
            <a:extLst>
              <a:ext uri="{FF2B5EF4-FFF2-40B4-BE49-F238E27FC236}">
                <a16:creationId xmlns:a16="http://schemas.microsoft.com/office/drawing/2014/main" id="{7F3B75DD-600A-9B4F-306B-F0F5881CC220}"/>
              </a:ext>
            </a:extLst>
          </p:cNvPr>
          <p:cNvSpPr/>
          <p:nvPr/>
        </p:nvSpPr>
        <p:spPr>
          <a:xfrm>
            <a:off x="9955774" y="2940711"/>
            <a:ext cx="45719" cy="7348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750BD9D7-228C-EFCF-C1A4-206FBBB5E78B}"/>
              </a:ext>
            </a:extLst>
          </p:cNvPr>
          <p:cNvGrpSpPr/>
          <p:nvPr/>
        </p:nvGrpSpPr>
        <p:grpSpPr>
          <a:xfrm>
            <a:off x="2289928" y="3512246"/>
            <a:ext cx="9212077" cy="276999"/>
            <a:chOff x="2293165" y="1480009"/>
            <a:chExt cx="9212077" cy="276999"/>
          </a:xfrm>
        </p:grpSpPr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7B1E32E1-6543-62E2-D01A-66927DE989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93165" y="1715681"/>
              <a:ext cx="9212077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B0B018FE-259D-B5B6-ADF1-1469BE10D09A}"/>
                </a:ext>
              </a:extLst>
            </p:cNvPr>
            <p:cNvSpPr txBox="1"/>
            <p:nvPr/>
          </p:nvSpPr>
          <p:spPr>
            <a:xfrm>
              <a:off x="2390622" y="1480009"/>
              <a:ext cx="115448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Reads 6-digits</a:t>
              </a:r>
            </a:p>
          </p:txBody>
        </p:sp>
      </p:grpSp>
      <p:sp>
        <p:nvSpPr>
          <p:cNvPr id="178" name="Rectangle 177">
            <a:extLst>
              <a:ext uri="{FF2B5EF4-FFF2-40B4-BE49-F238E27FC236}">
                <a16:creationId xmlns:a16="http://schemas.microsoft.com/office/drawing/2014/main" id="{04F60D80-B8A6-4B24-9A75-5BB6633E3C9E}"/>
              </a:ext>
            </a:extLst>
          </p:cNvPr>
          <p:cNvSpPr/>
          <p:nvPr/>
        </p:nvSpPr>
        <p:spPr>
          <a:xfrm>
            <a:off x="9948955" y="2033365"/>
            <a:ext cx="45719" cy="511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969804F3-2643-54CA-C96E-A9F9942AFD74}"/>
              </a:ext>
            </a:extLst>
          </p:cNvPr>
          <p:cNvSpPr/>
          <p:nvPr/>
        </p:nvSpPr>
        <p:spPr>
          <a:xfrm>
            <a:off x="9948955" y="1378386"/>
            <a:ext cx="45719" cy="511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E701D40E-853A-4FC4-D193-1916D852BA54}"/>
              </a:ext>
            </a:extLst>
          </p:cNvPr>
          <p:cNvGrpSpPr/>
          <p:nvPr/>
        </p:nvGrpSpPr>
        <p:grpSpPr>
          <a:xfrm>
            <a:off x="6413369" y="4317241"/>
            <a:ext cx="3538194" cy="276999"/>
            <a:chOff x="6422796" y="1480009"/>
            <a:chExt cx="3538194" cy="276999"/>
          </a:xfrm>
        </p:grpSpPr>
        <p:cxnSp>
          <p:nvCxnSpPr>
            <p:cNvPr id="181" name="Straight Arrow Connector 180">
              <a:extLst>
                <a:ext uri="{FF2B5EF4-FFF2-40B4-BE49-F238E27FC236}">
                  <a16:creationId xmlns:a16="http://schemas.microsoft.com/office/drawing/2014/main" id="{5A766F93-4EEF-06B7-E0F2-C46BD058E6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A606C6C6-6623-D5FD-EA98-BE48A095D70A}"/>
                </a:ext>
              </a:extLst>
            </p:cNvPr>
            <p:cNvSpPr txBox="1"/>
            <p:nvPr/>
          </p:nvSpPr>
          <p:spPr>
            <a:xfrm>
              <a:off x="7763087" y="1480009"/>
              <a:ext cx="10470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</a:t>
              </a:r>
              <a:r>
                <a:rPr lang="en-NZ" sz="1100" dirty="0"/>
                <a:t>tokens</a:t>
              </a: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8400FAA8-8168-9B6E-72F8-B89CF660CBDE}"/>
              </a:ext>
            </a:extLst>
          </p:cNvPr>
          <p:cNvGrpSpPr/>
          <p:nvPr/>
        </p:nvGrpSpPr>
        <p:grpSpPr>
          <a:xfrm>
            <a:off x="3698623" y="4323380"/>
            <a:ext cx="2708635" cy="276999"/>
            <a:chOff x="6422796" y="1480010"/>
            <a:chExt cx="2708635" cy="276999"/>
          </a:xfrm>
        </p:grpSpPr>
        <p:cxnSp>
          <p:nvCxnSpPr>
            <p:cNvPr id="184" name="Straight Arrow Connector 183">
              <a:extLst>
                <a:ext uri="{FF2B5EF4-FFF2-40B4-BE49-F238E27FC236}">
                  <a16:creationId xmlns:a16="http://schemas.microsoft.com/office/drawing/2014/main" id="{C082C2D6-726B-4C9A-9E9C-212918EF7E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545AFAF1-C6F1-D4AA-1035-419CAC68A1B5}"/>
                </a:ext>
              </a:extLst>
            </p:cNvPr>
            <p:cNvSpPr txBox="1"/>
            <p:nvPr/>
          </p:nvSpPr>
          <p:spPr>
            <a:xfrm>
              <a:off x="7317151" y="1480010"/>
              <a:ext cx="100059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Access App</a:t>
              </a:r>
            </a:p>
          </p:txBody>
        </p:sp>
      </p:grp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30027125-429F-1C83-CEB4-7407E3E3716D}"/>
              </a:ext>
            </a:extLst>
          </p:cNvPr>
          <p:cNvGrpSpPr/>
          <p:nvPr/>
        </p:nvGrpSpPr>
        <p:grpSpPr>
          <a:xfrm>
            <a:off x="6457188" y="5057687"/>
            <a:ext cx="3519340" cy="415498"/>
            <a:chOff x="6432223" y="1273003"/>
            <a:chExt cx="3519340" cy="415498"/>
          </a:xfrm>
        </p:grpSpPr>
        <p:cxnSp>
          <p:nvCxnSpPr>
            <p:cNvPr id="197" name="Straight Arrow Connector 196">
              <a:extLst>
                <a:ext uri="{FF2B5EF4-FFF2-40B4-BE49-F238E27FC236}">
                  <a16:creationId xmlns:a16="http://schemas.microsoft.com/office/drawing/2014/main" id="{FED93E04-9FE4-5058-A54A-F172E161D67F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0FE8D1DB-B5B7-3CD1-85A3-C0516AC759EA}"/>
                </a:ext>
              </a:extLst>
            </p:cNvPr>
            <p:cNvSpPr txBox="1"/>
            <p:nvPr/>
          </p:nvSpPr>
          <p:spPr>
            <a:xfrm>
              <a:off x="6447134" y="1273003"/>
              <a:ext cx="349166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900" b="1" dirty="0"/>
                <a:t>POST /passwords/</a:t>
              </a:r>
              <a:r>
                <a:rPr lang="en-NZ" sz="900" b="1" dirty="0" err="1"/>
                <a:t>mfa</a:t>
              </a:r>
              <a:r>
                <a:rPr lang="en-NZ" sz="900" b="1" dirty="0"/>
                <a:t>/authenticators/</a:t>
              </a:r>
              <a:r>
                <a:rPr lang="en-NZ" sz="900" b="1" dirty="0" err="1"/>
                <a:t>TotpAuthenticator</a:t>
              </a:r>
              <a:r>
                <a:rPr lang="en-NZ" sz="900" b="1" dirty="0"/>
                <a:t>/verify</a:t>
              </a:r>
            </a:p>
            <a:p>
              <a:pPr algn="ctr"/>
              <a:r>
                <a:rPr lang="en-NZ" sz="1200" dirty="0"/>
                <a:t> + </a:t>
              </a:r>
              <a:r>
                <a:rPr lang="en-NZ" sz="1100" dirty="0" err="1"/>
                <a:t>MfaToken+ConfirmationCode</a:t>
              </a:r>
              <a:endParaRPr lang="en-NZ" sz="1200" dirty="0"/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511BFBD7-3130-DD4D-90C5-DDC47A717DA7}"/>
              </a:ext>
            </a:extLst>
          </p:cNvPr>
          <p:cNvGrpSpPr/>
          <p:nvPr/>
        </p:nvGrpSpPr>
        <p:grpSpPr>
          <a:xfrm>
            <a:off x="6422796" y="5376503"/>
            <a:ext cx="3538194" cy="276999"/>
            <a:chOff x="6422796" y="1480009"/>
            <a:chExt cx="3538194" cy="276999"/>
          </a:xfrm>
        </p:grpSpPr>
        <p:cxnSp>
          <p:nvCxnSpPr>
            <p:cNvPr id="200" name="Straight Arrow Connector 199">
              <a:extLst>
                <a:ext uri="{FF2B5EF4-FFF2-40B4-BE49-F238E27FC236}">
                  <a16:creationId xmlns:a16="http://schemas.microsoft.com/office/drawing/2014/main" id="{965B3F47-02C6-FFB5-1FAC-8CF625ABCC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5D7BF911-0BA8-516B-D580-C60BB077E9F8}"/>
                </a:ext>
              </a:extLst>
            </p:cNvPr>
            <p:cNvSpPr txBox="1"/>
            <p:nvPr/>
          </p:nvSpPr>
          <p:spPr>
            <a:xfrm>
              <a:off x="7763087" y="1480009"/>
              <a:ext cx="10470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</a:t>
              </a:r>
              <a:r>
                <a:rPr lang="en-NZ" sz="1100" dirty="0"/>
                <a:t>tokens</a:t>
              </a: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2C957704-57C6-6395-5D69-C2BE8E9D87BB}"/>
              </a:ext>
            </a:extLst>
          </p:cNvPr>
          <p:cNvGrpSpPr/>
          <p:nvPr/>
        </p:nvGrpSpPr>
        <p:grpSpPr>
          <a:xfrm>
            <a:off x="3708050" y="5390262"/>
            <a:ext cx="2708635" cy="276999"/>
            <a:chOff x="6422796" y="1480010"/>
            <a:chExt cx="2708635" cy="276999"/>
          </a:xfrm>
        </p:grpSpPr>
        <p:cxnSp>
          <p:nvCxnSpPr>
            <p:cNvPr id="203" name="Straight Arrow Connector 202">
              <a:extLst>
                <a:ext uri="{FF2B5EF4-FFF2-40B4-BE49-F238E27FC236}">
                  <a16:creationId xmlns:a16="http://schemas.microsoft.com/office/drawing/2014/main" id="{17FCE456-2A39-4A7D-10F9-0B04C9DA77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CC707DED-19D3-C8E1-DFA2-7E5AE466590D}"/>
                </a:ext>
              </a:extLst>
            </p:cNvPr>
            <p:cNvSpPr txBox="1"/>
            <p:nvPr/>
          </p:nvSpPr>
          <p:spPr>
            <a:xfrm>
              <a:off x="7317151" y="1480010"/>
              <a:ext cx="100059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Access App</a:t>
              </a:r>
            </a:p>
          </p:txBody>
        </p: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4FCD1B16-6F63-8CB3-4BF4-F53C606B3865}"/>
              </a:ext>
            </a:extLst>
          </p:cNvPr>
          <p:cNvGrpSpPr/>
          <p:nvPr/>
        </p:nvGrpSpPr>
        <p:grpSpPr>
          <a:xfrm>
            <a:off x="3721642" y="5026807"/>
            <a:ext cx="2733600" cy="276999"/>
            <a:chOff x="5123933" y="1250144"/>
            <a:chExt cx="2733600" cy="276999"/>
          </a:xfrm>
        </p:grpSpPr>
        <p:cxnSp>
          <p:nvCxnSpPr>
            <p:cNvPr id="206" name="Straight Arrow Connector 205">
              <a:extLst>
                <a:ext uri="{FF2B5EF4-FFF2-40B4-BE49-F238E27FC236}">
                  <a16:creationId xmlns:a16="http://schemas.microsoft.com/office/drawing/2014/main" id="{A6885BC4-4457-E540-2DE7-6F5BF3B0D22F}"/>
                </a:ext>
              </a:extLst>
            </p:cNvPr>
            <p:cNvCxnSpPr>
              <a:cxnSpLocks/>
            </p:cNvCxnSpPr>
            <p:nvPr/>
          </p:nvCxnSpPr>
          <p:spPr>
            <a:xfrm>
              <a:off x="5123933" y="1480009"/>
              <a:ext cx="2733600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8C87F457-094D-F24C-4BDD-B9C293FE3FDC}"/>
                </a:ext>
              </a:extLst>
            </p:cNvPr>
            <p:cNvSpPr txBox="1"/>
            <p:nvPr/>
          </p:nvSpPr>
          <p:spPr>
            <a:xfrm>
              <a:off x="5497172" y="1250144"/>
              <a:ext cx="18598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Copy/Paste 6-Digit Code</a:t>
              </a:r>
            </a:p>
          </p:txBody>
        </p:sp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D9D763F7-70B4-052C-02CB-A12A4283FB09}"/>
              </a:ext>
            </a:extLst>
          </p:cNvPr>
          <p:cNvGrpSpPr/>
          <p:nvPr/>
        </p:nvGrpSpPr>
        <p:grpSpPr>
          <a:xfrm>
            <a:off x="2284720" y="3945454"/>
            <a:ext cx="1438047" cy="276999"/>
            <a:chOff x="5111226" y="1219602"/>
            <a:chExt cx="1438047" cy="276999"/>
          </a:xfrm>
        </p:grpSpPr>
        <p:cxnSp>
          <p:nvCxnSpPr>
            <p:cNvPr id="219" name="Straight Arrow Connector 218">
              <a:extLst>
                <a:ext uri="{FF2B5EF4-FFF2-40B4-BE49-F238E27FC236}">
                  <a16:creationId xmlns:a16="http://schemas.microsoft.com/office/drawing/2014/main" id="{04E1896A-878D-7BA0-9189-96D484A5B9CA}"/>
                </a:ext>
              </a:extLst>
            </p:cNvPr>
            <p:cNvCxnSpPr>
              <a:cxnSpLocks/>
            </p:cNvCxnSpPr>
            <p:nvPr/>
          </p:nvCxnSpPr>
          <p:spPr>
            <a:xfrm>
              <a:off x="5111226" y="1471958"/>
              <a:ext cx="1438047" cy="8051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73DAB582-E115-6E3E-9CBC-1285925D9655}"/>
                </a:ext>
              </a:extLst>
            </p:cNvPr>
            <p:cNvSpPr txBox="1"/>
            <p:nvPr/>
          </p:nvSpPr>
          <p:spPr>
            <a:xfrm>
              <a:off x="5142542" y="1219602"/>
              <a:ext cx="130516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Displays 6-digits</a:t>
              </a:r>
            </a:p>
          </p:txBody>
        </p:sp>
      </p:grpSp>
      <p:sp>
        <p:nvSpPr>
          <p:cNvPr id="223" name="Rectangle: Rounded Corners 222">
            <a:extLst>
              <a:ext uri="{FF2B5EF4-FFF2-40B4-BE49-F238E27FC236}">
                <a16:creationId xmlns:a16="http://schemas.microsoft.com/office/drawing/2014/main" id="{8DE5FA15-8CB2-1230-C18D-DE517B355FA7}"/>
              </a:ext>
            </a:extLst>
          </p:cNvPr>
          <p:cNvSpPr/>
          <p:nvPr/>
        </p:nvSpPr>
        <p:spPr>
          <a:xfrm>
            <a:off x="9967890" y="4269518"/>
            <a:ext cx="906292" cy="165047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Verify!</a:t>
            </a:r>
          </a:p>
        </p:txBody>
      </p:sp>
      <p:sp>
        <p:nvSpPr>
          <p:cNvPr id="224" name="Rectangle: Rounded Corners 223">
            <a:extLst>
              <a:ext uri="{FF2B5EF4-FFF2-40B4-BE49-F238E27FC236}">
                <a16:creationId xmlns:a16="http://schemas.microsoft.com/office/drawing/2014/main" id="{023D8B6D-D002-2399-0469-99B606DD1E04}"/>
              </a:ext>
            </a:extLst>
          </p:cNvPr>
          <p:cNvSpPr/>
          <p:nvPr/>
        </p:nvSpPr>
        <p:spPr>
          <a:xfrm>
            <a:off x="9967890" y="5357575"/>
            <a:ext cx="906292" cy="165047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Verify!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A632F58-EE83-C375-5CB2-1456F398F51F}"/>
              </a:ext>
            </a:extLst>
          </p:cNvPr>
          <p:cNvGrpSpPr/>
          <p:nvPr/>
        </p:nvGrpSpPr>
        <p:grpSpPr>
          <a:xfrm>
            <a:off x="3723588" y="3341487"/>
            <a:ext cx="2708635" cy="276999"/>
            <a:chOff x="6422796" y="1480010"/>
            <a:chExt cx="2708635" cy="276999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A723EEF8-5BB8-ABB7-404C-21DDE6814D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41B0D9-5A6E-56B3-A9D1-7E92E941AC8B}"/>
                </a:ext>
              </a:extLst>
            </p:cNvPr>
            <p:cNvSpPr txBox="1"/>
            <p:nvPr/>
          </p:nvSpPr>
          <p:spPr>
            <a:xfrm>
              <a:off x="6815416" y="1480010"/>
              <a:ext cx="200407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Prompt to read SMS/email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280C8E1-8392-6A82-1DC4-91AA1FE2B0CF}"/>
              </a:ext>
            </a:extLst>
          </p:cNvPr>
          <p:cNvGrpSpPr/>
          <p:nvPr/>
        </p:nvGrpSpPr>
        <p:grpSpPr>
          <a:xfrm>
            <a:off x="3716518" y="4749808"/>
            <a:ext cx="2708635" cy="276999"/>
            <a:chOff x="6422796" y="1480010"/>
            <a:chExt cx="2708635" cy="276999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572C9CA7-DB72-A0A3-B27D-608E711692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9CB4470-0643-6111-608C-F5514C96AC41}"/>
                </a:ext>
              </a:extLst>
            </p:cNvPr>
            <p:cNvSpPr txBox="1"/>
            <p:nvPr/>
          </p:nvSpPr>
          <p:spPr>
            <a:xfrm>
              <a:off x="6601421" y="1480010"/>
              <a:ext cx="243207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Prompt to use Authenticator App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447CBB9-9C98-0BC3-B48D-709D38778D36}"/>
              </a:ext>
            </a:extLst>
          </p:cNvPr>
          <p:cNvGrpSpPr/>
          <p:nvPr/>
        </p:nvGrpSpPr>
        <p:grpSpPr>
          <a:xfrm>
            <a:off x="6422796" y="5775123"/>
            <a:ext cx="3538194" cy="276999"/>
            <a:chOff x="6422796" y="1480009"/>
            <a:chExt cx="3538194" cy="276999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9D291A-588F-F20A-DAB6-25ADD6BEAB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5535998-E9AC-B14F-8332-89CE60EE7812}"/>
                </a:ext>
              </a:extLst>
            </p:cNvPr>
            <p:cNvSpPr txBox="1"/>
            <p:nvPr/>
          </p:nvSpPr>
          <p:spPr>
            <a:xfrm>
              <a:off x="8064449" y="1480009"/>
              <a:ext cx="4443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202</a:t>
              </a:r>
              <a:endParaRPr lang="en-NZ" sz="1100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31F0242-0B6D-188F-C72C-095B2066A60D}"/>
              </a:ext>
            </a:extLst>
          </p:cNvPr>
          <p:cNvGrpSpPr/>
          <p:nvPr/>
        </p:nvGrpSpPr>
        <p:grpSpPr>
          <a:xfrm>
            <a:off x="6457188" y="6094007"/>
            <a:ext cx="3519340" cy="415498"/>
            <a:chOff x="6432223" y="1273003"/>
            <a:chExt cx="3519340" cy="415498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D0F7B956-339A-CF9E-AA52-7ABEA9929774}"/>
                </a:ext>
              </a:extLst>
            </p:cNvPr>
            <p:cNvCxnSpPr>
              <a:cxnSpLocks/>
            </p:cNvCxnSpPr>
            <p:nvPr/>
          </p:nvCxnSpPr>
          <p:spPr>
            <a:xfrm>
              <a:off x="6432223" y="1480009"/>
              <a:ext cx="35193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FCFF385-68E5-43B2-D191-DB64984923A9}"/>
                </a:ext>
              </a:extLst>
            </p:cNvPr>
            <p:cNvSpPr txBox="1"/>
            <p:nvPr/>
          </p:nvSpPr>
          <p:spPr>
            <a:xfrm>
              <a:off x="6447134" y="1273003"/>
              <a:ext cx="349166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900" b="1" dirty="0"/>
                <a:t>POST /passwords/</a:t>
              </a:r>
              <a:r>
                <a:rPr lang="en-NZ" sz="900" b="1" dirty="0" err="1"/>
                <a:t>mfa</a:t>
              </a:r>
              <a:r>
                <a:rPr lang="en-NZ" sz="900" b="1" dirty="0"/>
                <a:t>/authenticators/</a:t>
              </a:r>
              <a:r>
                <a:rPr lang="en-NZ" sz="900" b="1" dirty="0" err="1"/>
                <a:t>TotpAuthenticator</a:t>
              </a:r>
              <a:r>
                <a:rPr lang="en-NZ" sz="900" b="1" dirty="0"/>
                <a:t>/verify</a:t>
              </a:r>
            </a:p>
            <a:p>
              <a:pPr algn="ctr"/>
              <a:r>
                <a:rPr lang="en-NZ" sz="1200" dirty="0"/>
                <a:t> + </a:t>
              </a:r>
              <a:r>
                <a:rPr lang="en-NZ" sz="1100" dirty="0" err="1"/>
                <a:t>MfaToken+ConfirmationCode</a:t>
              </a:r>
              <a:endParaRPr lang="en-NZ" sz="1200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B2FD70C-803C-B6DE-D557-E716FA927354}"/>
              </a:ext>
            </a:extLst>
          </p:cNvPr>
          <p:cNvGrpSpPr/>
          <p:nvPr/>
        </p:nvGrpSpPr>
        <p:grpSpPr>
          <a:xfrm>
            <a:off x="6422796" y="6412823"/>
            <a:ext cx="3538194" cy="276999"/>
            <a:chOff x="6422796" y="1480009"/>
            <a:chExt cx="3538194" cy="276999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64C76360-07AC-C218-7077-CEC8604727F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69AECDB-D2B8-848D-737C-420A2A38D9E4}"/>
                </a:ext>
              </a:extLst>
            </p:cNvPr>
            <p:cNvSpPr txBox="1"/>
            <p:nvPr/>
          </p:nvSpPr>
          <p:spPr>
            <a:xfrm>
              <a:off x="7763087" y="1480009"/>
              <a:ext cx="10470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</a:t>
              </a:r>
              <a:r>
                <a:rPr lang="en-NZ" sz="1100" dirty="0"/>
                <a:t>tokens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54B6B59-56F0-4807-5715-F0CB8F6E6FEE}"/>
              </a:ext>
            </a:extLst>
          </p:cNvPr>
          <p:cNvGrpSpPr/>
          <p:nvPr/>
        </p:nvGrpSpPr>
        <p:grpSpPr>
          <a:xfrm>
            <a:off x="3708050" y="6426582"/>
            <a:ext cx="2708635" cy="276999"/>
            <a:chOff x="6422796" y="1480010"/>
            <a:chExt cx="2708635" cy="276999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2B052AF-5A64-051E-B455-75502DE0A4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40BDAD4-5E8D-8631-33F0-831DA7CA4FF9}"/>
                </a:ext>
              </a:extLst>
            </p:cNvPr>
            <p:cNvSpPr txBox="1"/>
            <p:nvPr/>
          </p:nvSpPr>
          <p:spPr>
            <a:xfrm>
              <a:off x="7317151" y="1480010"/>
              <a:ext cx="100059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Access App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692A9BD-E357-E196-2788-DB5D0149C9AA}"/>
              </a:ext>
            </a:extLst>
          </p:cNvPr>
          <p:cNvGrpSpPr/>
          <p:nvPr/>
        </p:nvGrpSpPr>
        <p:grpSpPr>
          <a:xfrm>
            <a:off x="3721642" y="6063127"/>
            <a:ext cx="2733600" cy="276999"/>
            <a:chOff x="5123933" y="1250144"/>
            <a:chExt cx="2733600" cy="276999"/>
          </a:xfrm>
        </p:grpSpPr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AB14B42-4E64-D1B1-4176-9856B70D4F1D}"/>
                </a:ext>
              </a:extLst>
            </p:cNvPr>
            <p:cNvCxnSpPr>
              <a:cxnSpLocks/>
            </p:cNvCxnSpPr>
            <p:nvPr/>
          </p:nvCxnSpPr>
          <p:spPr>
            <a:xfrm>
              <a:off x="5123933" y="1480009"/>
              <a:ext cx="2733600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6510AD7-E354-C65E-8F9A-E5B868A379CF}"/>
                </a:ext>
              </a:extLst>
            </p:cNvPr>
            <p:cNvSpPr txBox="1"/>
            <p:nvPr/>
          </p:nvSpPr>
          <p:spPr>
            <a:xfrm>
              <a:off x="5497172" y="1250144"/>
              <a:ext cx="18598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Copy/Paste 6-Digit Code</a:t>
              </a:r>
            </a:p>
          </p:txBody>
        </p:sp>
      </p:grp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B0E95909-A5DA-F31F-E233-5E95A213ABDB}"/>
              </a:ext>
            </a:extLst>
          </p:cNvPr>
          <p:cNvSpPr/>
          <p:nvPr/>
        </p:nvSpPr>
        <p:spPr>
          <a:xfrm>
            <a:off x="9967890" y="6393895"/>
            <a:ext cx="906292" cy="165047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Verify!</a:t>
            </a:r>
          </a:p>
        </p:txBody>
      </p:sp>
    </p:spTree>
    <p:extLst>
      <p:ext uri="{BB962C8B-B14F-4D97-AF65-F5344CB8AC3E}">
        <p14:creationId xmlns:p14="http://schemas.microsoft.com/office/powerpoint/2010/main" val="25565019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151">
            <a:extLst>
              <a:ext uri="{FF2B5EF4-FFF2-40B4-BE49-F238E27FC236}">
                <a16:creationId xmlns:a16="http://schemas.microsoft.com/office/drawing/2014/main" id="{D1F30FD8-3C5F-66D3-43AA-C8F69E367088}"/>
              </a:ext>
            </a:extLst>
          </p:cNvPr>
          <p:cNvSpPr txBox="1"/>
          <p:nvPr/>
        </p:nvSpPr>
        <p:spPr>
          <a:xfrm>
            <a:off x="267419" y="207034"/>
            <a:ext cx="34932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Authorizing with a token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9CE5E8B-7050-54BB-4FEC-402F4067C4CB}"/>
              </a:ext>
            </a:extLst>
          </p:cNvPr>
          <p:cNvSpPr/>
          <p:nvPr/>
        </p:nvSpPr>
        <p:spPr>
          <a:xfrm>
            <a:off x="8141204" y="3055474"/>
            <a:ext cx="175950" cy="175950"/>
          </a:xfrm>
          <a:prstGeom prst="ellipse">
            <a:avLst/>
          </a:prstGeom>
          <a:solidFill>
            <a:srgbClr val="0078D7"/>
          </a:solidFill>
          <a:ln>
            <a:solidFill>
              <a:srgbClr val="0078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4D5B1FC5-355F-D779-27F2-0E1616741948}"/>
              </a:ext>
            </a:extLst>
          </p:cNvPr>
          <p:cNvSpPr/>
          <p:nvPr/>
        </p:nvSpPr>
        <p:spPr>
          <a:xfrm>
            <a:off x="6698723" y="3891378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6B99708-837C-E579-0827-22206F609EB9}"/>
              </a:ext>
            </a:extLst>
          </p:cNvPr>
          <p:cNvSpPr/>
          <p:nvPr/>
        </p:nvSpPr>
        <p:spPr>
          <a:xfrm>
            <a:off x="6705359" y="4458353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B44A569B-35FE-1BC1-9722-3ECC9E514393}"/>
              </a:ext>
            </a:extLst>
          </p:cNvPr>
          <p:cNvSpPr/>
          <p:nvPr/>
        </p:nvSpPr>
        <p:spPr>
          <a:xfrm>
            <a:off x="6693389" y="2671782"/>
            <a:ext cx="3710788" cy="2869587"/>
          </a:xfrm>
          <a:prstGeom prst="roundRect">
            <a:avLst>
              <a:gd name="adj" fmla="val 4576"/>
            </a:avLst>
          </a:prstGeom>
          <a:solidFill>
            <a:srgbClr val="0078D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200" dirty="0"/>
              <a:t>              </a:t>
            </a:r>
            <a:r>
              <a:rPr lang="en-US" sz="1200" dirty="0" err="1"/>
              <a:t>BackEnd</a:t>
            </a:r>
            <a:r>
              <a:rPr lang="en-US" sz="1200" dirty="0"/>
              <a:t> API Host (1)</a:t>
            </a:r>
            <a:endParaRPr lang="en-NZ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4C74057-B086-B52F-0A6F-A44483AC67D8}"/>
              </a:ext>
            </a:extLst>
          </p:cNvPr>
          <p:cNvSpPr/>
          <p:nvPr/>
        </p:nvSpPr>
        <p:spPr>
          <a:xfrm>
            <a:off x="6856093" y="3035886"/>
            <a:ext cx="1237773" cy="44587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Any API</a:t>
            </a:r>
            <a:endParaRPr lang="en-NZ" sz="1200" dirty="0">
              <a:solidFill>
                <a:schemeClr val="bg1"/>
              </a:solidFill>
            </a:endParaRPr>
          </a:p>
        </p:txBody>
      </p:sp>
      <p:pic>
        <p:nvPicPr>
          <p:cNvPr id="57" name="Picture 8" descr="App Service - Web App | Microsoft Azure Mono">
            <a:extLst>
              <a:ext uri="{FF2B5EF4-FFF2-40B4-BE49-F238E27FC236}">
                <a16:creationId xmlns:a16="http://schemas.microsoft.com/office/drawing/2014/main" id="{8AA66BF7-E839-2983-8626-E3F363685F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6633" y="4945038"/>
            <a:ext cx="450277" cy="450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4" name="Straight Arrow Connector 38">
            <a:extLst>
              <a:ext uri="{FF2B5EF4-FFF2-40B4-BE49-F238E27FC236}">
                <a16:creationId xmlns:a16="http://schemas.microsoft.com/office/drawing/2014/main" id="{DF0440B5-6D0B-E640-63B2-459D806653A5}"/>
              </a:ext>
            </a:extLst>
          </p:cNvPr>
          <p:cNvCxnSpPr>
            <a:cxnSpLocks/>
            <a:stCxn id="49" idx="3"/>
            <a:endCxn id="5" idx="1"/>
          </p:cNvCxnSpPr>
          <p:nvPr/>
        </p:nvCxnSpPr>
        <p:spPr>
          <a:xfrm flipV="1">
            <a:off x="8093866" y="3020931"/>
            <a:ext cx="425318" cy="237892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8C982128-8DBE-1C9F-C7FB-CB8174C42D94}"/>
              </a:ext>
            </a:extLst>
          </p:cNvPr>
          <p:cNvGrpSpPr/>
          <p:nvPr/>
        </p:nvGrpSpPr>
        <p:grpSpPr>
          <a:xfrm>
            <a:off x="3285359" y="2542458"/>
            <a:ext cx="3570734" cy="1886135"/>
            <a:chOff x="5142447" y="57977"/>
            <a:chExt cx="3570734" cy="1886135"/>
          </a:xfrm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746E4B18-59E7-1CA5-4EDD-D708F44E310A}"/>
                </a:ext>
              </a:extLst>
            </p:cNvPr>
            <p:cNvGrpSpPr/>
            <p:nvPr/>
          </p:nvGrpSpPr>
          <p:grpSpPr>
            <a:xfrm>
              <a:off x="5142447" y="57977"/>
              <a:ext cx="1463068" cy="1886135"/>
              <a:chOff x="2698106" y="3204587"/>
              <a:chExt cx="1463068" cy="1886135"/>
            </a:xfrm>
          </p:grpSpPr>
          <p:sp>
            <p:nvSpPr>
              <p:cNvPr id="263" name="Rectangle: Rounded Corners 262">
                <a:extLst>
                  <a:ext uri="{FF2B5EF4-FFF2-40B4-BE49-F238E27FC236}">
                    <a16:creationId xmlns:a16="http://schemas.microsoft.com/office/drawing/2014/main" id="{319EF625-F8BA-44B1-613A-AF4A23B0597C}"/>
                  </a:ext>
                </a:extLst>
              </p:cNvPr>
              <p:cNvSpPr/>
              <p:nvPr/>
            </p:nvSpPr>
            <p:spPr>
              <a:xfrm>
                <a:off x="2698106" y="3204587"/>
                <a:ext cx="1463068" cy="1886135"/>
              </a:xfrm>
              <a:prstGeom prst="roundRect">
                <a:avLst>
                  <a:gd name="adj" fmla="val 5101"/>
                </a:avLst>
              </a:prstGeom>
              <a:solidFill>
                <a:srgbClr val="0078D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</a:t>
                </a:r>
              </a:p>
              <a:p>
                <a:r>
                  <a:rPr lang="en-US" sz="1200" dirty="0"/>
                  <a:t>            4FrontEnd</a:t>
                </a:r>
              </a:p>
              <a:p>
                <a:r>
                  <a:rPr lang="en-US" sz="1200" dirty="0"/>
                  <a:t>                     Host</a:t>
                </a:r>
              </a:p>
            </p:txBody>
          </p:sp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26B2E57F-F4F3-8BFB-5050-AFB4A01591EB}"/>
                  </a:ext>
                </a:extLst>
              </p:cNvPr>
              <p:cNvSpPr/>
              <p:nvPr/>
            </p:nvSpPr>
            <p:spPr>
              <a:xfrm>
                <a:off x="2981500" y="3735851"/>
                <a:ext cx="1039660" cy="37985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Any API</a:t>
                </a:r>
                <a:endParaRPr lang="en-NZ" sz="1200" dirty="0"/>
              </a:p>
            </p:txBody>
          </p:sp>
          <p:pic>
            <p:nvPicPr>
              <p:cNvPr id="265" name="Picture 8" descr="App Service - Web App | Microsoft Azure Mono">
                <a:extLst>
                  <a:ext uri="{FF2B5EF4-FFF2-40B4-BE49-F238E27FC236}">
                    <a16:creationId xmlns:a16="http://schemas.microsoft.com/office/drawing/2014/main" id="{CF771138-2DD8-8859-11CD-D2B0378D640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78776" y="4550527"/>
                <a:ext cx="450277" cy="4173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cxnSp>
          <p:nvCxnSpPr>
            <p:cNvPr id="261" name="Straight Arrow Connector 38">
              <a:extLst>
                <a:ext uri="{FF2B5EF4-FFF2-40B4-BE49-F238E27FC236}">
                  <a16:creationId xmlns:a16="http://schemas.microsoft.com/office/drawing/2014/main" id="{328F0A6B-32E4-87C4-D3CD-3630061280E6}"/>
                </a:ext>
              </a:extLst>
            </p:cNvPr>
            <p:cNvCxnSpPr>
              <a:cxnSpLocks/>
              <a:stCxn id="264" idx="3"/>
              <a:endCxn id="49" idx="1"/>
            </p:cNvCxnSpPr>
            <p:nvPr/>
          </p:nvCxnSpPr>
          <p:spPr>
            <a:xfrm flipV="1">
              <a:off x="6465501" y="774342"/>
              <a:ext cx="2247680" cy="4828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cxnSp>
        <p:nvCxnSpPr>
          <p:cNvPr id="41" name="Straight Arrow Connector 38">
            <a:extLst>
              <a:ext uri="{FF2B5EF4-FFF2-40B4-BE49-F238E27FC236}">
                <a16:creationId xmlns:a16="http://schemas.microsoft.com/office/drawing/2014/main" id="{E6623D6C-8E4F-C492-4177-BAFC0DFC10CC}"/>
              </a:ext>
            </a:extLst>
          </p:cNvPr>
          <p:cNvCxnSpPr>
            <a:cxnSpLocks/>
            <a:stCxn id="29" idx="3"/>
            <a:endCxn id="264" idx="1"/>
          </p:cNvCxnSpPr>
          <p:nvPr/>
        </p:nvCxnSpPr>
        <p:spPr>
          <a:xfrm flipV="1">
            <a:off x="1291002" y="3263651"/>
            <a:ext cx="2277751" cy="2964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95C3B309-7F55-4448-C689-6CD0EE4188AC}"/>
              </a:ext>
            </a:extLst>
          </p:cNvPr>
          <p:cNvSpPr/>
          <p:nvPr/>
        </p:nvSpPr>
        <p:spPr>
          <a:xfrm>
            <a:off x="6975031" y="128744"/>
            <a:ext cx="999895" cy="1353781"/>
          </a:xfrm>
          <a:prstGeom prst="roundRect">
            <a:avLst>
              <a:gd name="adj" fmla="val 8177"/>
            </a:avLst>
          </a:prstGeom>
          <a:solidFill>
            <a:schemeClr val="bg2"/>
          </a:solidFill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3rd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Party API </a:t>
            </a:r>
            <a:r>
              <a:rPr lang="en-US" sz="1100" dirty="0">
                <a:solidFill>
                  <a:schemeClr val="tx1"/>
                </a:solidFill>
              </a:rPr>
              <a:t>Integrations</a:t>
            </a:r>
            <a:endParaRPr lang="en-NZ" sz="1200" dirty="0">
              <a:solidFill>
                <a:schemeClr val="tx1"/>
              </a:solidFill>
            </a:endParaRPr>
          </a:p>
        </p:txBody>
      </p:sp>
      <p:cxnSp>
        <p:nvCxnSpPr>
          <p:cNvPr id="86" name="Straight Arrow Connector 38">
            <a:extLst>
              <a:ext uri="{FF2B5EF4-FFF2-40B4-BE49-F238E27FC236}">
                <a16:creationId xmlns:a16="http://schemas.microsoft.com/office/drawing/2014/main" id="{10A707C5-5C85-53FB-C42B-04C349808B96}"/>
              </a:ext>
            </a:extLst>
          </p:cNvPr>
          <p:cNvCxnSpPr>
            <a:cxnSpLocks/>
            <a:stCxn id="85" idx="2"/>
            <a:endCxn id="49" idx="0"/>
          </p:cNvCxnSpPr>
          <p:nvPr/>
        </p:nvCxnSpPr>
        <p:spPr>
          <a:xfrm rot="16200000" flipH="1">
            <a:off x="6698299" y="2259204"/>
            <a:ext cx="1553361" cy="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5DC0045E-9A80-4E1C-F40E-114AEB2C1868}"/>
              </a:ext>
            </a:extLst>
          </p:cNvPr>
          <p:cNvSpPr/>
          <p:nvPr/>
        </p:nvSpPr>
        <p:spPr>
          <a:xfrm>
            <a:off x="8519184" y="2810438"/>
            <a:ext cx="1757846" cy="42098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ASP.NET Authorization Handlers + Policies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0BC41C9-83F4-7EA7-723D-23E001DC3BA0}"/>
              </a:ext>
            </a:extLst>
          </p:cNvPr>
          <p:cNvGrpSpPr/>
          <p:nvPr/>
        </p:nvGrpSpPr>
        <p:grpSpPr>
          <a:xfrm>
            <a:off x="1729808" y="3659850"/>
            <a:ext cx="1503337" cy="599712"/>
            <a:chOff x="335225" y="2298310"/>
            <a:chExt cx="1503337" cy="59971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2EB2843-3307-AFF6-9EEF-7502FF60561C}"/>
                </a:ext>
              </a:extLst>
            </p:cNvPr>
            <p:cNvSpPr txBox="1"/>
            <p:nvPr/>
          </p:nvSpPr>
          <p:spPr>
            <a:xfrm>
              <a:off x="518970" y="2320941"/>
              <a:ext cx="1319592" cy="577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50" dirty="0"/>
                <a:t>Cookie: auth-</a:t>
              </a:r>
              <a:r>
                <a:rPr lang="en-NZ" sz="1050" dirty="0" err="1"/>
                <a:t>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Cookie: auth-</a:t>
              </a:r>
              <a:r>
                <a:rPr lang="en-NZ" sz="1050" dirty="0" err="1"/>
                <a:t>reftok</a:t>
              </a:r>
              <a:endParaRPr lang="en-NZ" sz="1050" dirty="0"/>
            </a:p>
          </p:txBody>
        </p:sp>
        <p:pic>
          <p:nvPicPr>
            <p:cNvPr id="10" name="Graphic 9" descr="Gingerbread cookie with solid fill">
              <a:extLst>
                <a:ext uri="{FF2B5EF4-FFF2-40B4-BE49-F238E27FC236}">
                  <a16:creationId xmlns:a16="http://schemas.microsoft.com/office/drawing/2014/main" id="{25AD677D-0263-FE22-A861-4894A50C90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8472" y="2298310"/>
              <a:ext cx="281781" cy="281781"/>
            </a:xfrm>
            <a:prstGeom prst="rect">
              <a:avLst/>
            </a:prstGeom>
          </p:spPr>
        </p:pic>
        <p:pic>
          <p:nvPicPr>
            <p:cNvPr id="11" name="Graphic 10" descr="Gingerbread cookie with solid fill">
              <a:extLst>
                <a:ext uri="{FF2B5EF4-FFF2-40B4-BE49-F238E27FC236}">
                  <a16:creationId xmlns:a16="http://schemas.microsoft.com/office/drawing/2014/main" id="{352C9F25-6957-0FF0-70BD-72A21893C8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25" y="2596450"/>
              <a:ext cx="281781" cy="281781"/>
            </a:xfrm>
            <a:prstGeom prst="rect">
              <a:avLst/>
            </a:prstGeom>
          </p:spPr>
        </p:pic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B0CECC3D-7FD8-E732-900E-3D31718429E8}"/>
              </a:ext>
            </a:extLst>
          </p:cNvPr>
          <p:cNvSpPr/>
          <p:nvPr/>
        </p:nvSpPr>
        <p:spPr>
          <a:xfrm>
            <a:off x="143689" y="2503177"/>
            <a:ext cx="1147313" cy="1526876"/>
          </a:xfrm>
          <a:prstGeom prst="rect">
            <a:avLst/>
          </a:prstGeom>
          <a:solidFill>
            <a:schemeClr val="bg2"/>
          </a:solidFill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2000" dirty="0">
                <a:solidFill>
                  <a:schemeClr val="tx1"/>
                </a:solidFill>
              </a:rPr>
              <a:t>Any Page</a:t>
            </a:r>
          </a:p>
        </p:txBody>
      </p:sp>
      <p:pic>
        <p:nvPicPr>
          <p:cNvPr id="90" name="Graphic 89" descr="Badge 6 with solid fill">
            <a:extLst>
              <a:ext uri="{FF2B5EF4-FFF2-40B4-BE49-F238E27FC236}">
                <a16:creationId xmlns:a16="http://schemas.microsoft.com/office/drawing/2014/main" id="{6B0BF8B9-7336-9BDC-9DE8-83A9CC5548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06478" y="3715262"/>
            <a:ext cx="445873" cy="445873"/>
          </a:xfrm>
          <a:prstGeom prst="rect">
            <a:avLst/>
          </a:prstGeom>
        </p:spPr>
      </p:pic>
      <p:pic>
        <p:nvPicPr>
          <p:cNvPr id="92" name="Graphic 91" descr="Badge with solid fill">
            <a:extLst>
              <a:ext uri="{FF2B5EF4-FFF2-40B4-BE49-F238E27FC236}">
                <a16:creationId xmlns:a16="http://schemas.microsoft.com/office/drawing/2014/main" id="{37BA1F29-B5AA-2358-3B8F-3D0530BF02E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79835" y="2260061"/>
            <a:ext cx="445873" cy="445873"/>
          </a:xfrm>
          <a:prstGeom prst="rect">
            <a:avLst/>
          </a:prstGeom>
        </p:spPr>
      </p:pic>
      <p:pic>
        <p:nvPicPr>
          <p:cNvPr id="98" name="Graphic 97" descr="Badge 1 with solid fill">
            <a:extLst>
              <a:ext uri="{FF2B5EF4-FFF2-40B4-BE49-F238E27FC236}">
                <a16:creationId xmlns:a16="http://schemas.microsoft.com/office/drawing/2014/main" id="{393192CA-1A7F-895A-9FD5-DEC43265E9C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42391" y="1893662"/>
            <a:ext cx="445873" cy="445873"/>
          </a:xfrm>
          <a:prstGeom prst="rect">
            <a:avLst/>
          </a:prstGeom>
        </p:spPr>
      </p:pic>
      <p:cxnSp>
        <p:nvCxnSpPr>
          <p:cNvPr id="119" name="Straight Arrow Connector 38">
            <a:extLst>
              <a:ext uri="{FF2B5EF4-FFF2-40B4-BE49-F238E27FC236}">
                <a16:creationId xmlns:a16="http://schemas.microsoft.com/office/drawing/2014/main" id="{FA9ACAEE-11C0-E6CB-FCC9-67EBDAA1749C}"/>
              </a:ext>
            </a:extLst>
          </p:cNvPr>
          <p:cNvCxnSpPr>
            <a:cxnSpLocks/>
            <a:stCxn id="123" idx="2"/>
            <a:endCxn id="49" idx="2"/>
          </p:cNvCxnSpPr>
          <p:nvPr/>
        </p:nvCxnSpPr>
        <p:spPr>
          <a:xfrm rot="5400000" flipH="1">
            <a:off x="8198658" y="2758082"/>
            <a:ext cx="477527" cy="1924883"/>
          </a:xfrm>
          <a:prstGeom prst="bentConnector3">
            <a:avLst>
              <a:gd name="adj1" fmla="val -47872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E26BE6BD-1F6A-B8D6-966D-6DAB8B549040}"/>
              </a:ext>
            </a:extLst>
          </p:cNvPr>
          <p:cNvSpPr txBox="1"/>
          <p:nvPr/>
        </p:nvSpPr>
        <p:spPr>
          <a:xfrm>
            <a:off x="5358175" y="3653109"/>
            <a:ext cx="85953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JSON: data</a:t>
            </a:r>
          </a:p>
        </p:txBody>
      </p:sp>
      <p:sp>
        <p:nvSpPr>
          <p:cNvPr id="130" name="Arrow: Right 129">
            <a:extLst>
              <a:ext uri="{FF2B5EF4-FFF2-40B4-BE49-F238E27FC236}">
                <a16:creationId xmlns:a16="http://schemas.microsoft.com/office/drawing/2014/main" id="{CBDCF013-E556-2DA2-70B4-ADEFC7E1CE9E}"/>
              </a:ext>
            </a:extLst>
          </p:cNvPr>
          <p:cNvSpPr/>
          <p:nvPr/>
        </p:nvSpPr>
        <p:spPr>
          <a:xfrm>
            <a:off x="4944543" y="2909893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1" name="Arrow: Right 130">
            <a:extLst>
              <a:ext uri="{FF2B5EF4-FFF2-40B4-BE49-F238E27FC236}">
                <a16:creationId xmlns:a16="http://schemas.microsoft.com/office/drawing/2014/main" id="{8C4915BC-5E4A-BC81-E465-1DD366F4A4D1}"/>
              </a:ext>
            </a:extLst>
          </p:cNvPr>
          <p:cNvSpPr/>
          <p:nvPr/>
        </p:nvSpPr>
        <p:spPr>
          <a:xfrm flipH="1">
            <a:off x="4941088" y="3403905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2977101-7F6A-5EE4-6026-469C217C8E64}"/>
              </a:ext>
            </a:extLst>
          </p:cNvPr>
          <p:cNvSpPr txBox="1"/>
          <p:nvPr/>
        </p:nvSpPr>
        <p:spPr>
          <a:xfrm>
            <a:off x="4738116" y="2720604"/>
            <a:ext cx="196560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(Authorization: </a:t>
            </a:r>
            <a:r>
              <a:rPr lang="en-NZ" sz="1050" dirty="0" err="1"/>
              <a:t>access_token</a:t>
            </a:r>
            <a:r>
              <a:rPr lang="en-NZ" sz="1050" dirty="0"/>
              <a:t>)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0BF259-4EB6-7100-AE21-759BB385F7BA}"/>
              </a:ext>
            </a:extLst>
          </p:cNvPr>
          <p:cNvSpPr/>
          <p:nvPr/>
        </p:nvSpPr>
        <p:spPr>
          <a:xfrm>
            <a:off x="8519184" y="3429000"/>
            <a:ext cx="1757846" cy="63832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ICallerContext</a:t>
            </a:r>
            <a:endParaRPr lang="en-NZ" sz="1050" dirty="0">
              <a:solidFill>
                <a:schemeClr val="tx1"/>
              </a:solidFill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6DA5FEB2-D31D-D8E0-50E8-E4554192A373}"/>
              </a:ext>
            </a:extLst>
          </p:cNvPr>
          <p:cNvSpPr/>
          <p:nvPr/>
        </p:nvSpPr>
        <p:spPr>
          <a:xfrm>
            <a:off x="8600661" y="3653109"/>
            <a:ext cx="1598404" cy="3061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Verify Claims + Policies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7" name="Straight Arrow Connector 38">
            <a:extLst>
              <a:ext uri="{FF2B5EF4-FFF2-40B4-BE49-F238E27FC236}">
                <a16:creationId xmlns:a16="http://schemas.microsoft.com/office/drawing/2014/main" id="{F5B40357-D618-3A80-278F-7F5E37C989D0}"/>
              </a:ext>
            </a:extLst>
          </p:cNvPr>
          <p:cNvCxnSpPr>
            <a:cxnSpLocks/>
            <a:stCxn id="5" idx="2"/>
            <a:endCxn id="123" idx="0"/>
          </p:cNvCxnSpPr>
          <p:nvPr/>
        </p:nvCxnSpPr>
        <p:spPr>
          <a:xfrm rot="16200000" flipH="1">
            <a:off x="9188143" y="3441388"/>
            <a:ext cx="421685" cy="1756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4" name="Arrow: Right 173">
            <a:extLst>
              <a:ext uri="{FF2B5EF4-FFF2-40B4-BE49-F238E27FC236}">
                <a16:creationId xmlns:a16="http://schemas.microsoft.com/office/drawing/2014/main" id="{34F6021B-42A3-B3C6-7C4E-B11800E25E5F}"/>
              </a:ext>
            </a:extLst>
          </p:cNvPr>
          <p:cNvSpPr/>
          <p:nvPr/>
        </p:nvSpPr>
        <p:spPr>
          <a:xfrm flipH="1">
            <a:off x="1549828" y="3403905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78" name="Arrow: Right 177">
            <a:extLst>
              <a:ext uri="{FF2B5EF4-FFF2-40B4-BE49-F238E27FC236}">
                <a16:creationId xmlns:a16="http://schemas.microsoft.com/office/drawing/2014/main" id="{07C2C3E5-A548-0A57-26B7-56E18AAD3C84}"/>
              </a:ext>
            </a:extLst>
          </p:cNvPr>
          <p:cNvSpPr/>
          <p:nvPr/>
        </p:nvSpPr>
        <p:spPr>
          <a:xfrm rot="5400000">
            <a:off x="7160770" y="1956716"/>
            <a:ext cx="1042572" cy="290836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pic>
        <p:nvPicPr>
          <p:cNvPr id="181" name="Graphic 180" descr="Badge 1 with solid fill">
            <a:extLst>
              <a:ext uri="{FF2B5EF4-FFF2-40B4-BE49-F238E27FC236}">
                <a16:creationId xmlns:a16="http://schemas.microsoft.com/office/drawing/2014/main" id="{DE5DE2CF-7146-AF82-CE29-077DDA0C5F2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986001" y="1482342"/>
            <a:ext cx="445873" cy="445873"/>
          </a:xfrm>
          <a:prstGeom prst="rect">
            <a:avLst/>
          </a:prstGeom>
        </p:spPr>
      </p:pic>
      <p:sp>
        <p:nvSpPr>
          <p:cNvPr id="182" name="Arrow: Right 181">
            <a:extLst>
              <a:ext uri="{FF2B5EF4-FFF2-40B4-BE49-F238E27FC236}">
                <a16:creationId xmlns:a16="http://schemas.microsoft.com/office/drawing/2014/main" id="{19988B0A-5008-5F0D-4E4B-F423DEFF39A1}"/>
              </a:ext>
            </a:extLst>
          </p:cNvPr>
          <p:cNvSpPr/>
          <p:nvPr/>
        </p:nvSpPr>
        <p:spPr>
          <a:xfrm rot="16200000">
            <a:off x="6658005" y="1934836"/>
            <a:ext cx="1042572" cy="290836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pic>
        <p:nvPicPr>
          <p:cNvPr id="183" name="Graphic 182" descr="Badge with solid fill">
            <a:extLst>
              <a:ext uri="{FF2B5EF4-FFF2-40B4-BE49-F238E27FC236}">
                <a16:creationId xmlns:a16="http://schemas.microsoft.com/office/drawing/2014/main" id="{EE7F3A03-10AC-0AEA-77D4-AF164415DFD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761149" y="2623419"/>
            <a:ext cx="445873" cy="445873"/>
          </a:xfrm>
          <a:prstGeom prst="rect">
            <a:avLst/>
          </a:prstGeom>
        </p:spPr>
      </p:pic>
      <p:pic>
        <p:nvPicPr>
          <p:cNvPr id="184" name="Graphic 183" descr="Badge 3 with solid fill">
            <a:extLst>
              <a:ext uri="{FF2B5EF4-FFF2-40B4-BE49-F238E27FC236}">
                <a16:creationId xmlns:a16="http://schemas.microsoft.com/office/drawing/2014/main" id="{7468828B-DEEE-5962-7D6B-35E7B2096C1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263363" y="3758209"/>
            <a:ext cx="445873" cy="445873"/>
          </a:xfrm>
          <a:prstGeom prst="rect">
            <a:avLst/>
          </a:prstGeom>
        </p:spPr>
      </p:pic>
      <p:pic>
        <p:nvPicPr>
          <p:cNvPr id="185" name="Graphic 184" descr="Badge 4 with solid fill">
            <a:extLst>
              <a:ext uri="{FF2B5EF4-FFF2-40B4-BE49-F238E27FC236}">
                <a16:creationId xmlns:a16="http://schemas.microsoft.com/office/drawing/2014/main" id="{460FD386-5E02-6691-4E52-D6DCAD48F22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651736" y="1861587"/>
            <a:ext cx="445873" cy="445873"/>
          </a:xfrm>
          <a:prstGeom prst="rect">
            <a:avLst/>
          </a:prstGeom>
        </p:spPr>
      </p:pic>
      <p:pic>
        <p:nvPicPr>
          <p:cNvPr id="96" name="Graphic 95" descr="Badge 5 with solid fill">
            <a:extLst>
              <a:ext uri="{FF2B5EF4-FFF2-40B4-BE49-F238E27FC236}">
                <a16:creationId xmlns:a16="http://schemas.microsoft.com/office/drawing/2014/main" id="{8DC59D51-2F26-31BF-4B33-EA0EFEF2FFDB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523708" y="3941631"/>
            <a:ext cx="445873" cy="445873"/>
          </a:xfrm>
          <a:prstGeom prst="rect">
            <a:avLst/>
          </a:prstGeom>
        </p:spPr>
      </p:pic>
      <p:pic>
        <p:nvPicPr>
          <p:cNvPr id="84" name="Graphic 83" descr="Badge 4 with solid fill">
            <a:extLst>
              <a:ext uri="{FF2B5EF4-FFF2-40B4-BE49-F238E27FC236}">
                <a16:creationId xmlns:a16="http://schemas.microsoft.com/office/drawing/2014/main" id="{66965557-0FD4-6FCC-B0FA-EE0A2F1199ED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093866" y="3557130"/>
            <a:ext cx="445873" cy="445873"/>
          </a:xfrm>
          <a:prstGeom prst="rect">
            <a:avLst/>
          </a:prstGeom>
        </p:spPr>
      </p:pic>
      <p:sp>
        <p:nvSpPr>
          <p:cNvPr id="186" name="TextBox 185">
            <a:extLst>
              <a:ext uri="{FF2B5EF4-FFF2-40B4-BE49-F238E27FC236}">
                <a16:creationId xmlns:a16="http://schemas.microsoft.com/office/drawing/2014/main" id="{AD9084D0-F61F-CECF-7D15-ACA7B2F68652}"/>
              </a:ext>
            </a:extLst>
          </p:cNvPr>
          <p:cNvSpPr txBox="1"/>
          <p:nvPr/>
        </p:nvSpPr>
        <p:spPr>
          <a:xfrm>
            <a:off x="6229176" y="1674299"/>
            <a:ext cx="85953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JSON: data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52F9B0-781A-F55E-A232-7713B8794C2E}"/>
              </a:ext>
            </a:extLst>
          </p:cNvPr>
          <p:cNvGrpSpPr/>
          <p:nvPr/>
        </p:nvGrpSpPr>
        <p:grpSpPr>
          <a:xfrm>
            <a:off x="1607093" y="2296922"/>
            <a:ext cx="1503337" cy="599712"/>
            <a:chOff x="335225" y="2298310"/>
            <a:chExt cx="1503337" cy="599712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F91A589-99C9-622B-C242-1B91845C7A33}"/>
                </a:ext>
              </a:extLst>
            </p:cNvPr>
            <p:cNvSpPr txBox="1"/>
            <p:nvPr/>
          </p:nvSpPr>
          <p:spPr>
            <a:xfrm>
              <a:off x="518970" y="2320941"/>
              <a:ext cx="1319592" cy="577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50" dirty="0"/>
                <a:t>Cookie: auth-</a:t>
              </a:r>
              <a:r>
                <a:rPr lang="en-NZ" sz="1050" dirty="0" err="1"/>
                <a:t>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Cookie: auth-</a:t>
              </a:r>
              <a:r>
                <a:rPr lang="en-NZ" sz="1050" dirty="0" err="1"/>
                <a:t>reftok</a:t>
              </a:r>
              <a:endParaRPr lang="en-NZ" sz="1050" dirty="0"/>
            </a:p>
          </p:txBody>
        </p:sp>
        <p:pic>
          <p:nvPicPr>
            <p:cNvPr id="4" name="Graphic 3" descr="Gingerbread cookie with solid fill">
              <a:extLst>
                <a:ext uri="{FF2B5EF4-FFF2-40B4-BE49-F238E27FC236}">
                  <a16:creationId xmlns:a16="http://schemas.microsoft.com/office/drawing/2014/main" id="{5721F5C7-F0C0-00FF-3B5A-D4F6444C75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8472" y="2298310"/>
              <a:ext cx="281781" cy="281781"/>
            </a:xfrm>
            <a:prstGeom prst="rect">
              <a:avLst/>
            </a:prstGeom>
          </p:spPr>
        </p:pic>
        <p:pic>
          <p:nvPicPr>
            <p:cNvPr id="6" name="Graphic 5" descr="Gingerbread cookie with solid fill">
              <a:extLst>
                <a:ext uri="{FF2B5EF4-FFF2-40B4-BE49-F238E27FC236}">
                  <a16:creationId xmlns:a16="http://schemas.microsoft.com/office/drawing/2014/main" id="{78CE1974-5527-FD6B-9012-7C67DB7A10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25" y="2596450"/>
              <a:ext cx="281781" cy="281781"/>
            </a:xfrm>
            <a:prstGeom prst="rect">
              <a:avLst/>
            </a:prstGeom>
          </p:spPr>
        </p:pic>
      </p:grp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1402999B-4748-A963-0270-AF6D1046ABBD}"/>
              </a:ext>
            </a:extLst>
          </p:cNvPr>
          <p:cNvSpPr/>
          <p:nvPr/>
        </p:nvSpPr>
        <p:spPr>
          <a:xfrm>
            <a:off x="1592371" y="2842529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941806-AF5D-F8CC-B8A1-A7BB722049F7}"/>
              </a:ext>
            </a:extLst>
          </p:cNvPr>
          <p:cNvSpPr txBox="1"/>
          <p:nvPr/>
        </p:nvSpPr>
        <p:spPr>
          <a:xfrm>
            <a:off x="7751449" y="1998457"/>
            <a:ext cx="196560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(Authorization: </a:t>
            </a:r>
            <a:r>
              <a:rPr lang="en-NZ" sz="1050" dirty="0" err="1"/>
              <a:t>access_token</a:t>
            </a:r>
            <a:r>
              <a:rPr lang="en-NZ" sz="1050" dirty="0"/>
              <a:t>)</a:t>
            </a:r>
          </a:p>
        </p:txBody>
      </p:sp>
      <p:pic>
        <p:nvPicPr>
          <p:cNvPr id="94" name="Graphic 93" descr="Badge 3 with solid fill">
            <a:extLst>
              <a:ext uri="{FF2B5EF4-FFF2-40B4-BE49-F238E27FC236}">
                <a16:creationId xmlns:a16="http://schemas.microsoft.com/office/drawing/2014/main" id="{84E1A214-AA52-514F-5E99-A0AF50F32AF3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047318" y="2539937"/>
            <a:ext cx="445873" cy="445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7655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B2CE2-E468-530D-5191-235104AF1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151">
            <a:extLst>
              <a:ext uri="{FF2B5EF4-FFF2-40B4-BE49-F238E27FC236}">
                <a16:creationId xmlns:a16="http://schemas.microsoft.com/office/drawing/2014/main" id="{5192AFEB-9744-B81A-B84F-FBFA0C14494B}"/>
              </a:ext>
            </a:extLst>
          </p:cNvPr>
          <p:cNvSpPr txBox="1"/>
          <p:nvPr/>
        </p:nvSpPr>
        <p:spPr>
          <a:xfrm>
            <a:off x="267419" y="207034"/>
            <a:ext cx="32464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BEFFE - Reverse Proxy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92222C8-E302-0C18-3203-E93BC4B974DD}"/>
              </a:ext>
            </a:extLst>
          </p:cNvPr>
          <p:cNvSpPr/>
          <p:nvPr/>
        </p:nvSpPr>
        <p:spPr>
          <a:xfrm>
            <a:off x="8141204" y="3055474"/>
            <a:ext cx="175950" cy="175950"/>
          </a:xfrm>
          <a:prstGeom prst="ellipse">
            <a:avLst/>
          </a:prstGeom>
          <a:solidFill>
            <a:srgbClr val="0078D7"/>
          </a:solidFill>
          <a:ln>
            <a:solidFill>
              <a:srgbClr val="0078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F78A7D83-DDAC-77D7-28B0-E304173D7524}"/>
              </a:ext>
            </a:extLst>
          </p:cNvPr>
          <p:cNvSpPr/>
          <p:nvPr/>
        </p:nvSpPr>
        <p:spPr>
          <a:xfrm>
            <a:off x="6698723" y="3891378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C9E728AA-81C8-3DDA-55E1-A25571097738}"/>
              </a:ext>
            </a:extLst>
          </p:cNvPr>
          <p:cNvSpPr/>
          <p:nvPr/>
        </p:nvSpPr>
        <p:spPr>
          <a:xfrm>
            <a:off x="6705359" y="4458353"/>
            <a:ext cx="175950" cy="1759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CA4F63E9-7549-F744-840A-58EAB2A89B02}"/>
              </a:ext>
            </a:extLst>
          </p:cNvPr>
          <p:cNvSpPr/>
          <p:nvPr/>
        </p:nvSpPr>
        <p:spPr>
          <a:xfrm>
            <a:off x="6693389" y="2671782"/>
            <a:ext cx="3710788" cy="2869587"/>
          </a:xfrm>
          <a:prstGeom prst="roundRect">
            <a:avLst>
              <a:gd name="adj" fmla="val 4576"/>
            </a:avLst>
          </a:prstGeom>
          <a:solidFill>
            <a:srgbClr val="0078D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200" dirty="0"/>
              <a:t>              </a:t>
            </a:r>
            <a:r>
              <a:rPr lang="en-US" sz="1200" dirty="0" err="1"/>
              <a:t>BackEnd</a:t>
            </a:r>
            <a:r>
              <a:rPr lang="en-US" sz="1200" dirty="0"/>
              <a:t> API Host (1)</a:t>
            </a:r>
            <a:endParaRPr lang="en-NZ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E713D7D-39FB-8956-7165-1247A8BDBBE6}"/>
              </a:ext>
            </a:extLst>
          </p:cNvPr>
          <p:cNvSpPr/>
          <p:nvPr/>
        </p:nvSpPr>
        <p:spPr>
          <a:xfrm>
            <a:off x="6856093" y="3035886"/>
            <a:ext cx="1237773" cy="44587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Any API</a:t>
            </a:r>
            <a:endParaRPr lang="en-NZ" sz="1200" dirty="0">
              <a:solidFill>
                <a:schemeClr val="bg1"/>
              </a:solidFill>
            </a:endParaRPr>
          </a:p>
        </p:txBody>
      </p:sp>
      <p:pic>
        <p:nvPicPr>
          <p:cNvPr id="57" name="Picture 8" descr="App Service - Web App | Microsoft Azure Mono">
            <a:extLst>
              <a:ext uri="{FF2B5EF4-FFF2-40B4-BE49-F238E27FC236}">
                <a16:creationId xmlns:a16="http://schemas.microsoft.com/office/drawing/2014/main" id="{BD8A93EE-565B-1FAF-F584-BFFA078745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6633" y="4945038"/>
            <a:ext cx="450277" cy="450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4" name="Straight Arrow Connector 38">
            <a:extLst>
              <a:ext uri="{FF2B5EF4-FFF2-40B4-BE49-F238E27FC236}">
                <a16:creationId xmlns:a16="http://schemas.microsoft.com/office/drawing/2014/main" id="{7E4BAF27-5F12-DF6B-7BB8-634FF4148B6D}"/>
              </a:ext>
            </a:extLst>
          </p:cNvPr>
          <p:cNvCxnSpPr>
            <a:cxnSpLocks/>
            <a:stCxn id="49" idx="3"/>
            <a:endCxn id="5" idx="1"/>
          </p:cNvCxnSpPr>
          <p:nvPr/>
        </p:nvCxnSpPr>
        <p:spPr>
          <a:xfrm flipV="1">
            <a:off x="8093866" y="3020931"/>
            <a:ext cx="425318" cy="237892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358FBE79-BE42-1D08-0DF2-B41EE01045A1}"/>
              </a:ext>
            </a:extLst>
          </p:cNvPr>
          <p:cNvGrpSpPr/>
          <p:nvPr/>
        </p:nvGrpSpPr>
        <p:grpSpPr>
          <a:xfrm>
            <a:off x="3285359" y="2266951"/>
            <a:ext cx="3570734" cy="2456918"/>
            <a:chOff x="5142447" y="-512805"/>
            <a:chExt cx="3570734" cy="2456918"/>
          </a:xfrm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2B51A950-6B06-FD9B-B00A-6FDFE97CD263}"/>
                </a:ext>
              </a:extLst>
            </p:cNvPr>
            <p:cNvGrpSpPr/>
            <p:nvPr/>
          </p:nvGrpSpPr>
          <p:grpSpPr>
            <a:xfrm>
              <a:off x="5142447" y="-512805"/>
              <a:ext cx="1463068" cy="2456918"/>
              <a:chOff x="2698106" y="2633805"/>
              <a:chExt cx="1463068" cy="2456918"/>
            </a:xfrm>
          </p:grpSpPr>
          <p:sp>
            <p:nvSpPr>
              <p:cNvPr id="263" name="Rectangle: Rounded Corners 262">
                <a:extLst>
                  <a:ext uri="{FF2B5EF4-FFF2-40B4-BE49-F238E27FC236}">
                    <a16:creationId xmlns:a16="http://schemas.microsoft.com/office/drawing/2014/main" id="{EAF520FA-D88A-B2C8-9BDD-A5FA4A9FD97C}"/>
                  </a:ext>
                </a:extLst>
              </p:cNvPr>
              <p:cNvSpPr/>
              <p:nvPr/>
            </p:nvSpPr>
            <p:spPr>
              <a:xfrm>
                <a:off x="2698106" y="2633805"/>
                <a:ext cx="1463068" cy="2456918"/>
              </a:xfrm>
              <a:prstGeom prst="roundRect">
                <a:avLst>
                  <a:gd name="adj" fmla="val 5101"/>
                </a:avLst>
              </a:prstGeom>
              <a:solidFill>
                <a:srgbClr val="0078D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sz="1200" dirty="0"/>
                  <a:t>              Backend</a:t>
                </a:r>
              </a:p>
              <a:p>
                <a:r>
                  <a:rPr lang="en-US" sz="1200" dirty="0"/>
                  <a:t>            4FrontEnd</a:t>
                </a:r>
              </a:p>
              <a:p>
                <a:r>
                  <a:rPr lang="en-US" sz="1200" dirty="0"/>
                  <a:t>                     Host</a:t>
                </a:r>
              </a:p>
            </p:txBody>
          </p:sp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32FDA233-FDA8-039C-C7CA-E3C3621538B8}"/>
                  </a:ext>
                </a:extLst>
              </p:cNvPr>
              <p:cNvSpPr/>
              <p:nvPr/>
            </p:nvSpPr>
            <p:spPr>
              <a:xfrm>
                <a:off x="2816273" y="2837004"/>
                <a:ext cx="1204887" cy="1576983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1200" dirty="0"/>
                  <a:t>Any API</a:t>
                </a:r>
                <a:endParaRPr lang="en-NZ" sz="1200" dirty="0"/>
              </a:p>
            </p:txBody>
          </p:sp>
          <p:pic>
            <p:nvPicPr>
              <p:cNvPr id="265" name="Picture 8" descr="App Service - Web App | Microsoft Azure Mono">
                <a:extLst>
                  <a:ext uri="{FF2B5EF4-FFF2-40B4-BE49-F238E27FC236}">
                    <a16:creationId xmlns:a16="http://schemas.microsoft.com/office/drawing/2014/main" id="{2D78BA8E-A880-030A-5A1F-E0A5D150FA9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78776" y="4550527"/>
                <a:ext cx="450277" cy="4173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cxnSp>
          <p:nvCxnSpPr>
            <p:cNvPr id="261" name="Straight Arrow Connector 38">
              <a:extLst>
                <a:ext uri="{FF2B5EF4-FFF2-40B4-BE49-F238E27FC236}">
                  <a16:creationId xmlns:a16="http://schemas.microsoft.com/office/drawing/2014/main" id="{EB1FCF2C-D8DC-A23F-0247-DC0A498B6BB7}"/>
                </a:ext>
              </a:extLst>
            </p:cNvPr>
            <p:cNvCxnSpPr>
              <a:cxnSpLocks/>
              <a:stCxn id="264" idx="3"/>
              <a:endCxn id="49" idx="1"/>
            </p:cNvCxnSpPr>
            <p:nvPr/>
          </p:nvCxnSpPr>
          <p:spPr>
            <a:xfrm>
              <a:off x="6465501" y="478886"/>
              <a:ext cx="2247680" cy="181"/>
            </a:xfrm>
            <a:prstGeom prst="bentConnector3">
              <a:avLst>
                <a:gd name="adj1" fmla="val 50000"/>
              </a:avLst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cxnSp>
        <p:nvCxnSpPr>
          <p:cNvPr id="41" name="Straight Arrow Connector 38">
            <a:extLst>
              <a:ext uri="{FF2B5EF4-FFF2-40B4-BE49-F238E27FC236}">
                <a16:creationId xmlns:a16="http://schemas.microsoft.com/office/drawing/2014/main" id="{7EE2771C-A0C4-4084-A685-49D3CC9494F2}"/>
              </a:ext>
            </a:extLst>
          </p:cNvPr>
          <p:cNvCxnSpPr>
            <a:cxnSpLocks/>
            <a:stCxn id="29" idx="3"/>
            <a:endCxn id="264" idx="1"/>
          </p:cNvCxnSpPr>
          <p:nvPr/>
        </p:nvCxnSpPr>
        <p:spPr>
          <a:xfrm flipV="1">
            <a:off x="1291002" y="3258642"/>
            <a:ext cx="2112524" cy="1623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7684B693-94CE-67EE-AF96-1F9513D67837}"/>
              </a:ext>
            </a:extLst>
          </p:cNvPr>
          <p:cNvSpPr/>
          <p:nvPr/>
        </p:nvSpPr>
        <p:spPr>
          <a:xfrm>
            <a:off x="8519184" y="2810438"/>
            <a:ext cx="1757846" cy="42098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ASP.NET Authorization Handlers + Policies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E40B361-EAC7-CF6F-63F6-E89ECCF5C6AF}"/>
              </a:ext>
            </a:extLst>
          </p:cNvPr>
          <p:cNvSpPr/>
          <p:nvPr/>
        </p:nvSpPr>
        <p:spPr>
          <a:xfrm>
            <a:off x="143689" y="2496827"/>
            <a:ext cx="1147313" cy="1526876"/>
          </a:xfrm>
          <a:prstGeom prst="rect">
            <a:avLst/>
          </a:prstGeom>
          <a:solidFill>
            <a:schemeClr val="bg2"/>
          </a:solidFill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2000" dirty="0">
                <a:solidFill>
                  <a:schemeClr val="tx1"/>
                </a:solidFill>
              </a:rPr>
              <a:t>Any Page</a:t>
            </a:r>
          </a:p>
        </p:txBody>
      </p:sp>
      <p:pic>
        <p:nvPicPr>
          <p:cNvPr id="90" name="Graphic 89" descr="Badge 6 with solid fill">
            <a:extLst>
              <a:ext uri="{FF2B5EF4-FFF2-40B4-BE49-F238E27FC236}">
                <a16:creationId xmlns:a16="http://schemas.microsoft.com/office/drawing/2014/main" id="{1E8E1E58-0C58-4C65-2B14-ADB948001C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6315" y="4084598"/>
            <a:ext cx="445873" cy="445873"/>
          </a:xfrm>
          <a:prstGeom prst="rect">
            <a:avLst/>
          </a:prstGeom>
        </p:spPr>
      </p:pic>
      <p:pic>
        <p:nvPicPr>
          <p:cNvPr id="92" name="Graphic 91" descr="Badge with solid fill">
            <a:extLst>
              <a:ext uri="{FF2B5EF4-FFF2-40B4-BE49-F238E27FC236}">
                <a16:creationId xmlns:a16="http://schemas.microsoft.com/office/drawing/2014/main" id="{D5552941-CCCA-51D7-907F-467A5D54A0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79835" y="2260061"/>
            <a:ext cx="445873" cy="445873"/>
          </a:xfrm>
          <a:prstGeom prst="rect">
            <a:avLst/>
          </a:prstGeom>
        </p:spPr>
      </p:pic>
      <p:pic>
        <p:nvPicPr>
          <p:cNvPr id="98" name="Graphic 97" descr="Badge 1 with solid fill">
            <a:extLst>
              <a:ext uri="{FF2B5EF4-FFF2-40B4-BE49-F238E27FC236}">
                <a16:creationId xmlns:a16="http://schemas.microsoft.com/office/drawing/2014/main" id="{A6C8D03A-9382-6B4E-C8B9-E48010BDCF9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34238" y="1623964"/>
            <a:ext cx="445873" cy="445873"/>
          </a:xfrm>
          <a:prstGeom prst="rect">
            <a:avLst/>
          </a:prstGeom>
        </p:spPr>
      </p:pic>
      <p:cxnSp>
        <p:nvCxnSpPr>
          <p:cNvPr id="119" name="Straight Arrow Connector 38">
            <a:extLst>
              <a:ext uri="{FF2B5EF4-FFF2-40B4-BE49-F238E27FC236}">
                <a16:creationId xmlns:a16="http://schemas.microsoft.com/office/drawing/2014/main" id="{E3FE4B6C-F27D-60A5-AAD0-EE538B5288C3}"/>
              </a:ext>
            </a:extLst>
          </p:cNvPr>
          <p:cNvCxnSpPr>
            <a:cxnSpLocks/>
            <a:stCxn id="123" idx="2"/>
            <a:endCxn id="49" idx="2"/>
          </p:cNvCxnSpPr>
          <p:nvPr/>
        </p:nvCxnSpPr>
        <p:spPr>
          <a:xfrm rot="5400000" flipH="1">
            <a:off x="8198658" y="2758082"/>
            <a:ext cx="477527" cy="1924883"/>
          </a:xfrm>
          <a:prstGeom prst="bentConnector3">
            <a:avLst>
              <a:gd name="adj1" fmla="val -47872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B2CA0C8B-BA16-DDFC-0269-677A5F749318}"/>
              </a:ext>
            </a:extLst>
          </p:cNvPr>
          <p:cNvSpPr txBox="1"/>
          <p:nvPr/>
        </p:nvSpPr>
        <p:spPr>
          <a:xfrm>
            <a:off x="5358175" y="3653109"/>
            <a:ext cx="85953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JSON: data</a:t>
            </a:r>
          </a:p>
        </p:txBody>
      </p:sp>
      <p:sp>
        <p:nvSpPr>
          <p:cNvPr id="130" name="Arrow: Right 129">
            <a:extLst>
              <a:ext uri="{FF2B5EF4-FFF2-40B4-BE49-F238E27FC236}">
                <a16:creationId xmlns:a16="http://schemas.microsoft.com/office/drawing/2014/main" id="{3CD89A32-5C37-8E43-62AE-7B13736EA0CF}"/>
              </a:ext>
            </a:extLst>
          </p:cNvPr>
          <p:cNvSpPr/>
          <p:nvPr/>
        </p:nvSpPr>
        <p:spPr>
          <a:xfrm>
            <a:off x="4944543" y="2909893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1" name="Arrow: Right 130">
            <a:extLst>
              <a:ext uri="{FF2B5EF4-FFF2-40B4-BE49-F238E27FC236}">
                <a16:creationId xmlns:a16="http://schemas.microsoft.com/office/drawing/2014/main" id="{27E29010-173B-2AB1-FA18-8D35FDC88F5C}"/>
              </a:ext>
            </a:extLst>
          </p:cNvPr>
          <p:cNvSpPr/>
          <p:nvPr/>
        </p:nvSpPr>
        <p:spPr>
          <a:xfrm flipH="1">
            <a:off x="4941088" y="3403905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E758F04A-5D09-8D96-CAD9-3E94236266B9}"/>
              </a:ext>
            </a:extLst>
          </p:cNvPr>
          <p:cNvSpPr txBox="1"/>
          <p:nvPr/>
        </p:nvSpPr>
        <p:spPr>
          <a:xfrm>
            <a:off x="4738116" y="2720604"/>
            <a:ext cx="196560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/>
              <a:t>(Authorization: </a:t>
            </a:r>
            <a:r>
              <a:rPr lang="en-NZ" sz="1050" dirty="0" err="1"/>
              <a:t>access_token</a:t>
            </a:r>
            <a:r>
              <a:rPr lang="en-NZ" sz="1050" dirty="0"/>
              <a:t>)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10C68EBE-A814-4489-69E4-A8FC3E2B80F7}"/>
              </a:ext>
            </a:extLst>
          </p:cNvPr>
          <p:cNvSpPr/>
          <p:nvPr/>
        </p:nvSpPr>
        <p:spPr>
          <a:xfrm>
            <a:off x="8519184" y="3429000"/>
            <a:ext cx="1757846" cy="63832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ICallerContext</a:t>
            </a:r>
            <a:endParaRPr lang="en-NZ" sz="1050" dirty="0">
              <a:solidFill>
                <a:schemeClr val="tx1"/>
              </a:solidFill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EBACB969-CFA8-5C44-E7ED-C029CC9AB351}"/>
              </a:ext>
            </a:extLst>
          </p:cNvPr>
          <p:cNvSpPr/>
          <p:nvPr/>
        </p:nvSpPr>
        <p:spPr>
          <a:xfrm>
            <a:off x="8600661" y="3653109"/>
            <a:ext cx="1598404" cy="3061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Verify Claims + Policies</a:t>
            </a:r>
            <a:endParaRPr lang="en-NZ" sz="1050" dirty="0">
              <a:solidFill>
                <a:schemeClr val="tx1"/>
              </a:solidFill>
            </a:endParaRPr>
          </a:p>
        </p:txBody>
      </p:sp>
      <p:cxnSp>
        <p:nvCxnSpPr>
          <p:cNvPr id="7" name="Straight Arrow Connector 38">
            <a:extLst>
              <a:ext uri="{FF2B5EF4-FFF2-40B4-BE49-F238E27FC236}">
                <a16:creationId xmlns:a16="http://schemas.microsoft.com/office/drawing/2014/main" id="{7078C524-9141-7F33-65E2-FBBDAC7FBA89}"/>
              </a:ext>
            </a:extLst>
          </p:cNvPr>
          <p:cNvCxnSpPr>
            <a:cxnSpLocks/>
            <a:stCxn id="5" idx="2"/>
            <a:endCxn id="123" idx="0"/>
          </p:cNvCxnSpPr>
          <p:nvPr/>
        </p:nvCxnSpPr>
        <p:spPr>
          <a:xfrm rot="16200000" flipH="1">
            <a:off x="9188143" y="3441388"/>
            <a:ext cx="421685" cy="1756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4" name="Arrow: Right 173">
            <a:extLst>
              <a:ext uri="{FF2B5EF4-FFF2-40B4-BE49-F238E27FC236}">
                <a16:creationId xmlns:a16="http://schemas.microsoft.com/office/drawing/2014/main" id="{E7423981-41DA-0652-F0A5-ABBC017F961B}"/>
              </a:ext>
            </a:extLst>
          </p:cNvPr>
          <p:cNvSpPr/>
          <p:nvPr/>
        </p:nvSpPr>
        <p:spPr>
          <a:xfrm flipH="1">
            <a:off x="1549828" y="3403905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pic>
        <p:nvPicPr>
          <p:cNvPr id="183" name="Graphic 182" descr="Badge with solid fill">
            <a:extLst>
              <a:ext uri="{FF2B5EF4-FFF2-40B4-BE49-F238E27FC236}">
                <a16:creationId xmlns:a16="http://schemas.microsoft.com/office/drawing/2014/main" id="{1E1D5F93-7EF4-A542-85F6-7576172DBFB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761149" y="2623419"/>
            <a:ext cx="445873" cy="445873"/>
          </a:xfrm>
          <a:prstGeom prst="rect">
            <a:avLst/>
          </a:prstGeom>
        </p:spPr>
      </p:pic>
      <p:pic>
        <p:nvPicPr>
          <p:cNvPr id="184" name="Graphic 183" descr="Badge 3 with solid fill">
            <a:extLst>
              <a:ext uri="{FF2B5EF4-FFF2-40B4-BE49-F238E27FC236}">
                <a16:creationId xmlns:a16="http://schemas.microsoft.com/office/drawing/2014/main" id="{98BD5DAB-F187-EF62-D9EB-2BB07B8A102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63363" y="3758209"/>
            <a:ext cx="445873" cy="445873"/>
          </a:xfrm>
          <a:prstGeom prst="rect">
            <a:avLst/>
          </a:prstGeom>
        </p:spPr>
      </p:pic>
      <p:pic>
        <p:nvPicPr>
          <p:cNvPr id="96" name="Graphic 95" descr="Badge 5 with solid fill">
            <a:extLst>
              <a:ext uri="{FF2B5EF4-FFF2-40B4-BE49-F238E27FC236}">
                <a16:creationId xmlns:a16="http://schemas.microsoft.com/office/drawing/2014/main" id="{711492AA-C493-372C-0965-20A8DDB4175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523708" y="3941631"/>
            <a:ext cx="445873" cy="445873"/>
          </a:xfrm>
          <a:prstGeom prst="rect">
            <a:avLst/>
          </a:prstGeom>
        </p:spPr>
      </p:pic>
      <p:pic>
        <p:nvPicPr>
          <p:cNvPr id="84" name="Graphic 83" descr="Badge 4 with solid fill">
            <a:extLst>
              <a:ext uri="{FF2B5EF4-FFF2-40B4-BE49-F238E27FC236}">
                <a16:creationId xmlns:a16="http://schemas.microsoft.com/office/drawing/2014/main" id="{C03C05D3-8468-7705-7FEB-ABE18680A291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093866" y="3557130"/>
            <a:ext cx="445873" cy="445873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A5722152-5717-C5CD-7AA9-42ADA7560297}"/>
              </a:ext>
            </a:extLst>
          </p:cNvPr>
          <p:cNvSpPr/>
          <p:nvPr/>
        </p:nvSpPr>
        <p:spPr>
          <a:xfrm>
            <a:off x="1592371" y="2842529"/>
            <a:ext cx="1628129" cy="29083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pic>
        <p:nvPicPr>
          <p:cNvPr id="94" name="Graphic 93" descr="Badge 3 with solid fill">
            <a:extLst>
              <a:ext uri="{FF2B5EF4-FFF2-40B4-BE49-F238E27FC236}">
                <a16:creationId xmlns:a16="http://schemas.microsoft.com/office/drawing/2014/main" id="{F4A146B5-65CE-4E0E-1012-CCB254A75F7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047318" y="2539937"/>
            <a:ext cx="445873" cy="445873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4F0B8CAC-873B-D410-935A-1059BDE346F1}"/>
              </a:ext>
            </a:extLst>
          </p:cNvPr>
          <p:cNvGrpSpPr/>
          <p:nvPr/>
        </p:nvGrpSpPr>
        <p:grpSpPr>
          <a:xfrm>
            <a:off x="3580905" y="2752764"/>
            <a:ext cx="835802" cy="1034308"/>
            <a:chOff x="3580905" y="2752764"/>
            <a:chExt cx="835802" cy="1034308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34B3C98-93BD-2E13-4AB7-7FFB0CC4FFB4}"/>
                </a:ext>
              </a:extLst>
            </p:cNvPr>
            <p:cNvSpPr/>
            <p:nvPr/>
          </p:nvSpPr>
          <p:spPr>
            <a:xfrm>
              <a:off x="3580905" y="2752764"/>
              <a:ext cx="835802" cy="4209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 err="1">
                  <a:solidFill>
                    <a:schemeClr val="tx1"/>
                  </a:solidFill>
                </a:rPr>
                <a:t>BuiltIn</a:t>
              </a:r>
              <a:r>
                <a:rPr lang="en-US" sz="1000" dirty="0">
                  <a:solidFill>
                    <a:schemeClr val="tx1"/>
                  </a:solidFill>
                </a:rPr>
                <a:t> Endpoints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D454699-6F81-EB0F-183D-7E187E668133}"/>
                </a:ext>
              </a:extLst>
            </p:cNvPr>
            <p:cNvSpPr/>
            <p:nvPr/>
          </p:nvSpPr>
          <p:spPr>
            <a:xfrm>
              <a:off x="3580905" y="3366086"/>
              <a:ext cx="835802" cy="4209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Reverse</a:t>
              </a:r>
            </a:p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Proxy</a:t>
              </a:r>
            </a:p>
          </p:txBody>
        </p:sp>
      </p:grpSp>
      <p:cxnSp>
        <p:nvCxnSpPr>
          <p:cNvPr id="25" name="Straight Arrow Connector 38">
            <a:extLst>
              <a:ext uri="{FF2B5EF4-FFF2-40B4-BE49-F238E27FC236}">
                <a16:creationId xmlns:a16="http://schemas.microsoft.com/office/drawing/2014/main" id="{56DEBBF1-4662-B3D8-B0FB-59DAAB99C168}"/>
              </a:ext>
            </a:extLst>
          </p:cNvPr>
          <p:cNvCxnSpPr>
            <a:cxnSpLocks/>
            <a:stCxn id="264" idx="1"/>
            <a:endCxn id="17" idx="1"/>
          </p:cNvCxnSpPr>
          <p:nvPr/>
        </p:nvCxnSpPr>
        <p:spPr>
          <a:xfrm flipV="1">
            <a:off x="3403526" y="2963257"/>
            <a:ext cx="177379" cy="295385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Straight Arrow Connector 38">
            <a:extLst>
              <a:ext uri="{FF2B5EF4-FFF2-40B4-BE49-F238E27FC236}">
                <a16:creationId xmlns:a16="http://schemas.microsoft.com/office/drawing/2014/main" id="{8D0B7DDE-6C55-5F8F-0800-D4C7A22E32AC}"/>
              </a:ext>
            </a:extLst>
          </p:cNvPr>
          <p:cNvCxnSpPr>
            <a:cxnSpLocks/>
            <a:stCxn id="264" idx="1"/>
            <a:endCxn id="20" idx="1"/>
          </p:cNvCxnSpPr>
          <p:nvPr/>
        </p:nvCxnSpPr>
        <p:spPr>
          <a:xfrm>
            <a:off x="3403526" y="3258642"/>
            <a:ext cx="177379" cy="317937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Straight Arrow Connector 38">
            <a:extLst>
              <a:ext uri="{FF2B5EF4-FFF2-40B4-BE49-F238E27FC236}">
                <a16:creationId xmlns:a16="http://schemas.microsoft.com/office/drawing/2014/main" id="{9BCC79CB-30B0-A916-CEAD-2A0F4FFD768B}"/>
              </a:ext>
            </a:extLst>
          </p:cNvPr>
          <p:cNvCxnSpPr>
            <a:cxnSpLocks/>
            <a:stCxn id="17" idx="3"/>
            <a:endCxn id="264" idx="3"/>
          </p:cNvCxnSpPr>
          <p:nvPr/>
        </p:nvCxnSpPr>
        <p:spPr>
          <a:xfrm>
            <a:off x="4416707" y="2963257"/>
            <a:ext cx="191706" cy="295385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ysDot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Straight Arrow Connector 38">
            <a:extLst>
              <a:ext uri="{FF2B5EF4-FFF2-40B4-BE49-F238E27FC236}">
                <a16:creationId xmlns:a16="http://schemas.microsoft.com/office/drawing/2014/main" id="{F5BD84E3-3C90-4E69-EF87-84313D412640}"/>
              </a:ext>
            </a:extLst>
          </p:cNvPr>
          <p:cNvCxnSpPr>
            <a:cxnSpLocks/>
            <a:stCxn id="20" idx="3"/>
            <a:endCxn id="264" idx="3"/>
          </p:cNvCxnSpPr>
          <p:nvPr/>
        </p:nvCxnSpPr>
        <p:spPr>
          <a:xfrm flipV="1">
            <a:off x="4416707" y="3258642"/>
            <a:ext cx="191706" cy="317937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2087A4C-2278-3633-03E4-FCF13AD85E33}"/>
              </a:ext>
            </a:extLst>
          </p:cNvPr>
          <p:cNvGrpSpPr/>
          <p:nvPr/>
        </p:nvGrpSpPr>
        <p:grpSpPr>
          <a:xfrm>
            <a:off x="1607092" y="1630874"/>
            <a:ext cx="1585092" cy="1258041"/>
            <a:chOff x="1607092" y="1999174"/>
            <a:chExt cx="1585092" cy="125804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FC6DF23-6E6E-CDB9-A4D5-BB7856E0D5BE}"/>
                </a:ext>
              </a:extLst>
            </p:cNvPr>
            <p:cNvSpPr txBox="1"/>
            <p:nvPr/>
          </p:nvSpPr>
          <p:spPr>
            <a:xfrm>
              <a:off x="1790838" y="2033803"/>
              <a:ext cx="1401346" cy="12234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50" dirty="0"/>
                <a:t>Cookie: auth-</a:t>
              </a:r>
              <a:r>
                <a:rPr lang="en-NZ" sz="1050" dirty="0" err="1"/>
                <a:t>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Cookie: auth-</a:t>
              </a:r>
              <a:r>
                <a:rPr lang="en-NZ" sz="1050" dirty="0" err="1"/>
                <a:t>reftok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Cookie: anti-</a:t>
              </a:r>
              <a:r>
                <a:rPr lang="en-NZ" sz="1050" dirty="0" err="1"/>
                <a:t>csrf</a:t>
              </a:r>
              <a:r>
                <a:rPr lang="en-NZ" sz="1050" dirty="0"/>
                <a:t>-</a:t>
              </a:r>
              <a:r>
                <a:rPr lang="en-NZ" sz="1050" dirty="0" err="1"/>
                <a:t>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Header: anti-</a:t>
              </a:r>
              <a:r>
                <a:rPr lang="en-NZ" sz="1050" dirty="0" err="1"/>
                <a:t>csrf</a:t>
              </a:r>
              <a:r>
                <a:rPr lang="en-NZ" sz="1050" dirty="0"/>
                <a:t>-</a:t>
              </a:r>
              <a:r>
                <a:rPr lang="en-NZ" sz="1050" dirty="0" err="1"/>
                <a:t>tok</a:t>
              </a:r>
              <a:endParaRPr lang="en-NZ" sz="1050" dirty="0"/>
            </a:p>
          </p:txBody>
        </p:sp>
        <p:pic>
          <p:nvPicPr>
            <p:cNvPr id="4" name="Graphic 3" descr="Gingerbread cookie with solid fill">
              <a:extLst>
                <a:ext uri="{FF2B5EF4-FFF2-40B4-BE49-F238E27FC236}">
                  <a16:creationId xmlns:a16="http://schemas.microsoft.com/office/drawing/2014/main" id="{118B238A-3404-E639-CEA3-FCD788A4FF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610340" y="2327402"/>
              <a:ext cx="281781" cy="281781"/>
            </a:xfrm>
            <a:prstGeom prst="rect">
              <a:avLst/>
            </a:prstGeom>
          </p:spPr>
        </p:pic>
        <p:pic>
          <p:nvPicPr>
            <p:cNvPr id="6" name="Graphic 5" descr="Gingerbread cookie with solid fill">
              <a:extLst>
                <a:ext uri="{FF2B5EF4-FFF2-40B4-BE49-F238E27FC236}">
                  <a16:creationId xmlns:a16="http://schemas.microsoft.com/office/drawing/2014/main" id="{3AAA1B31-284A-5DB8-25F4-0550C4646B3D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607093" y="2640782"/>
              <a:ext cx="281781" cy="281781"/>
            </a:xfrm>
            <a:prstGeom prst="rect">
              <a:avLst/>
            </a:prstGeom>
          </p:spPr>
        </p:pic>
        <p:pic>
          <p:nvPicPr>
            <p:cNvPr id="40" name="Graphic 39" descr="Gingerbread cookie with solid fill">
              <a:extLst>
                <a:ext uri="{FF2B5EF4-FFF2-40B4-BE49-F238E27FC236}">
                  <a16:creationId xmlns:a16="http://schemas.microsoft.com/office/drawing/2014/main" id="{8ED50F24-D08D-0C3A-70B6-74BD62D1AF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607092" y="1999174"/>
              <a:ext cx="281781" cy="281781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CC7F04D-09CC-9B7E-29CE-90153A281542}"/>
              </a:ext>
            </a:extLst>
          </p:cNvPr>
          <p:cNvGrpSpPr/>
          <p:nvPr/>
        </p:nvGrpSpPr>
        <p:grpSpPr>
          <a:xfrm>
            <a:off x="1607092" y="3748779"/>
            <a:ext cx="1565856" cy="934875"/>
            <a:chOff x="1607092" y="1999174"/>
            <a:chExt cx="1565856" cy="934875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871168D-5FE8-A855-ECA0-9A9B46E9D42E}"/>
                </a:ext>
              </a:extLst>
            </p:cNvPr>
            <p:cNvSpPr txBox="1"/>
            <p:nvPr/>
          </p:nvSpPr>
          <p:spPr>
            <a:xfrm>
              <a:off x="1790838" y="2033803"/>
              <a:ext cx="1382110" cy="90024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50" dirty="0"/>
                <a:t>Cookie: auth-</a:t>
              </a:r>
              <a:r>
                <a:rPr lang="en-NZ" sz="1050" dirty="0" err="1"/>
                <a:t>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Cookie: auth-</a:t>
              </a:r>
              <a:r>
                <a:rPr lang="en-NZ" sz="1050" dirty="0" err="1"/>
                <a:t>reftok</a:t>
              </a:r>
              <a:endParaRPr lang="en-NZ" sz="1050" dirty="0"/>
            </a:p>
            <a:p>
              <a:endParaRPr lang="en-NZ" sz="1050" dirty="0"/>
            </a:p>
            <a:p>
              <a:r>
                <a:rPr lang="en-NZ" sz="1050" dirty="0"/>
                <a:t>Cookie: anti-</a:t>
              </a:r>
              <a:r>
                <a:rPr lang="en-NZ" sz="1050" dirty="0" err="1"/>
                <a:t>csrf</a:t>
              </a:r>
              <a:r>
                <a:rPr lang="en-NZ" sz="1050" dirty="0"/>
                <a:t>-</a:t>
              </a:r>
              <a:r>
                <a:rPr lang="en-NZ" sz="1050" dirty="0" err="1"/>
                <a:t>tok</a:t>
              </a:r>
              <a:endParaRPr lang="en-NZ" sz="1050" dirty="0"/>
            </a:p>
          </p:txBody>
        </p:sp>
        <p:pic>
          <p:nvPicPr>
            <p:cNvPr id="50" name="Graphic 49" descr="Gingerbread cookie with solid fill">
              <a:extLst>
                <a:ext uri="{FF2B5EF4-FFF2-40B4-BE49-F238E27FC236}">
                  <a16:creationId xmlns:a16="http://schemas.microsoft.com/office/drawing/2014/main" id="{0339A084-B43F-3C3A-D166-A030401A8CE2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610340" y="2312162"/>
              <a:ext cx="281781" cy="281781"/>
            </a:xfrm>
            <a:prstGeom prst="rect">
              <a:avLst/>
            </a:prstGeom>
          </p:spPr>
        </p:pic>
        <p:pic>
          <p:nvPicPr>
            <p:cNvPr id="51" name="Graphic 50" descr="Gingerbread cookie with solid fill">
              <a:extLst>
                <a:ext uri="{FF2B5EF4-FFF2-40B4-BE49-F238E27FC236}">
                  <a16:creationId xmlns:a16="http://schemas.microsoft.com/office/drawing/2014/main" id="{0C0DA291-4D70-FB39-327A-2FAD1B35F1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607093" y="2633162"/>
              <a:ext cx="281781" cy="281781"/>
            </a:xfrm>
            <a:prstGeom prst="rect">
              <a:avLst/>
            </a:prstGeom>
          </p:spPr>
        </p:pic>
        <p:pic>
          <p:nvPicPr>
            <p:cNvPr id="52" name="Graphic 51" descr="Gingerbread cookie with solid fill">
              <a:extLst>
                <a:ext uri="{FF2B5EF4-FFF2-40B4-BE49-F238E27FC236}">
                  <a16:creationId xmlns:a16="http://schemas.microsoft.com/office/drawing/2014/main" id="{FCB5D327-4604-7FAA-EF23-953FD8E3B4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607092" y="1999174"/>
              <a:ext cx="281781" cy="281781"/>
            </a:xfrm>
            <a:prstGeom prst="rect">
              <a:avLst/>
            </a:prstGeom>
          </p:spPr>
        </p:pic>
      </p:grpSp>
      <p:pic>
        <p:nvPicPr>
          <p:cNvPr id="54" name="Graphic 53" descr="Label with solid fill">
            <a:extLst>
              <a:ext uri="{FF2B5EF4-FFF2-40B4-BE49-F238E27FC236}">
                <a16:creationId xmlns:a16="http://schemas.microsoft.com/office/drawing/2014/main" id="{B3821703-180D-63AA-A8D9-67202030F3A1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603164" y="2587927"/>
            <a:ext cx="276469" cy="276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7674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B5587851-3182-1B6B-4891-6AD1A45E20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26389" y="1028700"/>
            <a:ext cx="9784486" cy="5503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AF24AB-0A0D-7020-073F-C4847FBA5181}"/>
              </a:ext>
            </a:extLst>
          </p:cNvPr>
          <p:cNvSpPr txBox="1"/>
          <p:nvPr/>
        </p:nvSpPr>
        <p:spPr>
          <a:xfrm>
            <a:off x="267419" y="207034"/>
            <a:ext cx="60773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Ports &amp; Adapters – Hexagonal Architecture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B0391B-F265-906B-3144-02BD106067C2}"/>
              </a:ext>
            </a:extLst>
          </p:cNvPr>
          <p:cNvSpPr txBox="1"/>
          <p:nvPr/>
        </p:nvSpPr>
        <p:spPr>
          <a:xfrm>
            <a:off x="5270224" y="6550938"/>
            <a:ext cx="567976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700" dirty="0"/>
              <a:t>Credit: Pablo Martinez: https://medium.com/ssense-tech/hexagonal-architecture-there-are-always-two-sides-to-every-story-bc0780ed7d9c</a:t>
            </a:r>
          </a:p>
        </p:txBody>
      </p:sp>
    </p:spTree>
    <p:extLst>
      <p:ext uri="{BB962C8B-B14F-4D97-AF65-F5344CB8AC3E}">
        <p14:creationId xmlns:p14="http://schemas.microsoft.com/office/powerpoint/2010/main" val="34596056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321C854-745A-25B4-6B42-F8B2D86856C6}"/>
              </a:ext>
            </a:extLst>
          </p:cNvPr>
          <p:cNvSpPr/>
          <p:nvPr/>
        </p:nvSpPr>
        <p:spPr>
          <a:xfrm>
            <a:off x="5242083" y="1922370"/>
            <a:ext cx="5522702" cy="3644202"/>
          </a:xfrm>
          <a:prstGeom prst="roundRect">
            <a:avLst>
              <a:gd name="adj" fmla="val 3692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NZ" dirty="0">
                <a:solidFill>
                  <a:schemeClr val="accent1">
                    <a:lumMod val="75000"/>
                  </a:schemeClr>
                </a:solidFill>
              </a:rPr>
              <a:t>Multitenancy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BA1F555-DDB1-92D0-BB7B-793F377B76AE}"/>
              </a:ext>
            </a:extLst>
          </p:cNvPr>
          <p:cNvSpPr/>
          <p:nvPr/>
        </p:nvSpPr>
        <p:spPr>
          <a:xfrm>
            <a:off x="316356" y="888398"/>
            <a:ext cx="3809278" cy="5762568"/>
          </a:xfrm>
          <a:prstGeom prst="roundRect">
            <a:avLst>
              <a:gd name="adj" fmla="val 4835"/>
            </a:avLst>
          </a:prstGeom>
          <a:solidFill>
            <a:schemeClr val="bg2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NZ" sz="2400" dirty="0">
                <a:solidFill>
                  <a:schemeClr val="bg2">
                    <a:lumMod val="75000"/>
                  </a:schemeClr>
                </a:solidFill>
              </a:rPr>
              <a:t>Identity</a:t>
            </a:r>
            <a:endParaRPr lang="en-NZ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1C96AA-AFCD-0722-93EC-01989E558509}"/>
              </a:ext>
            </a:extLst>
          </p:cNvPr>
          <p:cNvSpPr txBox="1"/>
          <p:nvPr/>
        </p:nvSpPr>
        <p:spPr>
          <a:xfrm>
            <a:off x="267419" y="207034"/>
            <a:ext cx="3978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Multitenancy Identity Model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B976801-A917-7B54-8928-2B11B4FF6B91}"/>
              </a:ext>
            </a:extLst>
          </p:cNvPr>
          <p:cNvSpPr/>
          <p:nvPr/>
        </p:nvSpPr>
        <p:spPr>
          <a:xfrm>
            <a:off x="5321725" y="2019481"/>
            <a:ext cx="1716125" cy="49403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EndUser</a:t>
            </a:r>
            <a:endParaRPr lang="en-NZ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000" dirty="0"/>
              <a:t>(root)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47665B9-C432-157B-900E-FCF6B087687A}"/>
              </a:ext>
            </a:extLst>
          </p:cNvPr>
          <p:cNvSpPr/>
          <p:nvPr/>
        </p:nvSpPr>
        <p:spPr>
          <a:xfrm>
            <a:off x="7034240" y="3181982"/>
            <a:ext cx="1716125" cy="49403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Membership</a:t>
            </a:r>
            <a:endParaRPr lang="en-NZ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000" dirty="0"/>
              <a:t>(entity)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8ECBE59-F0E4-22F8-DD4D-C583B6A4D8B6}"/>
              </a:ext>
            </a:extLst>
          </p:cNvPr>
          <p:cNvSpPr/>
          <p:nvPr/>
        </p:nvSpPr>
        <p:spPr>
          <a:xfrm>
            <a:off x="8744016" y="4344483"/>
            <a:ext cx="1716125" cy="49403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Organization</a:t>
            </a:r>
            <a:endParaRPr lang="en-NZ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000" dirty="0"/>
              <a:t>(root)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CBBAC4A-A2AE-A96B-CB76-1FF38999011E}"/>
              </a:ext>
            </a:extLst>
          </p:cNvPr>
          <p:cNvSpPr/>
          <p:nvPr/>
        </p:nvSpPr>
        <p:spPr>
          <a:xfrm>
            <a:off x="5321724" y="797392"/>
            <a:ext cx="1716125" cy="494036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UserProfile</a:t>
            </a:r>
            <a:endParaRPr lang="en-NZ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000" dirty="0"/>
              <a:t>(root)</a:t>
            </a:r>
          </a:p>
        </p:txBody>
      </p:sp>
      <p:cxnSp>
        <p:nvCxnSpPr>
          <p:cNvPr id="11" name="Straight Arrow Connector 9">
            <a:extLst>
              <a:ext uri="{FF2B5EF4-FFF2-40B4-BE49-F238E27FC236}">
                <a16:creationId xmlns:a16="http://schemas.microsoft.com/office/drawing/2014/main" id="{48296A6E-5713-9D04-C0F5-57E97CFA8091}"/>
              </a:ext>
            </a:extLst>
          </p:cNvPr>
          <p:cNvCxnSpPr>
            <a:cxnSpLocks/>
            <a:stCxn id="6" idx="0"/>
            <a:endCxn id="5" idx="3"/>
          </p:cNvCxnSpPr>
          <p:nvPr/>
        </p:nvCxnSpPr>
        <p:spPr>
          <a:xfrm rot="16200000" flipV="1">
            <a:off x="7007336" y="2297014"/>
            <a:ext cx="915483" cy="854453"/>
          </a:xfrm>
          <a:prstGeom prst="curved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9">
            <a:extLst>
              <a:ext uri="{FF2B5EF4-FFF2-40B4-BE49-F238E27FC236}">
                <a16:creationId xmlns:a16="http://schemas.microsoft.com/office/drawing/2014/main" id="{322AA40B-4100-70BD-3A74-655120B5ACD5}"/>
              </a:ext>
            </a:extLst>
          </p:cNvPr>
          <p:cNvCxnSpPr>
            <a:cxnSpLocks/>
            <a:stCxn id="6" idx="2"/>
            <a:endCxn id="7" idx="1"/>
          </p:cNvCxnSpPr>
          <p:nvPr/>
        </p:nvCxnSpPr>
        <p:spPr>
          <a:xfrm rot="16200000" flipH="1">
            <a:off x="7860418" y="3707902"/>
            <a:ext cx="915483" cy="851713"/>
          </a:xfrm>
          <a:prstGeom prst="curved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9">
            <a:extLst>
              <a:ext uri="{FF2B5EF4-FFF2-40B4-BE49-F238E27FC236}">
                <a16:creationId xmlns:a16="http://schemas.microsoft.com/office/drawing/2014/main" id="{B054810F-2338-112E-2A98-B224E40EED41}"/>
              </a:ext>
            </a:extLst>
          </p:cNvPr>
          <p:cNvCxnSpPr>
            <a:cxnSpLocks/>
            <a:stCxn id="5" idx="0"/>
            <a:endCxn id="8" idx="2"/>
          </p:cNvCxnSpPr>
          <p:nvPr/>
        </p:nvCxnSpPr>
        <p:spPr>
          <a:xfrm rot="16200000" flipV="1">
            <a:off x="5815762" y="1655454"/>
            <a:ext cx="728053" cy="1"/>
          </a:xfrm>
          <a:prstGeom prst="curvedConnector3">
            <a:avLst>
              <a:gd name="adj1" fmla="val 50000"/>
            </a:avLst>
          </a:prstGeom>
          <a:ln w="3810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3A9EE7B-8B27-5066-9F36-570A99DFE8B3}"/>
              </a:ext>
            </a:extLst>
          </p:cNvPr>
          <p:cNvSpPr/>
          <p:nvPr/>
        </p:nvSpPr>
        <p:spPr>
          <a:xfrm>
            <a:off x="8744015" y="5666422"/>
            <a:ext cx="1716125" cy="494036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Subscription</a:t>
            </a:r>
            <a:endParaRPr lang="en-NZ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NZ" sz="1000" dirty="0"/>
              <a:t>(root)</a:t>
            </a:r>
          </a:p>
        </p:txBody>
      </p:sp>
      <p:cxnSp>
        <p:nvCxnSpPr>
          <p:cNvPr id="28" name="Straight Arrow Connector 9">
            <a:extLst>
              <a:ext uri="{FF2B5EF4-FFF2-40B4-BE49-F238E27FC236}">
                <a16:creationId xmlns:a16="http://schemas.microsoft.com/office/drawing/2014/main" id="{E1710511-3E1E-C2DD-7118-6E338488B517}"/>
              </a:ext>
            </a:extLst>
          </p:cNvPr>
          <p:cNvCxnSpPr>
            <a:cxnSpLocks/>
            <a:stCxn id="7" idx="2"/>
            <a:endCxn id="27" idx="0"/>
          </p:cNvCxnSpPr>
          <p:nvPr/>
        </p:nvCxnSpPr>
        <p:spPr>
          <a:xfrm rot="5400000">
            <a:off x="9188128" y="5252470"/>
            <a:ext cx="827903" cy="1"/>
          </a:xfrm>
          <a:prstGeom prst="curved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9">
            <a:extLst>
              <a:ext uri="{FF2B5EF4-FFF2-40B4-BE49-F238E27FC236}">
                <a16:creationId xmlns:a16="http://schemas.microsoft.com/office/drawing/2014/main" id="{4A04EA5D-1BE9-67F0-5C0F-1F8BA1AE3DF4}"/>
              </a:ext>
            </a:extLst>
          </p:cNvPr>
          <p:cNvCxnSpPr>
            <a:cxnSpLocks/>
            <a:stCxn id="40" idx="0"/>
            <a:endCxn id="5" idx="1"/>
          </p:cNvCxnSpPr>
          <p:nvPr/>
        </p:nvCxnSpPr>
        <p:spPr>
          <a:xfrm rot="5400000" flipH="1" flipV="1">
            <a:off x="2731300" y="2639482"/>
            <a:ext cx="2963408" cy="2217442"/>
          </a:xfrm>
          <a:prstGeom prst="curved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D29660D-B5B8-6C5B-431F-D316B11B3A0B}"/>
              </a:ext>
            </a:extLst>
          </p:cNvPr>
          <p:cNvSpPr txBox="1"/>
          <p:nvPr/>
        </p:nvSpPr>
        <p:spPr>
          <a:xfrm>
            <a:off x="7674896" y="2462630"/>
            <a:ext cx="66556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endParaRPr lang="en-NZ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DC07279-09CA-2F9C-79FD-3303722C53CA}"/>
              </a:ext>
            </a:extLst>
          </p:cNvPr>
          <p:cNvSpPr txBox="1"/>
          <p:nvPr/>
        </p:nvSpPr>
        <p:spPr>
          <a:xfrm>
            <a:off x="6158841" y="1524649"/>
            <a:ext cx="66556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endParaRPr lang="en-NZ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D4DF4D0-DA64-8622-0E15-60CB41A70655}"/>
              </a:ext>
            </a:extLst>
          </p:cNvPr>
          <p:cNvSpPr txBox="1"/>
          <p:nvPr/>
        </p:nvSpPr>
        <p:spPr>
          <a:xfrm>
            <a:off x="4396637" y="1963791"/>
            <a:ext cx="66556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endParaRPr lang="en-NZ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187DC08-2905-135C-09B1-F602DBBA8908}"/>
              </a:ext>
            </a:extLst>
          </p:cNvPr>
          <p:cNvSpPr txBox="1"/>
          <p:nvPr/>
        </p:nvSpPr>
        <p:spPr>
          <a:xfrm>
            <a:off x="8007679" y="3932513"/>
            <a:ext cx="130676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OrganizationId</a:t>
            </a:r>
            <a:endParaRPr lang="en-NZ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EF04E23-B68C-0330-88E3-CAAF8A4993DC}"/>
              </a:ext>
            </a:extLst>
          </p:cNvPr>
          <p:cNvSpPr txBox="1"/>
          <p:nvPr/>
        </p:nvSpPr>
        <p:spPr>
          <a:xfrm>
            <a:off x="9615111" y="5069898"/>
            <a:ext cx="114967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9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SubscriptionId</a:t>
            </a:r>
            <a:endParaRPr lang="en-NZ" sz="9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C7D658D-9B57-ADBA-F14E-8F1E2295AB7A}"/>
              </a:ext>
            </a:extLst>
          </p:cNvPr>
          <p:cNvSpPr txBox="1"/>
          <p:nvPr/>
        </p:nvSpPr>
        <p:spPr>
          <a:xfrm>
            <a:off x="5321724" y="2506618"/>
            <a:ext cx="1120820" cy="8463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Roles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Features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Classification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Access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Memberships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F0AD139-DD32-29D1-E6A5-2A5C88C5F73E}"/>
              </a:ext>
            </a:extLst>
          </p:cNvPr>
          <p:cNvSpPr txBox="1"/>
          <p:nvPr/>
        </p:nvSpPr>
        <p:spPr>
          <a:xfrm>
            <a:off x="5294207" y="1254372"/>
            <a:ext cx="1011815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EmailAddress</a:t>
            </a: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Address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TimeZone</a:t>
            </a: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330519D-DEB2-A677-CBDC-1416FEE754E8}"/>
              </a:ext>
            </a:extLst>
          </p:cNvPr>
          <p:cNvGrpSpPr/>
          <p:nvPr/>
        </p:nvGrpSpPr>
        <p:grpSpPr>
          <a:xfrm>
            <a:off x="2171753" y="5229907"/>
            <a:ext cx="1790592" cy="1319683"/>
            <a:chOff x="2179032" y="3698770"/>
            <a:chExt cx="1790592" cy="1319683"/>
          </a:xfrm>
        </p:grpSpPr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55FA7B6C-38AA-343E-0734-E426A51E3264}"/>
                </a:ext>
              </a:extLst>
            </p:cNvPr>
            <p:cNvSpPr/>
            <p:nvPr/>
          </p:nvSpPr>
          <p:spPr>
            <a:xfrm>
              <a:off x="2253499" y="3698770"/>
              <a:ext cx="1716125" cy="494036"/>
            </a:xfrm>
            <a:prstGeom prst="roundRect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050" b="1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PasswordCredential</a:t>
              </a:r>
              <a:endParaRPr lang="en-NZ" sz="14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ctr"/>
              <a:r>
                <a:rPr lang="en-NZ" sz="1000" dirty="0">
                  <a:solidFill>
                    <a:schemeClr val="tx1"/>
                  </a:solidFill>
                </a:rPr>
                <a:t>(root)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D6E87804-067F-EE5F-87F8-CB7ED46AC6D9}"/>
                </a:ext>
              </a:extLst>
            </p:cNvPr>
            <p:cNvSpPr txBox="1"/>
            <p:nvPr/>
          </p:nvSpPr>
          <p:spPr>
            <a:xfrm>
              <a:off x="2179032" y="4172067"/>
              <a:ext cx="1011815" cy="846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UserId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Login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Password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Registration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Verification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MfaOptions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086E3A3C-B4D3-68AC-8817-2B97E88F04E1}"/>
              </a:ext>
            </a:extLst>
          </p:cNvPr>
          <p:cNvSpPr txBox="1"/>
          <p:nvPr/>
        </p:nvSpPr>
        <p:spPr>
          <a:xfrm>
            <a:off x="7003902" y="3647418"/>
            <a:ext cx="112082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OrganizationId</a:t>
            </a: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Roles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Features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IsDefault</a:t>
            </a: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86E2567-8A31-DCD3-00B5-055241D6EEEF}"/>
              </a:ext>
            </a:extLst>
          </p:cNvPr>
          <p:cNvSpPr txBox="1"/>
          <p:nvPr/>
        </p:nvSpPr>
        <p:spPr>
          <a:xfrm>
            <a:off x="8661063" y="4825270"/>
            <a:ext cx="1210588" cy="9694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CreatedById</a:t>
            </a: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Ownership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700" dirty="0">
                <a:latin typeface="Courier New" panose="02070309020205020404" pitchFamily="49" charset="0"/>
                <a:cs typeface="Courier New" panose="02070309020205020404" pitchFamily="49" charset="0"/>
              </a:rPr>
              <a:t>Settings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SubscriptionId</a:t>
            </a: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NZ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NZ" sz="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74EFF98-A855-C595-B4FB-EA59AC6F73C1}"/>
              </a:ext>
            </a:extLst>
          </p:cNvPr>
          <p:cNvGrpSpPr/>
          <p:nvPr/>
        </p:nvGrpSpPr>
        <p:grpSpPr>
          <a:xfrm>
            <a:off x="462908" y="1141995"/>
            <a:ext cx="1790592" cy="1211961"/>
            <a:chOff x="462908" y="1141995"/>
            <a:chExt cx="1790592" cy="1211961"/>
          </a:xfrm>
        </p:grpSpPr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5A374E2B-BF3F-62A4-3379-8688AB0C4AE3}"/>
                </a:ext>
              </a:extLst>
            </p:cNvPr>
            <p:cNvSpPr/>
            <p:nvPr/>
          </p:nvSpPr>
          <p:spPr>
            <a:xfrm>
              <a:off x="537375" y="1141995"/>
              <a:ext cx="1716125" cy="494036"/>
            </a:xfrm>
            <a:prstGeom prst="roundRect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600" b="1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APIKey</a:t>
              </a:r>
              <a:endParaRPr lang="en-NZ" sz="14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ctr"/>
              <a:r>
                <a:rPr lang="en-NZ" sz="1000" dirty="0">
                  <a:solidFill>
                    <a:schemeClr val="tx1"/>
                  </a:solidFill>
                </a:rPr>
                <a:t>(root)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B207B13-BD9C-7BE9-02FD-BF8DAD781F74}"/>
                </a:ext>
              </a:extLst>
            </p:cNvPr>
            <p:cNvSpPr txBox="1"/>
            <p:nvPr/>
          </p:nvSpPr>
          <p:spPr>
            <a:xfrm>
              <a:off x="462908" y="1615292"/>
              <a:ext cx="957313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UserId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ApiKey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Description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ExpiresOn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78FCDDE-7FE7-8840-31C6-D091D327EA2C}"/>
              </a:ext>
            </a:extLst>
          </p:cNvPr>
          <p:cNvGrpSpPr/>
          <p:nvPr/>
        </p:nvGrpSpPr>
        <p:grpSpPr>
          <a:xfrm>
            <a:off x="919639" y="2277901"/>
            <a:ext cx="1790592" cy="1319683"/>
            <a:chOff x="750626" y="2429582"/>
            <a:chExt cx="1790592" cy="1319683"/>
          </a:xfrm>
        </p:grpSpPr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97FB3CB4-9952-D8DE-3921-5A159D0852F5}"/>
                </a:ext>
              </a:extLst>
            </p:cNvPr>
            <p:cNvSpPr/>
            <p:nvPr/>
          </p:nvSpPr>
          <p:spPr>
            <a:xfrm>
              <a:off x="825093" y="2429582"/>
              <a:ext cx="1716125" cy="494036"/>
            </a:xfrm>
            <a:prstGeom prst="roundRect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600" b="1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AuthTokens</a:t>
              </a:r>
              <a:endParaRPr lang="en-NZ" sz="14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ctr"/>
              <a:r>
                <a:rPr lang="en-NZ" sz="1000" dirty="0">
                  <a:solidFill>
                    <a:schemeClr val="tx1"/>
                  </a:solidFill>
                </a:rPr>
                <a:t>(root)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3C519D6-C5CD-407F-068C-29B768ED7192}"/>
                </a:ext>
              </a:extLst>
            </p:cNvPr>
            <p:cNvSpPr txBox="1"/>
            <p:nvPr/>
          </p:nvSpPr>
          <p:spPr>
            <a:xfrm>
              <a:off x="750626" y="2902879"/>
              <a:ext cx="1502334" cy="846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UserId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AccessToken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AccessTokenExpiresOn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RefreshToken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RefreshTokenExpiresOn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73" name="Straight Arrow Connector 9">
            <a:extLst>
              <a:ext uri="{FF2B5EF4-FFF2-40B4-BE49-F238E27FC236}">
                <a16:creationId xmlns:a16="http://schemas.microsoft.com/office/drawing/2014/main" id="{A50047C5-EEB6-865A-972E-E8D887B47B3B}"/>
              </a:ext>
            </a:extLst>
          </p:cNvPr>
          <p:cNvCxnSpPr>
            <a:cxnSpLocks/>
            <a:stCxn id="71" idx="3"/>
            <a:endCxn id="5" idx="1"/>
          </p:cNvCxnSpPr>
          <p:nvPr/>
        </p:nvCxnSpPr>
        <p:spPr>
          <a:xfrm flipV="1">
            <a:off x="2710231" y="2266499"/>
            <a:ext cx="2611494" cy="258420"/>
          </a:xfrm>
          <a:prstGeom prst="curvedConnector3">
            <a:avLst>
              <a:gd name="adj1" fmla="val 1316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9">
            <a:extLst>
              <a:ext uri="{FF2B5EF4-FFF2-40B4-BE49-F238E27FC236}">
                <a16:creationId xmlns:a16="http://schemas.microsoft.com/office/drawing/2014/main" id="{B259BEB4-5CFF-B81F-6823-D910BC6A49FF}"/>
              </a:ext>
            </a:extLst>
          </p:cNvPr>
          <p:cNvCxnSpPr>
            <a:cxnSpLocks/>
            <a:stCxn id="69" idx="3"/>
            <a:endCxn id="5" idx="1"/>
          </p:cNvCxnSpPr>
          <p:nvPr/>
        </p:nvCxnSpPr>
        <p:spPr>
          <a:xfrm>
            <a:off x="2253500" y="1389013"/>
            <a:ext cx="3068225" cy="877486"/>
          </a:xfrm>
          <a:prstGeom prst="curved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7204AC7-25EF-4F7D-E413-667482D02306}"/>
              </a:ext>
            </a:extLst>
          </p:cNvPr>
          <p:cNvGrpSpPr/>
          <p:nvPr/>
        </p:nvGrpSpPr>
        <p:grpSpPr>
          <a:xfrm>
            <a:off x="1415429" y="3722266"/>
            <a:ext cx="1790592" cy="1427404"/>
            <a:chOff x="934545" y="5114071"/>
            <a:chExt cx="1790592" cy="1427404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16ACD948-87EC-036E-8CB8-672A9EB2E8F8}"/>
                </a:ext>
              </a:extLst>
            </p:cNvPr>
            <p:cNvSpPr/>
            <p:nvPr/>
          </p:nvSpPr>
          <p:spPr>
            <a:xfrm>
              <a:off x="1009012" y="5114071"/>
              <a:ext cx="1716125" cy="494036"/>
            </a:xfrm>
            <a:prstGeom prst="roundRect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600" b="1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SSOUser</a:t>
              </a:r>
              <a:endParaRPr lang="en-NZ" sz="14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ctr"/>
              <a:r>
                <a:rPr lang="en-NZ" sz="1000" dirty="0">
                  <a:solidFill>
                    <a:schemeClr val="tx1"/>
                  </a:solidFill>
                </a:rPr>
                <a:t>(root)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59FDCB02-ABDC-46E5-5B9A-B045CFD8FD29}"/>
                </a:ext>
              </a:extLst>
            </p:cNvPr>
            <p:cNvSpPr txBox="1"/>
            <p:nvPr/>
          </p:nvSpPr>
          <p:spPr>
            <a:xfrm>
              <a:off x="934545" y="5587368"/>
              <a:ext cx="101181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UserId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ProviderName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Address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EmailAddress</a:t>
              </a: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Name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NZ" sz="7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Tokens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NZ" sz="7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81" name="Straight Arrow Connector 9">
            <a:extLst>
              <a:ext uri="{FF2B5EF4-FFF2-40B4-BE49-F238E27FC236}">
                <a16:creationId xmlns:a16="http://schemas.microsoft.com/office/drawing/2014/main" id="{F6487C9B-1810-9846-B935-FB9A1CA4DFDC}"/>
              </a:ext>
            </a:extLst>
          </p:cNvPr>
          <p:cNvCxnSpPr>
            <a:cxnSpLocks/>
            <a:stCxn id="79" idx="0"/>
            <a:endCxn id="5" idx="1"/>
          </p:cNvCxnSpPr>
          <p:nvPr/>
        </p:nvCxnSpPr>
        <p:spPr>
          <a:xfrm rot="5400000" flipH="1" flipV="1">
            <a:off x="3106959" y="1507500"/>
            <a:ext cx="1455767" cy="2973766"/>
          </a:xfrm>
          <a:prstGeom prst="curved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83559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BCFD7-7830-625C-6867-5020E77CE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004" y="365125"/>
            <a:ext cx="2793938" cy="549275"/>
          </a:xfrm>
        </p:spPr>
        <p:txBody>
          <a:bodyPr>
            <a:normAutofit/>
          </a:bodyPr>
          <a:lstStyle/>
          <a:p>
            <a:r>
              <a:rPr lang="en-NZ" dirty="0" err="1"/>
              <a:t>EndUser</a:t>
            </a:r>
            <a:r>
              <a:rPr lang="en-NZ" dirty="0"/>
              <a:t> Lifecycle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3A19048-7687-F0A0-648A-C8ED27A75F86}"/>
              </a:ext>
            </a:extLst>
          </p:cNvPr>
          <p:cNvSpPr/>
          <p:nvPr/>
        </p:nvSpPr>
        <p:spPr>
          <a:xfrm>
            <a:off x="4992902" y="236537"/>
            <a:ext cx="257175" cy="257175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BD42568-1ED9-4380-F310-24E131FE4260}"/>
              </a:ext>
            </a:extLst>
          </p:cNvPr>
          <p:cNvSpPr/>
          <p:nvPr/>
        </p:nvSpPr>
        <p:spPr>
          <a:xfrm>
            <a:off x="6531443" y="1076325"/>
            <a:ext cx="1333500" cy="36933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Register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2E15165-629A-5113-6085-B73DEFE1E28D}"/>
              </a:ext>
            </a:extLst>
          </p:cNvPr>
          <p:cNvSpPr/>
          <p:nvPr/>
        </p:nvSpPr>
        <p:spPr>
          <a:xfrm>
            <a:off x="10108520" y="3216033"/>
            <a:ext cx="257175" cy="257175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034736-E59A-16D0-4DF6-49E0E740A036}"/>
              </a:ext>
            </a:extLst>
          </p:cNvPr>
          <p:cNvSpPr txBox="1"/>
          <p:nvPr/>
        </p:nvSpPr>
        <p:spPr>
          <a:xfrm>
            <a:off x="4072366" y="180458"/>
            <a:ext cx="907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Person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B29BB6-A9B5-1589-92DF-3932FADD65A8}"/>
              </a:ext>
            </a:extLst>
          </p:cNvPr>
          <p:cNvSpPr txBox="1"/>
          <p:nvPr/>
        </p:nvSpPr>
        <p:spPr>
          <a:xfrm>
            <a:off x="10333482" y="3159954"/>
            <a:ext cx="1063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Machine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FF7A5E-416C-4DAC-7F88-9E1EC4D26265}"/>
              </a:ext>
            </a:extLst>
          </p:cNvPr>
          <p:cNvSpPr txBox="1"/>
          <p:nvPr/>
        </p:nvSpPr>
        <p:spPr>
          <a:xfrm>
            <a:off x="7839753" y="999762"/>
            <a:ext cx="30844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EmailAddress</a:t>
            </a:r>
            <a:r>
              <a:rPr lang="en-NZ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</a:p>
          <a:p>
            <a:r>
              <a:rPr lang="en-NZ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FirstName, </a:t>
            </a:r>
            <a:r>
              <a:rPr lang="en-NZ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r>
              <a:rPr lang="en-NZ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TZ, CC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F221E64-12D0-BFDF-E600-FC5DB5E268D1}"/>
              </a:ext>
            </a:extLst>
          </p:cNvPr>
          <p:cNvCxnSpPr>
            <a:cxnSpLocks/>
            <a:stCxn id="3" idx="4"/>
            <a:endCxn id="4" idx="0"/>
          </p:cNvCxnSpPr>
          <p:nvPr/>
        </p:nvCxnSpPr>
        <p:spPr>
          <a:xfrm rot="16200000" flipH="1">
            <a:off x="5868535" y="-253334"/>
            <a:ext cx="582613" cy="2076703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AE83284-11B9-8E84-D152-B20DFE80CBE4}"/>
              </a:ext>
            </a:extLst>
          </p:cNvPr>
          <p:cNvSpPr txBox="1"/>
          <p:nvPr/>
        </p:nvSpPr>
        <p:spPr>
          <a:xfrm>
            <a:off x="10941176" y="3795997"/>
            <a:ext cx="8290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Name,</a:t>
            </a:r>
          </a:p>
          <a:p>
            <a:r>
              <a:rPr lang="en-NZ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TZ, CC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C1659F0-A059-B11B-3638-89E9961B56C9}"/>
              </a:ext>
            </a:extLst>
          </p:cNvPr>
          <p:cNvCxnSpPr>
            <a:cxnSpLocks/>
            <a:stCxn id="5" idx="4"/>
            <a:endCxn id="76" idx="0"/>
          </p:cNvCxnSpPr>
          <p:nvPr/>
        </p:nvCxnSpPr>
        <p:spPr>
          <a:xfrm flipH="1">
            <a:off x="10237107" y="3473208"/>
            <a:ext cx="1" cy="3997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Flowchart: Decision 31">
            <a:extLst>
              <a:ext uri="{FF2B5EF4-FFF2-40B4-BE49-F238E27FC236}">
                <a16:creationId xmlns:a16="http://schemas.microsoft.com/office/drawing/2014/main" id="{8184EA21-703C-9ECB-7FED-F38C014A188D}"/>
              </a:ext>
            </a:extLst>
          </p:cNvPr>
          <p:cNvSpPr/>
          <p:nvPr/>
        </p:nvSpPr>
        <p:spPr>
          <a:xfrm>
            <a:off x="6531443" y="2934213"/>
            <a:ext cx="1334834" cy="792232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sz="1200" dirty="0"/>
              <a:t>Email Known?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CC6E97C-DEE3-6EF0-7101-347CCF8BF5C2}"/>
              </a:ext>
            </a:extLst>
          </p:cNvPr>
          <p:cNvCxnSpPr>
            <a:cxnSpLocks/>
            <a:stCxn id="6" idx="2"/>
            <a:endCxn id="32" idx="0"/>
          </p:cNvCxnSpPr>
          <p:nvPr/>
        </p:nvCxnSpPr>
        <p:spPr>
          <a:xfrm>
            <a:off x="7197526" y="2541598"/>
            <a:ext cx="1334" cy="39261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5EB4EED-211A-E34C-2D8A-E9FE1C5B065F}"/>
              </a:ext>
            </a:extLst>
          </p:cNvPr>
          <p:cNvCxnSpPr>
            <a:cxnSpLocks/>
            <a:stCxn id="32" idx="2"/>
            <a:endCxn id="41" idx="0"/>
          </p:cNvCxnSpPr>
          <p:nvPr/>
        </p:nvCxnSpPr>
        <p:spPr>
          <a:xfrm>
            <a:off x="7198860" y="3726445"/>
            <a:ext cx="1715" cy="5533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2C588DEE-FC4F-0FE3-F2FC-D96D0C97F4D1}"/>
              </a:ext>
            </a:extLst>
          </p:cNvPr>
          <p:cNvSpPr txBox="1"/>
          <p:nvPr/>
        </p:nvSpPr>
        <p:spPr>
          <a:xfrm>
            <a:off x="7198193" y="3596279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no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A87A731-0FDC-2B3E-92F5-36BE0CC40F4A}"/>
              </a:ext>
            </a:extLst>
          </p:cNvPr>
          <p:cNvSpPr/>
          <p:nvPr/>
        </p:nvSpPr>
        <p:spPr>
          <a:xfrm>
            <a:off x="6340943" y="4279839"/>
            <a:ext cx="1719263" cy="877129"/>
          </a:xfrm>
          <a:prstGeom prst="rect">
            <a:avLst/>
          </a:prstGeom>
          <a:ln>
            <a:prstDash val="dash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UserProfiles</a:t>
            </a:r>
            <a:endParaRPr lang="en-NZ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FD951CB2-F8FB-06BE-7EF2-4AB97C0A8F22}"/>
              </a:ext>
            </a:extLst>
          </p:cNvPr>
          <p:cNvSpPr/>
          <p:nvPr/>
        </p:nvSpPr>
        <p:spPr>
          <a:xfrm>
            <a:off x="6533823" y="4668330"/>
            <a:ext cx="1333500" cy="36933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Create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8CE4619-BBDF-2951-1E98-9130E340EA86}"/>
              </a:ext>
            </a:extLst>
          </p:cNvPr>
          <p:cNvSpPr/>
          <p:nvPr/>
        </p:nvSpPr>
        <p:spPr>
          <a:xfrm>
            <a:off x="6340943" y="5273684"/>
            <a:ext cx="1719263" cy="861488"/>
          </a:xfrm>
          <a:prstGeom prst="rect">
            <a:avLst/>
          </a:prstGeom>
          <a:ln>
            <a:prstDash val="dash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Organizations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1D5225FE-16A3-106C-01E7-A44F133EF552}"/>
              </a:ext>
            </a:extLst>
          </p:cNvPr>
          <p:cNvSpPr/>
          <p:nvPr/>
        </p:nvSpPr>
        <p:spPr>
          <a:xfrm>
            <a:off x="6533824" y="5662174"/>
            <a:ext cx="1333500" cy="36933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 err="1"/>
              <a:t>CreatePersonal</a:t>
            </a:r>
            <a:endParaRPr lang="en-NZ" sz="1200" dirty="0"/>
          </a:p>
        </p:txBody>
      </p:sp>
      <p:sp>
        <p:nvSpPr>
          <p:cNvPr id="50" name="Flowchart: Decision 49">
            <a:extLst>
              <a:ext uri="{FF2B5EF4-FFF2-40B4-BE49-F238E27FC236}">
                <a16:creationId xmlns:a16="http://schemas.microsoft.com/office/drawing/2014/main" id="{12E8088E-1923-F24D-0342-45BB0D3F47C1}"/>
              </a:ext>
            </a:extLst>
          </p:cNvPr>
          <p:cNvSpPr/>
          <p:nvPr/>
        </p:nvSpPr>
        <p:spPr>
          <a:xfrm>
            <a:off x="4810842" y="2932497"/>
            <a:ext cx="1334834" cy="792232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sz="1200" dirty="0"/>
              <a:t>Already</a:t>
            </a:r>
          </a:p>
          <a:p>
            <a:pPr algn="ctr"/>
            <a:r>
              <a:rPr lang="en-NZ" sz="1200" dirty="0"/>
              <a:t>Registered?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5302ACA-6F2E-FC22-5DF0-A6A3DFF0136C}"/>
              </a:ext>
            </a:extLst>
          </p:cNvPr>
          <p:cNvCxnSpPr>
            <a:cxnSpLocks/>
            <a:stCxn id="32" idx="1"/>
            <a:endCxn id="50" idx="3"/>
          </p:cNvCxnSpPr>
          <p:nvPr/>
        </p:nvCxnSpPr>
        <p:spPr>
          <a:xfrm rot="10800000">
            <a:off x="6145677" y="3328613"/>
            <a:ext cx="385767" cy="1716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C6C069AD-6093-A237-3EC0-1A02810BECBB}"/>
              </a:ext>
            </a:extLst>
          </p:cNvPr>
          <p:cNvSpPr txBox="1"/>
          <p:nvPr/>
        </p:nvSpPr>
        <p:spPr>
          <a:xfrm>
            <a:off x="6071499" y="2966376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yes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20E1377-9C63-4810-1BB2-84914AE50345}"/>
              </a:ext>
            </a:extLst>
          </p:cNvPr>
          <p:cNvCxnSpPr>
            <a:cxnSpLocks/>
            <a:stCxn id="50" idx="2"/>
            <a:endCxn id="41" idx="1"/>
          </p:cNvCxnSpPr>
          <p:nvPr/>
        </p:nvCxnSpPr>
        <p:spPr>
          <a:xfrm rot="16200000" flipH="1">
            <a:off x="5412764" y="3790224"/>
            <a:ext cx="993675" cy="86268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4241439C-A8BC-EC8F-E25A-C1D7F9B56B1C}"/>
              </a:ext>
            </a:extLst>
          </p:cNvPr>
          <p:cNvSpPr txBox="1"/>
          <p:nvPr/>
        </p:nvSpPr>
        <p:spPr>
          <a:xfrm>
            <a:off x="5478258" y="3654918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no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B14BC84-094F-DE5F-E101-249362D86E6B}"/>
              </a:ext>
            </a:extLst>
          </p:cNvPr>
          <p:cNvSpPr txBox="1"/>
          <p:nvPr/>
        </p:nvSpPr>
        <p:spPr>
          <a:xfrm>
            <a:off x="4297319" y="2985914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yes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F01DF2FA-7726-E973-6F7C-708FC34EF1F8}"/>
              </a:ext>
            </a:extLst>
          </p:cNvPr>
          <p:cNvCxnSpPr>
            <a:cxnSpLocks/>
            <a:stCxn id="50" idx="1"/>
            <a:endCxn id="92" idx="0"/>
          </p:cNvCxnSpPr>
          <p:nvPr/>
        </p:nvCxnSpPr>
        <p:spPr>
          <a:xfrm rot="10800000" flipV="1">
            <a:off x="4423528" y="3328612"/>
            <a:ext cx="387314" cy="1048521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92D536A7-CB76-7A3E-6680-B217569B9C5D}"/>
              </a:ext>
            </a:extLst>
          </p:cNvPr>
          <p:cNvSpPr txBox="1"/>
          <p:nvPr/>
        </p:nvSpPr>
        <p:spPr>
          <a:xfrm>
            <a:off x="7340212" y="6140544"/>
            <a:ext cx="33009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Status = “Registered”</a:t>
            </a:r>
            <a:br>
              <a:rPr lang="en-NZ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NZ" sz="1200" dirty="0">
                <a:cs typeface="Courier New" panose="02070309020205020404" pitchFamily="49" charset="0"/>
              </a:rPr>
              <a:t>Has a </a:t>
            </a:r>
            <a:r>
              <a:rPr lang="en-NZ" sz="1200" dirty="0" err="1">
                <a:cs typeface="Courier New" panose="02070309020205020404" pitchFamily="49" charset="0"/>
              </a:rPr>
              <a:t>UserProfile</a:t>
            </a:r>
            <a:r>
              <a:rPr lang="en-NZ" sz="1200" dirty="0">
                <a:cs typeface="Courier New" panose="02070309020205020404" pitchFamily="49" charset="0"/>
              </a:rPr>
              <a:t> (Type = Person or Machine)</a:t>
            </a:r>
          </a:p>
          <a:p>
            <a:r>
              <a:rPr lang="en-NZ" sz="1200" dirty="0">
                <a:cs typeface="Courier New" panose="02070309020205020404" pitchFamily="49" charset="0"/>
              </a:rPr>
              <a:t>Has a Default Organization</a:t>
            </a: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0B928CCF-92D7-3E05-5951-F99EFC05AC70}"/>
              </a:ext>
            </a:extLst>
          </p:cNvPr>
          <p:cNvSpPr/>
          <p:nvPr/>
        </p:nvSpPr>
        <p:spPr>
          <a:xfrm>
            <a:off x="7071987" y="6463710"/>
            <a:ext cx="257175" cy="25717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70D736CF-12C3-C00A-9C48-C85BAE38461C}"/>
              </a:ext>
            </a:extLst>
          </p:cNvPr>
          <p:cNvCxnSpPr>
            <a:cxnSpLocks/>
            <a:stCxn id="46" idx="2"/>
            <a:endCxn id="67" idx="0"/>
          </p:cNvCxnSpPr>
          <p:nvPr/>
        </p:nvCxnSpPr>
        <p:spPr>
          <a:xfrm>
            <a:off x="7200575" y="6135172"/>
            <a:ext cx="0" cy="32853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0037B7EE-0330-27F2-DBBB-C008DC8D4FEB}"/>
              </a:ext>
            </a:extLst>
          </p:cNvPr>
          <p:cNvSpPr/>
          <p:nvPr/>
        </p:nvSpPr>
        <p:spPr>
          <a:xfrm>
            <a:off x="9570357" y="3872941"/>
            <a:ext cx="1333500" cy="36933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Register</a:t>
            </a: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81E451C4-103D-44DF-60F9-CFC40EF57C27}"/>
              </a:ext>
            </a:extLst>
          </p:cNvPr>
          <p:cNvCxnSpPr>
            <a:cxnSpLocks/>
            <a:stCxn id="76" idx="1"/>
            <a:endCxn id="41" idx="0"/>
          </p:cNvCxnSpPr>
          <p:nvPr/>
        </p:nvCxnSpPr>
        <p:spPr>
          <a:xfrm rot="10800000" flipV="1">
            <a:off x="7200575" y="4057607"/>
            <a:ext cx="2369782" cy="222232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54">
            <a:extLst>
              <a:ext uri="{FF2B5EF4-FFF2-40B4-BE49-F238E27FC236}">
                <a16:creationId xmlns:a16="http://schemas.microsoft.com/office/drawing/2014/main" id="{B0562E9C-F2AE-1BEF-A54E-BDCF66C8423F}"/>
              </a:ext>
            </a:extLst>
          </p:cNvPr>
          <p:cNvCxnSpPr>
            <a:cxnSpLocks/>
            <a:stCxn id="42" idx="2"/>
            <a:endCxn id="47" idx="0"/>
          </p:cNvCxnSpPr>
          <p:nvPr/>
        </p:nvCxnSpPr>
        <p:spPr>
          <a:xfrm rot="16200000" flipH="1">
            <a:off x="6888317" y="5349917"/>
            <a:ext cx="624512" cy="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7971C92E-BB2B-B041-B6F8-65AF4BF5B55D}"/>
              </a:ext>
            </a:extLst>
          </p:cNvPr>
          <p:cNvSpPr/>
          <p:nvPr/>
        </p:nvSpPr>
        <p:spPr>
          <a:xfrm>
            <a:off x="3563896" y="4377134"/>
            <a:ext cx="1719263" cy="1284326"/>
          </a:xfrm>
          <a:prstGeom prst="rect">
            <a:avLst/>
          </a:prstGeom>
          <a:ln>
            <a:prstDash val="dash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Notifications</a:t>
            </a:r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3506B620-DCE1-A50F-954A-7BD07706BA2B}"/>
              </a:ext>
            </a:extLst>
          </p:cNvPr>
          <p:cNvSpPr/>
          <p:nvPr/>
        </p:nvSpPr>
        <p:spPr>
          <a:xfrm>
            <a:off x="3756777" y="4715170"/>
            <a:ext cx="1333500" cy="79679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Sent Courtesy</a:t>
            </a:r>
          </a:p>
          <a:p>
            <a:pPr algn="ctr"/>
            <a:r>
              <a:rPr lang="en-NZ" sz="1400" dirty="0"/>
              <a:t>Email</a:t>
            </a:r>
          </a:p>
        </p:txBody>
      </p: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4634592D-DE47-96ED-8EAB-13B07CEE6ABA}"/>
              </a:ext>
            </a:extLst>
          </p:cNvPr>
          <p:cNvSpPr/>
          <p:nvPr/>
        </p:nvSpPr>
        <p:spPr>
          <a:xfrm>
            <a:off x="2356419" y="1076325"/>
            <a:ext cx="1333500" cy="36933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 err="1"/>
              <a:t>InviteGuest</a:t>
            </a:r>
            <a:endParaRPr lang="en-NZ" dirty="0"/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7D72421B-05C6-5583-E395-7E6B8184B08D}"/>
              </a:ext>
            </a:extLst>
          </p:cNvPr>
          <p:cNvCxnSpPr>
            <a:cxnSpLocks/>
            <a:stCxn id="3" idx="4"/>
            <a:endCxn id="97" idx="0"/>
          </p:cNvCxnSpPr>
          <p:nvPr/>
        </p:nvCxnSpPr>
        <p:spPr>
          <a:xfrm rot="5400000">
            <a:off x="3781024" y="-264142"/>
            <a:ext cx="582613" cy="209832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28DE80AB-A251-52AE-35D9-8A2D3831B283}"/>
              </a:ext>
            </a:extLst>
          </p:cNvPr>
          <p:cNvSpPr txBox="1"/>
          <p:nvPr/>
        </p:nvSpPr>
        <p:spPr>
          <a:xfrm>
            <a:off x="3667713" y="1114184"/>
            <a:ext cx="1473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EmailAddress</a:t>
            </a:r>
            <a:endParaRPr lang="en-NZ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2" name="Flowchart: Decision 101">
            <a:extLst>
              <a:ext uri="{FF2B5EF4-FFF2-40B4-BE49-F238E27FC236}">
                <a16:creationId xmlns:a16="http://schemas.microsoft.com/office/drawing/2014/main" id="{2040943A-F355-8A85-F4EF-7B2FFEA88F17}"/>
              </a:ext>
            </a:extLst>
          </p:cNvPr>
          <p:cNvSpPr/>
          <p:nvPr/>
        </p:nvSpPr>
        <p:spPr>
          <a:xfrm>
            <a:off x="2355856" y="2960846"/>
            <a:ext cx="1334834" cy="792232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sz="1200" dirty="0"/>
              <a:t>Email Known?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E311C5F5-B586-F0BC-CEC8-B06ADD11D3D7}"/>
              </a:ext>
            </a:extLst>
          </p:cNvPr>
          <p:cNvSpPr txBox="1"/>
          <p:nvPr/>
        </p:nvSpPr>
        <p:spPr>
          <a:xfrm>
            <a:off x="3022606" y="3622912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no</a:t>
            </a:r>
          </a:p>
        </p:txBody>
      </p:sp>
      <p:sp>
        <p:nvSpPr>
          <p:cNvPr id="104" name="Flowchart: Decision 103">
            <a:extLst>
              <a:ext uri="{FF2B5EF4-FFF2-40B4-BE49-F238E27FC236}">
                <a16:creationId xmlns:a16="http://schemas.microsoft.com/office/drawing/2014/main" id="{16C6FF10-1BC7-1A20-4196-112702E12915}"/>
              </a:ext>
            </a:extLst>
          </p:cNvPr>
          <p:cNvSpPr/>
          <p:nvPr/>
        </p:nvSpPr>
        <p:spPr>
          <a:xfrm>
            <a:off x="532864" y="2960846"/>
            <a:ext cx="1334834" cy="792232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sz="1200" dirty="0"/>
              <a:t>Already</a:t>
            </a:r>
          </a:p>
          <a:p>
            <a:pPr algn="ctr"/>
            <a:r>
              <a:rPr lang="en-NZ" sz="1200" dirty="0"/>
              <a:t>Registered?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EDEBE6E-2174-926F-2E9A-4B7BB913C162}"/>
              </a:ext>
            </a:extLst>
          </p:cNvPr>
          <p:cNvSpPr txBox="1"/>
          <p:nvPr/>
        </p:nvSpPr>
        <p:spPr>
          <a:xfrm>
            <a:off x="1895912" y="2993009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yes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051C3C8-10D7-577B-529D-EF9B8E5BC755}"/>
              </a:ext>
            </a:extLst>
          </p:cNvPr>
          <p:cNvSpPr txBox="1"/>
          <p:nvPr/>
        </p:nvSpPr>
        <p:spPr>
          <a:xfrm>
            <a:off x="836287" y="3753077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no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6694939-1B5A-5AA7-4080-BBA95494F469}"/>
              </a:ext>
            </a:extLst>
          </p:cNvPr>
          <p:cNvSpPr txBox="1"/>
          <p:nvPr/>
        </p:nvSpPr>
        <p:spPr>
          <a:xfrm>
            <a:off x="19341" y="3014263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yes</a:t>
            </a:r>
          </a:p>
        </p:txBody>
      </p:sp>
      <p:cxnSp>
        <p:nvCxnSpPr>
          <p:cNvPr id="108" name="Straight Arrow Connector 60">
            <a:extLst>
              <a:ext uri="{FF2B5EF4-FFF2-40B4-BE49-F238E27FC236}">
                <a16:creationId xmlns:a16="http://schemas.microsoft.com/office/drawing/2014/main" id="{05BBEC6B-F725-7793-60B0-148509293D68}"/>
              </a:ext>
            </a:extLst>
          </p:cNvPr>
          <p:cNvCxnSpPr>
            <a:cxnSpLocks/>
            <a:stCxn id="104" idx="1"/>
            <a:endCxn id="67" idx="2"/>
          </p:cNvCxnSpPr>
          <p:nvPr/>
        </p:nvCxnSpPr>
        <p:spPr>
          <a:xfrm rot="10800000" flipH="1" flipV="1">
            <a:off x="532863" y="3356962"/>
            <a:ext cx="6539123" cy="3235336"/>
          </a:xfrm>
          <a:prstGeom prst="bentConnector3">
            <a:avLst>
              <a:gd name="adj1" fmla="val -3496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AD3FD67-8EC8-4F42-1D2C-D27E22A593A2}"/>
              </a:ext>
            </a:extLst>
          </p:cNvPr>
          <p:cNvSpPr/>
          <p:nvPr/>
        </p:nvSpPr>
        <p:spPr>
          <a:xfrm>
            <a:off x="1148509" y="4373895"/>
            <a:ext cx="1719263" cy="1284326"/>
          </a:xfrm>
          <a:prstGeom prst="rect">
            <a:avLst/>
          </a:prstGeom>
          <a:ln>
            <a:prstDash val="dash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Notifications</a:t>
            </a:r>
          </a:p>
        </p:txBody>
      </p:sp>
      <p:sp>
        <p:nvSpPr>
          <p:cNvPr id="110" name="Rectangle: Rounded Corners 109">
            <a:extLst>
              <a:ext uri="{FF2B5EF4-FFF2-40B4-BE49-F238E27FC236}">
                <a16:creationId xmlns:a16="http://schemas.microsoft.com/office/drawing/2014/main" id="{B4477764-5D1C-80B3-FF1C-EDCF8B726064}"/>
              </a:ext>
            </a:extLst>
          </p:cNvPr>
          <p:cNvSpPr/>
          <p:nvPr/>
        </p:nvSpPr>
        <p:spPr>
          <a:xfrm>
            <a:off x="1341390" y="4711931"/>
            <a:ext cx="1333500" cy="79679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Sent Invitation</a:t>
            </a:r>
          </a:p>
          <a:p>
            <a:pPr algn="ctr"/>
            <a:r>
              <a:rPr lang="en-NZ" sz="1400" dirty="0"/>
              <a:t>Email </a:t>
            </a:r>
            <a:r>
              <a:rPr lang="en-NZ" sz="1000" dirty="0"/>
              <a:t>+</a:t>
            </a:r>
            <a:r>
              <a:rPr lang="en-NZ" sz="1000" dirty="0" err="1"/>
              <a:t>InvitationToken</a:t>
            </a:r>
            <a:r>
              <a:rPr lang="en-NZ" sz="1000" dirty="0"/>
              <a:t> 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9A82811-7464-F6A6-A299-0E6756225D03}"/>
              </a:ext>
            </a:extLst>
          </p:cNvPr>
          <p:cNvCxnSpPr>
            <a:cxnSpLocks/>
            <a:stCxn id="97" idx="2"/>
            <a:endCxn id="102" idx="0"/>
          </p:cNvCxnSpPr>
          <p:nvPr/>
        </p:nvCxnSpPr>
        <p:spPr>
          <a:xfrm>
            <a:off x="3023169" y="1445657"/>
            <a:ext cx="104" cy="151518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7598438F-7338-FFC7-A901-010681DD9763}"/>
              </a:ext>
            </a:extLst>
          </p:cNvPr>
          <p:cNvCxnSpPr>
            <a:cxnSpLocks/>
            <a:stCxn id="102" idx="1"/>
            <a:endCxn id="104" idx="3"/>
          </p:cNvCxnSpPr>
          <p:nvPr/>
        </p:nvCxnSpPr>
        <p:spPr>
          <a:xfrm flipH="1">
            <a:off x="1867698" y="3356962"/>
            <a:ext cx="48815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0744897-62F4-6853-E1D0-0DF2A127D64B}"/>
              </a:ext>
            </a:extLst>
          </p:cNvPr>
          <p:cNvSpPr txBox="1"/>
          <p:nvPr/>
        </p:nvSpPr>
        <p:spPr>
          <a:xfrm>
            <a:off x="2115572" y="5843338"/>
            <a:ext cx="2323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Status = “</a:t>
            </a:r>
            <a:r>
              <a:rPr lang="en-NZ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UnRegistered</a:t>
            </a:r>
            <a:r>
              <a:rPr lang="en-NZ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  <a:p>
            <a:r>
              <a:rPr lang="en-NZ" sz="1200" dirty="0">
                <a:cs typeface="Courier New" panose="02070309020205020404" pitchFamily="49" charset="0"/>
              </a:rPr>
              <a:t>No </a:t>
            </a:r>
            <a:r>
              <a:rPr lang="en-NZ" sz="1200" dirty="0" err="1">
                <a:cs typeface="Courier New" panose="02070309020205020404" pitchFamily="49" charset="0"/>
              </a:rPr>
              <a:t>UserProfile</a:t>
            </a:r>
            <a:br>
              <a:rPr lang="en-NZ" sz="1200" dirty="0">
                <a:cs typeface="Courier New" panose="02070309020205020404" pitchFamily="49" charset="0"/>
              </a:rPr>
            </a:br>
            <a:r>
              <a:rPr lang="en-NZ" sz="1200" dirty="0">
                <a:cs typeface="Courier New" panose="02070309020205020404" pitchFamily="49" charset="0"/>
              </a:rPr>
              <a:t>No Organizations</a:t>
            </a:r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8537BE6C-06F2-5F71-C7D9-C2DCD9367C30}"/>
              </a:ext>
            </a:extLst>
          </p:cNvPr>
          <p:cNvSpPr/>
          <p:nvPr/>
        </p:nvSpPr>
        <p:spPr>
          <a:xfrm>
            <a:off x="1880028" y="5872703"/>
            <a:ext cx="257175" cy="25717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44E28ADE-17CD-F8BF-3494-54D13728376C}"/>
              </a:ext>
            </a:extLst>
          </p:cNvPr>
          <p:cNvCxnSpPr>
            <a:cxnSpLocks/>
            <a:stCxn id="109" idx="2"/>
            <a:endCxn id="118" idx="0"/>
          </p:cNvCxnSpPr>
          <p:nvPr/>
        </p:nvCxnSpPr>
        <p:spPr>
          <a:xfrm>
            <a:off x="2008141" y="5658221"/>
            <a:ext cx="475" cy="21448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EEF87ED4-99C2-86F9-C1BD-EEF3706558F6}"/>
              </a:ext>
            </a:extLst>
          </p:cNvPr>
          <p:cNvCxnSpPr>
            <a:cxnSpLocks/>
            <a:stCxn id="102" idx="2"/>
            <a:endCxn id="109" idx="0"/>
          </p:cNvCxnSpPr>
          <p:nvPr/>
        </p:nvCxnSpPr>
        <p:spPr>
          <a:xfrm rot="5400000">
            <a:off x="2205299" y="3555920"/>
            <a:ext cx="620817" cy="1015132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0759B787-BD61-4564-A792-FC2FB05BEECE}"/>
              </a:ext>
            </a:extLst>
          </p:cNvPr>
          <p:cNvCxnSpPr>
            <a:cxnSpLocks/>
            <a:stCxn id="104" idx="2"/>
            <a:endCxn id="109" idx="0"/>
          </p:cNvCxnSpPr>
          <p:nvPr/>
        </p:nvCxnSpPr>
        <p:spPr>
          <a:xfrm rot="16200000" flipH="1">
            <a:off x="1293803" y="3659556"/>
            <a:ext cx="620817" cy="807860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9D7F3EF6-FF5F-255F-1FE9-EA8F4E78B579}"/>
              </a:ext>
            </a:extLst>
          </p:cNvPr>
          <p:cNvCxnSpPr>
            <a:cxnSpLocks/>
            <a:stCxn id="92" idx="2"/>
            <a:endCxn id="67" idx="1"/>
          </p:cNvCxnSpPr>
          <p:nvPr/>
        </p:nvCxnSpPr>
        <p:spPr>
          <a:xfrm rot="16200000" flipH="1">
            <a:off x="5346632" y="4738355"/>
            <a:ext cx="839912" cy="2686121"/>
          </a:xfrm>
          <a:prstGeom prst="bentConnector3">
            <a:avLst>
              <a:gd name="adj1" fmla="val 72681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lowchart: Decision 5">
            <a:extLst>
              <a:ext uri="{FF2B5EF4-FFF2-40B4-BE49-F238E27FC236}">
                <a16:creationId xmlns:a16="http://schemas.microsoft.com/office/drawing/2014/main" id="{C824B504-8EDE-137B-C0C8-EF87BBA3F51A}"/>
              </a:ext>
            </a:extLst>
          </p:cNvPr>
          <p:cNvSpPr/>
          <p:nvPr/>
        </p:nvSpPr>
        <p:spPr>
          <a:xfrm>
            <a:off x="6530109" y="1749366"/>
            <a:ext cx="1334834" cy="792232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sz="1200" dirty="0"/>
              <a:t>Invitation</a:t>
            </a:r>
          </a:p>
          <a:p>
            <a:pPr algn="ctr"/>
            <a:r>
              <a:rPr lang="en-NZ" sz="1200" dirty="0"/>
              <a:t>Token?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04A212E-EE66-0FF5-27B3-CB9A189C77AB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7197526" y="1445657"/>
            <a:ext cx="667" cy="3037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D7C2018-8BE3-AC1D-DFE9-7C43915D0DFB}"/>
              </a:ext>
            </a:extLst>
          </p:cNvPr>
          <p:cNvCxnSpPr>
            <a:cxnSpLocks/>
            <a:stCxn id="14" idx="2"/>
            <a:endCxn id="30" idx="0"/>
          </p:cNvCxnSpPr>
          <p:nvPr/>
        </p:nvCxnSpPr>
        <p:spPr>
          <a:xfrm>
            <a:off x="8941760" y="2543302"/>
            <a:ext cx="667" cy="56322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5E519CA4-8C3B-4DAE-AACF-993223D5A3C4}"/>
              </a:ext>
            </a:extLst>
          </p:cNvPr>
          <p:cNvSpPr txBox="1"/>
          <p:nvPr/>
        </p:nvSpPr>
        <p:spPr>
          <a:xfrm>
            <a:off x="7180851" y="2426761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no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CEBE0531-A84A-BD76-FE26-436AF9922F28}"/>
              </a:ext>
            </a:extLst>
          </p:cNvPr>
          <p:cNvSpPr/>
          <p:nvPr/>
        </p:nvSpPr>
        <p:spPr>
          <a:xfrm>
            <a:off x="8275677" y="3106527"/>
            <a:ext cx="1333500" cy="36933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600" dirty="0"/>
              <a:t>Accepted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D63383F-ED62-4445-F92A-362E0DCB2960}"/>
              </a:ext>
            </a:extLst>
          </p:cNvPr>
          <p:cNvCxnSpPr>
            <a:cxnSpLocks/>
            <a:stCxn id="6" idx="3"/>
            <a:endCxn id="14" idx="1"/>
          </p:cNvCxnSpPr>
          <p:nvPr/>
        </p:nvCxnSpPr>
        <p:spPr>
          <a:xfrm>
            <a:off x="7864943" y="2145482"/>
            <a:ext cx="409400" cy="170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F4E700E-11D0-85D7-D400-8293BC852F79}"/>
              </a:ext>
            </a:extLst>
          </p:cNvPr>
          <p:cNvSpPr txBox="1"/>
          <p:nvPr/>
        </p:nvSpPr>
        <p:spPr>
          <a:xfrm>
            <a:off x="7766390" y="1788181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yes</a:t>
            </a:r>
          </a:p>
        </p:txBody>
      </p:sp>
      <p:sp>
        <p:nvSpPr>
          <p:cNvPr id="14" name="Flowchart: Decision 13">
            <a:extLst>
              <a:ext uri="{FF2B5EF4-FFF2-40B4-BE49-F238E27FC236}">
                <a16:creationId xmlns:a16="http://schemas.microsoft.com/office/drawing/2014/main" id="{E6B9E1EB-9A78-ECF5-C9D8-04AF058AC2F1}"/>
              </a:ext>
            </a:extLst>
          </p:cNvPr>
          <p:cNvSpPr/>
          <p:nvPr/>
        </p:nvSpPr>
        <p:spPr>
          <a:xfrm>
            <a:off x="8274343" y="1751070"/>
            <a:ext cx="1334834" cy="792232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sz="1200" dirty="0"/>
              <a:t>Email Known?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3450176-48E9-2FDE-D71F-B1C09EB20CC6}"/>
              </a:ext>
            </a:extLst>
          </p:cNvPr>
          <p:cNvCxnSpPr>
            <a:cxnSpLocks/>
            <a:stCxn id="30" idx="2"/>
            <a:endCxn id="41" idx="0"/>
          </p:cNvCxnSpPr>
          <p:nvPr/>
        </p:nvCxnSpPr>
        <p:spPr>
          <a:xfrm rot="5400000">
            <a:off x="7669511" y="3006923"/>
            <a:ext cx="803980" cy="1741852"/>
          </a:xfrm>
          <a:prstGeom prst="bentConnector3">
            <a:avLst>
              <a:gd name="adj1" fmla="val 71799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365AFD6-0C07-C78D-C85B-E022F07FA280}"/>
              </a:ext>
            </a:extLst>
          </p:cNvPr>
          <p:cNvSpPr txBox="1"/>
          <p:nvPr/>
        </p:nvSpPr>
        <p:spPr>
          <a:xfrm>
            <a:off x="8965677" y="2417998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no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EDE9E4D-4896-B853-A3B4-02CDDA17A856}"/>
              </a:ext>
            </a:extLst>
          </p:cNvPr>
          <p:cNvCxnSpPr>
            <a:cxnSpLocks/>
            <a:stCxn id="14" idx="3"/>
            <a:endCxn id="27" idx="5"/>
          </p:cNvCxnSpPr>
          <p:nvPr/>
        </p:nvCxnSpPr>
        <p:spPr>
          <a:xfrm>
            <a:off x="9609177" y="2147186"/>
            <a:ext cx="512846" cy="3343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9066B7A-DEB2-3E47-3AC8-7311BD37E6A6}"/>
              </a:ext>
            </a:extLst>
          </p:cNvPr>
          <p:cNvSpPr txBox="1"/>
          <p:nvPr/>
        </p:nvSpPr>
        <p:spPr>
          <a:xfrm>
            <a:off x="9545680" y="1788060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yes</a:t>
            </a:r>
          </a:p>
        </p:txBody>
      </p:sp>
      <p:sp>
        <p:nvSpPr>
          <p:cNvPr id="27" name="Octagon 26">
            <a:extLst>
              <a:ext uri="{FF2B5EF4-FFF2-40B4-BE49-F238E27FC236}">
                <a16:creationId xmlns:a16="http://schemas.microsoft.com/office/drawing/2014/main" id="{490A0A11-C2CE-AE43-F1B1-A8D36CFFD6C9}"/>
              </a:ext>
            </a:extLst>
          </p:cNvPr>
          <p:cNvSpPr/>
          <p:nvPr/>
        </p:nvSpPr>
        <p:spPr>
          <a:xfrm>
            <a:off x="10122023" y="2007791"/>
            <a:ext cx="487344" cy="487344"/>
          </a:xfrm>
          <a:prstGeom prst="octagon">
            <a:avLst/>
          </a:prstGeom>
          <a:solidFill>
            <a:srgbClr val="C00000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NZ" sz="1200" dirty="0"/>
              <a:t>Error!</a:t>
            </a:r>
          </a:p>
        </p:txBody>
      </p:sp>
    </p:spTree>
    <p:extLst>
      <p:ext uri="{BB962C8B-B14F-4D97-AF65-F5344CB8AC3E}">
        <p14:creationId xmlns:p14="http://schemas.microsoft.com/office/powerpoint/2010/main" val="532427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182B457-C402-E5C1-634F-5E5C436CF07C}"/>
              </a:ext>
            </a:extLst>
          </p:cNvPr>
          <p:cNvSpPr txBox="1"/>
          <p:nvPr/>
        </p:nvSpPr>
        <p:spPr>
          <a:xfrm>
            <a:off x="267419" y="207034"/>
            <a:ext cx="48814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Stub Queue/</a:t>
            </a:r>
            <a:r>
              <a:rPr lang="en-NZ" sz="2400" dirty="0" err="1"/>
              <a:t>MessageBus</a:t>
            </a:r>
            <a:r>
              <a:rPr lang="en-NZ" sz="2400" dirty="0"/>
              <a:t> Triggers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55B48A7-DC05-CD78-14CB-A611FF38D77B}"/>
              </a:ext>
            </a:extLst>
          </p:cNvPr>
          <p:cNvSpPr/>
          <p:nvPr/>
        </p:nvSpPr>
        <p:spPr>
          <a:xfrm>
            <a:off x="638175" y="1304925"/>
            <a:ext cx="2933700" cy="15430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 err="1"/>
              <a:t>AnyTestingOnlyStore</a:t>
            </a:r>
            <a:endParaRPr lang="en-NZ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06897C1-186F-BD50-E114-E4D42C5C3EE9}"/>
              </a:ext>
            </a:extLst>
          </p:cNvPr>
          <p:cNvSpPr/>
          <p:nvPr/>
        </p:nvSpPr>
        <p:spPr>
          <a:xfrm>
            <a:off x="895350" y="1847850"/>
            <a:ext cx="2505075" cy="38100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 err="1"/>
              <a:t>IQueueStoreTrigger</a:t>
            </a:r>
            <a:r>
              <a:rPr lang="en-NZ" sz="1400" dirty="0"/>
              <a:t>.</a:t>
            </a:r>
          </a:p>
          <a:p>
            <a:pPr algn="ctr"/>
            <a:r>
              <a:rPr lang="en-NZ" sz="1400" dirty="0" err="1"/>
              <a:t>FireQueueMesage</a:t>
            </a:r>
            <a:endParaRPr lang="en-NZ" sz="14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EB2CEDE-4571-8C72-EC28-AC474BFAA76A}"/>
              </a:ext>
            </a:extLst>
          </p:cNvPr>
          <p:cNvSpPr/>
          <p:nvPr/>
        </p:nvSpPr>
        <p:spPr>
          <a:xfrm>
            <a:off x="895350" y="2285999"/>
            <a:ext cx="2505075" cy="38100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 err="1"/>
              <a:t>IMessageBusStoreTrigger</a:t>
            </a:r>
            <a:r>
              <a:rPr lang="en-NZ" sz="1400" dirty="0"/>
              <a:t>.</a:t>
            </a:r>
          </a:p>
          <a:p>
            <a:pPr algn="ctr"/>
            <a:r>
              <a:rPr lang="en-NZ" sz="1400" dirty="0" err="1"/>
              <a:t>FireTopicMessage</a:t>
            </a:r>
            <a:endParaRPr lang="en-NZ" sz="14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B5E5FF0-E4A5-6363-A2BC-8E73035D31BD}"/>
              </a:ext>
            </a:extLst>
          </p:cNvPr>
          <p:cNvSpPr/>
          <p:nvPr/>
        </p:nvSpPr>
        <p:spPr>
          <a:xfrm>
            <a:off x="3829050" y="1766887"/>
            <a:ext cx="2647950" cy="43814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100" dirty="0" err="1"/>
              <a:t>IMessageNotificationHandler</a:t>
            </a:r>
            <a:r>
              <a:rPr lang="en-NZ" sz="1100" dirty="0"/>
              <a:t>.</a:t>
            </a:r>
          </a:p>
          <a:p>
            <a:pPr algn="ctr"/>
            <a:r>
              <a:rPr lang="en-NZ" sz="1100" dirty="0" err="1"/>
              <a:t>HandleMessageArrivedOnQueue</a:t>
            </a:r>
            <a:r>
              <a:rPr lang="en-NZ" sz="1100" dirty="0"/>
              <a:t>()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8072CB-0249-5684-CB43-EAEC430B8754}"/>
              </a:ext>
            </a:extLst>
          </p:cNvPr>
          <p:cNvSpPr/>
          <p:nvPr/>
        </p:nvSpPr>
        <p:spPr>
          <a:xfrm>
            <a:off x="3829050" y="2343149"/>
            <a:ext cx="2647950" cy="43814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100" dirty="0" err="1"/>
              <a:t>IMessageNotificationHandler</a:t>
            </a:r>
            <a:r>
              <a:rPr lang="en-NZ" sz="1100" dirty="0"/>
              <a:t>.</a:t>
            </a:r>
          </a:p>
          <a:p>
            <a:pPr algn="ctr"/>
            <a:r>
              <a:rPr lang="en-NZ" sz="1100" dirty="0" err="1"/>
              <a:t>HandleMessageArrivedOnBusTopic</a:t>
            </a:r>
            <a:r>
              <a:rPr lang="en-NZ" sz="1100" dirty="0"/>
              <a:t>()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8162604-2D4E-802F-D488-0009BBF0F132}"/>
              </a:ext>
            </a:extLst>
          </p:cNvPr>
          <p:cNvSpPr/>
          <p:nvPr/>
        </p:nvSpPr>
        <p:spPr>
          <a:xfrm>
            <a:off x="6734175" y="2383629"/>
            <a:ext cx="2514600" cy="3571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 err="1"/>
              <a:t>IMonitoredMessageBusTopics</a:t>
            </a:r>
            <a:r>
              <a:rPr lang="en-NZ" sz="1200" dirty="0"/>
              <a:t>.</a:t>
            </a:r>
          </a:p>
          <a:p>
            <a:pPr algn="ctr"/>
            <a:r>
              <a:rPr lang="en-NZ" sz="1200" dirty="0" err="1"/>
              <a:t>AddTopicName</a:t>
            </a:r>
            <a:r>
              <a:rPr lang="en-NZ" sz="1200" dirty="0"/>
              <a:t>()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A1E2C5B-1218-9228-7D20-3DCA85DED7A3}"/>
              </a:ext>
            </a:extLst>
          </p:cNvPr>
          <p:cNvSpPr/>
          <p:nvPr/>
        </p:nvSpPr>
        <p:spPr>
          <a:xfrm>
            <a:off x="6734175" y="1807367"/>
            <a:ext cx="2514600" cy="3571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 err="1"/>
              <a:t>IMonitoredMessageQueues</a:t>
            </a:r>
            <a:r>
              <a:rPr lang="en-NZ" sz="1200" dirty="0"/>
              <a:t>.</a:t>
            </a:r>
          </a:p>
          <a:p>
            <a:pPr algn="ctr"/>
            <a:r>
              <a:rPr lang="en-NZ" sz="1200" dirty="0" err="1"/>
              <a:t>AddQueueName</a:t>
            </a:r>
            <a:r>
              <a:rPr lang="en-NZ" sz="1200" dirty="0"/>
              <a:t>()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4FFEFF2-0464-9713-60F9-82C1BA63089D}"/>
              </a:ext>
            </a:extLst>
          </p:cNvPr>
          <p:cNvSpPr/>
          <p:nvPr/>
        </p:nvSpPr>
        <p:spPr>
          <a:xfrm>
            <a:off x="435801" y="3592515"/>
            <a:ext cx="6041199" cy="20462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 err="1"/>
              <a:t>StubCloudWorkerService</a:t>
            </a:r>
            <a:endParaRPr lang="en-NZ" dirty="0"/>
          </a:p>
          <a:p>
            <a:pPr algn="ctr"/>
            <a:r>
              <a:rPr lang="en-NZ" sz="900" dirty="0"/>
              <a:t>(background service)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8274D4D-4648-A69F-8DD5-26B19BEBEBEB}"/>
              </a:ext>
            </a:extLst>
          </p:cNvPr>
          <p:cNvSpPr/>
          <p:nvPr/>
        </p:nvSpPr>
        <p:spPr>
          <a:xfrm>
            <a:off x="1918462" y="4029074"/>
            <a:ext cx="134175" cy="119066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300D4B6-C923-8EE7-A284-C91EA0BF03F9}"/>
              </a:ext>
            </a:extLst>
          </p:cNvPr>
          <p:cNvSpPr/>
          <p:nvPr/>
        </p:nvSpPr>
        <p:spPr>
          <a:xfrm>
            <a:off x="561975" y="4354513"/>
            <a:ext cx="2838450" cy="3556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 err="1"/>
              <a:t>IMonitoredMessageQueues</a:t>
            </a:r>
            <a:r>
              <a:rPr lang="en-NZ" sz="1050" dirty="0"/>
              <a:t>.</a:t>
            </a:r>
          </a:p>
          <a:p>
            <a:pPr algn="ctr"/>
            <a:r>
              <a:rPr lang="en-NZ" sz="1050" dirty="0" err="1"/>
              <a:t>NextQueueName</a:t>
            </a:r>
            <a:r>
              <a:rPr lang="en-NZ" sz="1050" dirty="0"/>
              <a:t>()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4F0D40A-7D75-2F88-D165-604E3F84161A}"/>
              </a:ext>
            </a:extLst>
          </p:cNvPr>
          <p:cNvSpPr/>
          <p:nvPr/>
        </p:nvSpPr>
        <p:spPr>
          <a:xfrm>
            <a:off x="561975" y="4873624"/>
            <a:ext cx="2838450" cy="3556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 err="1"/>
              <a:t>ServiceClient</a:t>
            </a:r>
            <a:r>
              <a:rPr lang="en-NZ" sz="1050" dirty="0"/>
              <a:t>.</a:t>
            </a:r>
          </a:p>
          <a:p>
            <a:pPr algn="ctr"/>
            <a:r>
              <a:rPr lang="en-NZ" sz="1050" dirty="0"/>
              <a:t>Post&lt;</a:t>
            </a:r>
            <a:r>
              <a:rPr lang="en-NZ" sz="1050" dirty="0" err="1"/>
              <a:t>DrainAllQueueMessages</a:t>
            </a:r>
            <a:r>
              <a:rPr lang="en-NZ" sz="1050" dirty="0"/>
              <a:t>&gt;()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8B7E407-657D-B53F-ED1D-630E6D8003DB}"/>
              </a:ext>
            </a:extLst>
          </p:cNvPr>
          <p:cNvCxnSpPr>
            <a:cxnSpLocks/>
            <a:stCxn id="12" idx="4"/>
            <a:endCxn id="13" idx="0"/>
          </p:cNvCxnSpPr>
          <p:nvPr/>
        </p:nvCxnSpPr>
        <p:spPr>
          <a:xfrm flipH="1">
            <a:off x="1981200" y="4148140"/>
            <a:ext cx="4350" cy="20637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31D2E17-5F35-32E3-A773-B70B085E5B51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>
            <a:off x="1981200" y="4710115"/>
            <a:ext cx="0" cy="1635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308619ED-03BB-AAD4-1C4F-9590517BC9B9}"/>
              </a:ext>
            </a:extLst>
          </p:cNvPr>
          <p:cNvSpPr/>
          <p:nvPr/>
        </p:nvSpPr>
        <p:spPr>
          <a:xfrm>
            <a:off x="1917700" y="5392735"/>
            <a:ext cx="134175" cy="119066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BA19E5D-5E16-79D6-EE5F-E19A06A10CEC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1981200" y="5229226"/>
            <a:ext cx="3588" cy="1635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214A15B-BD9E-337C-20B7-18A4F2547DCF}"/>
              </a:ext>
            </a:extLst>
          </p:cNvPr>
          <p:cNvCxnSpPr>
            <a:cxnSpLocks/>
            <a:stCxn id="20" idx="6"/>
            <a:endCxn id="12" idx="6"/>
          </p:cNvCxnSpPr>
          <p:nvPr/>
        </p:nvCxnSpPr>
        <p:spPr>
          <a:xfrm flipV="1">
            <a:off x="2051875" y="4088607"/>
            <a:ext cx="762" cy="1363661"/>
          </a:xfrm>
          <a:prstGeom prst="curvedConnector3">
            <a:avLst>
              <a:gd name="adj1" fmla="val 301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EAB1618C-74B9-02CE-A96A-2225E80170A6}"/>
              </a:ext>
            </a:extLst>
          </p:cNvPr>
          <p:cNvSpPr/>
          <p:nvPr/>
        </p:nvSpPr>
        <p:spPr>
          <a:xfrm>
            <a:off x="2262600" y="5996916"/>
            <a:ext cx="2387600" cy="6540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Ancillary</a:t>
            </a:r>
          </a:p>
          <a:p>
            <a:pPr algn="ctr"/>
            <a:r>
              <a:rPr lang="en-NZ" dirty="0"/>
              <a:t>API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86721368-955B-5B24-AE35-6303EF2A257F}"/>
              </a:ext>
            </a:extLst>
          </p:cNvPr>
          <p:cNvSpPr/>
          <p:nvPr/>
        </p:nvSpPr>
        <p:spPr>
          <a:xfrm>
            <a:off x="5227224" y="5999432"/>
            <a:ext cx="2387600" cy="6540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 err="1"/>
              <a:t>EventNotifications</a:t>
            </a:r>
            <a:r>
              <a:rPr lang="en-NZ" dirty="0"/>
              <a:t> API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A1535EE-4B84-C893-3A22-BDA1A366591E}"/>
              </a:ext>
            </a:extLst>
          </p:cNvPr>
          <p:cNvCxnSpPr>
            <a:cxnSpLocks/>
            <a:stCxn id="14" idx="3"/>
            <a:endCxn id="35" idx="0"/>
          </p:cNvCxnSpPr>
          <p:nvPr/>
        </p:nvCxnSpPr>
        <p:spPr>
          <a:xfrm>
            <a:off x="3400425" y="5051425"/>
            <a:ext cx="55975" cy="94549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11CBCCDA-8558-069B-B28D-34E0CFDC058B}"/>
              </a:ext>
            </a:extLst>
          </p:cNvPr>
          <p:cNvSpPr/>
          <p:nvPr/>
        </p:nvSpPr>
        <p:spPr>
          <a:xfrm>
            <a:off x="4880737" y="4029074"/>
            <a:ext cx="134175" cy="119066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7DDFB9AC-2BB2-87CB-ED47-0B5EC1452BD4}"/>
              </a:ext>
            </a:extLst>
          </p:cNvPr>
          <p:cNvSpPr/>
          <p:nvPr/>
        </p:nvSpPr>
        <p:spPr>
          <a:xfrm>
            <a:off x="3524250" y="4354513"/>
            <a:ext cx="2838450" cy="3556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 err="1"/>
              <a:t>IMonitoredMessageBusTopics</a:t>
            </a:r>
            <a:r>
              <a:rPr lang="en-NZ" sz="1050" dirty="0"/>
              <a:t>.</a:t>
            </a:r>
          </a:p>
          <a:p>
            <a:pPr algn="ctr"/>
            <a:r>
              <a:rPr lang="en-NZ" sz="1050" dirty="0" err="1"/>
              <a:t>NextTopicName</a:t>
            </a:r>
            <a:r>
              <a:rPr lang="en-NZ" sz="1050" dirty="0"/>
              <a:t>()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13999F57-7AFE-7F86-B4A9-ED3BE00CD68B}"/>
              </a:ext>
            </a:extLst>
          </p:cNvPr>
          <p:cNvSpPr/>
          <p:nvPr/>
        </p:nvSpPr>
        <p:spPr>
          <a:xfrm>
            <a:off x="3524250" y="4873624"/>
            <a:ext cx="2838450" cy="3556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 err="1"/>
              <a:t>ServiceClient</a:t>
            </a:r>
            <a:r>
              <a:rPr lang="en-NZ" sz="1050" dirty="0"/>
              <a:t>.</a:t>
            </a:r>
          </a:p>
          <a:p>
            <a:pPr algn="ctr"/>
            <a:r>
              <a:rPr lang="en-NZ" sz="1050" dirty="0"/>
              <a:t>Post&lt;</a:t>
            </a:r>
            <a:r>
              <a:rPr lang="en-NZ" sz="1050" dirty="0" err="1"/>
              <a:t>DrainAllSubscriberMessages</a:t>
            </a:r>
            <a:r>
              <a:rPr lang="en-NZ" sz="1050" dirty="0"/>
              <a:t>&gt;()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83740A3-75DD-A087-F59C-1FDC91014633}"/>
              </a:ext>
            </a:extLst>
          </p:cNvPr>
          <p:cNvCxnSpPr>
            <a:cxnSpLocks/>
            <a:stCxn id="41" idx="4"/>
            <a:endCxn id="42" idx="0"/>
          </p:cNvCxnSpPr>
          <p:nvPr/>
        </p:nvCxnSpPr>
        <p:spPr>
          <a:xfrm flipH="1">
            <a:off x="4943475" y="4148140"/>
            <a:ext cx="4350" cy="20637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F5C4D98-C0B1-EF49-7BD9-BC81F4FCE35D}"/>
              </a:ext>
            </a:extLst>
          </p:cNvPr>
          <p:cNvCxnSpPr>
            <a:cxnSpLocks/>
            <a:stCxn id="42" idx="2"/>
            <a:endCxn id="43" idx="0"/>
          </p:cNvCxnSpPr>
          <p:nvPr/>
        </p:nvCxnSpPr>
        <p:spPr>
          <a:xfrm>
            <a:off x="4943475" y="4710115"/>
            <a:ext cx="0" cy="1635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 45">
            <a:extLst>
              <a:ext uri="{FF2B5EF4-FFF2-40B4-BE49-F238E27FC236}">
                <a16:creationId xmlns:a16="http://schemas.microsoft.com/office/drawing/2014/main" id="{0CE5AB7E-DB28-1DA6-FC7B-03762AB53241}"/>
              </a:ext>
            </a:extLst>
          </p:cNvPr>
          <p:cNvSpPr/>
          <p:nvPr/>
        </p:nvSpPr>
        <p:spPr>
          <a:xfrm>
            <a:off x="4879975" y="5392735"/>
            <a:ext cx="134175" cy="119066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E915BB5-CD2A-DA06-05ED-E52269FFB5D7}"/>
              </a:ext>
            </a:extLst>
          </p:cNvPr>
          <p:cNvCxnSpPr>
            <a:cxnSpLocks/>
            <a:stCxn id="43" idx="2"/>
            <a:endCxn id="46" idx="0"/>
          </p:cNvCxnSpPr>
          <p:nvPr/>
        </p:nvCxnSpPr>
        <p:spPr>
          <a:xfrm>
            <a:off x="4943475" y="5229226"/>
            <a:ext cx="3588" cy="1635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29">
            <a:extLst>
              <a:ext uri="{FF2B5EF4-FFF2-40B4-BE49-F238E27FC236}">
                <a16:creationId xmlns:a16="http://schemas.microsoft.com/office/drawing/2014/main" id="{66BE6CD0-1673-905D-D8B3-099E21EE78F8}"/>
              </a:ext>
            </a:extLst>
          </p:cNvPr>
          <p:cNvCxnSpPr>
            <a:cxnSpLocks/>
            <a:stCxn id="46" idx="6"/>
            <a:endCxn id="41" idx="6"/>
          </p:cNvCxnSpPr>
          <p:nvPr/>
        </p:nvCxnSpPr>
        <p:spPr>
          <a:xfrm flipV="1">
            <a:off x="5014150" y="4088607"/>
            <a:ext cx="762" cy="1363661"/>
          </a:xfrm>
          <a:prstGeom prst="curvedConnector3">
            <a:avLst>
              <a:gd name="adj1" fmla="val 301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283D822-B9AA-430C-8498-511024E2ED46}"/>
              </a:ext>
            </a:extLst>
          </p:cNvPr>
          <p:cNvCxnSpPr>
            <a:cxnSpLocks/>
            <a:stCxn id="43" idx="3"/>
            <a:endCxn id="36" idx="0"/>
          </p:cNvCxnSpPr>
          <p:nvPr/>
        </p:nvCxnSpPr>
        <p:spPr>
          <a:xfrm>
            <a:off x="6362700" y="5051425"/>
            <a:ext cx="58324" cy="94800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AF8EDA66-8D2D-9C67-44A2-4D396A1C168A}"/>
              </a:ext>
            </a:extLst>
          </p:cNvPr>
          <p:cNvCxnSpPr>
            <a:stCxn id="4" idx="3"/>
            <a:endCxn id="6" idx="1"/>
          </p:cNvCxnSpPr>
          <p:nvPr/>
        </p:nvCxnSpPr>
        <p:spPr>
          <a:xfrm flipV="1">
            <a:off x="3400425" y="1985962"/>
            <a:ext cx="428625" cy="523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4C4C561-AECC-5377-B3E2-D8F129E1C3A0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 flipV="1">
            <a:off x="6477000" y="1985961"/>
            <a:ext cx="257175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62436833-304F-C01B-F064-B50351C89914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6477000" y="2562223"/>
            <a:ext cx="257175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33F8DBE6-2260-BBF1-01D7-A04BC6C17386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>
            <a:off x="3400425" y="2476500"/>
            <a:ext cx="428625" cy="857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allout: Line 6">
            <a:extLst>
              <a:ext uri="{FF2B5EF4-FFF2-40B4-BE49-F238E27FC236}">
                <a16:creationId xmlns:a16="http://schemas.microsoft.com/office/drawing/2014/main" id="{67FE776C-AA9A-1023-5C22-EEB71DF9CA84}"/>
              </a:ext>
            </a:extLst>
          </p:cNvPr>
          <p:cNvSpPr/>
          <p:nvPr/>
        </p:nvSpPr>
        <p:spPr>
          <a:xfrm>
            <a:off x="6991350" y="3581533"/>
            <a:ext cx="809625" cy="357188"/>
          </a:xfrm>
          <a:prstGeom prst="borderCallout1">
            <a:avLst>
              <a:gd name="adj1" fmla="val 18750"/>
              <a:gd name="adj2" fmla="val -8333"/>
              <a:gd name="adj3" fmla="val 128500"/>
              <a:gd name="adj4" fmla="val -24050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100" dirty="0">
                <a:solidFill>
                  <a:schemeClr val="tx1"/>
                </a:solidFill>
              </a:rPr>
              <a:t>Polling loops</a:t>
            </a:r>
          </a:p>
        </p:txBody>
      </p:sp>
    </p:spTree>
    <p:extLst>
      <p:ext uri="{BB962C8B-B14F-4D97-AF65-F5344CB8AC3E}">
        <p14:creationId xmlns:p14="http://schemas.microsoft.com/office/powerpoint/2010/main" val="22560640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996B733-9850-D159-3D7D-DEFB81CA7CD6}"/>
              </a:ext>
            </a:extLst>
          </p:cNvPr>
          <p:cNvCxnSpPr>
            <a:cxnSpLocks/>
          </p:cNvCxnSpPr>
          <p:nvPr/>
        </p:nvCxnSpPr>
        <p:spPr>
          <a:xfrm>
            <a:off x="304800" y="371475"/>
            <a:ext cx="0" cy="5905500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C121965-FDCB-C93B-08F4-CF3A0D150B25}"/>
              </a:ext>
            </a:extLst>
          </p:cNvPr>
          <p:cNvSpPr txBox="1"/>
          <p:nvPr/>
        </p:nvSpPr>
        <p:spPr>
          <a:xfrm>
            <a:off x="381000" y="133350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Effort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4DB593A-4C43-4628-F8C4-FFC14EEAB103}"/>
              </a:ext>
            </a:extLst>
          </p:cNvPr>
          <p:cNvCxnSpPr>
            <a:cxnSpLocks/>
          </p:cNvCxnSpPr>
          <p:nvPr/>
        </p:nvCxnSpPr>
        <p:spPr>
          <a:xfrm flipH="1">
            <a:off x="304800" y="6276975"/>
            <a:ext cx="11410950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B27CFE59-C42A-830D-B87A-4FED102D179D}"/>
              </a:ext>
            </a:extLst>
          </p:cNvPr>
          <p:cNvSpPr txBox="1"/>
          <p:nvPr/>
        </p:nvSpPr>
        <p:spPr>
          <a:xfrm>
            <a:off x="11334877" y="6368534"/>
            <a:ext cx="7617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/>
              <a:t>Time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ED7C80-D1C9-3027-33FF-74C2B65D8BA3}"/>
              </a:ext>
            </a:extLst>
          </p:cNvPr>
          <p:cNvSpPr txBox="1"/>
          <p:nvPr/>
        </p:nvSpPr>
        <p:spPr>
          <a:xfrm>
            <a:off x="1238969" y="588316"/>
            <a:ext cx="43829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When to Integrate with a BMS?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F3993A-34F4-E404-44BB-96E4A216BC4F}"/>
              </a:ext>
            </a:extLst>
          </p:cNvPr>
          <p:cNvSpPr/>
          <p:nvPr/>
        </p:nvSpPr>
        <p:spPr>
          <a:xfrm>
            <a:off x="304800" y="6185417"/>
            <a:ext cx="4248150" cy="84267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6" name="Trapezoid 15">
            <a:extLst>
              <a:ext uri="{FF2B5EF4-FFF2-40B4-BE49-F238E27FC236}">
                <a16:creationId xmlns:a16="http://schemas.microsoft.com/office/drawing/2014/main" id="{DBF1BBAA-DF74-6C08-C15F-F8AA59444969}"/>
              </a:ext>
            </a:extLst>
          </p:cNvPr>
          <p:cNvSpPr/>
          <p:nvPr/>
        </p:nvSpPr>
        <p:spPr>
          <a:xfrm>
            <a:off x="4486275" y="1438340"/>
            <a:ext cx="2285981" cy="4831344"/>
          </a:xfrm>
          <a:prstGeom prst="trapezoid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7" name="Trapezoid 16">
            <a:extLst>
              <a:ext uri="{FF2B5EF4-FFF2-40B4-BE49-F238E27FC236}">
                <a16:creationId xmlns:a16="http://schemas.microsoft.com/office/drawing/2014/main" id="{02C2BB38-A6CB-64D1-EA26-C01D0631D320}"/>
              </a:ext>
            </a:extLst>
          </p:cNvPr>
          <p:cNvSpPr/>
          <p:nvPr/>
        </p:nvSpPr>
        <p:spPr>
          <a:xfrm>
            <a:off x="7677159" y="4931229"/>
            <a:ext cx="819142" cy="1011884"/>
          </a:xfrm>
          <a:prstGeom prst="trapezoid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8" name="Trapezoid 17">
            <a:extLst>
              <a:ext uri="{FF2B5EF4-FFF2-40B4-BE49-F238E27FC236}">
                <a16:creationId xmlns:a16="http://schemas.microsoft.com/office/drawing/2014/main" id="{443E8941-4262-426D-99FB-4A71ACA4703F}"/>
              </a:ext>
            </a:extLst>
          </p:cNvPr>
          <p:cNvSpPr/>
          <p:nvPr/>
        </p:nvSpPr>
        <p:spPr>
          <a:xfrm>
            <a:off x="8896359" y="4931229"/>
            <a:ext cx="419091" cy="1011884"/>
          </a:xfrm>
          <a:prstGeom prst="trapezoid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9" name="Trapezoid 18">
            <a:extLst>
              <a:ext uri="{FF2B5EF4-FFF2-40B4-BE49-F238E27FC236}">
                <a16:creationId xmlns:a16="http://schemas.microsoft.com/office/drawing/2014/main" id="{4464C65D-F9A2-E312-DE50-9E6EA6E9E78A}"/>
              </a:ext>
            </a:extLst>
          </p:cNvPr>
          <p:cNvSpPr/>
          <p:nvPr/>
        </p:nvSpPr>
        <p:spPr>
          <a:xfrm>
            <a:off x="9944109" y="3988255"/>
            <a:ext cx="819142" cy="1962149"/>
          </a:xfrm>
          <a:prstGeom prst="trapezoid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0" name="Callout: Line 19">
            <a:extLst>
              <a:ext uri="{FF2B5EF4-FFF2-40B4-BE49-F238E27FC236}">
                <a16:creationId xmlns:a16="http://schemas.microsoft.com/office/drawing/2014/main" id="{F80B375E-EA1E-0879-0C26-B863EE1508DA}"/>
              </a:ext>
            </a:extLst>
          </p:cNvPr>
          <p:cNvSpPr/>
          <p:nvPr/>
        </p:nvSpPr>
        <p:spPr>
          <a:xfrm>
            <a:off x="6681773" y="863193"/>
            <a:ext cx="2357446" cy="1165632"/>
          </a:xfrm>
          <a:prstGeom prst="borderCallout1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>
                <a:solidFill>
                  <a:sysClr val="windowText" lastClr="000000"/>
                </a:solidFill>
              </a:rPr>
              <a:t>Cost of Building a BMS Integration</a:t>
            </a:r>
          </a:p>
        </p:txBody>
      </p:sp>
      <p:sp>
        <p:nvSpPr>
          <p:cNvPr id="21" name="Callout: Line 20">
            <a:extLst>
              <a:ext uri="{FF2B5EF4-FFF2-40B4-BE49-F238E27FC236}">
                <a16:creationId xmlns:a16="http://schemas.microsoft.com/office/drawing/2014/main" id="{BD50D0F5-7D9D-642E-640B-6C64EA083CBE}"/>
              </a:ext>
            </a:extLst>
          </p:cNvPr>
          <p:cNvSpPr/>
          <p:nvPr/>
        </p:nvSpPr>
        <p:spPr>
          <a:xfrm>
            <a:off x="6681108" y="2688771"/>
            <a:ext cx="2615298" cy="1660442"/>
          </a:xfrm>
          <a:prstGeom prst="borderCallout1">
            <a:avLst>
              <a:gd name="adj1" fmla="val 108758"/>
              <a:gd name="adj2" fmla="val 62689"/>
              <a:gd name="adj3" fmla="val 179529"/>
              <a:gd name="adj4" fmla="val 9325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>
                <a:solidFill>
                  <a:sysClr val="windowText" lastClr="000000"/>
                </a:solidFill>
              </a:rPr>
              <a:t>Costs of Changing Pricing Model + Cost of Up-Selling existing customers to Maximize Revenue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675DEA6-DFD3-69EC-42BE-AF93F86BCCCE}"/>
              </a:ext>
            </a:extLst>
          </p:cNvPr>
          <p:cNvSpPr/>
          <p:nvPr/>
        </p:nvSpPr>
        <p:spPr>
          <a:xfrm>
            <a:off x="6791325" y="3429000"/>
            <a:ext cx="4724400" cy="2847975"/>
          </a:xfrm>
          <a:custGeom>
            <a:avLst/>
            <a:gdLst>
              <a:gd name="connsiteX0" fmla="*/ 0 w 4724400"/>
              <a:gd name="connsiteY0" fmla="*/ 2847975 h 2847975"/>
              <a:gd name="connsiteX1" fmla="*/ 666750 w 4724400"/>
              <a:gd name="connsiteY1" fmla="*/ 2152650 h 2847975"/>
              <a:gd name="connsiteX2" fmla="*/ 1076325 w 4724400"/>
              <a:gd name="connsiteY2" fmla="*/ 1838325 h 2847975"/>
              <a:gd name="connsiteX3" fmla="*/ 1800225 w 4724400"/>
              <a:gd name="connsiteY3" fmla="*/ 1428750 h 2847975"/>
              <a:gd name="connsiteX4" fmla="*/ 2190750 w 4724400"/>
              <a:gd name="connsiteY4" fmla="*/ 1371600 h 2847975"/>
              <a:gd name="connsiteX5" fmla="*/ 2809875 w 4724400"/>
              <a:gd name="connsiteY5" fmla="*/ 828675 h 2847975"/>
              <a:gd name="connsiteX6" fmla="*/ 3352800 w 4724400"/>
              <a:gd name="connsiteY6" fmla="*/ 685800 h 2847975"/>
              <a:gd name="connsiteX7" fmla="*/ 4724400 w 4724400"/>
              <a:gd name="connsiteY7" fmla="*/ 0 h 2847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724400" h="2847975">
                <a:moveTo>
                  <a:pt x="0" y="2847975"/>
                </a:moveTo>
                <a:cubicBezTo>
                  <a:pt x="243681" y="2584450"/>
                  <a:pt x="487363" y="2320925"/>
                  <a:pt x="666750" y="2152650"/>
                </a:cubicBezTo>
                <a:cubicBezTo>
                  <a:pt x="846138" y="1984375"/>
                  <a:pt x="887413" y="1958975"/>
                  <a:pt x="1076325" y="1838325"/>
                </a:cubicBezTo>
                <a:cubicBezTo>
                  <a:pt x="1265237" y="1717675"/>
                  <a:pt x="1614488" y="1506537"/>
                  <a:pt x="1800225" y="1428750"/>
                </a:cubicBezTo>
                <a:cubicBezTo>
                  <a:pt x="1985962" y="1350963"/>
                  <a:pt x="2022475" y="1471612"/>
                  <a:pt x="2190750" y="1371600"/>
                </a:cubicBezTo>
                <a:cubicBezTo>
                  <a:pt x="2359025" y="1271587"/>
                  <a:pt x="2616200" y="942975"/>
                  <a:pt x="2809875" y="828675"/>
                </a:cubicBezTo>
                <a:cubicBezTo>
                  <a:pt x="3003550" y="714375"/>
                  <a:pt x="3033713" y="823912"/>
                  <a:pt x="3352800" y="685800"/>
                </a:cubicBezTo>
                <a:cubicBezTo>
                  <a:pt x="3671887" y="547688"/>
                  <a:pt x="4198143" y="273844"/>
                  <a:pt x="4724400" y="0"/>
                </a:cubicBezTo>
              </a:path>
            </a:pathLst>
          </a:cu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F60DE1-40E0-60A0-ADFD-D28AC6CB07EC}"/>
              </a:ext>
            </a:extLst>
          </p:cNvPr>
          <p:cNvSpPr txBox="1"/>
          <p:nvPr/>
        </p:nvSpPr>
        <p:spPr>
          <a:xfrm>
            <a:off x="11049000" y="3086100"/>
            <a:ext cx="1058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>
                <a:solidFill>
                  <a:srgbClr val="00B0F0"/>
                </a:solidFill>
              </a:rPr>
              <a:t>Revenue</a:t>
            </a:r>
          </a:p>
        </p:txBody>
      </p:sp>
      <p:sp>
        <p:nvSpPr>
          <p:cNvPr id="25" name="Callout: Line 24">
            <a:extLst>
              <a:ext uri="{FF2B5EF4-FFF2-40B4-BE49-F238E27FC236}">
                <a16:creationId xmlns:a16="http://schemas.microsoft.com/office/drawing/2014/main" id="{028C988A-D940-B531-7CAD-2544D28F3CBB}"/>
              </a:ext>
            </a:extLst>
          </p:cNvPr>
          <p:cNvSpPr/>
          <p:nvPr/>
        </p:nvSpPr>
        <p:spPr>
          <a:xfrm>
            <a:off x="5143500" y="5105399"/>
            <a:ext cx="1433510" cy="698231"/>
          </a:xfrm>
          <a:prstGeom prst="borderCallout1">
            <a:avLst>
              <a:gd name="adj1" fmla="val 108758"/>
              <a:gd name="adj2" fmla="val 62689"/>
              <a:gd name="adj3" fmla="val 161802"/>
              <a:gd name="adj4" fmla="val 10877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>
                <a:solidFill>
                  <a:sysClr val="windowText" lastClr="000000"/>
                </a:solidFill>
              </a:rPr>
              <a:t>Start Charging</a:t>
            </a:r>
          </a:p>
        </p:txBody>
      </p:sp>
      <p:sp>
        <p:nvSpPr>
          <p:cNvPr id="26" name="Callout: Line 25">
            <a:extLst>
              <a:ext uri="{FF2B5EF4-FFF2-40B4-BE49-F238E27FC236}">
                <a16:creationId xmlns:a16="http://schemas.microsoft.com/office/drawing/2014/main" id="{5E54E362-940D-A3A8-8AB6-3C55252DADB7}"/>
              </a:ext>
            </a:extLst>
          </p:cNvPr>
          <p:cNvSpPr/>
          <p:nvPr/>
        </p:nvSpPr>
        <p:spPr>
          <a:xfrm>
            <a:off x="676275" y="2308643"/>
            <a:ext cx="1433510" cy="1556558"/>
          </a:xfrm>
          <a:prstGeom prst="borderCallout1">
            <a:avLst>
              <a:gd name="adj1" fmla="val 108758"/>
              <a:gd name="adj2" fmla="val 62689"/>
              <a:gd name="adj3" fmla="val 243706"/>
              <a:gd name="adj4" fmla="val -2155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>
                <a:solidFill>
                  <a:sysClr val="windowText" lastClr="000000"/>
                </a:solidFill>
              </a:rPr>
              <a:t>Start using the built-in Billing Provider</a:t>
            </a:r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28DF5439-F128-5179-6C12-3C8E0314DC54}"/>
              </a:ext>
            </a:extLst>
          </p:cNvPr>
          <p:cNvSpPr/>
          <p:nvPr/>
        </p:nvSpPr>
        <p:spPr>
          <a:xfrm rot="16200000">
            <a:off x="2244210" y="3639666"/>
            <a:ext cx="369331" cy="4248151"/>
          </a:xfrm>
          <a:prstGeom prst="rightBrace">
            <a:avLst>
              <a:gd name="adj1" fmla="val 8333"/>
              <a:gd name="adj2" fmla="val 49744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F8AF7D9-CAD0-7936-59E3-B4243817A2CC}"/>
              </a:ext>
            </a:extLst>
          </p:cNvPr>
          <p:cNvSpPr txBox="1"/>
          <p:nvPr/>
        </p:nvSpPr>
        <p:spPr>
          <a:xfrm>
            <a:off x="1458704" y="4378747"/>
            <a:ext cx="307488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Maximize this time before</a:t>
            </a:r>
          </a:p>
          <a:p>
            <a:r>
              <a:rPr lang="en-NZ" dirty="0"/>
              <a:t>installing an integration</a:t>
            </a:r>
          </a:p>
          <a:p>
            <a:r>
              <a:rPr lang="en-NZ" dirty="0"/>
              <a:t>with another Billing provider</a:t>
            </a:r>
          </a:p>
          <a:p>
            <a:r>
              <a:rPr lang="en-NZ" dirty="0"/>
              <a:t>(e.g. </a:t>
            </a:r>
            <a:r>
              <a:rPr lang="en-NZ" dirty="0" err="1"/>
              <a:t>Chargebee</a:t>
            </a:r>
            <a:r>
              <a:rPr lang="en-NZ" dirty="0"/>
              <a:t>), ~1-2 years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54588A5-325A-7343-6990-8D3AB9FEA8E6}"/>
              </a:ext>
            </a:extLst>
          </p:cNvPr>
          <p:cNvSpPr/>
          <p:nvPr/>
        </p:nvSpPr>
        <p:spPr>
          <a:xfrm>
            <a:off x="6705579" y="5943114"/>
            <a:ext cx="4920363" cy="316076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2497315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A54082-1A7E-53BD-C457-310B01AC3EB6}"/>
              </a:ext>
            </a:extLst>
          </p:cNvPr>
          <p:cNvSpPr txBox="1"/>
          <p:nvPr/>
        </p:nvSpPr>
        <p:spPr>
          <a:xfrm>
            <a:off x="120033" y="113302"/>
            <a:ext cx="34467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Billing Providers - Flows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32B02C4-1C3F-BA1D-C7DB-F6E51D910663}"/>
              </a:ext>
            </a:extLst>
          </p:cNvPr>
          <p:cNvSpPr/>
          <p:nvPr/>
        </p:nvSpPr>
        <p:spPr>
          <a:xfrm>
            <a:off x="2809375" y="1040729"/>
            <a:ext cx="240632" cy="2406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5376D24-9E41-BD73-B6FE-69F2268E2B3C}"/>
              </a:ext>
            </a:extLst>
          </p:cNvPr>
          <p:cNvSpPr/>
          <p:nvPr/>
        </p:nvSpPr>
        <p:spPr>
          <a:xfrm>
            <a:off x="2333376" y="1428368"/>
            <a:ext cx="1192630" cy="461666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Organization</a:t>
            </a:r>
          </a:p>
          <a:p>
            <a:pPr algn="ctr"/>
            <a:r>
              <a:rPr lang="en-NZ" sz="1200" dirty="0"/>
              <a:t>Created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BCD5CA3-24EC-AD6C-0E23-ED66FF136D2F}"/>
              </a:ext>
            </a:extLst>
          </p:cNvPr>
          <p:cNvSpPr/>
          <p:nvPr/>
        </p:nvSpPr>
        <p:spPr>
          <a:xfrm>
            <a:off x="1354964" y="2196231"/>
            <a:ext cx="1574727" cy="46166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Subscription</a:t>
            </a:r>
          </a:p>
          <a:p>
            <a:pPr algn="ctr"/>
            <a:r>
              <a:rPr lang="en-NZ" sz="1200" dirty="0"/>
              <a:t>Created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7158320-0525-85D2-1422-9C5B89CE1360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rot="5400000">
            <a:off x="2382912" y="1649451"/>
            <a:ext cx="306197" cy="787363"/>
          </a:xfrm>
          <a:prstGeom prst="curvedConnector3">
            <a:avLst>
              <a:gd name="adj1" fmla="val 50000"/>
            </a:avLst>
          </a:prstGeom>
          <a:ln w="38100"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AED8273-E96D-09F0-63E9-E5332A1AFE27}"/>
              </a:ext>
            </a:extLst>
          </p:cNvPr>
          <p:cNvSpPr/>
          <p:nvPr/>
        </p:nvSpPr>
        <p:spPr>
          <a:xfrm>
            <a:off x="198522" y="1431439"/>
            <a:ext cx="1888957" cy="461666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Setup: </a:t>
            </a:r>
            <a:r>
              <a:rPr lang="en-NZ" sz="1000" dirty="0"/>
              <a:t>All Members with ‘</a:t>
            </a:r>
            <a:r>
              <a:rPr lang="en-NZ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PaidTrial</a:t>
            </a:r>
            <a:r>
              <a:rPr lang="en-NZ" sz="1000" dirty="0"/>
              <a:t>’ features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BB793EF-248D-35F1-3BFA-14EEF0A7D480}"/>
              </a:ext>
            </a:extLst>
          </p:cNvPr>
          <p:cNvCxnSpPr>
            <a:cxnSpLocks/>
            <a:stCxn id="4" idx="1"/>
            <a:endCxn id="11" idx="3"/>
          </p:cNvCxnSpPr>
          <p:nvPr/>
        </p:nvCxnSpPr>
        <p:spPr>
          <a:xfrm flipH="1">
            <a:off x="2087479" y="1659201"/>
            <a:ext cx="245897" cy="307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472E62B-DF93-38C2-9188-1BD7963E81D7}"/>
              </a:ext>
            </a:extLst>
          </p:cNvPr>
          <p:cNvSpPr/>
          <p:nvPr/>
        </p:nvSpPr>
        <p:spPr>
          <a:xfrm>
            <a:off x="1354964" y="2902625"/>
            <a:ext cx="1574727" cy="461667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Setup:</a:t>
            </a:r>
          </a:p>
          <a:p>
            <a:r>
              <a:rPr lang="en-NZ" sz="800" dirty="0">
                <a:latin typeface="Courier New" panose="02070309020205020404" pitchFamily="49" charset="0"/>
                <a:cs typeface="Courier New" panose="02070309020205020404" pitchFamily="49" charset="0"/>
              </a:rPr>
              <a:t>buyer = </a:t>
            </a:r>
            <a:r>
              <a:rPr lang="en-NZ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org_creator</a:t>
            </a:r>
            <a:endParaRPr lang="en-NZ" sz="800" dirty="0"/>
          </a:p>
          <a:p>
            <a:r>
              <a:rPr lang="en-NZ" sz="800" dirty="0">
                <a:latin typeface="Courier New" panose="02070309020205020404" pitchFamily="49" charset="0"/>
                <a:cs typeface="Courier New" panose="02070309020205020404" pitchFamily="49" charset="0"/>
              </a:rPr>
              <a:t>Tier = ‘Standard’</a:t>
            </a:r>
            <a:endParaRPr lang="en-NZ" sz="12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004B2FE-ADCC-05FA-E144-4913BEB1C28A}"/>
              </a:ext>
            </a:extLst>
          </p:cNvPr>
          <p:cNvCxnSpPr>
            <a:cxnSpLocks/>
            <a:stCxn id="6" idx="2"/>
            <a:endCxn id="16" idx="0"/>
          </p:cNvCxnSpPr>
          <p:nvPr/>
        </p:nvCxnSpPr>
        <p:spPr>
          <a:xfrm>
            <a:off x="2142328" y="2657898"/>
            <a:ext cx="0" cy="24472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05875A9-F733-19DF-5C49-E4E39B5C38C3}"/>
              </a:ext>
            </a:extLst>
          </p:cNvPr>
          <p:cNvCxnSpPr>
            <a:cxnSpLocks/>
            <a:stCxn id="3" idx="4"/>
            <a:endCxn id="4" idx="0"/>
          </p:cNvCxnSpPr>
          <p:nvPr/>
        </p:nvCxnSpPr>
        <p:spPr>
          <a:xfrm>
            <a:off x="2929691" y="1281361"/>
            <a:ext cx="0" cy="14700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4FDE309-519C-340B-B377-EC6EAEA87F40}"/>
              </a:ext>
            </a:extLst>
          </p:cNvPr>
          <p:cNvSpPr txBox="1"/>
          <p:nvPr/>
        </p:nvSpPr>
        <p:spPr>
          <a:xfrm>
            <a:off x="1438027" y="667307"/>
            <a:ext cx="3079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SimpleBillingProvider</a:t>
            </a:r>
            <a:endParaRPr lang="en-NZ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9A51108-A2A6-5407-07A6-E0202E0C7892}"/>
              </a:ext>
            </a:extLst>
          </p:cNvPr>
          <p:cNvSpPr txBox="1"/>
          <p:nvPr/>
        </p:nvSpPr>
        <p:spPr>
          <a:xfrm>
            <a:off x="1373822" y="3442286"/>
            <a:ext cx="7136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>
                <a:solidFill>
                  <a:schemeClr val="accent6"/>
                </a:solidFill>
              </a:rPr>
              <a:t>Upgrade</a:t>
            </a:r>
          </a:p>
          <a:p>
            <a:r>
              <a:rPr lang="en-NZ" sz="1100" dirty="0">
                <a:solidFill>
                  <a:schemeClr val="accent6"/>
                </a:solidFill>
              </a:rPr>
              <a:t>Plan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9D21344-5684-D9B9-387E-25119A34B777}"/>
              </a:ext>
            </a:extLst>
          </p:cNvPr>
          <p:cNvSpPr txBox="1"/>
          <p:nvPr/>
        </p:nvSpPr>
        <p:spPr>
          <a:xfrm>
            <a:off x="2621931" y="3450912"/>
            <a:ext cx="61427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NZ" sz="1100" dirty="0">
                <a:solidFill>
                  <a:schemeClr val="accent2"/>
                </a:solidFill>
              </a:rPr>
              <a:t>Cancel</a:t>
            </a:r>
          </a:p>
          <a:p>
            <a:pPr algn="r"/>
            <a:r>
              <a:rPr lang="en-NZ" sz="1100" dirty="0">
                <a:solidFill>
                  <a:schemeClr val="accent2"/>
                </a:solidFill>
              </a:rPr>
              <a:t>Plan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ECFBD0D2-1E81-8A9D-0CA2-4E24FC84BD26}"/>
              </a:ext>
            </a:extLst>
          </p:cNvPr>
          <p:cNvCxnSpPr>
            <a:cxnSpLocks/>
            <a:stCxn id="16" idx="2"/>
            <a:endCxn id="5" idx="0"/>
          </p:cNvCxnSpPr>
          <p:nvPr/>
        </p:nvCxnSpPr>
        <p:spPr>
          <a:xfrm>
            <a:off x="2142328" y="3364292"/>
            <a:ext cx="1094905" cy="731606"/>
          </a:xfrm>
          <a:prstGeom prst="straightConnector1">
            <a:avLst/>
          </a:prstGeom>
          <a:ln w="38100">
            <a:solidFill>
              <a:schemeClr val="accent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2">
            <a:extLst>
              <a:ext uri="{FF2B5EF4-FFF2-40B4-BE49-F238E27FC236}">
                <a16:creationId xmlns:a16="http://schemas.microsoft.com/office/drawing/2014/main" id="{AE4E2129-07EE-D55B-BB6C-E155B8CD0FD6}"/>
              </a:ext>
            </a:extLst>
          </p:cNvPr>
          <p:cNvCxnSpPr>
            <a:cxnSpLocks/>
            <a:stCxn id="16" idx="2"/>
            <a:endCxn id="16" idx="1"/>
          </p:cNvCxnSpPr>
          <p:nvPr/>
        </p:nvCxnSpPr>
        <p:spPr>
          <a:xfrm rot="5400000" flipH="1">
            <a:off x="1633229" y="2855194"/>
            <a:ext cx="230833" cy="787364"/>
          </a:xfrm>
          <a:prstGeom prst="curvedConnector4">
            <a:avLst>
              <a:gd name="adj1" fmla="val -242370"/>
              <a:gd name="adj2" fmla="val 129034"/>
            </a:avLst>
          </a:prstGeom>
          <a:ln w="38100">
            <a:solidFill>
              <a:schemeClr val="accent6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FF281B3D-9E34-5ECD-9454-D7E91D9079F7}"/>
              </a:ext>
            </a:extLst>
          </p:cNvPr>
          <p:cNvSpPr/>
          <p:nvPr/>
        </p:nvSpPr>
        <p:spPr>
          <a:xfrm>
            <a:off x="8545680" y="1040729"/>
            <a:ext cx="240632" cy="2406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8CD381CF-C69D-B326-2DD0-E044DF58359B}"/>
              </a:ext>
            </a:extLst>
          </p:cNvPr>
          <p:cNvSpPr/>
          <p:nvPr/>
        </p:nvSpPr>
        <p:spPr>
          <a:xfrm>
            <a:off x="8069681" y="1428368"/>
            <a:ext cx="1192630" cy="461666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Organization</a:t>
            </a:r>
          </a:p>
          <a:p>
            <a:pPr algn="ctr"/>
            <a:r>
              <a:rPr lang="en-NZ" sz="1200" dirty="0"/>
              <a:t>Created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53ECC2E4-C618-96A2-3946-A49DA7B5E9C5}"/>
              </a:ext>
            </a:extLst>
          </p:cNvPr>
          <p:cNvSpPr/>
          <p:nvPr/>
        </p:nvSpPr>
        <p:spPr>
          <a:xfrm>
            <a:off x="7091269" y="2196231"/>
            <a:ext cx="1574727" cy="46166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Subscription</a:t>
            </a:r>
          </a:p>
          <a:p>
            <a:pPr algn="ctr"/>
            <a:r>
              <a:rPr lang="en-NZ" sz="1200" dirty="0"/>
              <a:t>Created</a:t>
            </a:r>
          </a:p>
        </p:txBody>
      </p:sp>
      <p:cxnSp>
        <p:nvCxnSpPr>
          <p:cNvPr id="50" name="Straight Arrow Connector 7">
            <a:extLst>
              <a:ext uri="{FF2B5EF4-FFF2-40B4-BE49-F238E27FC236}">
                <a16:creationId xmlns:a16="http://schemas.microsoft.com/office/drawing/2014/main" id="{BEB02D7B-6506-AA3B-2AAD-A459C95BD2E0}"/>
              </a:ext>
            </a:extLst>
          </p:cNvPr>
          <p:cNvCxnSpPr>
            <a:cxnSpLocks/>
            <a:stCxn id="48" idx="2"/>
            <a:endCxn id="49" idx="0"/>
          </p:cNvCxnSpPr>
          <p:nvPr/>
        </p:nvCxnSpPr>
        <p:spPr>
          <a:xfrm rot="5400000">
            <a:off x="8119217" y="1649451"/>
            <a:ext cx="306197" cy="787363"/>
          </a:xfrm>
          <a:prstGeom prst="curvedConnector3">
            <a:avLst>
              <a:gd name="adj1" fmla="val 50000"/>
            </a:avLst>
          </a:prstGeom>
          <a:ln w="38100"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6FA35FC0-585D-3874-2B45-CE59FF3FB643}"/>
              </a:ext>
            </a:extLst>
          </p:cNvPr>
          <p:cNvSpPr/>
          <p:nvPr/>
        </p:nvSpPr>
        <p:spPr>
          <a:xfrm>
            <a:off x="5934827" y="1431439"/>
            <a:ext cx="1888957" cy="461666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Setup: </a:t>
            </a:r>
            <a:r>
              <a:rPr lang="en-NZ" sz="1000" dirty="0"/>
              <a:t>All Members with ‘</a:t>
            </a:r>
            <a:r>
              <a:rPr lang="en-NZ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PaidTrial</a:t>
            </a:r>
            <a:r>
              <a:rPr lang="en-NZ" sz="1000" dirty="0"/>
              <a:t>’ features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0BE1F11-4FF0-4B2A-E6B0-5B1EC498E213}"/>
              </a:ext>
            </a:extLst>
          </p:cNvPr>
          <p:cNvCxnSpPr>
            <a:cxnSpLocks/>
            <a:stCxn id="48" idx="1"/>
            <a:endCxn id="51" idx="3"/>
          </p:cNvCxnSpPr>
          <p:nvPr/>
        </p:nvCxnSpPr>
        <p:spPr>
          <a:xfrm flipH="1">
            <a:off x="7823784" y="1659201"/>
            <a:ext cx="245897" cy="307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7245D528-C96D-DC20-0A72-896467123972}"/>
              </a:ext>
            </a:extLst>
          </p:cNvPr>
          <p:cNvSpPr/>
          <p:nvPr/>
        </p:nvSpPr>
        <p:spPr>
          <a:xfrm>
            <a:off x="7091269" y="2902625"/>
            <a:ext cx="1574727" cy="461667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200" dirty="0"/>
              <a:t>Setup:</a:t>
            </a:r>
          </a:p>
          <a:p>
            <a:r>
              <a:rPr lang="en-NZ" sz="800" dirty="0">
                <a:latin typeface="Courier New" panose="02070309020205020404" pitchFamily="49" charset="0"/>
                <a:cs typeface="Courier New" panose="02070309020205020404" pitchFamily="49" charset="0"/>
              </a:rPr>
              <a:t>buyer = </a:t>
            </a:r>
            <a:r>
              <a:rPr lang="en-NZ" sz="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org_creator</a:t>
            </a:r>
            <a:endParaRPr lang="en-NZ" sz="800" dirty="0"/>
          </a:p>
          <a:p>
            <a:r>
              <a:rPr lang="en-NZ" sz="800" dirty="0">
                <a:latin typeface="Courier New" panose="02070309020205020404" pitchFamily="49" charset="0"/>
                <a:cs typeface="Courier New" panose="02070309020205020404" pitchFamily="49" charset="0"/>
              </a:rPr>
              <a:t>Tier = ‘Standard’</a:t>
            </a:r>
            <a:endParaRPr lang="en-NZ" sz="1200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A4C935F9-E46D-873F-D540-45241163EAE4}"/>
              </a:ext>
            </a:extLst>
          </p:cNvPr>
          <p:cNvCxnSpPr>
            <a:cxnSpLocks/>
            <a:stCxn id="49" idx="2"/>
            <a:endCxn id="53" idx="0"/>
          </p:cNvCxnSpPr>
          <p:nvPr/>
        </p:nvCxnSpPr>
        <p:spPr>
          <a:xfrm>
            <a:off x="7878633" y="2657898"/>
            <a:ext cx="0" cy="24472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EED6040-C68A-41BA-7962-25395FF710E8}"/>
              </a:ext>
            </a:extLst>
          </p:cNvPr>
          <p:cNvCxnSpPr>
            <a:cxnSpLocks/>
            <a:stCxn id="47" idx="4"/>
            <a:endCxn id="48" idx="0"/>
          </p:cNvCxnSpPr>
          <p:nvPr/>
        </p:nvCxnSpPr>
        <p:spPr>
          <a:xfrm>
            <a:off x="8665996" y="1281361"/>
            <a:ext cx="0" cy="14700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64120301-1643-2508-5E78-2459572C5362}"/>
              </a:ext>
            </a:extLst>
          </p:cNvPr>
          <p:cNvSpPr/>
          <p:nvPr/>
        </p:nvSpPr>
        <p:spPr>
          <a:xfrm>
            <a:off x="6234712" y="4105536"/>
            <a:ext cx="1289186" cy="32179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>
                <a:latin typeface="Courier New" panose="02070309020205020404" pitchFamily="49" charset="0"/>
                <a:cs typeface="Courier New" panose="02070309020205020404" pitchFamily="49" charset="0"/>
              </a:rPr>
              <a:t>Tier = `Professional`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293F442-4A2D-EEED-FDD0-392A8D5D5744}"/>
              </a:ext>
            </a:extLst>
          </p:cNvPr>
          <p:cNvSpPr txBox="1"/>
          <p:nvPr/>
        </p:nvSpPr>
        <p:spPr>
          <a:xfrm>
            <a:off x="7174332" y="667307"/>
            <a:ext cx="3217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ACustomBillingProvider</a:t>
            </a:r>
            <a:endParaRPr lang="en-NZ" dirty="0"/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434ABF1D-7C56-4C22-7DEF-E08357A320B1}"/>
              </a:ext>
            </a:extLst>
          </p:cNvPr>
          <p:cNvSpPr/>
          <p:nvPr/>
        </p:nvSpPr>
        <p:spPr>
          <a:xfrm>
            <a:off x="8212452" y="4105536"/>
            <a:ext cx="1289186" cy="32179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>
                <a:latin typeface="Courier New" panose="02070309020205020404" pitchFamily="49" charset="0"/>
                <a:cs typeface="Courier New" panose="02070309020205020404" pitchFamily="49" charset="0"/>
              </a:rPr>
              <a:t>Tier = `Unsubscribed`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42D1E8D-1B12-56BA-CB21-97DD8A3A7C6E}"/>
              </a:ext>
            </a:extLst>
          </p:cNvPr>
          <p:cNvCxnSpPr>
            <a:cxnSpLocks/>
            <a:stCxn id="53" idx="2"/>
            <a:endCxn id="56" idx="0"/>
          </p:cNvCxnSpPr>
          <p:nvPr/>
        </p:nvCxnSpPr>
        <p:spPr>
          <a:xfrm flipH="1">
            <a:off x="6879305" y="3364292"/>
            <a:ext cx="999328" cy="741244"/>
          </a:xfrm>
          <a:prstGeom prst="straightConnector1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E1FFAD4-CC4B-D014-2215-E41C717F7211}"/>
              </a:ext>
            </a:extLst>
          </p:cNvPr>
          <p:cNvCxnSpPr>
            <a:cxnSpLocks/>
            <a:stCxn id="53" idx="2"/>
            <a:endCxn id="58" idx="0"/>
          </p:cNvCxnSpPr>
          <p:nvPr/>
        </p:nvCxnSpPr>
        <p:spPr>
          <a:xfrm>
            <a:off x="7878633" y="3364292"/>
            <a:ext cx="978412" cy="741244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9097E9B7-22F6-3C31-C2DE-00E854C6C241}"/>
              </a:ext>
            </a:extLst>
          </p:cNvPr>
          <p:cNvSpPr txBox="1"/>
          <p:nvPr/>
        </p:nvSpPr>
        <p:spPr>
          <a:xfrm>
            <a:off x="6805161" y="3444361"/>
            <a:ext cx="7136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>
                <a:solidFill>
                  <a:schemeClr val="accent6"/>
                </a:solidFill>
              </a:rPr>
              <a:t>Upgrade</a:t>
            </a:r>
          </a:p>
          <a:p>
            <a:r>
              <a:rPr lang="en-NZ" sz="1100" dirty="0">
                <a:solidFill>
                  <a:schemeClr val="accent6"/>
                </a:solidFill>
              </a:rPr>
              <a:t>Plan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185E0DB-EB22-9D13-AE14-F4A8DCE2DC61}"/>
              </a:ext>
            </a:extLst>
          </p:cNvPr>
          <p:cNvSpPr txBox="1"/>
          <p:nvPr/>
        </p:nvSpPr>
        <p:spPr>
          <a:xfrm>
            <a:off x="8367839" y="3442286"/>
            <a:ext cx="61427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NZ" sz="1100" dirty="0">
                <a:solidFill>
                  <a:schemeClr val="accent2"/>
                </a:solidFill>
              </a:rPr>
              <a:t>Cancel</a:t>
            </a:r>
          </a:p>
          <a:p>
            <a:pPr algn="r"/>
            <a:r>
              <a:rPr lang="en-NZ" sz="1100" dirty="0">
                <a:solidFill>
                  <a:schemeClr val="accent2"/>
                </a:solidFill>
              </a:rPr>
              <a:t>Plan</a:t>
            </a:r>
          </a:p>
        </p:txBody>
      </p:sp>
      <p:cxnSp>
        <p:nvCxnSpPr>
          <p:cNvPr id="64" name="Straight Arrow Connector 42">
            <a:extLst>
              <a:ext uri="{FF2B5EF4-FFF2-40B4-BE49-F238E27FC236}">
                <a16:creationId xmlns:a16="http://schemas.microsoft.com/office/drawing/2014/main" id="{5BBE9B03-28A1-0A48-50E7-28488850F68D}"/>
              </a:ext>
            </a:extLst>
          </p:cNvPr>
          <p:cNvCxnSpPr>
            <a:cxnSpLocks/>
            <a:stCxn id="56" idx="1"/>
            <a:endCxn id="53" idx="1"/>
          </p:cNvCxnSpPr>
          <p:nvPr/>
        </p:nvCxnSpPr>
        <p:spPr>
          <a:xfrm rot="10800000" flipH="1">
            <a:off x="6234711" y="3133460"/>
            <a:ext cx="856557" cy="1132973"/>
          </a:xfrm>
          <a:prstGeom prst="curvedConnector3">
            <a:avLst>
              <a:gd name="adj1" fmla="val -26688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33638881-D158-09D5-B956-7DB717708F83}"/>
              </a:ext>
            </a:extLst>
          </p:cNvPr>
          <p:cNvSpPr/>
          <p:nvPr/>
        </p:nvSpPr>
        <p:spPr>
          <a:xfrm>
            <a:off x="6234712" y="5192231"/>
            <a:ext cx="1289186" cy="32179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>
                <a:latin typeface="Courier New" panose="02070309020205020404" pitchFamily="49" charset="0"/>
                <a:cs typeface="Courier New" panose="02070309020205020404" pitchFamily="49" charset="0"/>
              </a:rPr>
              <a:t>Tier = `Enterprise`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403CD4-1314-145B-C5B1-0D63024AE31A}"/>
              </a:ext>
            </a:extLst>
          </p:cNvPr>
          <p:cNvCxnSpPr>
            <a:cxnSpLocks/>
            <a:stCxn id="56" idx="2"/>
            <a:endCxn id="65" idx="0"/>
          </p:cNvCxnSpPr>
          <p:nvPr/>
        </p:nvCxnSpPr>
        <p:spPr>
          <a:xfrm>
            <a:off x="6879305" y="4427328"/>
            <a:ext cx="0" cy="764903"/>
          </a:xfrm>
          <a:prstGeom prst="straightConnector1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E826FE2C-5A46-4423-ECAF-25BEA8B34B68}"/>
              </a:ext>
            </a:extLst>
          </p:cNvPr>
          <p:cNvSpPr txBox="1"/>
          <p:nvPr/>
        </p:nvSpPr>
        <p:spPr>
          <a:xfrm>
            <a:off x="6229338" y="4567203"/>
            <a:ext cx="7136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>
                <a:solidFill>
                  <a:schemeClr val="accent6"/>
                </a:solidFill>
              </a:rPr>
              <a:t>Upgrade</a:t>
            </a:r>
          </a:p>
          <a:p>
            <a:r>
              <a:rPr lang="en-NZ" sz="1100" dirty="0">
                <a:solidFill>
                  <a:schemeClr val="accent6"/>
                </a:solidFill>
              </a:rPr>
              <a:t>Plan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A6102C-C091-7971-46B4-DA6C6CC8D3C0}"/>
              </a:ext>
            </a:extLst>
          </p:cNvPr>
          <p:cNvSpPr txBox="1"/>
          <p:nvPr/>
        </p:nvSpPr>
        <p:spPr>
          <a:xfrm>
            <a:off x="7521803" y="4335824"/>
            <a:ext cx="7136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>
                <a:solidFill>
                  <a:schemeClr val="accent6"/>
                </a:solidFill>
              </a:rPr>
              <a:t>Upgrade</a:t>
            </a:r>
          </a:p>
          <a:p>
            <a:r>
              <a:rPr lang="en-NZ" sz="1100" dirty="0">
                <a:solidFill>
                  <a:schemeClr val="accent6"/>
                </a:solidFill>
              </a:rPr>
              <a:t>Plan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5A4F3530-CEE9-79FB-613C-72C6083D9C59}"/>
              </a:ext>
            </a:extLst>
          </p:cNvPr>
          <p:cNvCxnSpPr>
            <a:cxnSpLocks/>
            <a:stCxn id="58" idx="1"/>
            <a:endCxn id="56" idx="3"/>
          </p:cNvCxnSpPr>
          <p:nvPr/>
        </p:nvCxnSpPr>
        <p:spPr>
          <a:xfrm flipH="1">
            <a:off x="7523898" y="4266432"/>
            <a:ext cx="688554" cy="0"/>
          </a:xfrm>
          <a:prstGeom prst="straightConnector1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42">
            <a:extLst>
              <a:ext uri="{FF2B5EF4-FFF2-40B4-BE49-F238E27FC236}">
                <a16:creationId xmlns:a16="http://schemas.microsoft.com/office/drawing/2014/main" id="{A2215880-BB2D-0878-454E-8472781B1CB7}"/>
              </a:ext>
            </a:extLst>
          </p:cNvPr>
          <p:cNvCxnSpPr>
            <a:cxnSpLocks/>
            <a:stCxn id="65" idx="1"/>
            <a:endCxn id="56" idx="1"/>
          </p:cNvCxnSpPr>
          <p:nvPr/>
        </p:nvCxnSpPr>
        <p:spPr>
          <a:xfrm rot="10800000">
            <a:off x="6234712" y="4266433"/>
            <a:ext cx="12700" cy="1086695"/>
          </a:xfrm>
          <a:prstGeom prst="curvedConnector3">
            <a:avLst>
              <a:gd name="adj1" fmla="val 180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FE0D4710-72F2-F3CC-E2EE-C2E86DB11CB1}"/>
              </a:ext>
            </a:extLst>
          </p:cNvPr>
          <p:cNvSpPr txBox="1"/>
          <p:nvPr/>
        </p:nvSpPr>
        <p:spPr>
          <a:xfrm>
            <a:off x="5177457" y="4567202"/>
            <a:ext cx="90120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>
                <a:solidFill>
                  <a:schemeClr val="accent1"/>
                </a:solidFill>
              </a:rPr>
              <a:t>Downgrade</a:t>
            </a:r>
          </a:p>
          <a:p>
            <a:r>
              <a:rPr lang="en-NZ" sz="1100" dirty="0">
                <a:solidFill>
                  <a:schemeClr val="accent1"/>
                </a:solidFill>
              </a:rPr>
              <a:t>Plan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38C0943-4DAC-7407-DFDA-FA2D2413A8CA}"/>
              </a:ext>
            </a:extLst>
          </p:cNvPr>
          <p:cNvSpPr txBox="1"/>
          <p:nvPr/>
        </p:nvSpPr>
        <p:spPr>
          <a:xfrm>
            <a:off x="5893579" y="2928942"/>
            <a:ext cx="90120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>
                <a:solidFill>
                  <a:schemeClr val="accent1"/>
                </a:solidFill>
              </a:rPr>
              <a:t>Downgrade</a:t>
            </a:r>
          </a:p>
          <a:p>
            <a:r>
              <a:rPr lang="en-NZ" sz="1100" dirty="0">
                <a:solidFill>
                  <a:schemeClr val="accent1"/>
                </a:solidFill>
              </a:rPr>
              <a:t>Plan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441F2634-E968-2B35-A92D-3FC5FADC7D54}"/>
              </a:ext>
            </a:extLst>
          </p:cNvPr>
          <p:cNvCxnSpPr>
            <a:cxnSpLocks/>
            <a:stCxn id="58" idx="3"/>
            <a:endCxn id="53" idx="3"/>
          </p:cNvCxnSpPr>
          <p:nvPr/>
        </p:nvCxnSpPr>
        <p:spPr>
          <a:xfrm flipH="1" flipV="1">
            <a:off x="8665996" y="3133459"/>
            <a:ext cx="835642" cy="1132973"/>
          </a:xfrm>
          <a:prstGeom prst="curvedConnector3">
            <a:avLst>
              <a:gd name="adj1" fmla="val -27356"/>
            </a:avLst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8161F6EA-2070-9403-CDEB-42827DA30BC0}"/>
              </a:ext>
            </a:extLst>
          </p:cNvPr>
          <p:cNvSpPr txBox="1"/>
          <p:nvPr/>
        </p:nvSpPr>
        <p:spPr>
          <a:xfrm>
            <a:off x="9023686" y="3502512"/>
            <a:ext cx="7136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NZ" sz="1100" dirty="0">
                <a:solidFill>
                  <a:schemeClr val="accent6"/>
                </a:solidFill>
              </a:rPr>
              <a:t>Upgrade</a:t>
            </a:r>
          </a:p>
          <a:p>
            <a:pPr algn="r"/>
            <a:r>
              <a:rPr lang="en-NZ" sz="1100" dirty="0">
                <a:solidFill>
                  <a:schemeClr val="accent6"/>
                </a:solidFill>
              </a:rPr>
              <a:t>Plan</a:t>
            </a:r>
          </a:p>
        </p:txBody>
      </p:sp>
      <p:cxnSp>
        <p:nvCxnSpPr>
          <p:cNvPr id="85" name="Straight Arrow Connector 80">
            <a:extLst>
              <a:ext uri="{FF2B5EF4-FFF2-40B4-BE49-F238E27FC236}">
                <a16:creationId xmlns:a16="http://schemas.microsoft.com/office/drawing/2014/main" id="{F89450F8-933F-6BCD-35F5-EC717E6CA990}"/>
              </a:ext>
            </a:extLst>
          </p:cNvPr>
          <p:cNvCxnSpPr>
            <a:cxnSpLocks/>
            <a:stCxn id="58" idx="2"/>
            <a:endCxn id="65" idx="3"/>
          </p:cNvCxnSpPr>
          <p:nvPr/>
        </p:nvCxnSpPr>
        <p:spPr>
          <a:xfrm rot="5400000">
            <a:off x="7727573" y="4223654"/>
            <a:ext cx="925799" cy="1333147"/>
          </a:xfrm>
          <a:prstGeom prst="curvedConnector2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A4FFECC7-134E-81A8-0D17-D3508BA7ED05}"/>
              </a:ext>
            </a:extLst>
          </p:cNvPr>
          <p:cNvSpPr txBox="1"/>
          <p:nvPr/>
        </p:nvSpPr>
        <p:spPr>
          <a:xfrm>
            <a:off x="7946732" y="4712163"/>
            <a:ext cx="7136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dirty="0">
                <a:solidFill>
                  <a:schemeClr val="accent6"/>
                </a:solidFill>
              </a:rPr>
              <a:t>Upgrade</a:t>
            </a:r>
          </a:p>
          <a:p>
            <a:r>
              <a:rPr lang="en-NZ" sz="1100" dirty="0">
                <a:solidFill>
                  <a:schemeClr val="accent6"/>
                </a:solidFill>
              </a:rPr>
              <a:t>Plan</a:t>
            </a: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F854FC53-C1E8-B29C-26BA-70DEB29C1043}"/>
              </a:ext>
            </a:extLst>
          </p:cNvPr>
          <p:cNvCxnSpPr>
            <a:cxnSpLocks/>
            <a:stCxn id="65" idx="2"/>
            <a:endCxn id="58" idx="2"/>
          </p:cNvCxnSpPr>
          <p:nvPr/>
        </p:nvCxnSpPr>
        <p:spPr>
          <a:xfrm rot="5400000" flipH="1" flipV="1">
            <a:off x="7324827" y="3981806"/>
            <a:ext cx="1086695" cy="1977740"/>
          </a:xfrm>
          <a:prstGeom prst="curvedConnector3">
            <a:avLst>
              <a:gd name="adj1" fmla="val -21036"/>
            </a:avLst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192E386D-C1F1-9E17-F05F-EC6DF7FA886B}"/>
              </a:ext>
            </a:extLst>
          </p:cNvPr>
          <p:cNvSpPr txBox="1"/>
          <p:nvPr/>
        </p:nvSpPr>
        <p:spPr>
          <a:xfrm>
            <a:off x="8799005" y="4629690"/>
            <a:ext cx="61427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NZ" sz="1100" dirty="0">
                <a:solidFill>
                  <a:schemeClr val="accent2"/>
                </a:solidFill>
              </a:rPr>
              <a:t>Cancel</a:t>
            </a:r>
          </a:p>
          <a:p>
            <a:pPr algn="r"/>
            <a:r>
              <a:rPr lang="en-NZ" sz="1100" dirty="0">
                <a:solidFill>
                  <a:schemeClr val="accent2"/>
                </a:solidFill>
              </a:rPr>
              <a:t>Plan</a:t>
            </a:r>
          </a:p>
        </p:txBody>
      </p:sp>
      <p:cxnSp>
        <p:nvCxnSpPr>
          <p:cNvPr id="93" name="Straight Arrow Connector 88">
            <a:extLst>
              <a:ext uri="{FF2B5EF4-FFF2-40B4-BE49-F238E27FC236}">
                <a16:creationId xmlns:a16="http://schemas.microsoft.com/office/drawing/2014/main" id="{12AB8F65-A82F-32E4-1B6E-DF3FE3DA3C9C}"/>
              </a:ext>
            </a:extLst>
          </p:cNvPr>
          <p:cNvCxnSpPr>
            <a:cxnSpLocks/>
            <a:stCxn id="56" idx="2"/>
            <a:endCxn id="58" idx="2"/>
          </p:cNvCxnSpPr>
          <p:nvPr/>
        </p:nvCxnSpPr>
        <p:spPr>
          <a:xfrm rot="16200000" flipH="1">
            <a:off x="7868175" y="3438458"/>
            <a:ext cx="12700" cy="1977740"/>
          </a:xfrm>
          <a:prstGeom prst="curvedConnector3">
            <a:avLst>
              <a:gd name="adj1" fmla="val 2652630"/>
            </a:avLst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Arc 98">
            <a:extLst>
              <a:ext uri="{FF2B5EF4-FFF2-40B4-BE49-F238E27FC236}">
                <a16:creationId xmlns:a16="http://schemas.microsoft.com/office/drawing/2014/main" id="{6B2A4248-4B39-587D-98B6-91D5C17E2FC7}"/>
              </a:ext>
            </a:extLst>
          </p:cNvPr>
          <p:cNvSpPr/>
          <p:nvPr/>
        </p:nvSpPr>
        <p:spPr>
          <a:xfrm>
            <a:off x="7234040" y="3933399"/>
            <a:ext cx="1265315" cy="227493"/>
          </a:xfrm>
          <a:prstGeom prst="arc">
            <a:avLst>
              <a:gd name="adj1" fmla="val 10855069"/>
              <a:gd name="adj2" fmla="val 0"/>
            </a:avLst>
          </a:prstGeom>
          <a:ln w="190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9B5C50C-8573-123C-E012-F30DC83F6222}"/>
              </a:ext>
            </a:extLst>
          </p:cNvPr>
          <p:cNvSpPr txBox="1"/>
          <p:nvPr/>
        </p:nvSpPr>
        <p:spPr>
          <a:xfrm>
            <a:off x="7373601" y="3739705"/>
            <a:ext cx="104067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>
                <a:solidFill>
                  <a:srgbClr val="FF0000"/>
                </a:solidFill>
              </a:rPr>
              <a:t>Force-Unsubscribe</a:t>
            </a:r>
          </a:p>
        </p:txBody>
      </p:sp>
      <p:cxnSp>
        <p:nvCxnSpPr>
          <p:cNvPr id="106" name="Straight Arrow Connector 88">
            <a:extLst>
              <a:ext uri="{FF2B5EF4-FFF2-40B4-BE49-F238E27FC236}">
                <a16:creationId xmlns:a16="http://schemas.microsoft.com/office/drawing/2014/main" id="{7FE19793-F6BD-1CA8-8B97-44FD7FDFD5C6}"/>
              </a:ext>
            </a:extLst>
          </p:cNvPr>
          <p:cNvCxnSpPr>
            <a:cxnSpLocks/>
            <a:stCxn id="65" idx="2"/>
            <a:endCxn id="58" idx="3"/>
          </p:cNvCxnSpPr>
          <p:nvPr/>
        </p:nvCxnSpPr>
        <p:spPr>
          <a:xfrm rot="5400000" flipH="1" flipV="1">
            <a:off x="7566675" y="3579061"/>
            <a:ext cx="1247591" cy="2622333"/>
          </a:xfrm>
          <a:prstGeom prst="curvedConnector4">
            <a:avLst>
              <a:gd name="adj1" fmla="val -33271"/>
              <a:gd name="adj2" fmla="val 108717"/>
            </a:avLst>
          </a:prstGeom>
          <a:ln w="190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A82090CC-25BA-3F50-9C0A-BDC223CBFFC2}"/>
              </a:ext>
            </a:extLst>
          </p:cNvPr>
          <p:cNvSpPr txBox="1"/>
          <p:nvPr/>
        </p:nvSpPr>
        <p:spPr>
          <a:xfrm rot="19924464">
            <a:off x="8637465" y="5483271"/>
            <a:ext cx="104067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>
                <a:solidFill>
                  <a:srgbClr val="FF0000"/>
                </a:solidFill>
              </a:rPr>
              <a:t>Force-Unsubscribe</a:t>
            </a:r>
          </a:p>
        </p:txBody>
      </p:sp>
      <p:cxnSp>
        <p:nvCxnSpPr>
          <p:cNvPr id="111" name="Straight Arrow Connector 88">
            <a:extLst>
              <a:ext uri="{FF2B5EF4-FFF2-40B4-BE49-F238E27FC236}">
                <a16:creationId xmlns:a16="http://schemas.microsoft.com/office/drawing/2014/main" id="{B7F2295B-0C58-C1F8-91B8-124D548EA2B1}"/>
              </a:ext>
            </a:extLst>
          </p:cNvPr>
          <p:cNvCxnSpPr>
            <a:cxnSpLocks/>
            <a:stCxn id="53" idx="3"/>
            <a:endCxn id="58" idx="3"/>
          </p:cNvCxnSpPr>
          <p:nvPr/>
        </p:nvCxnSpPr>
        <p:spPr>
          <a:xfrm>
            <a:off x="8665996" y="3133459"/>
            <a:ext cx="835642" cy="1132973"/>
          </a:xfrm>
          <a:prstGeom prst="curvedConnector3">
            <a:avLst>
              <a:gd name="adj1" fmla="val 231741"/>
            </a:avLst>
          </a:prstGeom>
          <a:ln w="190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4FF3DE2-1E12-60AC-2971-C0578C181AEB}"/>
              </a:ext>
            </a:extLst>
          </p:cNvPr>
          <p:cNvSpPr txBox="1"/>
          <p:nvPr/>
        </p:nvSpPr>
        <p:spPr>
          <a:xfrm rot="19985993">
            <a:off x="9625894" y="3830564"/>
            <a:ext cx="104067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800" dirty="0">
                <a:solidFill>
                  <a:srgbClr val="FF0000"/>
                </a:solidFill>
              </a:rPr>
              <a:t>Force-Unsubscribe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87CD88CC-C363-DCED-9C7E-F308F80540DF}"/>
              </a:ext>
            </a:extLst>
          </p:cNvPr>
          <p:cNvSpPr txBox="1"/>
          <p:nvPr/>
        </p:nvSpPr>
        <p:spPr>
          <a:xfrm>
            <a:off x="5420558" y="6051984"/>
            <a:ext cx="468269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1050" dirty="0"/>
              <a:t>Upgrade/Downgrade/Cancel are manual actions by the Buyer,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1050" dirty="0"/>
              <a:t>or by Administrator in BMS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1050" dirty="0"/>
              <a:t>Force-Cancel is manual by Operator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1050" dirty="0"/>
              <a:t>Force-Unsubscribe when Administrator in BMS deletes subscription/plan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162EAE6-3AF1-A0C2-A741-5D889DA9967B}"/>
              </a:ext>
            </a:extLst>
          </p:cNvPr>
          <p:cNvSpPr txBox="1"/>
          <p:nvPr/>
        </p:nvSpPr>
        <p:spPr>
          <a:xfrm>
            <a:off x="506303" y="6051984"/>
            <a:ext cx="3272050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1050" dirty="0"/>
              <a:t>Upgrade/Cancel are manual actions by the Buyer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1050" dirty="0"/>
              <a:t>Force-Cancel is manual by Operator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NZ" sz="1050" dirty="0"/>
              <a:t>Downgrade/Force-unsubscribe are not possible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19C61C8-51DC-D56A-399F-392F35DF9235}"/>
              </a:ext>
            </a:extLst>
          </p:cNvPr>
          <p:cNvSpPr/>
          <p:nvPr/>
        </p:nvSpPr>
        <p:spPr>
          <a:xfrm>
            <a:off x="2592640" y="4095898"/>
            <a:ext cx="1289186" cy="32179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900" dirty="0">
                <a:latin typeface="Courier New" panose="02070309020205020404" pitchFamily="49" charset="0"/>
                <a:cs typeface="Courier New" panose="02070309020205020404" pitchFamily="49" charset="0"/>
              </a:rPr>
              <a:t>Tier = `Unsubscribed`</a:t>
            </a:r>
          </a:p>
        </p:txBody>
      </p:sp>
      <p:cxnSp>
        <p:nvCxnSpPr>
          <p:cNvPr id="9" name="Straight Arrow Connector 80">
            <a:extLst>
              <a:ext uri="{FF2B5EF4-FFF2-40B4-BE49-F238E27FC236}">
                <a16:creationId xmlns:a16="http://schemas.microsoft.com/office/drawing/2014/main" id="{10223E34-1813-B903-A2D3-84B14A18343B}"/>
              </a:ext>
            </a:extLst>
          </p:cNvPr>
          <p:cNvCxnSpPr>
            <a:cxnSpLocks/>
            <a:stCxn id="5" idx="3"/>
            <a:endCxn id="16" idx="3"/>
          </p:cNvCxnSpPr>
          <p:nvPr/>
        </p:nvCxnSpPr>
        <p:spPr>
          <a:xfrm flipH="1" flipV="1">
            <a:off x="2929691" y="3133459"/>
            <a:ext cx="952135" cy="1123335"/>
          </a:xfrm>
          <a:prstGeom prst="curvedConnector3">
            <a:avLst>
              <a:gd name="adj1" fmla="val -24009"/>
            </a:avLst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5CB490A-F476-AF94-1931-F811204D4BFC}"/>
              </a:ext>
            </a:extLst>
          </p:cNvPr>
          <p:cNvSpPr txBox="1"/>
          <p:nvPr/>
        </p:nvSpPr>
        <p:spPr>
          <a:xfrm>
            <a:off x="3402843" y="3538165"/>
            <a:ext cx="71365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sz="1100" dirty="0">
                <a:solidFill>
                  <a:schemeClr val="accent6"/>
                </a:solidFill>
              </a:rPr>
              <a:t>Upgrade</a:t>
            </a:r>
          </a:p>
          <a:p>
            <a:pPr algn="r"/>
            <a:r>
              <a:rPr lang="en-NZ" sz="1100" dirty="0">
                <a:solidFill>
                  <a:schemeClr val="accent6"/>
                </a:solidFill>
              </a:rPr>
              <a:t>Plan</a:t>
            </a:r>
          </a:p>
        </p:txBody>
      </p:sp>
    </p:spTree>
    <p:extLst>
      <p:ext uri="{BB962C8B-B14F-4D97-AF65-F5344CB8AC3E}">
        <p14:creationId xmlns:p14="http://schemas.microsoft.com/office/powerpoint/2010/main" val="33008555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>
            <a:extLst>
              <a:ext uri="{FF2B5EF4-FFF2-40B4-BE49-F238E27FC236}">
                <a16:creationId xmlns:a16="http://schemas.microsoft.com/office/drawing/2014/main" id="{BF9BA2FC-6EDF-BA0A-D14B-3A27C43A5FF6}"/>
              </a:ext>
            </a:extLst>
          </p:cNvPr>
          <p:cNvGrpSpPr/>
          <p:nvPr/>
        </p:nvGrpSpPr>
        <p:grpSpPr>
          <a:xfrm>
            <a:off x="6713220" y="3976544"/>
            <a:ext cx="4434839" cy="2594664"/>
            <a:chOff x="4046220" y="3844566"/>
            <a:chExt cx="4434839" cy="2594664"/>
          </a:xfrm>
        </p:grpSpPr>
        <p:sp>
          <p:nvSpPr>
            <p:cNvPr id="11" name="Flowchart: Sequential Access Storage 10">
              <a:extLst>
                <a:ext uri="{FF2B5EF4-FFF2-40B4-BE49-F238E27FC236}">
                  <a16:creationId xmlns:a16="http://schemas.microsoft.com/office/drawing/2014/main" id="{7F1999FD-AC88-D579-A8B3-00E749BF8918}"/>
                </a:ext>
              </a:extLst>
            </p:cNvPr>
            <p:cNvSpPr/>
            <p:nvPr/>
          </p:nvSpPr>
          <p:spPr>
            <a:xfrm>
              <a:off x="4046220" y="3844566"/>
              <a:ext cx="4434839" cy="2594664"/>
            </a:xfrm>
            <a:prstGeom prst="flowChartMagneticTape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Ins="0" rtlCol="0" anchor="ctr"/>
            <a:lstStyle/>
            <a:p>
              <a:pPr algn="r"/>
              <a:r>
                <a:rPr lang="en-NZ" dirty="0"/>
                <a:t>                      An XHR </a:t>
              </a:r>
            </a:p>
            <a:p>
              <a:pPr algn="r"/>
              <a:r>
                <a:rPr lang="en-NZ" dirty="0"/>
                <a:t>API call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7C031FB0-48C0-7375-E918-43D5635D9A12}"/>
                </a:ext>
              </a:extLst>
            </p:cNvPr>
            <p:cNvSpPr txBox="1"/>
            <p:nvPr/>
          </p:nvSpPr>
          <p:spPr>
            <a:xfrm>
              <a:off x="4821660" y="4629113"/>
              <a:ext cx="2106667" cy="1431161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3810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NZ" sz="1400" dirty="0"/>
                <a:t>An API URL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400" dirty="0"/>
                <a:t>An HTTP Request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NZ" sz="1400" dirty="0"/>
                <a:t>An Error Map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NZ" sz="1100" dirty="0">
                  <a:solidFill>
                    <a:schemeClr val="accent4">
                      <a:lumMod val="50000"/>
                    </a:schemeClr>
                  </a:solidFill>
                </a:rPr>
                <a:t>Expected HTTP Codes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NZ" sz="1100" dirty="0">
                  <a:solidFill>
                    <a:srgbClr val="C00000"/>
                  </a:solidFill>
                </a:rPr>
                <a:t>Unexpected HTTP Codes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NZ" sz="1100" dirty="0">
                  <a:solidFill>
                    <a:schemeClr val="accent6">
                      <a:lumMod val="50000"/>
                    </a:schemeClr>
                  </a:solidFill>
                </a:rPr>
                <a:t>Success Code</a:t>
              </a:r>
            </a:p>
            <a:p>
              <a:pPr marL="342900" indent="-342900">
                <a:buFont typeface="+mj-lt"/>
                <a:buAutoNum type="arabicPeriod"/>
              </a:pPr>
              <a:endParaRPr lang="en-NZ" sz="1200" dirty="0">
                <a:solidFill>
                  <a:schemeClr val="accent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FA01FA9-E244-F46F-7233-307C1877B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490" y="135843"/>
            <a:ext cx="10515600" cy="549275"/>
          </a:xfrm>
        </p:spPr>
        <p:txBody>
          <a:bodyPr>
            <a:normAutofit/>
          </a:bodyPr>
          <a:lstStyle/>
          <a:p>
            <a:r>
              <a:rPr lang="en-NZ" sz="3200" dirty="0"/>
              <a:t>A JavaScript “Action”</a:t>
            </a:r>
          </a:p>
        </p:txBody>
      </p:sp>
      <p:sp>
        <p:nvSpPr>
          <p:cNvPr id="3" name="Flowchart: Preparation 2">
            <a:extLst>
              <a:ext uri="{FF2B5EF4-FFF2-40B4-BE49-F238E27FC236}">
                <a16:creationId xmlns:a16="http://schemas.microsoft.com/office/drawing/2014/main" id="{B4ABB897-0098-E5DD-2C4C-AF2168CB98CE}"/>
              </a:ext>
            </a:extLst>
          </p:cNvPr>
          <p:cNvSpPr/>
          <p:nvPr/>
        </p:nvSpPr>
        <p:spPr>
          <a:xfrm>
            <a:off x="3910067" y="1714973"/>
            <a:ext cx="1849290" cy="1616206"/>
          </a:xfrm>
          <a:prstGeom prst="flowChartPreparation">
            <a:avLst/>
          </a:prstGeom>
          <a:solidFill>
            <a:srgbClr val="ED9187"/>
          </a:solidFill>
          <a:ln w="7620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Z" sz="2000" dirty="0"/>
              <a:t>The </a:t>
            </a:r>
            <a:r>
              <a:rPr lang="en-NZ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Action</a:t>
            </a:r>
          </a:p>
        </p:txBody>
      </p:sp>
      <p:sp>
        <p:nvSpPr>
          <p:cNvPr id="4" name="Cloud 3">
            <a:extLst>
              <a:ext uri="{FF2B5EF4-FFF2-40B4-BE49-F238E27FC236}">
                <a16:creationId xmlns:a16="http://schemas.microsoft.com/office/drawing/2014/main" id="{CE5D0CBC-3495-13AD-FD14-4ACBDC49265D}"/>
              </a:ext>
            </a:extLst>
          </p:cNvPr>
          <p:cNvSpPr/>
          <p:nvPr/>
        </p:nvSpPr>
        <p:spPr>
          <a:xfrm>
            <a:off x="7108826" y="354229"/>
            <a:ext cx="3797300" cy="1729206"/>
          </a:xfrm>
          <a:prstGeom prst="cloud">
            <a:avLst/>
          </a:prstGeom>
          <a:gradFill flip="none" rotWithShape="1">
            <a:gsLst>
              <a:gs pos="0">
                <a:srgbClr val="00B0F0">
                  <a:shade val="30000"/>
                  <a:satMod val="115000"/>
                </a:srgbClr>
              </a:gs>
              <a:gs pos="50000">
                <a:srgbClr val="00B0F0">
                  <a:shade val="67500"/>
                  <a:satMod val="115000"/>
                </a:srgbClr>
              </a:gs>
              <a:gs pos="100000">
                <a:srgbClr val="00B0F0">
                  <a:shade val="100000"/>
                  <a:satMod val="115000"/>
                </a:srgbClr>
              </a:gs>
            </a:gsLst>
            <a:path path="circle">
              <a:fillToRect l="50000" t="50000" r="50000" b="50000"/>
            </a:path>
            <a:tileRect/>
          </a:gradFill>
          <a:ln w="38100"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rtlCol="0" anchor="t"/>
          <a:lstStyle/>
          <a:p>
            <a:r>
              <a:rPr lang="en-NZ" dirty="0"/>
              <a:t>Browser</a:t>
            </a:r>
          </a:p>
          <a:p>
            <a:r>
              <a:rPr lang="en-NZ" dirty="0"/>
              <a:t>Online</a:t>
            </a:r>
          </a:p>
          <a:p>
            <a:r>
              <a:rPr lang="en-NZ" dirty="0"/>
              <a:t>Status</a:t>
            </a:r>
          </a:p>
        </p:txBody>
      </p:sp>
      <p:sp>
        <p:nvSpPr>
          <p:cNvPr id="5" name="Flowchart: Document 4">
            <a:extLst>
              <a:ext uri="{FF2B5EF4-FFF2-40B4-BE49-F238E27FC236}">
                <a16:creationId xmlns:a16="http://schemas.microsoft.com/office/drawing/2014/main" id="{9FA514A7-89A2-3816-34B9-6E7DC9ED86FC}"/>
              </a:ext>
            </a:extLst>
          </p:cNvPr>
          <p:cNvSpPr/>
          <p:nvPr/>
        </p:nvSpPr>
        <p:spPr>
          <a:xfrm>
            <a:off x="390490" y="1425940"/>
            <a:ext cx="2587924" cy="5083978"/>
          </a:xfrm>
          <a:prstGeom prst="flowChartDocument">
            <a:avLst/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85000"/>
                  <a:lumOff val="15000"/>
                </a:schemeClr>
              </a:gs>
              <a:gs pos="100000">
                <a:schemeClr val="bg2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28575"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2400" dirty="0"/>
              <a:t>A Web Page</a:t>
            </a:r>
          </a:p>
          <a:p>
            <a:r>
              <a:rPr lang="en-NZ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NZ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Form</a:t>
            </a:r>
            <a:r>
              <a:rPr lang="en-NZ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/&gt;</a:t>
            </a: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NZ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NZ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&lt;/</a:t>
            </a:r>
            <a:r>
              <a:rPr lang="en-NZ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Form</a:t>
            </a:r>
            <a:r>
              <a:rPr lang="en-NZ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DD22EA5-94F1-D3DC-D3AE-C59CA30EB3BC}"/>
              </a:ext>
            </a:extLst>
          </p:cNvPr>
          <p:cNvSpPr/>
          <p:nvPr/>
        </p:nvSpPr>
        <p:spPr>
          <a:xfrm>
            <a:off x="548283" y="2235342"/>
            <a:ext cx="2130725" cy="1032298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 w="28575">
            <a:solidFill>
              <a:schemeClr val="bg2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sz="1600" dirty="0">
                <a:solidFill>
                  <a:schemeClr val="bg1"/>
                </a:solidFill>
                <a:cs typeface="Courier New" panose="02070309020205020404" pitchFamily="49" charset="0"/>
              </a:rPr>
              <a:t>A Form Control</a:t>
            </a:r>
          </a:p>
          <a:p>
            <a:pPr algn="ctr"/>
            <a:r>
              <a:rPr lang="en-NZ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NZ" sz="11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FormControl</a:t>
            </a:r>
            <a:r>
              <a:rPr lang="en-NZ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/&gt;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E9D7854-3200-4ABE-DBE2-FDBFFAC7D8CD}"/>
              </a:ext>
            </a:extLst>
          </p:cNvPr>
          <p:cNvSpPr/>
          <p:nvPr/>
        </p:nvSpPr>
        <p:spPr>
          <a:xfrm>
            <a:off x="838200" y="3958281"/>
            <a:ext cx="1777904" cy="414068"/>
          </a:xfrm>
          <a:prstGeom prst="roundRect">
            <a:avLst/>
          </a:prstGeom>
          <a:solidFill>
            <a:schemeClr val="accent6">
              <a:alpha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A Submit Button</a:t>
            </a:r>
          </a:p>
          <a:p>
            <a:pPr algn="ctr"/>
            <a:r>
              <a:rPr lang="en-NZ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&lt;Submit/&gt;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A0DF17A-F610-DEBD-BF67-47BDE388BCC0}"/>
              </a:ext>
            </a:extLst>
          </p:cNvPr>
          <p:cNvSpPr/>
          <p:nvPr/>
        </p:nvSpPr>
        <p:spPr>
          <a:xfrm>
            <a:off x="759806" y="4956896"/>
            <a:ext cx="1856297" cy="524013"/>
          </a:xfrm>
          <a:prstGeom prst="roundRect">
            <a:avLst>
              <a:gd name="adj" fmla="val 0"/>
            </a:avLst>
          </a:prstGeom>
          <a:solidFill>
            <a:srgbClr val="E25444">
              <a:alpha val="50000"/>
            </a:srgbClr>
          </a:solidFill>
          <a:ln w="28575">
            <a:solidFill>
              <a:schemeClr val="tx1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An XHR Error</a:t>
            </a:r>
          </a:p>
          <a:p>
            <a:pPr algn="ctr"/>
            <a:r>
              <a:rPr lang="en-NZ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NZ" sz="12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UnexpectedError</a:t>
            </a:r>
            <a:r>
              <a:rPr lang="en-NZ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/&gt;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6393874-D5F3-86B0-9906-CD54D7C78058}"/>
              </a:ext>
            </a:extLst>
          </p:cNvPr>
          <p:cNvCxnSpPr>
            <a:cxnSpLocks/>
            <a:stCxn id="3" idx="3"/>
            <a:endCxn id="4" idx="2"/>
          </p:cNvCxnSpPr>
          <p:nvPr/>
        </p:nvCxnSpPr>
        <p:spPr>
          <a:xfrm flipV="1">
            <a:off x="5759357" y="1218832"/>
            <a:ext cx="1361248" cy="1304244"/>
          </a:xfrm>
          <a:prstGeom prst="curvedConnector3">
            <a:avLst>
              <a:gd name="adj1" fmla="val 50000"/>
            </a:avLst>
          </a:prstGeom>
          <a:ln w="762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DF0C936-EA53-44D0-9555-EB21817833BD}"/>
              </a:ext>
            </a:extLst>
          </p:cNvPr>
          <p:cNvSpPr txBox="1"/>
          <p:nvPr/>
        </p:nvSpPr>
        <p:spPr>
          <a:xfrm>
            <a:off x="7575635" y="4437925"/>
            <a:ext cx="1188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b="1" dirty="0"/>
              <a:t>«defines»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128CE7B-4E5E-814B-52F8-6D64A232B88A}"/>
              </a:ext>
            </a:extLst>
          </p:cNvPr>
          <p:cNvGrpSpPr/>
          <p:nvPr/>
        </p:nvGrpSpPr>
        <p:grpSpPr>
          <a:xfrm>
            <a:off x="8358526" y="550748"/>
            <a:ext cx="2101988" cy="1532686"/>
            <a:chOff x="8914151" y="365125"/>
            <a:chExt cx="2101988" cy="1532686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6D90D2E-84BE-C88E-1A47-DAA74F316512}"/>
                </a:ext>
              </a:extLst>
            </p:cNvPr>
            <p:cNvSpPr/>
            <p:nvPr/>
          </p:nvSpPr>
          <p:spPr>
            <a:xfrm>
              <a:off x="9509125" y="955674"/>
              <a:ext cx="342738" cy="355001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ADD7D9A-7763-B2FC-9D93-52B461232A46}"/>
                </a:ext>
              </a:extLst>
            </p:cNvPr>
            <p:cNvSpPr/>
            <p:nvPr/>
          </p:nvSpPr>
          <p:spPr>
            <a:xfrm>
              <a:off x="9509125" y="600673"/>
              <a:ext cx="342738" cy="355001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3FB9674-93EC-C5DC-D73F-885984CF95F8}"/>
                </a:ext>
              </a:extLst>
            </p:cNvPr>
            <p:cNvSpPr/>
            <p:nvPr/>
          </p:nvSpPr>
          <p:spPr>
            <a:xfrm>
              <a:off x="9509125" y="1293962"/>
              <a:ext cx="342738" cy="355001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pic>
          <p:nvPicPr>
            <p:cNvPr id="17" name="Graphic 16" descr="Traffic light with solid fill">
              <a:extLst>
                <a:ext uri="{FF2B5EF4-FFF2-40B4-BE49-F238E27FC236}">
                  <a16:creationId xmlns:a16="http://schemas.microsoft.com/office/drawing/2014/main" id="{DE10B14F-58C0-1B99-516B-BBBD8E9303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914151" y="365125"/>
              <a:ext cx="1532686" cy="1532686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7241B60-A703-33DF-653E-2754D0DF838C}"/>
                </a:ext>
              </a:extLst>
            </p:cNvPr>
            <p:cNvSpPr txBox="1"/>
            <p:nvPr/>
          </p:nvSpPr>
          <p:spPr>
            <a:xfrm>
              <a:off x="10179050" y="586342"/>
              <a:ext cx="8370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dirty="0"/>
                <a:t>offline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36766B2-36C3-8E12-BFE0-8A5E9192FD8D}"/>
                </a:ext>
              </a:extLst>
            </p:cNvPr>
            <p:cNvSpPr txBox="1"/>
            <p:nvPr/>
          </p:nvSpPr>
          <p:spPr>
            <a:xfrm>
              <a:off x="10179050" y="1255945"/>
              <a:ext cx="8034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dirty="0"/>
                <a:t>online</a:t>
              </a:r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662E202-E2F4-4660-AA35-6FAC06E85455}"/>
              </a:ext>
            </a:extLst>
          </p:cNvPr>
          <p:cNvCxnSpPr>
            <a:cxnSpLocks/>
            <a:stCxn id="9" idx="3"/>
            <a:endCxn id="4" idx="1"/>
          </p:cNvCxnSpPr>
          <p:nvPr/>
        </p:nvCxnSpPr>
        <p:spPr>
          <a:xfrm flipV="1">
            <a:off x="2616104" y="2081594"/>
            <a:ext cx="6391372" cy="2083721"/>
          </a:xfrm>
          <a:prstGeom prst="curvedConnector2">
            <a:avLst/>
          </a:prstGeom>
          <a:ln w="762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3FD31D58-30FE-4363-7678-88F7C9B8E894}"/>
              </a:ext>
            </a:extLst>
          </p:cNvPr>
          <p:cNvSpPr txBox="1"/>
          <p:nvPr/>
        </p:nvSpPr>
        <p:spPr>
          <a:xfrm>
            <a:off x="8419427" y="2891536"/>
            <a:ext cx="27286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b="1" dirty="0"/>
              <a:t>«disabled when ‘offline’»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C714068-7957-007D-B436-519BF99D08A9}"/>
              </a:ext>
            </a:extLst>
          </p:cNvPr>
          <p:cNvSpPr txBox="1"/>
          <p:nvPr/>
        </p:nvSpPr>
        <p:spPr>
          <a:xfrm rot="20085785">
            <a:off x="5662073" y="1088827"/>
            <a:ext cx="1406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b="1" dirty="0"/>
              <a:t>«listens-to»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59A6B535-C553-80D4-E54A-915C5BC54378}"/>
              </a:ext>
            </a:extLst>
          </p:cNvPr>
          <p:cNvSpPr/>
          <p:nvPr/>
        </p:nvSpPr>
        <p:spPr>
          <a:xfrm>
            <a:off x="810071" y="2868956"/>
            <a:ext cx="1730172" cy="325787"/>
          </a:xfrm>
          <a:prstGeom prst="roundRect">
            <a:avLst/>
          </a:prstGeom>
          <a:solidFill>
            <a:srgbClr val="E25444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>
                <a:solidFill>
                  <a:schemeClr val="bg1"/>
                </a:solidFill>
              </a:rPr>
              <a:t>A Validation Error</a:t>
            </a:r>
          </a:p>
          <a:p>
            <a:pPr algn="ctr"/>
            <a:r>
              <a:rPr lang="en-NZ" sz="105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NZ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en-NZ" sz="105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/&gt;</a:t>
            </a:r>
          </a:p>
        </p:txBody>
      </p:sp>
      <p:cxnSp>
        <p:nvCxnSpPr>
          <p:cNvPr id="52" name="Straight Arrow Connector 31">
            <a:extLst>
              <a:ext uri="{FF2B5EF4-FFF2-40B4-BE49-F238E27FC236}">
                <a16:creationId xmlns:a16="http://schemas.microsoft.com/office/drawing/2014/main" id="{0FE45812-A270-B89F-1C49-6C2BF4F8BE35}"/>
              </a:ext>
            </a:extLst>
          </p:cNvPr>
          <p:cNvCxnSpPr>
            <a:cxnSpLocks/>
            <a:stCxn id="9" idx="3"/>
            <a:endCxn id="51" idx="3"/>
          </p:cNvCxnSpPr>
          <p:nvPr/>
        </p:nvCxnSpPr>
        <p:spPr>
          <a:xfrm flipH="1" flipV="1">
            <a:off x="2540243" y="3031850"/>
            <a:ext cx="75861" cy="1133465"/>
          </a:xfrm>
          <a:prstGeom prst="curvedConnector3">
            <a:avLst>
              <a:gd name="adj1" fmla="val -301341"/>
            </a:avLst>
          </a:prstGeom>
          <a:ln w="76200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5C1DC692-825E-1542-0B26-D07FAA8232F4}"/>
              </a:ext>
            </a:extLst>
          </p:cNvPr>
          <p:cNvSpPr txBox="1"/>
          <p:nvPr/>
        </p:nvSpPr>
        <p:spPr>
          <a:xfrm>
            <a:off x="1545409" y="3489789"/>
            <a:ext cx="13308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200" b="1" dirty="0">
                <a:solidFill>
                  <a:schemeClr val="bg1"/>
                </a:solidFill>
              </a:rPr>
              <a:t>«disabled when»</a:t>
            </a:r>
          </a:p>
        </p:txBody>
      </p:sp>
      <p:cxnSp>
        <p:nvCxnSpPr>
          <p:cNvPr id="57" name="Straight Arrow Connector 31">
            <a:extLst>
              <a:ext uri="{FF2B5EF4-FFF2-40B4-BE49-F238E27FC236}">
                <a16:creationId xmlns:a16="http://schemas.microsoft.com/office/drawing/2014/main" id="{BC82E166-2E29-F594-0D52-034BD7C69A7E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>
            <a:off x="2616104" y="4165315"/>
            <a:ext cx="4097116" cy="1108561"/>
          </a:xfrm>
          <a:prstGeom prst="curvedConnector3">
            <a:avLst>
              <a:gd name="adj1" fmla="val 50000"/>
            </a:avLst>
          </a:prstGeom>
          <a:ln w="762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34CF76F0-B0E5-863C-07A3-9CD44E0F42D7}"/>
              </a:ext>
            </a:extLst>
          </p:cNvPr>
          <p:cNvSpPr txBox="1"/>
          <p:nvPr/>
        </p:nvSpPr>
        <p:spPr>
          <a:xfrm>
            <a:off x="4682952" y="4278030"/>
            <a:ext cx="20505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b="1" dirty="0"/>
              <a:t>«busy</a:t>
            </a:r>
          </a:p>
          <a:p>
            <a:r>
              <a:rPr lang="en-NZ" b="1" dirty="0"/>
              <a:t> &amp; disabled while»</a:t>
            </a:r>
          </a:p>
        </p:txBody>
      </p:sp>
      <p:cxnSp>
        <p:nvCxnSpPr>
          <p:cNvPr id="61" name="Straight Arrow Connector 31">
            <a:extLst>
              <a:ext uri="{FF2B5EF4-FFF2-40B4-BE49-F238E27FC236}">
                <a16:creationId xmlns:a16="http://schemas.microsoft.com/office/drawing/2014/main" id="{5A6A99A9-CC19-56EC-879B-8D9E53F1043C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2616103" y="5178432"/>
            <a:ext cx="4872557" cy="298240"/>
          </a:xfrm>
          <a:prstGeom prst="curvedConnector3">
            <a:avLst>
              <a:gd name="adj1" fmla="val 50000"/>
            </a:avLst>
          </a:prstGeom>
          <a:ln w="762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FC28A930-DD12-BF5C-1FDC-9685C7A9C805}"/>
              </a:ext>
            </a:extLst>
          </p:cNvPr>
          <p:cNvSpPr txBox="1"/>
          <p:nvPr/>
        </p:nvSpPr>
        <p:spPr>
          <a:xfrm>
            <a:off x="3393635" y="5509519"/>
            <a:ext cx="3381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b="1" dirty="0"/>
              <a:t>«displayed when ‘unexpected’»</a:t>
            </a:r>
          </a:p>
        </p:txBody>
      </p:sp>
      <p:cxnSp>
        <p:nvCxnSpPr>
          <p:cNvPr id="65" name="Straight Arrow Connector 13">
            <a:extLst>
              <a:ext uri="{FF2B5EF4-FFF2-40B4-BE49-F238E27FC236}">
                <a16:creationId xmlns:a16="http://schemas.microsoft.com/office/drawing/2014/main" id="{96D6190A-E64C-FE90-F8C5-629D05D4ECC2}"/>
              </a:ext>
            </a:extLst>
          </p:cNvPr>
          <p:cNvCxnSpPr>
            <a:cxnSpLocks/>
            <a:stCxn id="3" idx="2"/>
            <a:endCxn id="11" idx="0"/>
          </p:cNvCxnSpPr>
          <p:nvPr/>
        </p:nvCxnSpPr>
        <p:spPr>
          <a:xfrm rot="16200000" flipH="1">
            <a:off x="6559994" y="1605897"/>
            <a:ext cx="645365" cy="4095928"/>
          </a:xfrm>
          <a:prstGeom prst="curvedConnector3">
            <a:avLst>
              <a:gd name="adj1" fmla="val 50000"/>
            </a:avLst>
          </a:prstGeom>
          <a:ln w="762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0C96CE7-0170-CA90-B3DB-F8E093459222}"/>
              </a:ext>
            </a:extLst>
          </p:cNvPr>
          <p:cNvSpPr txBox="1"/>
          <p:nvPr/>
        </p:nvSpPr>
        <p:spPr>
          <a:xfrm>
            <a:off x="5436491" y="3142661"/>
            <a:ext cx="1362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b="1" dirty="0"/>
              <a:t>«bound-to»</a:t>
            </a:r>
          </a:p>
        </p:txBody>
      </p:sp>
      <p:cxnSp>
        <p:nvCxnSpPr>
          <p:cNvPr id="69" name="Straight Arrow Connector 13">
            <a:extLst>
              <a:ext uri="{FF2B5EF4-FFF2-40B4-BE49-F238E27FC236}">
                <a16:creationId xmlns:a16="http://schemas.microsoft.com/office/drawing/2014/main" id="{E706EC5D-1456-D951-FC7A-4C9EEC918B08}"/>
              </a:ext>
            </a:extLst>
          </p:cNvPr>
          <p:cNvCxnSpPr>
            <a:cxnSpLocks/>
            <a:stCxn id="3" idx="1"/>
            <a:endCxn id="5" idx="0"/>
          </p:cNvCxnSpPr>
          <p:nvPr/>
        </p:nvCxnSpPr>
        <p:spPr>
          <a:xfrm rot="10800000">
            <a:off x="1684453" y="1425940"/>
            <a:ext cx="2225615" cy="1097136"/>
          </a:xfrm>
          <a:prstGeom prst="curvedConnector4">
            <a:avLst>
              <a:gd name="adj1" fmla="val 20930"/>
              <a:gd name="adj2" fmla="val 120836"/>
            </a:avLst>
          </a:prstGeom>
          <a:ln w="7620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F81B23AE-C6A6-40E9-1D46-DD7D92F30AF5}"/>
              </a:ext>
            </a:extLst>
          </p:cNvPr>
          <p:cNvSpPr txBox="1"/>
          <p:nvPr/>
        </p:nvSpPr>
        <p:spPr>
          <a:xfrm rot="365992">
            <a:off x="2009100" y="896308"/>
            <a:ext cx="2023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b="1" dirty="0"/>
              <a:t>«(embedded-on)»</a:t>
            </a:r>
          </a:p>
        </p:txBody>
      </p:sp>
      <p:pic>
        <p:nvPicPr>
          <p:cNvPr id="78" name="Graphic 77" descr="Hourglass Finished with solid fill">
            <a:extLst>
              <a:ext uri="{FF2B5EF4-FFF2-40B4-BE49-F238E27FC236}">
                <a16:creationId xmlns:a16="http://schemas.microsoft.com/office/drawing/2014/main" id="{DF7C9298-CD44-D4C6-C8FC-5FEB30AF22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8960" y="4319696"/>
            <a:ext cx="272620" cy="272620"/>
          </a:xfrm>
          <a:prstGeom prst="rect">
            <a:avLst/>
          </a:prstGeom>
        </p:spPr>
      </p:pic>
      <p:sp>
        <p:nvSpPr>
          <p:cNvPr id="96" name="Oval 95">
            <a:extLst>
              <a:ext uri="{FF2B5EF4-FFF2-40B4-BE49-F238E27FC236}">
                <a16:creationId xmlns:a16="http://schemas.microsoft.com/office/drawing/2014/main" id="{8F90630A-D382-D491-C1BA-5B53B1ED5A06}"/>
              </a:ext>
            </a:extLst>
          </p:cNvPr>
          <p:cNvSpPr/>
          <p:nvPr/>
        </p:nvSpPr>
        <p:spPr>
          <a:xfrm>
            <a:off x="10995659" y="5830071"/>
            <a:ext cx="1028700" cy="1028700"/>
          </a:xfrm>
          <a:prstGeom prst="ellips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BEFFE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B15B8E-F114-40D3-A974-BD3F35C5DC10}"/>
              </a:ext>
            </a:extLst>
          </p:cNvPr>
          <p:cNvSpPr txBox="1"/>
          <p:nvPr/>
        </p:nvSpPr>
        <p:spPr>
          <a:xfrm rot="18433599">
            <a:off x="287056" y="3850792"/>
            <a:ext cx="10005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b="1" dirty="0">
                <a:solidFill>
                  <a:schemeClr val="bg1"/>
                </a:solidFill>
              </a:rPr>
              <a:t>«busy when»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C2AD877-31B2-E356-4B74-6071EFAE853F}"/>
              </a:ext>
            </a:extLst>
          </p:cNvPr>
          <p:cNvSpPr txBox="1"/>
          <p:nvPr/>
        </p:nvSpPr>
        <p:spPr>
          <a:xfrm rot="18433599">
            <a:off x="123295" y="4750675"/>
            <a:ext cx="130837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100" b="1" dirty="0">
                <a:solidFill>
                  <a:schemeClr val="bg1"/>
                </a:solidFill>
              </a:rPr>
              <a:t>«displayed when»</a:t>
            </a:r>
          </a:p>
        </p:txBody>
      </p:sp>
    </p:spTree>
    <p:extLst>
      <p:ext uri="{BB962C8B-B14F-4D97-AF65-F5344CB8AC3E}">
        <p14:creationId xmlns:p14="http://schemas.microsoft.com/office/powerpoint/2010/main" val="31728039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1FA83-1AA5-C776-E47C-B2CB0FDDF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122653" cy="549275"/>
          </a:xfrm>
        </p:spPr>
        <p:txBody>
          <a:bodyPr/>
          <a:lstStyle/>
          <a:p>
            <a:r>
              <a:rPr lang="en-NZ" dirty="0"/>
              <a:t>Anatomy of a Use Case / Command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92C835-604F-A071-788C-719DDE8E7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45" y="914400"/>
            <a:ext cx="7944959" cy="574437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DE4FBAE-D3DD-B69B-EF78-83DB5C01E136}"/>
              </a:ext>
            </a:extLst>
          </p:cNvPr>
          <p:cNvSpPr/>
          <p:nvPr/>
        </p:nvSpPr>
        <p:spPr>
          <a:xfrm>
            <a:off x="8020604" y="914399"/>
            <a:ext cx="4095751" cy="5744377"/>
          </a:xfrm>
          <a:prstGeom prst="rect">
            <a:avLst/>
          </a:prstGeom>
          <a:solidFill>
            <a:srgbClr val="2626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38A01C0C-65DB-B4A5-BF9C-67C8FD21A160}"/>
              </a:ext>
            </a:extLst>
          </p:cNvPr>
          <p:cNvSpPr/>
          <p:nvPr/>
        </p:nvSpPr>
        <p:spPr>
          <a:xfrm>
            <a:off x="8169215" y="1199072"/>
            <a:ext cx="388189" cy="3493698"/>
          </a:xfrm>
          <a:prstGeom prst="rightBrac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E788D185-5D7F-37B6-E995-CAF01652E969}"/>
              </a:ext>
            </a:extLst>
          </p:cNvPr>
          <p:cNvSpPr/>
          <p:nvPr/>
        </p:nvSpPr>
        <p:spPr>
          <a:xfrm>
            <a:off x="8169214" y="4753155"/>
            <a:ext cx="388189" cy="1190446"/>
          </a:xfrm>
          <a:prstGeom prst="rightBrac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25A4FC24-9D2D-9AC2-9792-BDDCB2D5DAA4}"/>
              </a:ext>
            </a:extLst>
          </p:cNvPr>
          <p:cNvSpPr/>
          <p:nvPr/>
        </p:nvSpPr>
        <p:spPr>
          <a:xfrm>
            <a:off x="8169213" y="6035612"/>
            <a:ext cx="388189" cy="414130"/>
          </a:xfrm>
          <a:prstGeom prst="rightBrac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AE5368-904A-AA60-3787-9A9F45DD7CB1}"/>
              </a:ext>
            </a:extLst>
          </p:cNvPr>
          <p:cNvSpPr txBox="1"/>
          <p:nvPr/>
        </p:nvSpPr>
        <p:spPr>
          <a:xfrm>
            <a:off x="8557403" y="2761255"/>
            <a:ext cx="28456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Preconditions/Validations</a:t>
            </a:r>
          </a:p>
          <a:p>
            <a:r>
              <a:rPr lang="en-NZ" dirty="0">
                <a:solidFill>
                  <a:schemeClr val="bg1"/>
                </a:solidFill>
              </a:rPr>
              <a:t>to ensure aggregate</a:t>
            </a:r>
          </a:p>
          <a:p>
            <a:r>
              <a:rPr lang="en-NZ" dirty="0">
                <a:solidFill>
                  <a:schemeClr val="bg1"/>
                </a:solidFill>
              </a:rPr>
              <a:t>is always valid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78E885-1CFE-79D4-0E97-1A3C07EDB416}"/>
              </a:ext>
            </a:extLst>
          </p:cNvPr>
          <p:cNvSpPr txBox="1"/>
          <p:nvPr/>
        </p:nvSpPr>
        <p:spPr>
          <a:xfrm>
            <a:off x="8557403" y="5201091"/>
            <a:ext cx="3305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Avoid duplicate change events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9D630F-A54D-B8B4-38A0-14932F5C2DBE}"/>
              </a:ext>
            </a:extLst>
          </p:cNvPr>
          <p:cNvSpPr txBox="1"/>
          <p:nvPr/>
        </p:nvSpPr>
        <p:spPr>
          <a:xfrm>
            <a:off x="8557402" y="6070287"/>
            <a:ext cx="2553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Raise the change event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CD71D2-DA50-003E-E986-F202A8CA7CBA}"/>
              </a:ext>
            </a:extLst>
          </p:cNvPr>
          <p:cNvSpPr/>
          <p:nvPr/>
        </p:nvSpPr>
        <p:spPr>
          <a:xfrm>
            <a:off x="483079" y="1199072"/>
            <a:ext cx="7537524" cy="3493698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418D66-2E0D-99DD-2ADA-84028998C56B}"/>
              </a:ext>
            </a:extLst>
          </p:cNvPr>
          <p:cNvSpPr/>
          <p:nvPr/>
        </p:nvSpPr>
        <p:spPr>
          <a:xfrm flipV="1">
            <a:off x="483079" y="4770409"/>
            <a:ext cx="7537524" cy="1173191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7FFD505-6F9F-2068-51CC-D90ACD252A16}"/>
              </a:ext>
            </a:extLst>
          </p:cNvPr>
          <p:cNvSpPr/>
          <p:nvPr/>
        </p:nvSpPr>
        <p:spPr>
          <a:xfrm flipV="1">
            <a:off x="482547" y="6018360"/>
            <a:ext cx="7537524" cy="44863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4991883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7FC2C7D-9545-AB99-1134-779EC3AAF3D4}"/>
              </a:ext>
            </a:extLst>
          </p:cNvPr>
          <p:cNvSpPr/>
          <p:nvPr/>
        </p:nvSpPr>
        <p:spPr>
          <a:xfrm>
            <a:off x="1626123" y="2345114"/>
            <a:ext cx="4717524" cy="696014"/>
          </a:xfrm>
          <a:prstGeom prst="roundRect">
            <a:avLst/>
          </a:prstGeom>
          <a:solidFill>
            <a:srgbClr val="6600CC"/>
          </a:solidFill>
          <a:ln w="38100">
            <a:solidFill>
              <a:srgbClr val="99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2000" dirty="0"/>
              <a:t>REST API</a:t>
            </a:r>
          </a:p>
          <a:p>
            <a:pPr algn="ctr"/>
            <a:r>
              <a:rPr lang="en-NZ" sz="1200" dirty="0">
                <a:solidFill>
                  <a:schemeClr val="bg1">
                    <a:lumMod val="85000"/>
                  </a:schemeClr>
                </a:solidFill>
              </a:rPr>
              <a:t>140+ endpoints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89AB2CE-B3AD-361A-8D0D-F2300E394FBC}"/>
              </a:ext>
            </a:extLst>
          </p:cNvPr>
          <p:cNvSpPr/>
          <p:nvPr/>
        </p:nvSpPr>
        <p:spPr>
          <a:xfrm>
            <a:off x="1626123" y="213085"/>
            <a:ext cx="1564850" cy="848412"/>
          </a:xfrm>
          <a:prstGeom prst="roundRect">
            <a:avLst/>
          </a:prstGeom>
          <a:solidFill>
            <a:schemeClr val="tx2">
              <a:lumMod val="5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Web App</a:t>
            </a:r>
            <a:endParaRPr lang="en-NZ" sz="11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745FE14-D477-33A9-F78F-2A5C3DAFCA34}"/>
              </a:ext>
            </a:extLst>
          </p:cNvPr>
          <p:cNvSpPr/>
          <p:nvPr/>
        </p:nvSpPr>
        <p:spPr>
          <a:xfrm>
            <a:off x="1626123" y="1279099"/>
            <a:ext cx="1564850" cy="696014"/>
          </a:xfrm>
          <a:prstGeom prst="roundRect">
            <a:avLst/>
          </a:prstGeom>
          <a:solidFill>
            <a:srgbClr val="6600CC"/>
          </a:solidFill>
          <a:ln w="38100">
            <a:solidFill>
              <a:srgbClr val="99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400" dirty="0"/>
              <a:t>Backend for Frontend</a:t>
            </a:r>
            <a:endParaRPr lang="en-NZ" sz="1200" dirty="0">
              <a:solidFill>
                <a:schemeClr val="bg1">
                  <a:lumMod val="85000"/>
                </a:schemeClr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972A7FA-009D-C29D-AFD2-20BF4714AD2E}"/>
              </a:ext>
            </a:extLst>
          </p:cNvPr>
          <p:cNvGrpSpPr/>
          <p:nvPr/>
        </p:nvGrpSpPr>
        <p:grpSpPr>
          <a:xfrm>
            <a:off x="1626123" y="3778770"/>
            <a:ext cx="4717524" cy="2316641"/>
            <a:chOff x="2083323" y="4140720"/>
            <a:chExt cx="6165130" cy="2316641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902CE3E8-6322-7A53-8164-A57E537B1D8A}"/>
                </a:ext>
              </a:extLst>
            </p:cNvPr>
            <p:cNvSpPr/>
            <p:nvPr/>
          </p:nvSpPr>
          <p:spPr>
            <a:xfrm>
              <a:off x="2083323" y="4140720"/>
              <a:ext cx="6165130" cy="2316641"/>
            </a:xfrm>
            <a:prstGeom prst="roundRect">
              <a:avLst>
                <a:gd name="adj" fmla="val 6731"/>
              </a:avLst>
            </a:prstGeom>
            <a:solidFill>
              <a:schemeClr val="accent4">
                <a:lumMod val="50000"/>
              </a:schemeClr>
            </a:solidFill>
            <a:ln w="38100">
              <a:solidFill>
                <a:srgbClr val="FFC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sz="2000" dirty="0"/>
                <a:t>3</a:t>
              </a:r>
              <a:r>
                <a:rPr lang="en-NZ" sz="2000" baseline="30000" dirty="0"/>
                <a:t>rd</a:t>
              </a:r>
              <a:r>
                <a:rPr lang="en-NZ" sz="2000" dirty="0"/>
                <a:t> party integration plugins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F95E0895-A763-9638-FDAC-0E9CDFE90DB7}"/>
                </a:ext>
              </a:extLst>
            </p:cNvPr>
            <p:cNvSpPr/>
            <p:nvPr/>
          </p:nvSpPr>
          <p:spPr>
            <a:xfrm>
              <a:off x="2486323" y="4733824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Payments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Maxio</a:t>
              </a:r>
              <a:endParaRPr lang="en-NZ" sz="1000" dirty="0">
                <a:solidFill>
                  <a:srgbClr val="FFC000"/>
                </a:solidFill>
              </a:endParaRP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Chargbee</a:t>
              </a:r>
              <a:endParaRPr lang="en-NZ" sz="1000" dirty="0">
                <a:solidFill>
                  <a:srgbClr val="FFC000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438B0A39-F24C-010D-4248-0B44C1D1DC3C}"/>
                </a:ext>
              </a:extLst>
            </p:cNvPr>
            <p:cNvSpPr/>
            <p:nvPr/>
          </p:nvSpPr>
          <p:spPr>
            <a:xfrm>
              <a:off x="3892488" y="4733824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AuthN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Auth0</a:t>
              </a:r>
            </a:p>
            <a:p>
              <a:pPr algn="ctr"/>
              <a:r>
                <a:rPr lang="en-NZ" sz="900" dirty="0" err="1">
                  <a:solidFill>
                    <a:srgbClr val="FFC000"/>
                  </a:solidFill>
                </a:rPr>
                <a:t>IdentityServer</a:t>
              </a:r>
              <a:endParaRPr lang="en-NZ" sz="900" dirty="0">
                <a:solidFill>
                  <a:srgbClr val="FFC000"/>
                </a:solidFill>
              </a:endParaRP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52E7FAFD-DCC1-2901-DC2C-8AA111B18BE9}"/>
                </a:ext>
              </a:extLst>
            </p:cNvPr>
            <p:cNvSpPr/>
            <p:nvPr/>
          </p:nvSpPr>
          <p:spPr>
            <a:xfrm>
              <a:off x="5298653" y="4733823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Feature Flags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Flagsmith</a:t>
              </a:r>
              <a:endParaRPr lang="en-NZ" sz="1000" dirty="0">
                <a:solidFill>
                  <a:srgbClr val="FFC000"/>
                </a:solidFill>
              </a:endParaRPr>
            </a:p>
            <a:p>
              <a:pPr algn="ctr"/>
              <a:r>
                <a:rPr lang="en-NZ" sz="900" dirty="0" err="1">
                  <a:solidFill>
                    <a:srgbClr val="FFC000"/>
                  </a:solidFill>
                </a:rPr>
                <a:t>LaunchDarkly</a:t>
              </a:r>
              <a:endParaRPr lang="en-NZ" sz="1000" dirty="0">
                <a:solidFill>
                  <a:srgbClr val="FFC000"/>
                </a:solidFill>
              </a:endParaRP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76FDFC71-B0E1-F215-C3B2-55B375CECC8A}"/>
                </a:ext>
              </a:extLst>
            </p:cNvPr>
            <p:cNvSpPr/>
            <p:nvPr/>
          </p:nvSpPr>
          <p:spPr>
            <a:xfrm>
              <a:off x="6704818" y="4733823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Analytics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Mixpanel</a:t>
              </a:r>
              <a:endParaRPr lang="en-NZ" sz="1000" dirty="0">
                <a:solidFill>
                  <a:srgbClr val="FFC000"/>
                </a:solidFill>
              </a:endParaRP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UserPilot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107AB264-6E58-FDA3-0C72-9B540D6FA75C}"/>
                </a:ext>
              </a:extLst>
            </p:cNvPr>
            <p:cNvSpPr/>
            <p:nvPr/>
          </p:nvSpPr>
          <p:spPr>
            <a:xfrm>
              <a:off x="2486323" y="5617588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Email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Twilio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Mailgun</a:t>
              </a:r>
              <a:endParaRPr lang="en-NZ" sz="1000" dirty="0">
                <a:solidFill>
                  <a:srgbClr val="FFC000"/>
                </a:solidFill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F470451E-8CB8-32AE-CC37-7796B3803301}"/>
                </a:ext>
              </a:extLst>
            </p:cNvPr>
            <p:cNvSpPr/>
            <p:nvPr/>
          </p:nvSpPr>
          <p:spPr>
            <a:xfrm>
              <a:off x="3892488" y="5617588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SMS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Twilio</a:t>
              </a: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86B34414-5AD6-2C17-D73B-31AF9AFE0DB7}"/>
                </a:ext>
              </a:extLst>
            </p:cNvPr>
            <p:cNvSpPr/>
            <p:nvPr/>
          </p:nvSpPr>
          <p:spPr>
            <a:xfrm>
              <a:off x="5298653" y="5617587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Avatars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Gravatar</a:t>
              </a:r>
            </a:p>
            <a:p>
              <a:pPr algn="ctr"/>
              <a:r>
                <a:rPr lang="en-NZ" sz="1000" dirty="0" err="1">
                  <a:solidFill>
                    <a:srgbClr val="FFC000"/>
                  </a:solidFill>
                </a:rPr>
                <a:t>Libravatar</a:t>
              </a:r>
              <a:endParaRPr lang="en-NZ" sz="1000" dirty="0">
                <a:solidFill>
                  <a:srgbClr val="FFC000"/>
                </a:solidFill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272EE02-712A-D48E-C9B7-004E400A605B}"/>
                </a:ext>
              </a:extLst>
            </p:cNvPr>
            <p:cNvSpPr/>
            <p:nvPr/>
          </p:nvSpPr>
          <p:spPr>
            <a:xfrm>
              <a:off x="6704818" y="5617587"/>
              <a:ext cx="1283618" cy="641025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SSO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Microsoft</a:t>
              </a:r>
            </a:p>
            <a:p>
              <a:pPr algn="ctr"/>
              <a:r>
                <a:rPr lang="en-NZ" sz="1000" dirty="0">
                  <a:solidFill>
                    <a:srgbClr val="FFC000"/>
                  </a:solidFill>
                </a:rPr>
                <a:t>Google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1199730-3EEC-4EAA-9398-F1E67017601A}"/>
              </a:ext>
            </a:extLst>
          </p:cNvPr>
          <p:cNvGrpSpPr/>
          <p:nvPr/>
        </p:nvGrpSpPr>
        <p:grpSpPr>
          <a:xfrm>
            <a:off x="7034717" y="1243747"/>
            <a:ext cx="3016577" cy="2885387"/>
            <a:chOff x="8446416" y="2489460"/>
            <a:chExt cx="3016577" cy="2885387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758FC225-7E0B-C6A9-07E9-3ABD7B7960C1}"/>
                </a:ext>
              </a:extLst>
            </p:cNvPr>
            <p:cNvSpPr/>
            <p:nvPr/>
          </p:nvSpPr>
          <p:spPr>
            <a:xfrm>
              <a:off x="8446416" y="2489460"/>
              <a:ext cx="3016577" cy="2885387"/>
            </a:xfrm>
            <a:prstGeom prst="roundRect">
              <a:avLst>
                <a:gd name="adj" fmla="val 6226"/>
              </a:avLst>
            </a:prstGeom>
            <a:solidFill>
              <a:srgbClr val="336600"/>
            </a:solidFill>
            <a:ln w="38100">
              <a:solidFill>
                <a:srgbClr val="33CC33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NZ" dirty="0"/>
                <a:t>Cloud Infrastructure</a:t>
              </a:r>
              <a:br>
                <a:rPr lang="en-NZ" dirty="0"/>
              </a:br>
              <a:r>
                <a:rPr lang="en-NZ" sz="1200" dirty="0">
                  <a:solidFill>
                    <a:schemeClr val="bg2">
                      <a:lumMod val="75000"/>
                    </a:schemeClr>
                  </a:solidFill>
                </a:rPr>
                <a:t>Azure or AWS</a:t>
              </a:r>
              <a:endParaRPr lang="en-NZ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8651F825-F488-41CD-AD3B-9FE62CF5D5CA}"/>
                </a:ext>
              </a:extLst>
            </p:cNvPr>
            <p:cNvSpPr/>
            <p:nvPr/>
          </p:nvSpPr>
          <p:spPr>
            <a:xfrm>
              <a:off x="8616096" y="3916837"/>
              <a:ext cx="1252193" cy="575032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 err="1"/>
                <a:t>Rel.Databases</a:t>
              </a:r>
              <a:endParaRPr lang="en-NZ" sz="1200" dirty="0"/>
            </a:p>
            <a:p>
              <a:pPr algn="ctr"/>
              <a:r>
                <a:rPr lang="en-NZ" sz="1050" dirty="0">
                  <a:solidFill>
                    <a:srgbClr val="33CC33"/>
                  </a:solidFill>
                </a:rPr>
                <a:t>Data</a:t>
              </a:r>
              <a:endParaRPr lang="en-NZ" sz="1000" dirty="0">
                <a:solidFill>
                  <a:srgbClr val="33CC33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8B92A04-4892-FC39-D5D8-E1DAE644E84A}"/>
                </a:ext>
              </a:extLst>
            </p:cNvPr>
            <p:cNvSpPr/>
            <p:nvPr/>
          </p:nvSpPr>
          <p:spPr>
            <a:xfrm>
              <a:off x="8616097" y="3076282"/>
              <a:ext cx="1252193" cy="721938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Message Bus</a:t>
              </a:r>
              <a:br>
                <a:rPr lang="en-NZ" sz="1200" dirty="0"/>
              </a:br>
              <a:r>
                <a:rPr lang="en-NZ" sz="1100" dirty="0">
                  <a:solidFill>
                    <a:srgbClr val="33CC33"/>
                  </a:solidFill>
                </a:rPr>
                <a:t>Topics</a:t>
              </a:r>
              <a:endParaRPr lang="en-NZ" sz="1050" dirty="0">
                <a:solidFill>
                  <a:srgbClr val="33CC33"/>
                </a:solidFill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1001D19E-A224-DD6E-68A3-537B9E54A3C6}"/>
                </a:ext>
              </a:extLst>
            </p:cNvPr>
            <p:cNvSpPr/>
            <p:nvPr/>
          </p:nvSpPr>
          <p:spPr>
            <a:xfrm>
              <a:off x="10037971" y="3075099"/>
              <a:ext cx="1252193" cy="721938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400" dirty="0"/>
                <a:t>Queues</a:t>
              </a:r>
            </a:p>
            <a:p>
              <a:pPr algn="ctr"/>
              <a:r>
                <a:rPr lang="en-NZ" sz="1050" dirty="0">
                  <a:solidFill>
                    <a:srgbClr val="33CC33"/>
                  </a:solidFill>
                </a:rPr>
                <a:t>FIFO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D3C8C05-5A3A-810E-16CB-A934AE8E6848}"/>
                </a:ext>
              </a:extLst>
            </p:cNvPr>
            <p:cNvSpPr/>
            <p:nvPr/>
          </p:nvSpPr>
          <p:spPr>
            <a:xfrm>
              <a:off x="10037970" y="4604890"/>
              <a:ext cx="1252193" cy="611166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400" dirty="0"/>
                <a:t>Blobs</a:t>
              </a:r>
              <a:br>
                <a:rPr lang="en-NZ" sz="1400" dirty="0"/>
              </a:br>
              <a:r>
                <a:rPr lang="en-NZ" sz="1100" dirty="0">
                  <a:solidFill>
                    <a:srgbClr val="33CC33"/>
                  </a:solidFill>
                </a:rPr>
                <a:t>Images</a:t>
              </a:r>
              <a:endParaRPr lang="en-NZ" sz="1050" dirty="0">
                <a:solidFill>
                  <a:srgbClr val="33CC33"/>
                </a:solidFill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3176021C-1B82-976D-2A55-2EF790F63653}"/>
                </a:ext>
              </a:extLst>
            </p:cNvPr>
            <p:cNvSpPr/>
            <p:nvPr/>
          </p:nvSpPr>
          <p:spPr>
            <a:xfrm>
              <a:off x="8616097" y="4610486"/>
              <a:ext cx="1252192" cy="611166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400" dirty="0"/>
                <a:t>Event Store</a:t>
              </a:r>
              <a:br>
                <a:rPr lang="en-NZ" sz="1400" dirty="0"/>
              </a:br>
              <a:r>
                <a:rPr lang="en-NZ" sz="1100" dirty="0">
                  <a:solidFill>
                    <a:srgbClr val="33CC33"/>
                  </a:solidFill>
                </a:rPr>
                <a:t>Events</a:t>
              </a:r>
              <a:endParaRPr lang="en-NZ" sz="1050" dirty="0">
                <a:solidFill>
                  <a:srgbClr val="33CC33"/>
                </a:solidFill>
              </a:endParaRP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353B57B3-0711-1CAB-0250-3E5D7194AB5C}"/>
                </a:ext>
              </a:extLst>
            </p:cNvPr>
            <p:cNvSpPr/>
            <p:nvPr/>
          </p:nvSpPr>
          <p:spPr>
            <a:xfrm>
              <a:off x="10037969" y="3909959"/>
              <a:ext cx="1252193" cy="575032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19050">
              <a:solidFill>
                <a:srgbClr val="33CC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Table/NoSQL</a:t>
              </a:r>
            </a:p>
            <a:p>
              <a:pPr algn="ctr"/>
              <a:r>
                <a:rPr lang="en-NZ" sz="1050" dirty="0">
                  <a:solidFill>
                    <a:srgbClr val="33CC33"/>
                  </a:solidFill>
                </a:rPr>
                <a:t>Data</a:t>
              </a:r>
              <a:endParaRPr lang="en-NZ" sz="1000" dirty="0">
                <a:solidFill>
                  <a:srgbClr val="33CC33"/>
                </a:solidFill>
              </a:endParaRP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00582DD-30A4-BB94-C648-2DC2C6722CFB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2408548" y="1061497"/>
            <a:ext cx="0" cy="217602"/>
          </a:xfrm>
          <a:prstGeom prst="straightConnector1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11BF994-928C-F4BE-DAFD-3851404074A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408548" y="1975113"/>
            <a:ext cx="0" cy="370000"/>
          </a:xfrm>
          <a:prstGeom prst="straightConnector1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6B692CA-1638-60C9-2680-C7B3A8E3BA4A}"/>
              </a:ext>
            </a:extLst>
          </p:cNvPr>
          <p:cNvCxnSpPr>
            <a:cxnSpLocks/>
            <a:stCxn id="5" idx="3"/>
            <a:endCxn id="23" idx="1"/>
          </p:cNvCxnSpPr>
          <p:nvPr/>
        </p:nvCxnSpPr>
        <p:spPr>
          <a:xfrm flipV="1">
            <a:off x="6343647" y="2686441"/>
            <a:ext cx="691070" cy="6680"/>
          </a:xfrm>
          <a:prstGeom prst="straightConnector1">
            <a:avLst/>
          </a:prstGeom>
          <a:ln w="38100">
            <a:solidFill>
              <a:srgbClr val="33CC33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448CA08-1065-2E17-F33A-42680C4C41D3}"/>
              </a:ext>
            </a:extLst>
          </p:cNvPr>
          <p:cNvCxnSpPr>
            <a:cxnSpLocks/>
            <a:stCxn id="5" idx="2"/>
            <a:endCxn id="14" idx="0"/>
          </p:cNvCxnSpPr>
          <p:nvPr/>
        </p:nvCxnSpPr>
        <p:spPr>
          <a:xfrm>
            <a:off x="3984885" y="3041128"/>
            <a:ext cx="0" cy="737642"/>
          </a:xfrm>
          <a:prstGeom prst="straightConnector1">
            <a:avLst/>
          </a:prstGeom>
          <a:ln w="38100"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CB58E41-A689-3CEF-7B58-A4071A0CFD6B}"/>
              </a:ext>
            </a:extLst>
          </p:cNvPr>
          <p:cNvGrpSpPr/>
          <p:nvPr/>
        </p:nvGrpSpPr>
        <p:grpSpPr>
          <a:xfrm>
            <a:off x="3258533" y="208881"/>
            <a:ext cx="533131" cy="865943"/>
            <a:chOff x="3715733" y="418959"/>
            <a:chExt cx="533131" cy="1080825"/>
          </a:xfrm>
        </p:grpSpPr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6DB43436-CC31-C1A3-02B7-5C774D6428BD}"/>
                </a:ext>
              </a:extLst>
            </p:cNvPr>
            <p:cNvSpPr/>
            <p:nvPr/>
          </p:nvSpPr>
          <p:spPr>
            <a:xfrm>
              <a:off x="3715733" y="424206"/>
              <a:ext cx="186185" cy="1058945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3A6F3D0-4F7E-8949-DEBC-6F01B6DF1E09}"/>
                </a:ext>
              </a:extLst>
            </p:cNvPr>
            <p:cNvSpPr txBox="1"/>
            <p:nvPr/>
          </p:nvSpPr>
          <p:spPr>
            <a:xfrm rot="5400000">
              <a:off x="3500702" y="751623"/>
              <a:ext cx="1080825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Unit Tested</a:t>
              </a:r>
            </a:p>
            <a:p>
              <a:pPr algn="ctr"/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(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vitest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)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95B4626-E5B2-E23B-3154-FF44743E8BAE}"/>
              </a:ext>
            </a:extLst>
          </p:cNvPr>
          <p:cNvGrpSpPr/>
          <p:nvPr/>
        </p:nvGrpSpPr>
        <p:grpSpPr>
          <a:xfrm>
            <a:off x="3269169" y="1202503"/>
            <a:ext cx="533125" cy="865943"/>
            <a:chOff x="3715733" y="291645"/>
            <a:chExt cx="533125" cy="1335441"/>
          </a:xfrm>
        </p:grpSpPr>
        <p:sp>
          <p:nvSpPr>
            <p:cNvPr id="33" name="Right Brace 32">
              <a:extLst>
                <a:ext uri="{FF2B5EF4-FFF2-40B4-BE49-F238E27FC236}">
                  <a16:creationId xmlns:a16="http://schemas.microsoft.com/office/drawing/2014/main" id="{A84856D4-69F9-BFD8-8738-AF73449EDF3B}"/>
                </a:ext>
              </a:extLst>
            </p:cNvPr>
            <p:cNvSpPr/>
            <p:nvPr/>
          </p:nvSpPr>
          <p:spPr>
            <a:xfrm>
              <a:off x="3715733" y="424206"/>
              <a:ext cx="186185" cy="1058945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D00C44E-D3E5-E0A4-6C21-ECF228ECD1AF}"/>
                </a:ext>
              </a:extLst>
            </p:cNvPr>
            <p:cNvSpPr txBox="1"/>
            <p:nvPr/>
          </p:nvSpPr>
          <p:spPr>
            <a:xfrm rot="5400000">
              <a:off x="3373388" y="751617"/>
              <a:ext cx="133544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Unit Tested</a:t>
              </a:r>
            </a:p>
            <a:p>
              <a:pPr algn="ctr"/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(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xunit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)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646D6B1-D83A-0F97-4F2E-B9F2CEC8E043}"/>
              </a:ext>
            </a:extLst>
          </p:cNvPr>
          <p:cNvGrpSpPr/>
          <p:nvPr/>
        </p:nvGrpSpPr>
        <p:grpSpPr>
          <a:xfrm>
            <a:off x="6424125" y="1816624"/>
            <a:ext cx="533125" cy="1224503"/>
            <a:chOff x="3715733" y="-246454"/>
            <a:chExt cx="533125" cy="1729603"/>
          </a:xfrm>
        </p:grpSpPr>
        <p:sp>
          <p:nvSpPr>
            <p:cNvPr id="38" name="Right Brace 37">
              <a:extLst>
                <a:ext uri="{FF2B5EF4-FFF2-40B4-BE49-F238E27FC236}">
                  <a16:creationId xmlns:a16="http://schemas.microsoft.com/office/drawing/2014/main" id="{2AD14719-007C-D2B7-CB5E-019CB0CC6E07}"/>
                </a:ext>
              </a:extLst>
            </p:cNvPr>
            <p:cNvSpPr/>
            <p:nvPr/>
          </p:nvSpPr>
          <p:spPr>
            <a:xfrm>
              <a:off x="3715733" y="500032"/>
              <a:ext cx="186185" cy="983117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A7D9670-F85B-6555-1738-5D0B2DD062A5}"/>
                </a:ext>
              </a:extLst>
            </p:cNvPr>
            <p:cNvSpPr txBox="1"/>
            <p:nvPr/>
          </p:nvSpPr>
          <p:spPr>
            <a:xfrm rot="5400000">
              <a:off x="3429539" y="157367"/>
              <a:ext cx="122313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Unit Tested</a:t>
              </a:r>
            </a:p>
            <a:p>
              <a:pPr algn="ctr"/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(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xunit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)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F327B05-51B9-9E08-D00F-A6F1FAAE1E4A}"/>
              </a:ext>
            </a:extLst>
          </p:cNvPr>
          <p:cNvGrpSpPr/>
          <p:nvPr/>
        </p:nvGrpSpPr>
        <p:grpSpPr>
          <a:xfrm>
            <a:off x="10144302" y="1243747"/>
            <a:ext cx="533122" cy="2885387"/>
            <a:chOff x="3715733" y="424206"/>
            <a:chExt cx="533122" cy="1058945"/>
          </a:xfrm>
        </p:grpSpPr>
        <p:sp>
          <p:nvSpPr>
            <p:cNvPr id="48" name="Right Brace 47">
              <a:extLst>
                <a:ext uri="{FF2B5EF4-FFF2-40B4-BE49-F238E27FC236}">
                  <a16:creationId xmlns:a16="http://schemas.microsoft.com/office/drawing/2014/main" id="{09417EE2-8782-90CB-5031-1AC3905E1262}"/>
                </a:ext>
              </a:extLst>
            </p:cNvPr>
            <p:cNvSpPr/>
            <p:nvPr/>
          </p:nvSpPr>
          <p:spPr>
            <a:xfrm>
              <a:off x="3715733" y="424206"/>
              <a:ext cx="186185" cy="1058945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157AF24-6731-6C78-26C0-EE6B58F975A3}"/>
                </a:ext>
              </a:extLst>
            </p:cNvPr>
            <p:cNvSpPr txBox="1"/>
            <p:nvPr/>
          </p:nvSpPr>
          <p:spPr>
            <a:xfrm rot="5400000">
              <a:off x="3882204" y="595084"/>
              <a:ext cx="31780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Unit Tested</a:t>
              </a:r>
            </a:p>
            <a:p>
              <a:pPr algn="ctr"/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(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xunit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)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31B4F189-1DD0-3364-909D-A5C1EE0CF8A6}"/>
              </a:ext>
            </a:extLst>
          </p:cNvPr>
          <p:cNvSpPr txBox="1"/>
          <p:nvPr/>
        </p:nvSpPr>
        <p:spPr>
          <a:xfrm>
            <a:off x="5486653" y="125083"/>
            <a:ext cx="65064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sz="2800" dirty="0">
                <a:solidFill>
                  <a:schemeClr val="bg1"/>
                </a:solidFill>
              </a:rPr>
              <a:t>Testing Scopes &amp; Categories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331DD07-3790-5FF5-6A33-CD51F8B3EA75}"/>
              </a:ext>
            </a:extLst>
          </p:cNvPr>
          <p:cNvGrpSpPr/>
          <p:nvPr/>
        </p:nvGrpSpPr>
        <p:grpSpPr>
          <a:xfrm rot="10800000">
            <a:off x="948608" y="414955"/>
            <a:ext cx="533153" cy="2688788"/>
            <a:chOff x="3715734" y="424207"/>
            <a:chExt cx="533153" cy="1441480"/>
          </a:xfrm>
        </p:grpSpPr>
        <p:sp>
          <p:nvSpPr>
            <p:cNvPr id="53" name="Right Brace 52">
              <a:extLst>
                <a:ext uri="{FF2B5EF4-FFF2-40B4-BE49-F238E27FC236}">
                  <a16:creationId xmlns:a16="http://schemas.microsoft.com/office/drawing/2014/main" id="{6A7EA295-3CA0-4FD4-75B5-4C54CDDF529B}"/>
                </a:ext>
              </a:extLst>
            </p:cNvPr>
            <p:cNvSpPr/>
            <p:nvPr/>
          </p:nvSpPr>
          <p:spPr>
            <a:xfrm>
              <a:off x="3715734" y="424207"/>
              <a:ext cx="186185" cy="978201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75A286B-BF0F-D06A-A7FC-1D6007BDF7CA}"/>
                </a:ext>
              </a:extLst>
            </p:cNvPr>
            <p:cNvSpPr txBox="1"/>
            <p:nvPr/>
          </p:nvSpPr>
          <p:spPr>
            <a:xfrm rot="5400000">
              <a:off x="3352687" y="969487"/>
              <a:ext cx="137690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Integration Tested</a:t>
              </a:r>
            </a:p>
            <a:p>
              <a:pPr algn="ctr"/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(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xunit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, Category = “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Integration.Website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”)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259B343F-2336-23C8-BBFE-F6485E45FB3A}"/>
              </a:ext>
            </a:extLst>
          </p:cNvPr>
          <p:cNvGrpSpPr/>
          <p:nvPr/>
        </p:nvGrpSpPr>
        <p:grpSpPr>
          <a:xfrm rot="10800000">
            <a:off x="352121" y="213084"/>
            <a:ext cx="533121" cy="2890651"/>
            <a:chOff x="3715733" y="424206"/>
            <a:chExt cx="533121" cy="1058945"/>
          </a:xfrm>
        </p:grpSpPr>
        <p:sp>
          <p:nvSpPr>
            <p:cNvPr id="57" name="Right Brace 56">
              <a:extLst>
                <a:ext uri="{FF2B5EF4-FFF2-40B4-BE49-F238E27FC236}">
                  <a16:creationId xmlns:a16="http://schemas.microsoft.com/office/drawing/2014/main" id="{97AF4208-7DA2-2D8F-3487-D781766D6385}"/>
                </a:ext>
              </a:extLst>
            </p:cNvPr>
            <p:cNvSpPr/>
            <p:nvPr/>
          </p:nvSpPr>
          <p:spPr>
            <a:xfrm>
              <a:off x="3715733" y="424206"/>
              <a:ext cx="186185" cy="1058945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0EDB2D7-11EF-6C24-026C-D43571C88AED}"/>
                </a:ext>
              </a:extLst>
            </p:cNvPr>
            <p:cNvSpPr txBox="1"/>
            <p:nvPr/>
          </p:nvSpPr>
          <p:spPr>
            <a:xfrm rot="5400000">
              <a:off x="3885429" y="751617"/>
              <a:ext cx="31135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e2e Tested</a:t>
              </a:r>
            </a:p>
            <a:p>
              <a:pPr algn="ctr"/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(Cypress)</a:t>
              </a:r>
            </a:p>
          </p:txBody>
        </p:sp>
      </p:grp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3B9A3117-9146-B4B8-50AD-7D3B611E2963}"/>
              </a:ext>
            </a:extLst>
          </p:cNvPr>
          <p:cNvSpPr/>
          <p:nvPr/>
        </p:nvSpPr>
        <p:spPr>
          <a:xfrm>
            <a:off x="7098332" y="5056620"/>
            <a:ext cx="2209603" cy="953954"/>
          </a:xfrm>
          <a:custGeom>
            <a:avLst/>
            <a:gdLst>
              <a:gd name="csX0" fmla="*/ 0 w 2209603"/>
              <a:gd name="csY0" fmla="*/ 220592 h 953954"/>
              <a:gd name="csX1" fmla="*/ 220592 w 2209603"/>
              <a:gd name="csY1" fmla="*/ 0 h 953954"/>
              <a:gd name="csX2" fmla="*/ 774697 w 2209603"/>
              <a:gd name="csY2" fmla="*/ 0 h 953954"/>
              <a:gd name="csX3" fmla="*/ 1364170 w 2209603"/>
              <a:gd name="csY3" fmla="*/ 0 h 953954"/>
              <a:gd name="csX4" fmla="*/ 1989011 w 2209603"/>
              <a:gd name="csY4" fmla="*/ 0 h 953954"/>
              <a:gd name="csX5" fmla="*/ 2209603 w 2209603"/>
              <a:gd name="csY5" fmla="*/ 220592 h 953954"/>
              <a:gd name="csX6" fmla="*/ 2209603 w 2209603"/>
              <a:gd name="csY6" fmla="*/ 733362 h 953954"/>
              <a:gd name="csX7" fmla="*/ 1989011 w 2209603"/>
              <a:gd name="csY7" fmla="*/ 953954 h 953954"/>
              <a:gd name="csX8" fmla="*/ 1417222 w 2209603"/>
              <a:gd name="csY8" fmla="*/ 953954 h 953954"/>
              <a:gd name="csX9" fmla="*/ 792381 w 2209603"/>
              <a:gd name="csY9" fmla="*/ 953954 h 953954"/>
              <a:gd name="csX10" fmla="*/ 220592 w 2209603"/>
              <a:gd name="csY10" fmla="*/ 953954 h 953954"/>
              <a:gd name="csX11" fmla="*/ 0 w 2209603"/>
              <a:gd name="csY11" fmla="*/ 733362 h 953954"/>
              <a:gd name="csX12" fmla="*/ 0 w 2209603"/>
              <a:gd name="csY12" fmla="*/ 220592 h 9539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2209603" h="953954" fill="none" extrusionOk="0">
                <a:moveTo>
                  <a:pt x="0" y="220592"/>
                </a:moveTo>
                <a:cubicBezTo>
                  <a:pt x="-7543" y="102239"/>
                  <a:pt x="96645" y="23971"/>
                  <a:pt x="220592" y="0"/>
                </a:cubicBezTo>
                <a:cubicBezTo>
                  <a:pt x="370138" y="-44536"/>
                  <a:pt x="545611" y="19947"/>
                  <a:pt x="774697" y="0"/>
                </a:cubicBezTo>
                <a:cubicBezTo>
                  <a:pt x="1003783" y="-19947"/>
                  <a:pt x="1146648" y="2530"/>
                  <a:pt x="1364170" y="0"/>
                </a:cubicBezTo>
                <a:cubicBezTo>
                  <a:pt x="1581692" y="-2530"/>
                  <a:pt x="1776474" y="36802"/>
                  <a:pt x="1989011" y="0"/>
                </a:cubicBezTo>
                <a:cubicBezTo>
                  <a:pt x="2115860" y="-5452"/>
                  <a:pt x="2202160" y="123738"/>
                  <a:pt x="2209603" y="220592"/>
                </a:cubicBezTo>
                <a:cubicBezTo>
                  <a:pt x="2227883" y="434816"/>
                  <a:pt x="2182347" y="628442"/>
                  <a:pt x="2209603" y="733362"/>
                </a:cubicBezTo>
                <a:cubicBezTo>
                  <a:pt x="2213590" y="835890"/>
                  <a:pt x="2110188" y="958547"/>
                  <a:pt x="1989011" y="953954"/>
                </a:cubicBezTo>
                <a:cubicBezTo>
                  <a:pt x="1852877" y="1008787"/>
                  <a:pt x="1675520" y="951947"/>
                  <a:pt x="1417222" y="953954"/>
                </a:cubicBezTo>
                <a:cubicBezTo>
                  <a:pt x="1158924" y="955961"/>
                  <a:pt x="1088823" y="895174"/>
                  <a:pt x="792381" y="953954"/>
                </a:cubicBezTo>
                <a:cubicBezTo>
                  <a:pt x="495939" y="1012734"/>
                  <a:pt x="394363" y="910601"/>
                  <a:pt x="220592" y="953954"/>
                </a:cubicBezTo>
                <a:cubicBezTo>
                  <a:pt x="102380" y="950920"/>
                  <a:pt x="8841" y="833027"/>
                  <a:pt x="0" y="733362"/>
                </a:cubicBezTo>
                <a:cubicBezTo>
                  <a:pt x="-8421" y="486645"/>
                  <a:pt x="11038" y="400697"/>
                  <a:pt x="0" y="220592"/>
                </a:cubicBezTo>
                <a:close/>
              </a:path>
              <a:path w="2209603" h="953954" stroke="0" extrusionOk="0">
                <a:moveTo>
                  <a:pt x="0" y="220592"/>
                </a:moveTo>
                <a:cubicBezTo>
                  <a:pt x="-13579" y="103380"/>
                  <a:pt x="78249" y="22882"/>
                  <a:pt x="220592" y="0"/>
                </a:cubicBezTo>
                <a:cubicBezTo>
                  <a:pt x="495746" y="-39091"/>
                  <a:pt x="618026" y="26449"/>
                  <a:pt x="810065" y="0"/>
                </a:cubicBezTo>
                <a:cubicBezTo>
                  <a:pt x="1002104" y="-26449"/>
                  <a:pt x="1233719" y="57035"/>
                  <a:pt x="1381854" y="0"/>
                </a:cubicBezTo>
                <a:cubicBezTo>
                  <a:pt x="1529989" y="-57035"/>
                  <a:pt x="1730396" y="45592"/>
                  <a:pt x="1989011" y="0"/>
                </a:cubicBezTo>
                <a:cubicBezTo>
                  <a:pt x="2116398" y="12248"/>
                  <a:pt x="2189935" y="111580"/>
                  <a:pt x="2209603" y="220592"/>
                </a:cubicBezTo>
                <a:cubicBezTo>
                  <a:pt x="2263404" y="445688"/>
                  <a:pt x="2183975" y="514835"/>
                  <a:pt x="2209603" y="733362"/>
                </a:cubicBezTo>
                <a:cubicBezTo>
                  <a:pt x="2212873" y="865478"/>
                  <a:pt x="2094082" y="948345"/>
                  <a:pt x="1989011" y="953954"/>
                </a:cubicBezTo>
                <a:cubicBezTo>
                  <a:pt x="1781226" y="961065"/>
                  <a:pt x="1524413" y="911720"/>
                  <a:pt x="1399538" y="953954"/>
                </a:cubicBezTo>
                <a:cubicBezTo>
                  <a:pt x="1274663" y="996188"/>
                  <a:pt x="1046325" y="928733"/>
                  <a:pt x="827749" y="953954"/>
                </a:cubicBezTo>
                <a:cubicBezTo>
                  <a:pt x="609173" y="979175"/>
                  <a:pt x="447894" y="886569"/>
                  <a:pt x="220592" y="953954"/>
                </a:cubicBezTo>
                <a:cubicBezTo>
                  <a:pt x="88668" y="950673"/>
                  <a:pt x="1782" y="871032"/>
                  <a:pt x="0" y="733362"/>
                </a:cubicBezTo>
                <a:cubicBezTo>
                  <a:pt x="-56142" y="573466"/>
                  <a:pt x="50464" y="463156"/>
                  <a:pt x="0" y="220592"/>
                </a:cubicBezTo>
                <a:close/>
              </a:path>
            </a:pathLst>
          </a:custGeom>
          <a:solidFill>
            <a:schemeClr val="accent4">
              <a:lumMod val="50000"/>
            </a:schemeClr>
          </a:solidFill>
          <a:ln w="38100">
            <a:solidFill>
              <a:srgbClr val="FFC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813909692">
                  <a:prstGeom prst="roundRect">
                    <a:avLst>
                      <a:gd name="adj" fmla="val 23124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2000" dirty="0"/>
              <a:t>3</a:t>
            </a:r>
            <a:r>
              <a:rPr lang="en-NZ" sz="2000" baseline="30000" dirty="0"/>
              <a:t>rd</a:t>
            </a:r>
            <a:r>
              <a:rPr lang="en-NZ" sz="2000" dirty="0"/>
              <a:t> parties</a:t>
            </a:r>
          </a:p>
          <a:p>
            <a:pPr algn="ctr"/>
            <a:r>
              <a:rPr lang="en-NZ" sz="1600" dirty="0">
                <a:solidFill>
                  <a:schemeClr val="bg2">
                    <a:lumMod val="75000"/>
                  </a:schemeClr>
                </a:solidFill>
              </a:rPr>
              <a:t>(online, over HTTP)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32958C5-D5AD-8CA1-EA59-C71936A6ACF2}"/>
              </a:ext>
            </a:extLst>
          </p:cNvPr>
          <p:cNvCxnSpPr>
            <a:cxnSpLocks/>
            <a:stCxn id="14" idx="3"/>
            <a:endCxn id="69" idx="1"/>
          </p:cNvCxnSpPr>
          <p:nvPr/>
        </p:nvCxnSpPr>
        <p:spPr>
          <a:xfrm>
            <a:off x="6343647" y="4937091"/>
            <a:ext cx="754685" cy="596506"/>
          </a:xfrm>
          <a:prstGeom prst="straightConnector1">
            <a:avLst/>
          </a:prstGeom>
          <a:ln w="38100">
            <a:solidFill>
              <a:srgbClr val="FFC00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oup 40">
            <a:extLst>
              <a:ext uri="{FF2B5EF4-FFF2-40B4-BE49-F238E27FC236}">
                <a16:creationId xmlns:a16="http://schemas.microsoft.com/office/drawing/2014/main" id="{936B94BC-E3A3-3526-8EB7-4BDC2EF5B62A}"/>
              </a:ext>
            </a:extLst>
          </p:cNvPr>
          <p:cNvGrpSpPr/>
          <p:nvPr/>
        </p:nvGrpSpPr>
        <p:grpSpPr>
          <a:xfrm>
            <a:off x="6368270" y="3766782"/>
            <a:ext cx="533126" cy="2413035"/>
            <a:chOff x="3715733" y="424206"/>
            <a:chExt cx="533126" cy="1058945"/>
          </a:xfrm>
        </p:grpSpPr>
        <p:sp>
          <p:nvSpPr>
            <p:cNvPr id="42" name="Right Brace 41">
              <a:extLst>
                <a:ext uri="{FF2B5EF4-FFF2-40B4-BE49-F238E27FC236}">
                  <a16:creationId xmlns:a16="http://schemas.microsoft.com/office/drawing/2014/main" id="{FBE7C55B-6C9C-330B-634A-01C5E76EF177}"/>
                </a:ext>
              </a:extLst>
            </p:cNvPr>
            <p:cNvSpPr/>
            <p:nvPr/>
          </p:nvSpPr>
          <p:spPr>
            <a:xfrm>
              <a:off x="3715733" y="424206"/>
              <a:ext cx="186185" cy="1058945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F0671E8-0FEF-0FFE-E4E5-4E5AC3A98329}"/>
                </a:ext>
              </a:extLst>
            </p:cNvPr>
            <p:cNvSpPr txBox="1"/>
            <p:nvPr/>
          </p:nvSpPr>
          <p:spPr>
            <a:xfrm rot="5400000">
              <a:off x="3851103" y="663277"/>
              <a:ext cx="380014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Unit Tested</a:t>
              </a:r>
            </a:p>
            <a:p>
              <a:pPr algn="ctr"/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(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xunit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)</a:t>
              </a: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08374C14-5824-D8B5-915F-D9630E46FFEF}"/>
              </a:ext>
            </a:extLst>
          </p:cNvPr>
          <p:cNvGrpSpPr/>
          <p:nvPr/>
        </p:nvGrpSpPr>
        <p:grpSpPr>
          <a:xfrm rot="5400000">
            <a:off x="5240859" y="2618645"/>
            <a:ext cx="452335" cy="7681816"/>
            <a:chOff x="3715733" y="424206"/>
            <a:chExt cx="452335" cy="1058945"/>
          </a:xfrm>
        </p:grpSpPr>
        <p:sp>
          <p:nvSpPr>
            <p:cNvPr id="74" name="Right Brace 73">
              <a:extLst>
                <a:ext uri="{FF2B5EF4-FFF2-40B4-BE49-F238E27FC236}">
                  <a16:creationId xmlns:a16="http://schemas.microsoft.com/office/drawing/2014/main" id="{AC967F58-C259-0E1E-4FC3-F3935DE4D398}"/>
                </a:ext>
              </a:extLst>
            </p:cNvPr>
            <p:cNvSpPr/>
            <p:nvPr/>
          </p:nvSpPr>
          <p:spPr>
            <a:xfrm>
              <a:off x="3715733" y="424206"/>
              <a:ext cx="186185" cy="1058945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3D43A4C1-6654-740B-7F19-719778346115}"/>
                </a:ext>
              </a:extLst>
            </p:cNvPr>
            <p:cNvSpPr txBox="1"/>
            <p:nvPr/>
          </p:nvSpPr>
          <p:spPr>
            <a:xfrm rot="5400000" flipV="1">
              <a:off x="3867987" y="832408"/>
              <a:ext cx="346245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Integration Tested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 (Category = “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Integration.External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”)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FDCE08E-38EB-E415-3E64-3980296D0EA2}"/>
              </a:ext>
            </a:extLst>
          </p:cNvPr>
          <p:cNvGrpSpPr/>
          <p:nvPr/>
        </p:nvGrpSpPr>
        <p:grpSpPr>
          <a:xfrm rot="5400000">
            <a:off x="3758715" y="986115"/>
            <a:ext cx="452335" cy="4717527"/>
            <a:chOff x="3715734" y="424206"/>
            <a:chExt cx="452335" cy="1060755"/>
          </a:xfrm>
        </p:grpSpPr>
        <p:sp>
          <p:nvSpPr>
            <p:cNvPr id="77" name="Right Brace 76">
              <a:extLst>
                <a:ext uri="{FF2B5EF4-FFF2-40B4-BE49-F238E27FC236}">
                  <a16:creationId xmlns:a16="http://schemas.microsoft.com/office/drawing/2014/main" id="{5209BA36-FF6A-1FA5-BD46-D0B074AFEA99}"/>
                </a:ext>
              </a:extLst>
            </p:cNvPr>
            <p:cNvSpPr/>
            <p:nvPr/>
          </p:nvSpPr>
          <p:spPr>
            <a:xfrm>
              <a:off x="3715734" y="424206"/>
              <a:ext cx="186185" cy="1060755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51681656-2440-966E-CE57-BAED7092D856}"/>
                </a:ext>
              </a:extLst>
            </p:cNvPr>
            <p:cNvSpPr txBox="1"/>
            <p:nvPr/>
          </p:nvSpPr>
          <p:spPr>
            <a:xfrm rot="5400000" flipV="1">
              <a:off x="3656664" y="713941"/>
              <a:ext cx="768894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Integration Tested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 (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xunit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, Category = “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Integration.API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”)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C59AC232-D04F-6976-D6DF-28FEB62E5086}"/>
              </a:ext>
            </a:extLst>
          </p:cNvPr>
          <p:cNvGrpSpPr/>
          <p:nvPr/>
        </p:nvGrpSpPr>
        <p:grpSpPr>
          <a:xfrm rot="5400000">
            <a:off x="9247320" y="2117742"/>
            <a:ext cx="533129" cy="4958338"/>
            <a:chOff x="3715733" y="424206"/>
            <a:chExt cx="533129" cy="1058945"/>
          </a:xfrm>
        </p:grpSpPr>
        <p:sp>
          <p:nvSpPr>
            <p:cNvPr id="80" name="Right Brace 79">
              <a:extLst>
                <a:ext uri="{FF2B5EF4-FFF2-40B4-BE49-F238E27FC236}">
                  <a16:creationId xmlns:a16="http://schemas.microsoft.com/office/drawing/2014/main" id="{897BF8B0-91A2-BD90-2CA2-52CA59E33B28}"/>
                </a:ext>
              </a:extLst>
            </p:cNvPr>
            <p:cNvSpPr/>
            <p:nvPr/>
          </p:nvSpPr>
          <p:spPr>
            <a:xfrm>
              <a:off x="3715733" y="424206"/>
              <a:ext cx="186185" cy="1058945"/>
            </a:xfrm>
            <a:prstGeom prst="rightBrace">
              <a:avLst>
                <a:gd name="adj1" fmla="val 64608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CE3A635A-FE80-D32A-B83A-75719A999030}"/>
                </a:ext>
              </a:extLst>
            </p:cNvPr>
            <p:cNvSpPr txBox="1"/>
            <p:nvPr/>
          </p:nvSpPr>
          <p:spPr>
            <a:xfrm rot="5400000" flipV="1">
              <a:off x="3755877" y="751617"/>
              <a:ext cx="570471" cy="415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50" dirty="0">
                  <a:solidFill>
                    <a:srgbClr val="FF0000"/>
                  </a:solidFill>
                </a:rPr>
                <a:t>Integration Tested</a:t>
              </a:r>
              <a:endParaRPr lang="en-NZ" sz="1050" dirty="0">
                <a:solidFill>
                  <a:schemeClr val="bg2">
                    <a:lumMod val="75000"/>
                  </a:schemeClr>
                </a:solidFill>
              </a:endParaRPr>
            </a:p>
            <a:p>
              <a:pPr algn="ctr"/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(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xunit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, Category = “</a:t>
              </a:r>
              <a:r>
                <a:rPr lang="en-NZ" sz="1050" dirty="0" err="1">
                  <a:solidFill>
                    <a:schemeClr val="bg2">
                      <a:lumMod val="75000"/>
                    </a:schemeClr>
                  </a:solidFill>
                </a:rPr>
                <a:t>Integration.Persistence</a:t>
              </a:r>
              <a:r>
                <a:rPr lang="en-NZ" sz="1050" dirty="0">
                  <a:solidFill>
                    <a:schemeClr val="bg2">
                      <a:lumMod val="75000"/>
                    </a:schemeClr>
                  </a:solidFill>
                </a:rPr>
                <a:t>”)</a:t>
              </a:r>
            </a:p>
          </p:txBody>
        </p:sp>
      </p:grp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94DF833B-3B1F-6DFF-8AA6-C66AF665A903}"/>
              </a:ext>
            </a:extLst>
          </p:cNvPr>
          <p:cNvSpPr/>
          <p:nvPr/>
        </p:nvSpPr>
        <p:spPr>
          <a:xfrm>
            <a:off x="10862208" y="1123812"/>
            <a:ext cx="1130847" cy="3124235"/>
          </a:xfrm>
          <a:custGeom>
            <a:avLst/>
            <a:gdLst>
              <a:gd name="csX0" fmla="*/ 0 w 1130847"/>
              <a:gd name="csY0" fmla="*/ 171787 h 3124235"/>
              <a:gd name="csX1" fmla="*/ 171787 w 1130847"/>
              <a:gd name="csY1" fmla="*/ 0 h 3124235"/>
              <a:gd name="csX2" fmla="*/ 549678 w 1130847"/>
              <a:gd name="csY2" fmla="*/ 0 h 3124235"/>
              <a:gd name="csX3" fmla="*/ 959060 w 1130847"/>
              <a:gd name="csY3" fmla="*/ 0 h 3124235"/>
              <a:gd name="csX4" fmla="*/ 1130847 w 1130847"/>
              <a:gd name="csY4" fmla="*/ 171787 h 3124235"/>
              <a:gd name="csX5" fmla="*/ 1130847 w 1130847"/>
              <a:gd name="csY5" fmla="*/ 672306 h 3124235"/>
              <a:gd name="csX6" fmla="*/ 1130847 w 1130847"/>
              <a:gd name="csY6" fmla="*/ 1172825 h 3124235"/>
              <a:gd name="csX7" fmla="*/ 1130847 w 1130847"/>
              <a:gd name="csY7" fmla="*/ 1784570 h 3124235"/>
              <a:gd name="csX8" fmla="*/ 1130847 w 1130847"/>
              <a:gd name="csY8" fmla="*/ 2312896 h 3124235"/>
              <a:gd name="csX9" fmla="*/ 1130847 w 1130847"/>
              <a:gd name="csY9" fmla="*/ 2952448 h 3124235"/>
              <a:gd name="csX10" fmla="*/ 959060 w 1130847"/>
              <a:gd name="csY10" fmla="*/ 3124235 h 3124235"/>
              <a:gd name="csX11" fmla="*/ 589042 w 1130847"/>
              <a:gd name="csY11" fmla="*/ 3124235 h 3124235"/>
              <a:gd name="csX12" fmla="*/ 171787 w 1130847"/>
              <a:gd name="csY12" fmla="*/ 3124235 h 3124235"/>
              <a:gd name="csX13" fmla="*/ 0 w 1130847"/>
              <a:gd name="csY13" fmla="*/ 2952448 h 3124235"/>
              <a:gd name="csX14" fmla="*/ 0 w 1130847"/>
              <a:gd name="csY14" fmla="*/ 2340703 h 3124235"/>
              <a:gd name="csX15" fmla="*/ 0 w 1130847"/>
              <a:gd name="csY15" fmla="*/ 1784570 h 3124235"/>
              <a:gd name="csX16" fmla="*/ 0 w 1130847"/>
              <a:gd name="csY16" fmla="*/ 1200632 h 3124235"/>
              <a:gd name="csX17" fmla="*/ 0 w 1130847"/>
              <a:gd name="csY17" fmla="*/ 700113 h 3124235"/>
              <a:gd name="csX18" fmla="*/ 0 w 1130847"/>
              <a:gd name="csY18" fmla="*/ 171787 h 31242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1130847" h="3124235" fill="none" extrusionOk="0">
                <a:moveTo>
                  <a:pt x="0" y="171787"/>
                </a:moveTo>
                <a:cubicBezTo>
                  <a:pt x="-2753" y="68441"/>
                  <a:pt x="57502" y="13348"/>
                  <a:pt x="171787" y="0"/>
                </a:cubicBezTo>
                <a:cubicBezTo>
                  <a:pt x="285399" y="-38540"/>
                  <a:pt x="428354" y="26332"/>
                  <a:pt x="549678" y="0"/>
                </a:cubicBezTo>
                <a:cubicBezTo>
                  <a:pt x="671002" y="-26332"/>
                  <a:pt x="796297" y="39033"/>
                  <a:pt x="959060" y="0"/>
                </a:cubicBezTo>
                <a:cubicBezTo>
                  <a:pt x="1038657" y="-11451"/>
                  <a:pt x="1138795" y="74082"/>
                  <a:pt x="1130847" y="171787"/>
                </a:cubicBezTo>
                <a:cubicBezTo>
                  <a:pt x="1137232" y="387029"/>
                  <a:pt x="1108201" y="516665"/>
                  <a:pt x="1130847" y="672306"/>
                </a:cubicBezTo>
                <a:cubicBezTo>
                  <a:pt x="1153493" y="827947"/>
                  <a:pt x="1128206" y="1035525"/>
                  <a:pt x="1130847" y="1172825"/>
                </a:cubicBezTo>
                <a:cubicBezTo>
                  <a:pt x="1133488" y="1310125"/>
                  <a:pt x="1128860" y="1501659"/>
                  <a:pt x="1130847" y="1784570"/>
                </a:cubicBezTo>
                <a:cubicBezTo>
                  <a:pt x="1132834" y="2067481"/>
                  <a:pt x="1091849" y="2108850"/>
                  <a:pt x="1130847" y="2312896"/>
                </a:cubicBezTo>
                <a:cubicBezTo>
                  <a:pt x="1169845" y="2516942"/>
                  <a:pt x="1077220" y="2676005"/>
                  <a:pt x="1130847" y="2952448"/>
                </a:cubicBezTo>
                <a:cubicBezTo>
                  <a:pt x="1131607" y="3054112"/>
                  <a:pt x="1064481" y="3123886"/>
                  <a:pt x="959060" y="3124235"/>
                </a:cubicBezTo>
                <a:cubicBezTo>
                  <a:pt x="814689" y="3159413"/>
                  <a:pt x="677294" y="3087479"/>
                  <a:pt x="589042" y="3124235"/>
                </a:cubicBezTo>
                <a:cubicBezTo>
                  <a:pt x="500790" y="3160991"/>
                  <a:pt x="315057" y="3109967"/>
                  <a:pt x="171787" y="3124235"/>
                </a:cubicBezTo>
                <a:cubicBezTo>
                  <a:pt x="66722" y="3125301"/>
                  <a:pt x="-4403" y="3021075"/>
                  <a:pt x="0" y="2952448"/>
                </a:cubicBezTo>
                <a:cubicBezTo>
                  <a:pt x="-31114" y="2711007"/>
                  <a:pt x="41123" y="2548752"/>
                  <a:pt x="0" y="2340703"/>
                </a:cubicBezTo>
                <a:cubicBezTo>
                  <a:pt x="-41123" y="2132654"/>
                  <a:pt x="16313" y="1974429"/>
                  <a:pt x="0" y="1784570"/>
                </a:cubicBezTo>
                <a:cubicBezTo>
                  <a:pt x="-16313" y="1594711"/>
                  <a:pt x="26316" y="1409513"/>
                  <a:pt x="0" y="1200632"/>
                </a:cubicBezTo>
                <a:cubicBezTo>
                  <a:pt x="-26316" y="991751"/>
                  <a:pt x="32687" y="942089"/>
                  <a:pt x="0" y="700113"/>
                </a:cubicBezTo>
                <a:cubicBezTo>
                  <a:pt x="-32687" y="458137"/>
                  <a:pt x="19659" y="329646"/>
                  <a:pt x="0" y="171787"/>
                </a:cubicBezTo>
                <a:close/>
              </a:path>
              <a:path w="1130847" h="3124235" stroke="0" extrusionOk="0">
                <a:moveTo>
                  <a:pt x="0" y="171787"/>
                </a:moveTo>
                <a:cubicBezTo>
                  <a:pt x="-19799" y="74244"/>
                  <a:pt x="78038" y="8919"/>
                  <a:pt x="171787" y="0"/>
                </a:cubicBezTo>
                <a:cubicBezTo>
                  <a:pt x="345989" y="-41274"/>
                  <a:pt x="482673" y="47512"/>
                  <a:pt x="581169" y="0"/>
                </a:cubicBezTo>
                <a:cubicBezTo>
                  <a:pt x="679665" y="-47512"/>
                  <a:pt x="779183" y="30059"/>
                  <a:pt x="959060" y="0"/>
                </a:cubicBezTo>
                <a:cubicBezTo>
                  <a:pt x="1056396" y="-21819"/>
                  <a:pt x="1118397" y="102189"/>
                  <a:pt x="1130847" y="171787"/>
                </a:cubicBezTo>
                <a:cubicBezTo>
                  <a:pt x="1193777" y="316617"/>
                  <a:pt x="1098860" y="589723"/>
                  <a:pt x="1130847" y="727919"/>
                </a:cubicBezTo>
                <a:cubicBezTo>
                  <a:pt x="1162834" y="866115"/>
                  <a:pt x="1093822" y="1080155"/>
                  <a:pt x="1130847" y="1256245"/>
                </a:cubicBezTo>
                <a:cubicBezTo>
                  <a:pt x="1167872" y="1432335"/>
                  <a:pt x="1125849" y="1670009"/>
                  <a:pt x="1130847" y="1840184"/>
                </a:cubicBezTo>
                <a:cubicBezTo>
                  <a:pt x="1135845" y="2010359"/>
                  <a:pt x="1107711" y="2202572"/>
                  <a:pt x="1130847" y="2340703"/>
                </a:cubicBezTo>
                <a:cubicBezTo>
                  <a:pt x="1153983" y="2478834"/>
                  <a:pt x="1079624" y="2809346"/>
                  <a:pt x="1130847" y="2952448"/>
                </a:cubicBezTo>
                <a:cubicBezTo>
                  <a:pt x="1134500" y="3050454"/>
                  <a:pt x="1062928" y="3106272"/>
                  <a:pt x="959060" y="3124235"/>
                </a:cubicBezTo>
                <a:cubicBezTo>
                  <a:pt x="851210" y="3170391"/>
                  <a:pt x="747814" y="3110097"/>
                  <a:pt x="565424" y="3124235"/>
                </a:cubicBezTo>
                <a:cubicBezTo>
                  <a:pt x="383034" y="3138373"/>
                  <a:pt x="312401" y="3086054"/>
                  <a:pt x="171787" y="3124235"/>
                </a:cubicBezTo>
                <a:cubicBezTo>
                  <a:pt x="64718" y="3124566"/>
                  <a:pt x="12797" y="3023605"/>
                  <a:pt x="0" y="2952448"/>
                </a:cubicBezTo>
                <a:cubicBezTo>
                  <a:pt x="-41613" y="2772825"/>
                  <a:pt x="50835" y="2657248"/>
                  <a:pt x="0" y="2396316"/>
                </a:cubicBezTo>
                <a:cubicBezTo>
                  <a:pt x="-50835" y="2135384"/>
                  <a:pt x="5531" y="2014090"/>
                  <a:pt x="0" y="1867990"/>
                </a:cubicBezTo>
                <a:cubicBezTo>
                  <a:pt x="-5531" y="1721890"/>
                  <a:pt x="43353" y="1440268"/>
                  <a:pt x="0" y="1284051"/>
                </a:cubicBezTo>
                <a:cubicBezTo>
                  <a:pt x="-43353" y="1127834"/>
                  <a:pt x="55950" y="905885"/>
                  <a:pt x="0" y="811339"/>
                </a:cubicBezTo>
                <a:cubicBezTo>
                  <a:pt x="-55950" y="716793"/>
                  <a:pt x="12988" y="416701"/>
                  <a:pt x="0" y="171787"/>
                </a:cubicBezTo>
                <a:close/>
              </a:path>
            </a:pathLst>
          </a:custGeom>
          <a:solidFill>
            <a:srgbClr val="336600"/>
          </a:solidFill>
          <a:ln w="38100">
            <a:solidFill>
              <a:srgbClr val="33CC33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3823681390">
                  <a:prstGeom prst="roundRect">
                    <a:avLst>
                      <a:gd name="adj" fmla="val 15191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NZ" sz="2000" dirty="0"/>
              <a:t>Cloud Infrastructure</a:t>
            </a:r>
          </a:p>
          <a:p>
            <a:pPr algn="ctr"/>
            <a:r>
              <a:rPr lang="en-NZ" sz="1600" dirty="0">
                <a:solidFill>
                  <a:schemeClr val="bg2">
                    <a:lumMod val="75000"/>
                  </a:schemeClr>
                </a:solidFill>
              </a:rPr>
              <a:t>(Docker containers, or online)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94DAF821-7DBA-EDED-E582-D8807654832B}"/>
              </a:ext>
            </a:extLst>
          </p:cNvPr>
          <p:cNvCxnSpPr>
            <a:cxnSpLocks/>
            <a:stCxn id="23" idx="3"/>
            <a:endCxn id="85" idx="1"/>
          </p:cNvCxnSpPr>
          <p:nvPr/>
        </p:nvCxnSpPr>
        <p:spPr>
          <a:xfrm flipV="1">
            <a:off x="10051294" y="2685930"/>
            <a:ext cx="810914" cy="511"/>
          </a:xfrm>
          <a:prstGeom prst="straightConnector1">
            <a:avLst/>
          </a:prstGeom>
          <a:ln w="38100">
            <a:solidFill>
              <a:srgbClr val="33CC33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E6F09FB2-99E3-74B4-54B7-B807322A63FC}"/>
              </a:ext>
            </a:extLst>
          </p:cNvPr>
          <p:cNvSpPr txBox="1"/>
          <p:nvPr/>
        </p:nvSpPr>
        <p:spPr>
          <a:xfrm>
            <a:off x="4031011" y="1046544"/>
            <a:ext cx="240322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50" dirty="0">
                <a:solidFill>
                  <a:srgbClr val="FF0000"/>
                </a:solidFill>
              </a:rPr>
              <a:t>Architecture Tested</a:t>
            </a:r>
          </a:p>
          <a:p>
            <a:pPr algn="ctr"/>
            <a:r>
              <a:rPr lang="en-NZ" sz="1050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en-NZ" sz="1050" dirty="0" err="1">
                <a:solidFill>
                  <a:schemeClr val="bg2">
                    <a:lumMod val="75000"/>
                  </a:schemeClr>
                </a:solidFill>
              </a:rPr>
              <a:t>xunit</a:t>
            </a:r>
            <a:r>
              <a:rPr lang="en-NZ" sz="1050" dirty="0">
                <a:solidFill>
                  <a:schemeClr val="bg2">
                    <a:lumMod val="75000"/>
                  </a:schemeClr>
                </a:solidFill>
              </a:rPr>
              <a:t>, Category = “</a:t>
            </a:r>
            <a:r>
              <a:rPr lang="en-NZ" sz="1050" dirty="0" err="1">
                <a:solidFill>
                  <a:schemeClr val="bg2">
                    <a:lumMod val="75000"/>
                  </a:schemeClr>
                </a:solidFill>
              </a:rPr>
              <a:t>Unit.Architecture</a:t>
            </a:r>
            <a:r>
              <a:rPr lang="en-NZ" sz="1050" dirty="0">
                <a:solidFill>
                  <a:schemeClr val="bg2">
                    <a:lumMod val="75000"/>
                  </a:schemeClr>
                </a:solidFill>
              </a:rPr>
              <a:t>”)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8469FA8-B148-DC45-44D5-3DF609094998}"/>
              </a:ext>
            </a:extLst>
          </p:cNvPr>
          <p:cNvSpPr/>
          <p:nvPr/>
        </p:nvSpPr>
        <p:spPr>
          <a:xfrm>
            <a:off x="1574769" y="1243747"/>
            <a:ext cx="4817412" cy="1830644"/>
          </a:xfrm>
          <a:prstGeom prst="roundRect">
            <a:avLst>
              <a:gd name="adj" fmla="val 6008"/>
            </a:avLst>
          </a:prstGeom>
          <a:noFill/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405621572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8AF76DC3-6DDC-1B83-9B49-3665024D32D9}"/>
              </a:ext>
            </a:extLst>
          </p:cNvPr>
          <p:cNvSpPr/>
          <p:nvPr/>
        </p:nvSpPr>
        <p:spPr>
          <a:xfrm>
            <a:off x="2762055" y="345158"/>
            <a:ext cx="4553145" cy="5942899"/>
          </a:xfrm>
          <a:prstGeom prst="rect">
            <a:avLst/>
          </a:prstGeom>
          <a:solidFill>
            <a:srgbClr val="9966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>
                <a:solidFill>
                  <a:schemeClr val="bg1"/>
                </a:solidFill>
              </a:rPr>
              <a:t>Azure Resource Group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D94B592-85D8-96BC-01AE-7ACEE97D2F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56739" y="4419471"/>
            <a:ext cx="718185" cy="718185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F663DE1D-3600-B9AB-4E47-88709A3169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33877" y="3482691"/>
            <a:ext cx="718185" cy="718185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9F871389-4CF2-5679-4A85-F7892CE5A9D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817590" y="1011427"/>
            <a:ext cx="882967" cy="882967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FE500467-8E75-0331-31E1-9D7FE97C6FC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325063" y="4060380"/>
            <a:ext cx="672465" cy="672465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8D3CAF8-AEA5-C9AF-389C-58E3E7AC3B4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733877" y="2683071"/>
            <a:ext cx="718185" cy="718185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D44EF0D6-046C-B4F8-1049-491AD4C3E7B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419929" y="5081029"/>
            <a:ext cx="672465" cy="672465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9374A8E3-BC47-2F73-9CED-873D244168C6}"/>
              </a:ext>
            </a:extLst>
          </p:cNvPr>
          <p:cNvPicPr>
            <a:picLocks noChangeAspect="1"/>
          </p:cNvPicPr>
          <p:nvPr/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376048" y="4060380"/>
            <a:ext cx="882342" cy="718185"/>
          </a:xfrm>
          <a:prstGeom prst="rect">
            <a:avLst/>
          </a:prstGeom>
        </p:spPr>
      </p:pic>
      <p:pic>
        <p:nvPicPr>
          <p:cNvPr id="30" name="Graphic 29">
            <a:extLst>
              <a:ext uri="{FF2B5EF4-FFF2-40B4-BE49-F238E27FC236}">
                <a16:creationId xmlns:a16="http://schemas.microsoft.com/office/drawing/2014/main" id="{62E068D5-399E-AB1C-79B6-E1CD2C3AA93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817219" y="2694970"/>
            <a:ext cx="882967" cy="882967"/>
          </a:xfrm>
          <a:prstGeom prst="rect">
            <a:avLst/>
          </a:prstGeom>
        </p:spPr>
      </p:pic>
      <p:pic>
        <p:nvPicPr>
          <p:cNvPr id="32" name="Graphic 31">
            <a:extLst>
              <a:ext uri="{FF2B5EF4-FFF2-40B4-BE49-F238E27FC236}">
                <a16:creationId xmlns:a16="http://schemas.microsoft.com/office/drawing/2014/main" id="{80BC8568-D5BA-93D4-C02F-BBA7A4F56CF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302271" y="5081028"/>
            <a:ext cx="672465" cy="672465"/>
          </a:xfrm>
          <a:prstGeom prst="rect">
            <a:avLst/>
          </a:prstGeo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660FD161-B14E-F3A7-171E-CE98FC54B6F4}"/>
              </a:ext>
            </a:extLst>
          </p:cNvPr>
          <p:cNvGrpSpPr/>
          <p:nvPr/>
        </p:nvGrpSpPr>
        <p:grpSpPr>
          <a:xfrm>
            <a:off x="5630063" y="963915"/>
            <a:ext cx="1525612" cy="882967"/>
            <a:chOff x="6164915" y="1595442"/>
            <a:chExt cx="1525612" cy="882967"/>
          </a:xfrm>
        </p:grpSpPr>
        <p:pic>
          <p:nvPicPr>
            <p:cNvPr id="27" name="Graphic 26">
              <a:extLst>
                <a:ext uri="{FF2B5EF4-FFF2-40B4-BE49-F238E27FC236}">
                  <a16:creationId xmlns:a16="http://schemas.microsoft.com/office/drawing/2014/main" id="{B26EEF29-8323-3709-8FC1-E95C1BA64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6164915" y="1595442"/>
              <a:ext cx="882967" cy="882967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29158F2-3337-CD39-C97A-DC781AABC512}"/>
                </a:ext>
              </a:extLst>
            </p:cNvPr>
            <p:cNvSpPr txBox="1"/>
            <p:nvPr/>
          </p:nvSpPr>
          <p:spPr>
            <a:xfrm>
              <a:off x="6863056" y="1836870"/>
              <a:ext cx="82747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000" dirty="0">
                  <a:solidFill>
                    <a:schemeClr val="bg1"/>
                  </a:solidFill>
                </a:rPr>
                <a:t>Application</a:t>
              </a:r>
              <a:br>
                <a:rPr lang="en-NZ" sz="1000" dirty="0">
                  <a:solidFill>
                    <a:schemeClr val="bg1"/>
                  </a:solidFill>
                </a:rPr>
              </a:br>
              <a:r>
                <a:rPr lang="en-NZ" sz="1000" dirty="0">
                  <a:solidFill>
                    <a:schemeClr val="bg1"/>
                  </a:solidFill>
                </a:rPr>
                <a:t>Insights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4C1084C6-D9D1-ECDA-C70E-29CE80181DE0}"/>
              </a:ext>
            </a:extLst>
          </p:cNvPr>
          <p:cNvSpPr txBox="1"/>
          <p:nvPr/>
        </p:nvSpPr>
        <p:spPr>
          <a:xfrm>
            <a:off x="3323434" y="2609607"/>
            <a:ext cx="8226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bg1"/>
                </a:solidFill>
              </a:rPr>
              <a:t>ApiHost1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3C99F1F-8BDB-B561-26AB-B404957F5C25}"/>
              </a:ext>
            </a:extLst>
          </p:cNvPr>
          <p:cNvSpPr txBox="1"/>
          <p:nvPr/>
        </p:nvSpPr>
        <p:spPr>
          <a:xfrm>
            <a:off x="3344977" y="4664879"/>
            <a:ext cx="9444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bg1"/>
                </a:solidFill>
              </a:rPr>
              <a:t>Azure</a:t>
            </a:r>
          </a:p>
          <a:p>
            <a:pPr algn="ctr"/>
            <a:r>
              <a:rPr lang="en-NZ" sz="1200" dirty="0" err="1">
                <a:solidFill>
                  <a:schemeClr val="bg1"/>
                </a:solidFill>
              </a:rPr>
              <a:t>ServiceBus</a:t>
            </a:r>
            <a:endParaRPr lang="en-NZ" sz="1200" dirty="0">
              <a:solidFill>
                <a:schemeClr val="bg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51A5023-99D0-2FB1-27C5-CF04CB880239}"/>
              </a:ext>
            </a:extLst>
          </p:cNvPr>
          <p:cNvSpPr txBox="1"/>
          <p:nvPr/>
        </p:nvSpPr>
        <p:spPr>
          <a:xfrm>
            <a:off x="4186891" y="4655452"/>
            <a:ext cx="9060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bg1"/>
                </a:solidFill>
              </a:rPr>
              <a:t>Queues x5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5D820EB-670A-40E0-D1E2-23A9E0CAFADF}"/>
              </a:ext>
            </a:extLst>
          </p:cNvPr>
          <p:cNvSpPr txBox="1"/>
          <p:nvPr/>
        </p:nvSpPr>
        <p:spPr>
          <a:xfrm>
            <a:off x="5551222" y="5095980"/>
            <a:ext cx="9364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bg1"/>
                </a:solidFill>
              </a:rPr>
              <a:t>SQL Server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7AECCF-04CF-41F7-CDC1-5D49E1A79474}"/>
              </a:ext>
            </a:extLst>
          </p:cNvPr>
          <p:cNvSpPr txBox="1"/>
          <p:nvPr/>
        </p:nvSpPr>
        <p:spPr>
          <a:xfrm>
            <a:off x="5525280" y="4121283"/>
            <a:ext cx="11352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bg1"/>
                </a:solidFill>
              </a:rPr>
              <a:t>Table Storage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9818CD-3EAF-BF2A-3D81-17E6D9EA5628}"/>
              </a:ext>
            </a:extLst>
          </p:cNvPr>
          <p:cNvSpPr txBox="1"/>
          <p:nvPr/>
        </p:nvSpPr>
        <p:spPr>
          <a:xfrm>
            <a:off x="5561347" y="3304129"/>
            <a:ext cx="10631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bg1"/>
                </a:solidFill>
              </a:rPr>
              <a:t>Blob Storage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5779ED04-C7EE-24B0-3142-98694B828DE4}"/>
              </a:ext>
            </a:extLst>
          </p:cNvPr>
          <p:cNvCxnSpPr>
            <a:endCxn id="19" idx="1"/>
          </p:cNvCxnSpPr>
          <p:nvPr/>
        </p:nvCxnSpPr>
        <p:spPr>
          <a:xfrm>
            <a:off x="1178349" y="1452910"/>
            <a:ext cx="2639241" cy="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F20966F-CD8D-B54D-7BB7-8C4D33290C76}"/>
              </a:ext>
            </a:extLst>
          </p:cNvPr>
          <p:cNvCxnSpPr/>
          <p:nvPr/>
        </p:nvCxnSpPr>
        <p:spPr>
          <a:xfrm>
            <a:off x="1244337" y="3136453"/>
            <a:ext cx="2639241" cy="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0604CFA-B79B-C1C6-D517-51BF5954E692}"/>
              </a:ext>
            </a:extLst>
          </p:cNvPr>
          <p:cNvCxnSpPr>
            <a:cxnSpLocks/>
            <a:stCxn id="19" idx="2"/>
            <a:endCxn id="30" idx="0"/>
          </p:cNvCxnSpPr>
          <p:nvPr/>
        </p:nvCxnSpPr>
        <p:spPr>
          <a:xfrm rot="5400000">
            <a:off x="3858601" y="2294497"/>
            <a:ext cx="800576" cy="371"/>
          </a:xfrm>
          <a:prstGeom prst="bentConnector3">
            <a:avLst>
              <a:gd name="adj1" fmla="val 50000"/>
            </a:avLst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F688DD5-0DE5-6E15-35B6-B9BE3594264F}"/>
              </a:ext>
            </a:extLst>
          </p:cNvPr>
          <p:cNvSpPr txBox="1"/>
          <p:nvPr/>
        </p:nvSpPr>
        <p:spPr>
          <a:xfrm>
            <a:off x="3047630" y="909153"/>
            <a:ext cx="10647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 err="1">
                <a:solidFill>
                  <a:schemeClr val="bg1"/>
                </a:solidFill>
              </a:rPr>
              <a:t>WebsiteHost</a:t>
            </a:r>
            <a:endParaRPr lang="en-NZ" sz="1200" dirty="0">
              <a:solidFill>
                <a:schemeClr val="bg1"/>
              </a:solidFill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821F9DC-C650-645F-C6F7-06C8C442C8CB}"/>
              </a:ext>
            </a:extLst>
          </p:cNvPr>
          <p:cNvCxnSpPr>
            <a:cxnSpLocks/>
            <a:stCxn id="30" idx="2"/>
            <a:endCxn id="29" idx="0"/>
          </p:cNvCxnSpPr>
          <p:nvPr/>
        </p:nvCxnSpPr>
        <p:spPr>
          <a:xfrm flipH="1">
            <a:off x="3817219" y="3577937"/>
            <a:ext cx="441484" cy="48244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5EA2F5F-FAA5-5F71-2DC5-2F72DBB87B58}"/>
              </a:ext>
            </a:extLst>
          </p:cNvPr>
          <p:cNvCxnSpPr>
            <a:cxnSpLocks/>
          </p:cNvCxnSpPr>
          <p:nvPr/>
        </p:nvCxnSpPr>
        <p:spPr>
          <a:xfrm>
            <a:off x="4289388" y="3577937"/>
            <a:ext cx="349115" cy="48244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4B400319-728F-C96F-20F2-8FF2C5371AA8}"/>
              </a:ext>
            </a:extLst>
          </p:cNvPr>
          <p:cNvCxnSpPr>
            <a:cxnSpLocks/>
            <a:stCxn id="25" idx="1"/>
            <a:endCxn id="30" idx="1"/>
          </p:cNvCxnSpPr>
          <p:nvPr/>
        </p:nvCxnSpPr>
        <p:spPr>
          <a:xfrm rot="10800000" flipH="1">
            <a:off x="3419929" y="3136454"/>
            <a:ext cx="397290" cy="2280808"/>
          </a:xfrm>
          <a:prstGeom prst="curvedConnector3">
            <a:avLst>
              <a:gd name="adj1" fmla="val -57540"/>
            </a:avLst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2">
            <a:extLst>
              <a:ext uri="{FF2B5EF4-FFF2-40B4-BE49-F238E27FC236}">
                <a16:creationId xmlns:a16="http://schemas.microsoft.com/office/drawing/2014/main" id="{64B040AC-76A4-69A4-479A-9AC7C3AF82C9}"/>
              </a:ext>
            </a:extLst>
          </p:cNvPr>
          <p:cNvCxnSpPr>
            <a:cxnSpLocks/>
            <a:stCxn id="32" idx="3"/>
            <a:endCxn id="30" idx="3"/>
          </p:cNvCxnSpPr>
          <p:nvPr/>
        </p:nvCxnSpPr>
        <p:spPr>
          <a:xfrm flipH="1" flipV="1">
            <a:off x="4700186" y="3136454"/>
            <a:ext cx="274550" cy="2280807"/>
          </a:xfrm>
          <a:prstGeom prst="curvedConnector3">
            <a:avLst>
              <a:gd name="adj1" fmla="val -83264"/>
            </a:avLst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9919D4CE-41F8-7AE8-EB79-8F943F0AA004}"/>
              </a:ext>
            </a:extLst>
          </p:cNvPr>
          <p:cNvCxnSpPr>
            <a:cxnSpLocks/>
            <a:stCxn id="30" idx="2"/>
            <a:endCxn id="23" idx="1"/>
          </p:cNvCxnSpPr>
          <p:nvPr/>
        </p:nvCxnSpPr>
        <p:spPr>
          <a:xfrm flipV="1">
            <a:off x="4258703" y="3042164"/>
            <a:ext cx="1475174" cy="53577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C9568C2-0B88-39F0-107A-7A75708D8008}"/>
              </a:ext>
            </a:extLst>
          </p:cNvPr>
          <p:cNvCxnSpPr>
            <a:cxnSpLocks/>
            <a:stCxn id="30" idx="2"/>
            <a:endCxn id="13" idx="1"/>
          </p:cNvCxnSpPr>
          <p:nvPr/>
        </p:nvCxnSpPr>
        <p:spPr>
          <a:xfrm>
            <a:off x="4258703" y="3577937"/>
            <a:ext cx="1498036" cy="1200627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BD9986BF-C85A-1FA4-CC29-988A55821AE6}"/>
              </a:ext>
            </a:extLst>
          </p:cNvPr>
          <p:cNvCxnSpPr>
            <a:cxnSpLocks/>
            <a:stCxn id="30" idx="2"/>
            <a:endCxn id="17" idx="1"/>
          </p:cNvCxnSpPr>
          <p:nvPr/>
        </p:nvCxnSpPr>
        <p:spPr>
          <a:xfrm>
            <a:off x="4258703" y="3577937"/>
            <a:ext cx="1475174" cy="263847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90B839FE-A39D-9F87-C29B-B0C56BC81843}"/>
              </a:ext>
            </a:extLst>
          </p:cNvPr>
          <p:cNvSpPr txBox="1"/>
          <p:nvPr/>
        </p:nvSpPr>
        <p:spPr>
          <a:xfrm>
            <a:off x="3474981" y="5743775"/>
            <a:ext cx="13885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 err="1">
                <a:solidFill>
                  <a:schemeClr val="bg1"/>
                </a:solidFill>
              </a:rPr>
              <a:t>FunctionsHost</a:t>
            </a:r>
            <a:r>
              <a:rPr lang="en-NZ" sz="1200" dirty="0">
                <a:solidFill>
                  <a:schemeClr val="bg1"/>
                </a:solidFill>
              </a:rPr>
              <a:t> x1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1AB93B0-AA19-73D9-04A2-F3055CA01AA8}"/>
              </a:ext>
            </a:extLst>
          </p:cNvPr>
          <p:cNvSpPr txBox="1"/>
          <p:nvPr/>
        </p:nvSpPr>
        <p:spPr>
          <a:xfrm>
            <a:off x="961534" y="1056307"/>
            <a:ext cx="771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HTTP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08AAC36-6AC7-5B59-ECF6-21F2F216A208}"/>
              </a:ext>
            </a:extLst>
          </p:cNvPr>
          <p:cNvSpPr txBox="1"/>
          <p:nvPr/>
        </p:nvSpPr>
        <p:spPr>
          <a:xfrm>
            <a:off x="945939" y="2694970"/>
            <a:ext cx="771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HTTP</a:t>
            </a:r>
          </a:p>
        </p:txBody>
      </p:sp>
    </p:spTree>
    <p:extLst>
      <p:ext uri="{BB962C8B-B14F-4D97-AF65-F5344CB8AC3E}">
        <p14:creationId xmlns:p14="http://schemas.microsoft.com/office/powerpoint/2010/main" val="20457943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9FEA9-D0B8-BD19-C16F-A69DEDFE8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69882253-B7F1-7973-7010-DE15C08E7C69}"/>
              </a:ext>
            </a:extLst>
          </p:cNvPr>
          <p:cNvSpPr/>
          <p:nvPr/>
        </p:nvSpPr>
        <p:spPr>
          <a:xfrm>
            <a:off x="2762055" y="345158"/>
            <a:ext cx="4553145" cy="62536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NZ" dirty="0">
                <a:solidFill>
                  <a:schemeClr val="tx2">
                    <a:lumMod val="50000"/>
                  </a:schemeClr>
                </a:solidFill>
              </a:rPr>
              <a:t>AWS Account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A04C15-33C9-1E11-568A-FD319396B0EC}"/>
              </a:ext>
            </a:extLst>
          </p:cNvPr>
          <p:cNvSpPr txBox="1"/>
          <p:nvPr/>
        </p:nvSpPr>
        <p:spPr>
          <a:xfrm>
            <a:off x="6467666" y="1205343"/>
            <a:ext cx="5485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000" dirty="0">
                <a:solidFill>
                  <a:schemeClr val="tx2">
                    <a:lumMod val="50000"/>
                  </a:schemeClr>
                </a:solidFill>
              </a:rPr>
              <a:t>Cloud</a:t>
            </a:r>
          </a:p>
          <a:p>
            <a:pPr algn="ctr"/>
            <a:r>
              <a:rPr lang="en-NZ" sz="1000" dirty="0">
                <a:solidFill>
                  <a:schemeClr val="tx2">
                    <a:lumMod val="50000"/>
                  </a:schemeClr>
                </a:solidFill>
              </a:rPr>
              <a:t>Watch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0512601-0AF0-2259-8453-B70F9E7A6947}"/>
              </a:ext>
            </a:extLst>
          </p:cNvPr>
          <p:cNvSpPr txBox="1"/>
          <p:nvPr/>
        </p:nvSpPr>
        <p:spPr>
          <a:xfrm>
            <a:off x="3323434" y="2609607"/>
            <a:ext cx="8226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ApiHost1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DFF977-D020-360B-196B-ECACE46F6450}"/>
              </a:ext>
            </a:extLst>
          </p:cNvPr>
          <p:cNvSpPr txBox="1"/>
          <p:nvPr/>
        </p:nvSpPr>
        <p:spPr>
          <a:xfrm>
            <a:off x="3579016" y="4419782"/>
            <a:ext cx="4764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SNS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48C2155-50A4-167B-D694-117FAEF826F1}"/>
              </a:ext>
            </a:extLst>
          </p:cNvPr>
          <p:cNvSpPr txBox="1"/>
          <p:nvPr/>
        </p:nvSpPr>
        <p:spPr>
          <a:xfrm>
            <a:off x="4302308" y="4712014"/>
            <a:ext cx="6751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SQS x5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5CA973E-4254-621F-39FE-0B581F76D8CA}"/>
              </a:ext>
            </a:extLst>
          </p:cNvPr>
          <p:cNvSpPr txBox="1"/>
          <p:nvPr/>
        </p:nvSpPr>
        <p:spPr>
          <a:xfrm>
            <a:off x="5600621" y="5108454"/>
            <a:ext cx="10390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 err="1">
                <a:solidFill>
                  <a:schemeClr val="tx2">
                    <a:lumMod val="50000"/>
                  </a:schemeClr>
                </a:solidFill>
              </a:rPr>
              <a:t>Postgre</a:t>
            </a:r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 SQL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B6B88DF-A6C1-439A-D542-118881AD2236}"/>
              </a:ext>
            </a:extLst>
          </p:cNvPr>
          <p:cNvSpPr txBox="1"/>
          <p:nvPr/>
        </p:nvSpPr>
        <p:spPr>
          <a:xfrm>
            <a:off x="5600621" y="4121283"/>
            <a:ext cx="9845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Dynamo DB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56D3811-A16F-5B5F-A7DA-758D67E0D2E8}"/>
              </a:ext>
            </a:extLst>
          </p:cNvPr>
          <p:cNvSpPr txBox="1"/>
          <p:nvPr/>
        </p:nvSpPr>
        <p:spPr>
          <a:xfrm>
            <a:off x="5655924" y="3304129"/>
            <a:ext cx="8739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S3 Bucket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5897641-C728-83B0-EABF-57AFCDCE2799}"/>
              </a:ext>
            </a:extLst>
          </p:cNvPr>
          <p:cNvCxnSpPr>
            <a:cxnSpLocks/>
          </p:cNvCxnSpPr>
          <p:nvPr/>
        </p:nvCxnSpPr>
        <p:spPr>
          <a:xfrm>
            <a:off x="1178349" y="1452910"/>
            <a:ext cx="2639241" cy="1"/>
          </a:xfrm>
          <a:prstGeom prst="straightConnector1">
            <a:avLst/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4E4E95F-74BB-DC16-4462-2A941D9E3DA2}"/>
              </a:ext>
            </a:extLst>
          </p:cNvPr>
          <p:cNvCxnSpPr/>
          <p:nvPr/>
        </p:nvCxnSpPr>
        <p:spPr>
          <a:xfrm>
            <a:off x="1244337" y="3136453"/>
            <a:ext cx="2639241" cy="1"/>
          </a:xfrm>
          <a:prstGeom prst="straightConnector1">
            <a:avLst/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36127D1-18B5-8EDE-EFD8-7E5D2B092EBB}"/>
              </a:ext>
            </a:extLst>
          </p:cNvPr>
          <p:cNvCxnSpPr>
            <a:cxnSpLocks/>
          </p:cNvCxnSpPr>
          <p:nvPr/>
        </p:nvCxnSpPr>
        <p:spPr>
          <a:xfrm rot="5400000">
            <a:off x="3858601" y="2294497"/>
            <a:ext cx="800576" cy="371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CBEF4D94-9928-FC07-B1BD-400F97983F8C}"/>
              </a:ext>
            </a:extLst>
          </p:cNvPr>
          <p:cNvSpPr txBox="1"/>
          <p:nvPr/>
        </p:nvSpPr>
        <p:spPr>
          <a:xfrm>
            <a:off x="3047630" y="909153"/>
            <a:ext cx="10647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 err="1">
                <a:solidFill>
                  <a:schemeClr val="tx2">
                    <a:lumMod val="50000"/>
                  </a:schemeClr>
                </a:solidFill>
              </a:rPr>
              <a:t>WebsiteHost</a:t>
            </a:r>
            <a:endParaRPr lang="en-NZ" sz="1200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8EEEBBD-7575-A997-2611-B4A7E37FE730}"/>
              </a:ext>
            </a:extLst>
          </p:cNvPr>
          <p:cNvCxnSpPr>
            <a:cxnSpLocks/>
            <a:stCxn id="5" idx="2"/>
            <a:endCxn id="20" idx="0"/>
          </p:cNvCxnSpPr>
          <p:nvPr/>
        </p:nvCxnSpPr>
        <p:spPr>
          <a:xfrm flipH="1">
            <a:off x="3821932" y="3468423"/>
            <a:ext cx="455040" cy="351201"/>
          </a:xfrm>
          <a:prstGeom prst="straightConnector1">
            <a:avLst/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58010CCB-647D-9459-141E-6DF861F3E6FF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276972" y="3468423"/>
            <a:ext cx="361531" cy="591957"/>
          </a:xfrm>
          <a:prstGeom prst="straightConnector1">
            <a:avLst/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2187CE25-D483-EC15-04C3-2EF8B6A1F847}"/>
              </a:ext>
            </a:extLst>
          </p:cNvPr>
          <p:cNvCxnSpPr>
            <a:cxnSpLocks/>
            <a:stCxn id="15" idx="1"/>
            <a:endCxn id="5" idx="1"/>
          </p:cNvCxnSpPr>
          <p:nvPr/>
        </p:nvCxnSpPr>
        <p:spPr>
          <a:xfrm rot="10800000" flipH="1">
            <a:off x="3512156" y="3163361"/>
            <a:ext cx="459753" cy="2661922"/>
          </a:xfrm>
          <a:prstGeom prst="curvedConnector3">
            <a:avLst>
              <a:gd name="adj1" fmla="val -80478"/>
            </a:avLst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2">
            <a:extLst>
              <a:ext uri="{FF2B5EF4-FFF2-40B4-BE49-F238E27FC236}">
                <a16:creationId xmlns:a16="http://schemas.microsoft.com/office/drawing/2014/main" id="{E5837343-5BE8-F458-0A07-C7E12FA49036}"/>
              </a:ext>
            </a:extLst>
          </p:cNvPr>
          <p:cNvCxnSpPr>
            <a:cxnSpLocks/>
            <a:stCxn id="16" idx="3"/>
            <a:endCxn id="5" idx="3"/>
          </p:cNvCxnSpPr>
          <p:nvPr/>
        </p:nvCxnSpPr>
        <p:spPr>
          <a:xfrm flipH="1" flipV="1">
            <a:off x="4582034" y="3163361"/>
            <a:ext cx="362315" cy="2133039"/>
          </a:xfrm>
          <a:prstGeom prst="curvedConnector3">
            <a:avLst>
              <a:gd name="adj1" fmla="val -63094"/>
            </a:avLst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FD4FDB9C-00D1-285A-931A-1E4207236709}"/>
              </a:ext>
            </a:extLst>
          </p:cNvPr>
          <p:cNvCxnSpPr>
            <a:cxnSpLocks/>
          </p:cNvCxnSpPr>
          <p:nvPr/>
        </p:nvCxnSpPr>
        <p:spPr>
          <a:xfrm flipV="1">
            <a:off x="4258703" y="3042164"/>
            <a:ext cx="1475174" cy="426259"/>
          </a:xfrm>
          <a:prstGeom prst="straightConnector1">
            <a:avLst/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AE8F0E9-9342-1567-3823-E87E25226C5F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276972" y="3468423"/>
            <a:ext cx="1479767" cy="1310141"/>
          </a:xfrm>
          <a:prstGeom prst="straightConnector1">
            <a:avLst/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F28CA9F5-ABE0-A152-F994-F339CCBF7FB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276972" y="3468423"/>
            <a:ext cx="1456905" cy="373361"/>
          </a:xfrm>
          <a:prstGeom prst="straightConnector1">
            <a:avLst/>
          </a:prstGeom>
          <a:ln w="381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C9631ABA-0663-8F9D-61FF-424C6B22713A}"/>
              </a:ext>
            </a:extLst>
          </p:cNvPr>
          <p:cNvSpPr txBox="1"/>
          <p:nvPr/>
        </p:nvSpPr>
        <p:spPr>
          <a:xfrm>
            <a:off x="3371258" y="6081137"/>
            <a:ext cx="1024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Lambdas x4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386F6DB-9D6A-460F-EA96-8B76C6FD6234}"/>
              </a:ext>
            </a:extLst>
          </p:cNvPr>
          <p:cNvSpPr txBox="1"/>
          <p:nvPr/>
        </p:nvSpPr>
        <p:spPr>
          <a:xfrm>
            <a:off x="961534" y="1056307"/>
            <a:ext cx="771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HTTP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8AD7DF2-9C0E-C63F-4DAA-C7EF5934B75D}"/>
              </a:ext>
            </a:extLst>
          </p:cNvPr>
          <p:cNvSpPr txBox="1"/>
          <p:nvPr/>
        </p:nvSpPr>
        <p:spPr>
          <a:xfrm>
            <a:off x="945939" y="2694970"/>
            <a:ext cx="771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HTTP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214CC43-F291-B902-0BDC-14E8F0EF01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52441" y="1196880"/>
            <a:ext cx="610124" cy="610124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3D317660-36A7-A8FE-AB09-A8529AF6DB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71910" y="2858299"/>
            <a:ext cx="610124" cy="610124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46174DDB-2CE3-DAD0-3050-BAB9623951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07186" y="2602577"/>
            <a:ext cx="603628" cy="60362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1D028280-E9C4-B753-C9EC-01C23DBCC1F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18211" y="4441898"/>
            <a:ext cx="603628" cy="603628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2015606-2EAE-1652-A6C9-8DDF74680E1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818211" y="3524609"/>
            <a:ext cx="603628" cy="60362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34218A18-4990-123C-DBFC-4E5099CA0F8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844457" y="1112540"/>
            <a:ext cx="603628" cy="603628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0B8714DB-E6C8-95D9-BE16-3DF1FEF660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12157" y="5520221"/>
            <a:ext cx="610124" cy="610124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1A8D8A06-7D96-0375-64D0-B379B054CF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34225" y="4991338"/>
            <a:ext cx="610124" cy="610124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7AFD2C80-813C-C2B3-DE7D-121145942CC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522578" y="3819624"/>
            <a:ext cx="598708" cy="598708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1F64C832-E1F9-68A9-EC31-09207A97C3C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324560" y="4106327"/>
            <a:ext cx="598708" cy="598708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796E608D-A67B-14D0-D8A0-8A85A20ADAB0}"/>
              </a:ext>
            </a:extLst>
          </p:cNvPr>
          <p:cNvSpPr txBox="1"/>
          <p:nvPr/>
        </p:nvSpPr>
        <p:spPr>
          <a:xfrm>
            <a:off x="3502431" y="5276105"/>
            <a:ext cx="6751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SQS x4</a:t>
            </a:r>
          </a:p>
        </p:txBody>
      </p:sp>
      <p:pic>
        <p:nvPicPr>
          <p:cNvPr id="51" name="Graphic 50">
            <a:extLst>
              <a:ext uri="{FF2B5EF4-FFF2-40B4-BE49-F238E27FC236}">
                <a16:creationId xmlns:a16="http://schemas.microsoft.com/office/drawing/2014/main" id="{A7CBB261-B30B-62AD-7696-86EC411E10D0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524683" y="4670418"/>
            <a:ext cx="598708" cy="598708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3FC90245-AC77-ECBF-9AC4-5D21010C5B7C}"/>
              </a:ext>
            </a:extLst>
          </p:cNvPr>
          <p:cNvSpPr txBox="1"/>
          <p:nvPr/>
        </p:nvSpPr>
        <p:spPr>
          <a:xfrm>
            <a:off x="4149944" y="5622059"/>
            <a:ext cx="1024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1200" dirty="0">
                <a:solidFill>
                  <a:schemeClr val="tx2">
                    <a:lumMod val="50000"/>
                  </a:schemeClr>
                </a:solidFill>
              </a:rPr>
              <a:t>Lambdas x5</a:t>
            </a:r>
          </a:p>
        </p:txBody>
      </p:sp>
    </p:spTree>
    <p:extLst>
      <p:ext uri="{BB962C8B-B14F-4D97-AF65-F5344CB8AC3E}">
        <p14:creationId xmlns:p14="http://schemas.microsoft.com/office/powerpoint/2010/main" val="34051442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61C43-0A53-1ED2-6A7D-4085C9D89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 116">
            <a:extLst>
              <a:ext uri="{FF2B5EF4-FFF2-40B4-BE49-F238E27FC236}">
                <a16:creationId xmlns:a16="http://schemas.microsoft.com/office/drawing/2014/main" id="{7DB5400B-D03D-9BFC-582A-BB120C95B292}"/>
              </a:ext>
            </a:extLst>
          </p:cNvPr>
          <p:cNvSpPr/>
          <p:nvPr/>
        </p:nvSpPr>
        <p:spPr>
          <a:xfrm>
            <a:off x="144772" y="2313191"/>
            <a:ext cx="11744225" cy="2184341"/>
          </a:xfrm>
          <a:prstGeom prst="rect">
            <a:avLst/>
          </a:prstGeom>
          <a:solidFill>
            <a:srgbClr val="FFCC66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NZ" dirty="0">
                <a:solidFill>
                  <a:schemeClr val="tx1"/>
                </a:solidFill>
              </a:rPr>
              <a:t>Not Authenticated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1090ABE-34CB-D39C-2B18-941DC2647DD6}"/>
              </a:ext>
            </a:extLst>
          </p:cNvPr>
          <p:cNvSpPr/>
          <p:nvPr/>
        </p:nvSpPr>
        <p:spPr>
          <a:xfrm>
            <a:off x="141402" y="5875458"/>
            <a:ext cx="11744225" cy="964778"/>
          </a:xfrm>
          <a:prstGeom prst="rect">
            <a:avLst/>
          </a:prstGeom>
          <a:solidFill>
            <a:srgbClr val="99FF99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NZ" dirty="0">
                <a:solidFill>
                  <a:schemeClr val="tx1"/>
                </a:solidFill>
              </a:rPr>
              <a:t>Authorized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A33B96-71AC-0675-E26D-495487E69815}"/>
              </a:ext>
            </a:extLst>
          </p:cNvPr>
          <p:cNvSpPr txBox="1"/>
          <p:nvPr/>
        </p:nvSpPr>
        <p:spPr>
          <a:xfrm>
            <a:off x="267419" y="207034"/>
            <a:ext cx="87430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Open ID Connect – Authorization Code Flow (Unauthenticated)</a:t>
            </a: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0200253-8A3D-8C84-0843-54CF573D759E}"/>
              </a:ext>
            </a:extLst>
          </p:cNvPr>
          <p:cNvGrpSpPr/>
          <p:nvPr/>
        </p:nvGrpSpPr>
        <p:grpSpPr>
          <a:xfrm>
            <a:off x="5872898" y="829559"/>
            <a:ext cx="1131216" cy="5957740"/>
            <a:chOff x="631596" y="829559"/>
            <a:chExt cx="1131216" cy="595774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6A1858C8-0364-2A7F-E6EE-81803CA8ACCD}"/>
                </a:ext>
              </a:extLst>
            </p:cNvPr>
            <p:cNvSpPr/>
            <p:nvPr/>
          </p:nvSpPr>
          <p:spPr>
            <a:xfrm>
              <a:off x="631596" y="829559"/>
              <a:ext cx="1131216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BEFFE</a:t>
              </a:r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1D4C9FEB-EF11-3D1E-04B1-89A2871847D0}"/>
                </a:ext>
              </a:extLst>
            </p:cNvPr>
            <p:cNvCxnSpPr>
              <a:stCxn id="73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94F43522-2E7A-30BB-CE01-E70DA085536E}"/>
              </a:ext>
            </a:extLst>
          </p:cNvPr>
          <p:cNvGrpSpPr/>
          <p:nvPr/>
        </p:nvGrpSpPr>
        <p:grpSpPr>
          <a:xfrm>
            <a:off x="9953133" y="829559"/>
            <a:ext cx="1932494" cy="5957740"/>
            <a:chOff x="1533427" y="815419"/>
            <a:chExt cx="1932494" cy="5957740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E6CA8670-84E8-A97D-9EA9-CF2CE9FEC681}"/>
                </a:ext>
              </a:extLst>
            </p:cNvPr>
            <p:cNvSpPr/>
            <p:nvPr/>
          </p:nvSpPr>
          <p:spPr>
            <a:xfrm>
              <a:off x="1533427" y="815419"/>
              <a:ext cx="1932494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Backend API</a:t>
              </a:r>
            </a:p>
          </p:txBody>
        </p: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FB1427B8-27BC-D6CB-EC93-0E7F9D3336C7}"/>
                </a:ext>
              </a:extLst>
            </p:cNvPr>
            <p:cNvCxnSpPr>
              <a:cxnSpLocks/>
              <a:stCxn id="78" idx="2"/>
            </p:cNvCxnSpPr>
            <p:nvPr/>
          </p:nvCxnSpPr>
          <p:spPr>
            <a:xfrm flipH="1">
              <a:off x="2490247" y="118306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E1929C3A-945D-ECAE-7734-E9C412807BEB}"/>
              </a:ext>
            </a:extLst>
          </p:cNvPr>
          <p:cNvGrpSpPr/>
          <p:nvPr/>
        </p:nvGrpSpPr>
        <p:grpSpPr>
          <a:xfrm>
            <a:off x="3308023" y="829559"/>
            <a:ext cx="1131216" cy="5957740"/>
            <a:chOff x="631596" y="829559"/>
            <a:chExt cx="1131216" cy="595774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B2880341-CA1E-3D45-C2CE-172FC5BCA7C1}"/>
                </a:ext>
              </a:extLst>
            </p:cNvPr>
            <p:cNvSpPr/>
            <p:nvPr/>
          </p:nvSpPr>
          <p:spPr>
            <a:xfrm>
              <a:off x="631596" y="829559"/>
              <a:ext cx="1131216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User Agent (Browser)</a:t>
              </a:r>
            </a:p>
          </p:txBody>
        </p: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9AFED555-0A83-877E-F22A-DC3411346312}"/>
                </a:ext>
              </a:extLst>
            </p:cNvPr>
            <p:cNvCxnSpPr>
              <a:stCxn id="81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16872D-FCB9-EDB0-0B74-C7DDA1FB7756}"/>
              </a:ext>
            </a:extLst>
          </p:cNvPr>
          <p:cNvGrpSpPr/>
          <p:nvPr/>
        </p:nvGrpSpPr>
        <p:grpSpPr>
          <a:xfrm>
            <a:off x="318155" y="829559"/>
            <a:ext cx="1131216" cy="5957740"/>
            <a:chOff x="-936396" y="677159"/>
            <a:chExt cx="1131216" cy="5957740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CAFBEF5F-B848-B62A-015F-7A9CE122C219}"/>
                </a:ext>
              </a:extLst>
            </p:cNvPr>
            <p:cNvSpPr/>
            <p:nvPr/>
          </p:nvSpPr>
          <p:spPr>
            <a:xfrm>
              <a:off x="-936396" y="677159"/>
              <a:ext cx="1131216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Client</a:t>
              </a:r>
            </a:p>
          </p:txBody>
        </p: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E75E262F-7E1E-2127-4F9B-B21250DFAF3B}"/>
                </a:ext>
              </a:extLst>
            </p:cNvPr>
            <p:cNvCxnSpPr>
              <a:stCxn id="84" idx="2"/>
            </p:cNvCxnSpPr>
            <p:nvPr/>
          </p:nvCxnSpPr>
          <p:spPr>
            <a:xfrm flipH="1">
              <a:off x="-380215" y="10448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B56E3AC-16A0-D8B4-D806-A21BDCB63AE1}"/>
              </a:ext>
            </a:extLst>
          </p:cNvPr>
          <p:cNvGrpSpPr/>
          <p:nvPr/>
        </p:nvGrpSpPr>
        <p:grpSpPr>
          <a:xfrm>
            <a:off x="6476214" y="1853460"/>
            <a:ext cx="4433739" cy="276999"/>
            <a:chOff x="3714161" y="1250144"/>
            <a:chExt cx="2708635" cy="276999"/>
          </a:xfrm>
        </p:grpSpPr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3D450D49-2D78-5377-2D86-726418633FA7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2D8D7E86-F679-FC86-91CA-AFE7992BC546}"/>
                </a:ext>
              </a:extLst>
            </p:cNvPr>
            <p:cNvSpPr txBox="1"/>
            <p:nvPr/>
          </p:nvSpPr>
          <p:spPr>
            <a:xfrm>
              <a:off x="4334089" y="1250144"/>
              <a:ext cx="154944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POST /oauth2/authorize + params</a:t>
              </a:r>
            </a:p>
          </p:txBody>
        </p:sp>
      </p:grp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6059270D-559F-6560-0718-27F07986AB9A}"/>
              </a:ext>
            </a:extLst>
          </p:cNvPr>
          <p:cNvSpPr/>
          <p:nvPr/>
        </p:nvSpPr>
        <p:spPr>
          <a:xfrm>
            <a:off x="6466787" y="1564849"/>
            <a:ext cx="1004725" cy="367644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Persist continuation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49F5195-568C-8448-C7DF-5568AB8FFC15}"/>
              </a:ext>
            </a:extLst>
          </p:cNvPr>
          <p:cNvGrpSpPr/>
          <p:nvPr/>
        </p:nvGrpSpPr>
        <p:grpSpPr>
          <a:xfrm>
            <a:off x="575729" y="1250144"/>
            <a:ext cx="3276859" cy="830997"/>
            <a:chOff x="3381631" y="1250144"/>
            <a:chExt cx="3442183" cy="83099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627018-7685-18F2-8C14-6DC6BAB75606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306491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7F338BE-E9B3-70F1-B15C-FDEAECDFDDD8}"/>
                </a:ext>
              </a:extLst>
            </p:cNvPr>
            <p:cNvSpPr txBox="1"/>
            <p:nvPr/>
          </p:nvSpPr>
          <p:spPr>
            <a:xfrm>
              <a:off x="3381631" y="1250144"/>
              <a:ext cx="344218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NZ" sz="1200" dirty="0"/>
                <a:t>GET /identity/oauth2/</a:t>
              </a:r>
              <a:r>
                <a:rPr lang="en-NZ" sz="1200" dirty="0" err="1"/>
                <a:t>authorize?client_id</a:t>
              </a:r>
              <a:r>
                <a:rPr lang="en-NZ" sz="1200" dirty="0"/>
                <a:t>=…</a:t>
              </a:r>
            </a:p>
            <a:p>
              <a:pPr algn="ctr"/>
              <a:r>
                <a:rPr lang="en-NZ" sz="1200" dirty="0"/>
                <a:t>&amp;</a:t>
              </a:r>
              <a:r>
                <a:rPr lang="en-NZ" sz="1200" dirty="0" err="1"/>
                <a:t>response_type</a:t>
              </a:r>
              <a:r>
                <a:rPr lang="en-NZ" sz="1200" dirty="0"/>
                <a:t>=code</a:t>
              </a:r>
            </a:p>
            <a:p>
              <a:pPr algn="ctr"/>
              <a:r>
                <a:rPr lang="en-NZ" sz="1200" dirty="0"/>
                <a:t>&amp;scope=email%20profile%20openid</a:t>
              </a:r>
            </a:p>
            <a:p>
              <a:pPr algn="ctr"/>
              <a:r>
                <a:rPr lang="en-NZ" sz="1200" dirty="0"/>
                <a:t>&amp;redirect_uri=http://server.com&amp;state=…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BBEF936-BDAC-A8C0-64D7-125E47EF11BE}"/>
              </a:ext>
            </a:extLst>
          </p:cNvPr>
          <p:cNvGrpSpPr/>
          <p:nvPr/>
        </p:nvGrpSpPr>
        <p:grpSpPr>
          <a:xfrm>
            <a:off x="3901913" y="1323029"/>
            <a:ext cx="2506660" cy="646331"/>
            <a:chOff x="3714161" y="1250144"/>
            <a:chExt cx="2727350" cy="646331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53C75A6-89B1-6BB6-1B15-5375A9E8C5D6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B7A4217-1F1D-0EBE-C434-6D86ABAF07C3}"/>
                </a:ext>
              </a:extLst>
            </p:cNvPr>
            <p:cNvSpPr txBox="1"/>
            <p:nvPr/>
          </p:nvSpPr>
          <p:spPr>
            <a:xfrm>
              <a:off x="3776125" y="1250144"/>
              <a:ext cx="266538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POST /</a:t>
              </a:r>
              <a:r>
                <a:rPr lang="en-NZ" sz="1200" dirty="0" err="1"/>
                <a:t>api</a:t>
              </a:r>
              <a:r>
                <a:rPr lang="en-NZ" sz="1200" dirty="0"/>
                <a:t>/oauth2/authorize</a:t>
              </a:r>
            </a:p>
            <a:p>
              <a:pPr algn="ctr"/>
              <a:r>
                <a:rPr lang="en-NZ" sz="1200" dirty="0"/>
                <a:t>+ </a:t>
              </a:r>
              <a:r>
                <a:rPr lang="en-NZ" sz="1200" dirty="0" err="1"/>
                <a:t>client_id</a:t>
              </a:r>
              <a:r>
                <a:rPr lang="en-NZ" sz="1200" dirty="0"/>
                <a:t> + </a:t>
              </a:r>
              <a:r>
                <a:rPr lang="en-NZ" sz="1200" dirty="0" err="1"/>
                <a:t>response_type</a:t>
              </a:r>
              <a:r>
                <a:rPr lang="en-NZ" sz="1200" dirty="0"/>
                <a:t> +</a:t>
              </a:r>
            </a:p>
            <a:p>
              <a:pPr algn="ctr"/>
              <a:r>
                <a:rPr lang="en-NZ" sz="1200" dirty="0"/>
                <a:t>scope + </a:t>
              </a:r>
              <a:r>
                <a:rPr lang="en-NZ" sz="1200" dirty="0" err="1"/>
                <a:t>redirect_uri</a:t>
              </a:r>
              <a:r>
                <a:rPr lang="en-NZ" sz="1200" dirty="0"/>
                <a:t> + state + etc.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FC3CF91-6EB1-1572-A5A5-6674CC044420}"/>
              </a:ext>
            </a:extLst>
          </p:cNvPr>
          <p:cNvGrpSpPr/>
          <p:nvPr/>
        </p:nvGrpSpPr>
        <p:grpSpPr>
          <a:xfrm>
            <a:off x="6447933" y="2360324"/>
            <a:ext cx="4462020" cy="276999"/>
            <a:chOff x="6422796" y="1480009"/>
            <a:chExt cx="3538194" cy="276999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D8FE9B34-2908-885B-2A8E-FE27F5F7AF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3CD9F37-CF3A-5D5B-955E-80F40CBA7658}"/>
                </a:ext>
              </a:extLst>
            </p:cNvPr>
            <p:cNvSpPr txBox="1"/>
            <p:nvPr/>
          </p:nvSpPr>
          <p:spPr>
            <a:xfrm>
              <a:off x="7335067" y="1480009"/>
              <a:ext cx="19031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302 – /identity/credentials/login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417292E2-96F9-2C24-EE24-D83CE0C2A564}"/>
              </a:ext>
            </a:extLst>
          </p:cNvPr>
          <p:cNvGrpSpPr/>
          <p:nvPr/>
        </p:nvGrpSpPr>
        <p:grpSpPr>
          <a:xfrm>
            <a:off x="6438506" y="5910626"/>
            <a:ext cx="4462020" cy="461665"/>
            <a:chOff x="6422796" y="1480009"/>
            <a:chExt cx="3538194" cy="461665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1D390AA-1BF6-D91C-2D61-EE13B8E813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F0CFC62-6F4C-31AF-A44B-D843125787C3}"/>
                </a:ext>
              </a:extLst>
            </p:cNvPr>
            <p:cNvSpPr txBox="1"/>
            <p:nvPr/>
          </p:nvSpPr>
          <p:spPr>
            <a:xfrm>
              <a:off x="7563870" y="1480009"/>
              <a:ext cx="144551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302 – </a:t>
              </a:r>
              <a:r>
                <a:rPr lang="en-NZ" sz="1200" dirty="0">
                  <a:hlinkClick r:id="rId2"/>
                </a:rPr>
                <a:t>http://server.com</a:t>
              </a:r>
              <a:endParaRPr lang="en-NZ" sz="1200" dirty="0"/>
            </a:p>
            <a:p>
              <a:pPr algn="ctr"/>
              <a:r>
                <a:rPr lang="en-NZ" sz="1200" dirty="0"/>
                <a:t>&amp;code=...&amp;state=...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AA6E146-F9A5-7C35-D05E-6142420E344F}"/>
              </a:ext>
            </a:extLst>
          </p:cNvPr>
          <p:cNvGrpSpPr/>
          <p:nvPr/>
        </p:nvGrpSpPr>
        <p:grpSpPr>
          <a:xfrm>
            <a:off x="3849061" y="6020105"/>
            <a:ext cx="2669321" cy="461665"/>
            <a:chOff x="3656656" y="1250144"/>
            <a:chExt cx="2904331" cy="461665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EFD2F7E7-D285-8053-C472-954582B0924E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A607D71-05F9-8F6A-132F-B7F13E277170}"/>
                </a:ext>
              </a:extLst>
            </p:cNvPr>
            <p:cNvSpPr txBox="1"/>
            <p:nvPr/>
          </p:nvSpPr>
          <p:spPr>
            <a:xfrm>
              <a:off x="3656656" y="1250144"/>
              <a:ext cx="29043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</a:t>
              </a:r>
              <a:r>
                <a:rPr lang="en-NZ" sz="1200" dirty="0" err="1"/>
                <a:t>RedirectUrl</a:t>
              </a:r>
              <a:r>
                <a:rPr lang="en-NZ" sz="1200" dirty="0"/>
                <a:t> = </a:t>
              </a:r>
            </a:p>
            <a:p>
              <a:pPr algn="ctr"/>
              <a:r>
                <a:rPr lang="en-NZ" sz="1200" dirty="0">
                  <a:hlinkClick r:id="rId2"/>
                </a:rPr>
                <a:t>http://server.com</a:t>
              </a:r>
              <a:r>
                <a:rPr lang="en-NZ" sz="1200" dirty="0"/>
                <a:t>&amp;code=...&amp;state=...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658B76-5F89-9A25-8CD2-FB3E87299733}"/>
              </a:ext>
            </a:extLst>
          </p:cNvPr>
          <p:cNvGrpSpPr/>
          <p:nvPr/>
        </p:nvGrpSpPr>
        <p:grpSpPr>
          <a:xfrm>
            <a:off x="892288" y="6127419"/>
            <a:ext cx="2946877" cy="646331"/>
            <a:chOff x="3216471" y="1250144"/>
            <a:chExt cx="3206325" cy="646331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13C6FF8F-BDE2-C1A4-D3E0-2891539FC86F}"/>
                </a:ext>
              </a:extLst>
            </p:cNvPr>
            <p:cNvCxnSpPr>
              <a:cxnSpLocks/>
            </p:cNvCxnSpPr>
            <p:nvPr/>
          </p:nvCxnSpPr>
          <p:spPr>
            <a:xfrm>
              <a:off x="3216471" y="1480009"/>
              <a:ext cx="320632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032B183-6E0A-6710-4994-683452843F87}"/>
                </a:ext>
              </a:extLst>
            </p:cNvPr>
            <p:cNvSpPr txBox="1"/>
            <p:nvPr/>
          </p:nvSpPr>
          <p:spPr>
            <a:xfrm>
              <a:off x="4179895" y="1250144"/>
              <a:ext cx="18578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GET </a:t>
              </a:r>
              <a:r>
                <a:rPr lang="en-NZ" sz="1200" dirty="0">
                  <a:hlinkClick r:id="rId2"/>
                </a:rPr>
                <a:t>http://server.com</a:t>
              </a:r>
              <a:endParaRPr lang="en-NZ" sz="1200" dirty="0"/>
            </a:p>
            <a:p>
              <a:pPr algn="ctr"/>
              <a:r>
                <a:rPr lang="en-NZ" sz="1200" dirty="0"/>
                <a:t>&amp;code=...&amp;state=...</a:t>
              </a:r>
            </a:p>
            <a:p>
              <a:pPr algn="ctr"/>
              <a:r>
                <a:rPr lang="en-NZ" sz="1200" dirty="0"/>
                <a:t> </a:t>
              </a:r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788FAECD-9E4F-D660-53FD-8EC249E04322}"/>
              </a:ext>
            </a:extLst>
          </p:cNvPr>
          <p:cNvSpPr/>
          <p:nvPr/>
        </p:nvSpPr>
        <p:spPr>
          <a:xfrm>
            <a:off x="6466787" y="6204407"/>
            <a:ext cx="1004725" cy="367644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Continuation</a:t>
            </a:r>
          </a:p>
          <a:p>
            <a:pPr algn="ctr"/>
            <a:r>
              <a:rPr lang="en-NZ" sz="1050" dirty="0"/>
              <a:t>removed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596E4B38-A9A4-FDFB-A743-0DE5552D7363}"/>
              </a:ext>
            </a:extLst>
          </p:cNvPr>
          <p:cNvGrpSpPr/>
          <p:nvPr/>
        </p:nvGrpSpPr>
        <p:grpSpPr>
          <a:xfrm>
            <a:off x="10912846" y="1972744"/>
            <a:ext cx="1101807" cy="716440"/>
            <a:chOff x="10903419" y="1972744"/>
            <a:chExt cx="1101807" cy="716440"/>
          </a:xfrm>
        </p:grpSpPr>
        <p:cxnSp>
          <p:nvCxnSpPr>
            <p:cNvPr id="31" name="Connector: Elbow 30">
              <a:extLst>
                <a:ext uri="{FF2B5EF4-FFF2-40B4-BE49-F238E27FC236}">
                  <a16:creationId xmlns:a16="http://schemas.microsoft.com/office/drawing/2014/main" id="{CF950A8A-3887-B086-4B79-387E6EE93339}"/>
                </a:ext>
              </a:extLst>
            </p:cNvPr>
            <p:cNvCxnSpPr>
              <a:cxnSpLocks/>
              <a:stCxn id="32" idx="0"/>
              <a:endCxn id="32" idx="3"/>
            </p:cNvCxnSpPr>
            <p:nvPr/>
          </p:nvCxnSpPr>
          <p:spPr>
            <a:xfrm rot="16200000" flipH="1">
              <a:off x="10815848" y="2121341"/>
              <a:ext cx="358220" cy="61026"/>
            </a:xfrm>
            <a:prstGeom prst="bentConnector4">
              <a:avLst>
                <a:gd name="adj1" fmla="val -659"/>
                <a:gd name="adj2" fmla="val 1679476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B1681CC-DC2E-0C6E-A917-F9A777151DCB}"/>
                </a:ext>
              </a:extLst>
            </p:cNvPr>
            <p:cNvSpPr/>
            <p:nvPr/>
          </p:nvSpPr>
          <p:spPr>
            <a:xfrm>
              <a:off x="10903419" y="1972744"/>
              <a:ext cx="122052" cy="71644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6BF6D3E-54B5-13C7-EAAA-0370FEA63946}"/>
                </a:ext>
              </a:extLst>
            </p:cNvPr>
            <p:cNvSpPr txBox="1"/>
            <p:nvPr/>
          </p:nvSpPr>
          <p:spPr>
            <a:xfrm>
              <a:off x="11025471" y="1991959"/>
              <a:ext cx="97975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Not</a:t>
              </a:r>
            </a:p>
            <a:p>
              <a:r>
                <a:rPr lang="en-NZ" sz="1000" dirty="0"/>
                <a:t>Authenticated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0393E18C-9916-8E04-A095-2663BEE39E3F}"/>
              </a:ext>
            </a:extLst>
          </p:cNvPr>
          <p:cNvGrpSpPr/>
          <p:nvPr/>
        </p:nvGrpSpPr>
        <p:grpSpPr>
          <a:xfrm>
            <a:off x="10903419" y="4347746"/>
            <a:ext cx="937750" cy="717003"/>
            <a:chOff x="10903419" y="2839453"/>
            <a:chExt cx="937750" cy="717003"/>
          </a:xfrm>
        </p:grpSpPr>
        <p:cxnSp>
          <p:nvCxnSpPr>
            <p:cNvPr id="41" name="Connector: Elbow 40">
              <a:extLst>
                <a:ext uri="{FF2B5EF4-FFF2-40B4-BE49-F238E27FC236}">
                  <a16:creationId xmlns:a16="http://schemas.microsoft.com/office/drawing/2014/main" id="{BE904F7E-85D4-CA91-359A-A46EDDF2CD31}"/>
                </a:ext>
              </a:extLst>
            </p:cNvPr>
            <p:cNvCxnSpPr>
              <a:cxnSpLocks/>
              <a:stCxn id="42" idx="0"/>
              <a:endCxn id="42" idx="3"/>
            </p:cNvCxnSpPr>
            <p:nvPr/>
          </p:nvCxnSpPr>
          <p:spPr>
            <a:xfrm rot="16200000" flipH="1">
              <a:off x="10815848" y="2988613"/>
              <a:ext cx="358220" cy="61026"/>
            </a:xfrm>
            <a:prstGeom prst="bentConnector4">
              <a:avLst>
                <a:gd name="adj1" fmla="val -659"/>
                <a:gd name="adj2" fmla="val 1679476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38BC5F28-980F-CFCA-4EE8-EF9DB9E0ED1C}"/>
                </a:ext>
              </a:extLst>
            </p:cNvPr>
            <p:cNvSpPr/>
            <p:nvPr/>
          </p:nvSpPr>
          <p:spPr>
            <a:xfrm>
              <a:off x="10903419" y="2840016"/>
              <a:ext cx="122052" cy="71644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584F8F8-3AB5-DBA4-8134-5CBD3F2AFF2B}"/>
                </a:ext>
              </a:extLst>
            </p:cNvPr>
            <p:cNvSpPr txBox="1"/>
            <p:nvPr/>
          </p:nvSpPr>
          <p:spPr>
            <a:xfrm>
              <a:off x="11044156" y="2839453"/>
              <a:ext cx="79701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Not</a:t>
              </a:r>
            </a:p>
            <a:p>
              <a:r>
                <a:rPr lang="en-NZ" sz="1000" dirty="0"/>
                <a:t>Consented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A81A91D-5CF9-6488-BEC7-3A8F7E0BC24F}"/>
              </a:ext>
            </a:extLst>
          </p:cNvPr>
          <p:cNvGrpSpPr/>
          <p:nvPr/>
        </p:nvGrpSpPr>
        <p:grpSpPr>
          <a:xfrm>
            <a:off x="3912908" y="2477196"/>
            <a:ext cx="2489459" cy="461665"/>
            <a:chOff x="3714161" y="1250144"/>
            <a:chExt cx="2708635" cy="461665"/>
          </a:xfrm>
        </p:grpSpPr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B35674F2-6563-0ADC-EF6F-D5823064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0D1ABE41-F36D-0340-B7C7-D100EB37C543}"/>
                </a:ext>
              </a:extLst>
            </p:cNvPr>
            <p:cNvSpPr txBox="1"/>
            <p:nvPr/>
          </p:nvSpPr>
          <p:spPr>
            <a:xfrm>
              <a:off x="4020315" y="1250144"/>
              <a:ext cx="217702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</a:t>
              </a:r>
              <a:r>
                <a:rPr lang="en-NZ" sz="1200" dirty="0" err="1"/>
                <a:t>RedirectUrl</a:t>
              </a:r>
              <a:r>
                <a:rPr lang="en-NZ" sz="1200" dirty="0"/>
                <a:t> =</a:t>
              </a:r>
            </a:p>
            <a:p>
              <a:pPr algn="ctr"/>
              <a:r>
                <a:rPr lang="en-NZ" sz="1200" dirty="0"/>
                <a:t> /identity/credentials/login</a:t>
              </a:r>
            </a:p>
          </p:txBody>
        </p: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947120CA-BFCE-955E-F114-3A39DBC0DF9A}"/>
              </a:ext>
            </a:extLst>
          </p:cNvPr>
          <p:cNvGrpSpPr/>
          <p:nvPr/>
        </p:nvGrpSpPr>
        <p:grpSpPr>
          <a:xfrm>
            <a:off x="3155769" y="2614852"/>
            <a:ext cx="767512" cy="1482552"/>
            <a:chOff x="3155769" y="2614852"/>
            <a:chExt cx="767512" cy="1482552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A7740557-4761-57BB-19E1-CE0CACD170D8}"/>
                </a:ext>
              </a:extLst>
            </p:cNvPr>
            <p:cNvCxnSpPr>
              <a:cxnSpLocks/>
              <a:stCxn id="50" idx="0"/>
              <a:endCxn id="50" idx="1"/>
            </p:cNvCxnSpPr>
            <p:nvPr/>
          </p:nvCxnSpPr>
          <p:spPr>
            <a:xfrm rot="16200000" flipH="1" flipV="1">
              <a:off x="3451209" y="2951678"/>
              <a:ext cx="741276" cy="67623"/>
            </a:xfrm>
            <a:prstGeom prst="bentConnector4">
              <a:avLst>
                <a:gd name="adj1" fmla="val 3497"/>
                <a:gd name="adj2" fmla="val 1051417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BD63C28F-6BE0-4684-9249-822A08DBBDFF}"/>
                </a:ext>
              </a:extLst>
            </p:cNvPr>
            <p:cNvSpPr/>
            <p:nvPr/>
          </p:nvSpPr>
          <p:spPr>
            <a:xfrm>
              <a:off x="3788035" y="2614852"/>
              <a:ext cx="135246" cy="148255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568DD4A2-50A5-A05C-F754-FCDE7C00BAB6}"/>
                </a:ext>
              </a:extLst>
            </p:cNvPr>
            <p:cNvSpPr txBox="1"/>
            <p:nvPr/>
          </p:nvSpPr>
          <p:spPr>
            <a:xfrm>
              <a:off x="3155769" y="2831110"/>
              <a:ext cx="66396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Displays</a:t>
              </a:r>
            </a:p>
            <a:p>
              <a:r>
                <a:rPr lang="en-NZ" sz="1000" dirty="0"/>
                <a:t>Login UI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B79ADF0A-28DD-5D5C-87F4-2F6C873EEBA3}"/>
              </a:ext>
            </a:extLst>
          </p:cNvPr>
          <p:cNvGrpSpPr/>
          <p:nvPr/>
        </p:nvGrpSpPr>
        <p:grpSpPr>
          <a:xfrm>
            <a:off x="3949993" y="2919602"/>
            <a:ext cx="2489459" cy="276999"/>
            <a:chOff x="3714161" y="1250144"/>
            <a:chExt cx="2708635" cy="276999"/>
          </a:xfrm>
        </p:grpSpPr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768D4C57-2E65-5F60-9C45-B7A1AEC971C1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FEE9FA7-B8EB-6E54-F9C2-FB6FE1FE6044}"/>
                </a:ext>
              </a:extLst>
            </p:cNvPr>
            <p:cNvSpPr txBox="1"/>
            <p:nvPr/>
          </p:nvSpPr>
          <p:spPr>
            <a:xfrm>
              <a:off x="4430176" y="1250144"/>
              <a:ext cx="135728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POST /</a:t>
              </a:r>
              <a:r>
                <a:rPr lang="en-NZ" sz="1200" dirty="0" err="1"/>
                <a:t>api</a:t>
              </a:r>
              <a:r>
                <a:rPr lang="en-NZ" sz="1200" dirty="0"/>
                <a:t>/auth</a:t>
              </a: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E9D42F4-341D-322F-E63B-973A60EB24A0}"/>
              </a:ext>
            </a:extLst>
          </p:cNvPr>
          <p:cNvGrpSpPr/>
          <p:nvPr/>
        </p:nvGrpSpPr>
        <p:grpSpPr>
          <a:xfrm>
            <a:off x="6438506" y="3023827"/>
            <a:ext cx="4433739" cy="276999"/>
            <a:chOff x="3714161" y="1250144"/>
            <a:chExt cx="2708635" cy="276999"/>
          </a:xfrm>
        </p:grpSpPr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8C58268F-64F2-3E2B-E55A-82DA492F3E55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77C9130-E80E-03FE-A089-2BE5735CEC7D}"/>
                </a:ext>
              </a:extLst>
            </p:cNvPr>
            <p:cNvSpPr txBox="1"/>
            <p:nvPr/>
          </p:nvSpPr>
          <p:spPr>
            <a:xfrm>
              <a:off x="4560792" y="1250144"/>
              <a:ext cx="109603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POST /credentials/auth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912A7015-D75F-47D6-382D-0431A7C6DF11}"/>
              </a:ext>
            </a:extLst>
          </p:cNvPr>
          <p:cNvGrpSpPr/>
          <p:nvPr/>
        </p:nvGrpSpPr>
        <p:grpSpPr>
          <a:xfrm>
            <a:off x="6410225" y="3456007"/>
            <a:ext cx="4462020" cy="276999"/>
            <a:chOff x="6422796" y="1480009"/>
            <a:chExt cx="3538194" cy="276999"/>
          </a:xfrm>
        </p:grpSpPr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54172AC8-AD87-27F5-905D-2ECB55BE20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22E1087D-8832-2D1C-9D0E-7015571F76AA}"/>
                </a:ext>
              </a:extLst>
            </p:cNvPr>
            <p:cNvSpPr txBox="1"/>
            <p:nvPr/>
          </p:nvSpPr>
          <p:spPr>
            <a:xfrm>
              <a:off x="7720850" y="1480009"/>
              <a:ext cx="113154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201 – auth tokens</a:t>
              </a:r>
            </a:p>
          </p:txBody>
        </p:sp>
      </p:grp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9BE772A0-365B-E45F-D145-BD26710BCA74}"/>
              </a:ext>
            </a:extLst>
          </p:cNvPr>
          <p:cNvSpPr/>
          <p:nvPr/>
        </p:nvSpPr>
        <p:spPr>
          <a:xfrm>
            <a:off x="6457360" y="3301213"/>
            <a:ext cx="1004725" cy="367644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Persist auth tokens</a:t>
            </a:r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D99B9A9-8FA1-95D4-59F2-6EA297B93B5A}"/>
              </a:ext>
            </a:extLst>
          </p:cNvPr>
          <p:cNvGrpSpPr/>
          <p:nvPr/>
        </p:nvGrpSpPr>
        <p:grpSpPr>
          <a:xfrm>
            <a:off x="3901912" y="3544133"/>
            <a:ext cx="2489459" cy="276999"/>
            <a:chOff x="3714161" y="1250144"/>
            <a:chExt cx="2708635" cy="276999"/>
          </a:xfrm>
        </p:grpSpPr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EFBAF43C-B53E-EE00-E6FA-AF2444575D80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9BAB9085-341C-0407-506A-E1AAC205A92C}"/>
                </a:ext>
              </a:extLst>
            </p:cNvPr>
            <p:cNvSpPr txBox="1"/>
            <p:nvPr/>
          </p:nvSpPr>
          <p:spPr>
            <a:xfrm>
              <a:off x="4867092" y="1250144"/>
              <a:ext cx="48347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201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A28B0847-3766-3908-A54D-FFF2F0530E9F}"/>
              </a:ext>
            </a:extLst>
          </p:cNvPr>
          <p:cNvGrpSpPr/>
          <p:nvPr/>
        </p:nvGrpSpPr>
        <p:grpSpPr>
          <a:xfrm>
            <a:off x="3931760" y="3747289"/>
            <a:ext cx="2489458" cy="461665"/>
            <a:chOff x="3714161" y="1250144"/>
            <a:chExt cx="2708635" cy="461665"/>
          </a:xfrm>
        </p:grpSpPr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0A4A0C5-5725-A9B1-B335-95DD9C793F67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0EA7B456-CF23-E3F9-901A-2DBCADFBD2B8}"/>
                </a:ext>
              </a:extLst>
            </p:cNvPr>
            <p:cNvSpPr txBox="1"/>
            <p:nvPr/>
          </p:nvSpPr>
          <p:spPr>
            <a:xfrm>
              <a:off x="3953158" y="1250144"/>
              <a:ext cx="23113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POST /</a:t>
              </a:r>
              <a:r>
                <a:rPr lang="en-NZ" sz="1200" dirty="0" err="1"/>
                <a:t>api</a:t>
              </a:r>
              <a:r>
                <a:rPr lang="en-NZ" sz="1200" dirty="0"/>
                <a:t>/oauth2/authorize</a:t>
              </a:r>
            </a:p>
            <a:p>
              <a:pPr algn="ctr"/>
              <a:r>
                <a:rPr lang="en-NZ" sz="1200" dirty="0"/>
                <a:t>(no params)</a:t>
              </a:r>
            </a:p>
          </p:txBody>
        </p: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CE5FFF86-A292-AD77-0C09-20E92C4247D2}"/>
              </a:ext>
            </a:extLst>
          </p:cNvPr>
          <p:cNvSpPr/>
          <p:nvPr/>
        </p:nvSpPr>
        <p:spPr>
          <a:xfrm>
            <a:off x="6457359" y="3988981"/>
            <a:ext cx="1004725" cy="367644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Continuation used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889454E9-0F71-D060-5B33-6D87C682EFFA}"/>
              </a:ext>
            </a:extLst>
          </p:cNvPr>
          <p:cNvGrpSpPr/>
          <p:nvPr/>
        </p:nvGrpSpPr>
        <p:grpSpPr>
          <a:xfrm>
            <a:off x="6468355" y="4192875"/>
            <a:ext cx="4433739" cy="276999"/>
            <a:chOff x="3714161" y="1250144"/>
            <a:chExt cx="2708635" cy="276999"/>
          </a:xfrm>
        </p:grpSpPr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FF5E573B-C1B8-9C12-C8A4-87036AB2B43A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D6AC9873-2E93-21F6-259B-B8174A7DB4F3}"/>
                </a:ext>
              </a:extLst>
            </p:cNvPr>
            <p:cNvSpPr txBox="1"/>
            <p:nvPr/>
          </p:nvSpPr>
          <p:spPr>
            <a:xfrm>
              <a:off x="4334089" y="1250144"/>
              <a:ext cx="154944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POST /oauth2/authorize + params</a:t>
              </a:r>
            </a:p>
          </p:txBody>
        </p:sp>
      </p:grp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544A23B9-EA4C-647F-9B5E-A8C78BB81B4D}"/>
              </a:ext>
            </a:extLst>
          </p:cNvPr>
          <p:cNvGrpSpPr/>
          <p:nvPr/>
        </p:nvGrpSpPr>
        <p:grpSpPr>
          <a:xfrm>
            <a:off x="7824348" y="4680402"/>
            <a:ext cx="3058890" cy="276999"/>
            <a:chOff x="6422796" y="1480009"/>
            <a:chExt cx="3538194" cy="276999"/>
          </a:xfrm>
        </p:grpSpPr>
        <p:cxnSp>
          <p:nvCxnSpPr>
            <p:cNvPr id="210" name="Straight Arrow Connector 209">
              <a:extLst>
                <a:ext uri="{FF2B5EF4-FFF2-40B4-BE49-F238E27FC236}">
                  <a16:creationId xmlns:a16="http://schemas.microsoft.com/office/drawing/2014/main" id="{4C44CDED-A926-72E5-D3C2-972271101E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531271E0-63B1-F866-C58C-70FE6B1FAC5D}"/>
                </a:ext>
              </a:extLst>
            </p:cNvPr>
            <p:cNvSpPr txBox="1"/>
            <p:nvPr/>
          </p:nvSpPr>
          <p:spPr>
            <a:xfrm>
              <a:off x="7249963" y="1480009"/>
              <a:ext cx="207334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(see unconsented flow)</a:t>
              </a:r>
            </a:p>
          </p:txBody>
        </p:sp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3D9D07AF-F3B0-67EE-1E3F-78C4BC41B563}"/>
              </a:ext>
            </a:extLst>
          </p:cNvPr>
          <p:cNvGrpSpPr/>
          <p:nvPr/>
        </p:nvGrpSpPr>
        <p:grpSpPr>
          <a:xfrm>
            <a:off x="10902519" y="5121784"/>
            <a:ext cx="1238063" cy="1143855"/>
            <a:chOff x="10903419" y="1972744"/>
            <a:chExt cx="1238063" cy="716440"/>
          </a:xfrm>
        </p:grpSpPr>
        <p:cxnSp>
          <p:nvCxnSpPr>
            <p:cNvPr id="213" name="Connector: Elbow 212">
              <a:extLst>
                <a:ext uri="{FF2B5EF4-FFF2-40B4-BE49-F238E27FC236}">
                  <a16:creationId xmlns:a16="http://schemas.microsoft.com/office/drawing/2014/main" id="{6715E252-2B19-0B08-C34E-97CA888C659F}"/>
                </a:ext>
              </a:extLst>
            </p:cNvPr>
            <p:cNvCxnSpPr>
              <a:cxnSpLocks/>
              <a:stCxn id="214" idx="0"/>
              <a:endCxn id="214" idx="3"/>
            </p:cNvCxnSpPr>
            <p:nvPr/>
          </p:nvCxnSpPr>
          <p:spPr>
            <a:xfrm rot="16200000" flipH="1">
              <a:off x="10815848" y="2121341"/>
              <a:ext cx="358220" cy="61026"/>
            </a:xfrm>
            <a:prstGeom prst="bentConnector4">
              <a:avLst>
                <a:gd name="adj1" fmla="val -659"/>
                <a:gd name="adj2" fmla="val 1679476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00FF4226-6913-7518-E532-6F66CE8962E9}"/>
                </a:ext>
              </a:extLst>
            </p:cNvPr>
            <p:cNvSpPr/>
            <p:nvPr/>
          </p:nvSpPr>
          <p:spPr>
            <a:xfrm>
              <a:off x="10903419" y="1972744"/>
              <a:ext cx="122052" cy="71644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CC0F80BC-FBF7-E91C-A3CA-88F6B4E7133E}"/>
                </a:ext>
              </a:extLst>
            </p:cNvPr>
            <p:cNvSpPr txBox="1"/>
            <p:nvPr/>
          </p:nvSpPr>
          <p:spPr>
            <a:xfrm>
              <a:off x="11025471" y="1991959"/>
              <a:ext cx="1116011" cy="3469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Authenticated + </a:t>
              </a:r>
            </a:p>
            <a:p>
              <a:r>
                <a:rPr lang="en-NZ" sz="1000" dirty="0"/>
                <a:t>Consented + </a:t>
              </a:r>
            </a:p>
            <a:p>
              <a:r>
                <a:rPr lang="en-NZ" sz="1000" dirty="0"/>
                <a:t>Granted</a:t>
              </a:r>
            </a:p>
          </p:txBody>
        </p:sp>
      </p:grpSp>
      <p:sp>
        <p:nvSpPr>
          <p:cNvPr id="216" name="TextBox 215">
            <a:extLst>
              <a:ext uri="{FF2B5EF4-FFF2-40B4-BE49-F238E27FC236}">
                <a16:creationId xmlns:a16="http://schemas.microsoft.com/office/drawing/2014/main" id="{82997F5E-7099-46A9-467E-14044D6B35BB}"/>
              </a:ext>
            </a:extLst>
          </p:cNvPr>
          <p:cNvSpPr txBox="1"/>
          <p:nvPr/>
        </p:nvSpPr>
        <p:spPr>
          <a:xfrm>
            <a:off x="3108832" y="3736890"/>
            <a:ext cx="6607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200" dirty="0"/>
              <a:t>Retries</a:t>
            </a:r>
          </a:p>
        </p:txBody>
      </p:sp>
    </p:spTree>
    <p:extLst>
      <p:ext uri="{BB962C8B-B14F-4D97-AF65-F5344CB8AC3E}">
        <p14:creationId xmlns:p14="http://schemas.microsoft.com/office/powerpoint/2010/main" val="30901867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255-5810-F1C4-266F-776C7CE4F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130">
            <a:extLst>
              <a:ext uri="{FF2B5EF4-FFF2-40B4-BE49-F238E27FC236}">
                <a16:creationId xmlns:a16="http://schemas.microsoft.com/office/drawing/2014/main" id="{91491408-1A3B-F821-CCD9-E50D9915E69F}"/>
              </a:ext>
            </a:extLst>
          </p:cNvPr>
          <p:cNvSpPr/>
          <p:nvPr/>
        </p:nvSpPr>
        <p:spPr>
          <a:xfrm>
            <a:off x="141402" y="2749007"/>
            <a:ext cx="11744225" cy="3044245"/>
          </a:xfrm>
          <a:prstGeom prst="rect">
            <a:avLst/>
          </a:prstGeom>
          <a:solidFill>
            <a:srgbClr val="FF9933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NZ" dirty="0">
                <a:solidFill>
                  <a:schemeClr val="tx1"/>
                </a:solidFill>
              </a:rPr>
              <a:t>Not Consented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CB72BE1-E184-57B7-77D6-A3454137D82A}"/>
              </a:ext>
            </a:extLst>
          </p:cNvPr>
          <p:cNvSpPr/>
          <p:nvPr/>
        </p:nvSpPr>
        <p:spPr>
          <a:xfrm>
            <a:off x="141402" y="5875458"/>
            <a:ext cx="11744225" cy="964778"/>
          </a:xfrm>
          <a:prstGeom prst="rect">
            <a:avLst/>
          </a:prstGeom>
          <a:solidFill>
            <a:srgbClr val="99FF99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NZ" dirty="0">
                <a:solidFill>
                  <a:schemeClr val="tx1"/>
                </a:solidFill>
              </a:rPr>
              <a:t>Authorized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71C1DC-DD31-93BF-3AE8-6DB4051FFEF6}"/>
              </a:ext>
            </a:extLst>
          </p:cNvPr>
          <p:cNvSpPr txBox="1"/>
          <p:nvPr/>
        </p:nvSpPr>
        <p:spPr>
          <a:xfrm>
            <a:off x="267419" y="207034"/>
            <a:ext cx="84561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Open ID Connect – Authorization Code Flow (Unconsented)</a:t>
            </a: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A143F3C7-322A-7D90-B4FA-CDFB571E5B5B}"/>
              </a:ext>
            </a:extLst>
          </p:cNvPr>
          <p:cNvGrpSpPr/>
          <p:nvPr/>
        </p:nvGrpSpPr>
        <p:grpSpPr>
          <a:xfrm>
            <a:off x="5872898" y="829559"/>
            <a:ext cx="1131216" cy="5957740"/>
            <a:chOff x="631596" y="829559"/>
            <a:chExt cx="1131216" cy="595774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0003EB2-1C6E-9484-7925-5C6D736A19E8}"/>
                </a:ext>
              </a:extLst>
            </p:cNvPr>
            <p:cNvSpPr/>
            <p:nvPr/>
          </p:nvSpPr>
          <p:spPr>
            <a:xfrm>
              <a:off x="631596" y="829559"/>
              <a:ext cx="1131216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BEFFE</a:t>
              </a:r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535FAFFA-50A8-AB1D-3BC6-25E1BC9E48C3}"/>
                </a:ext>
              </a:extLst>
            </p:cNvPr>
            <p:cNvCxnSpPr>
              <a:stCxn id="73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3A7980BE-D834-02F6-38FA-BF884C21F9B8}"/>
              </a:ext>
            </a:extLst>
          </p:cNvPr>
          <p:cNvGrpSpPr/>
          <p:nvPr/>
        </p:nvGrpSpPr>
        <p:grpSpPr>
          <a:xfrm>
            <a:off x="9953133" y="829559"/>
            <a:ext cx="1932494" cy="5957740"/>
            <a:chOff x="1533427" y="815419"/>
            <a:chExt cx="1932494" cy="5957740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BBF4588D-0C6B-E697-E3E9-16F88FBDE07A}"/>
                </a:ext>
              </a:extLst>
            </p:cNvPr>
            <p:cNvSpPr/>
            <p:nvPr/>
          </p:nvSpPr>
          <p:spPr>
            <a:xfrm>
              <a:off x="1533427" y="815419"/>
              <a:ext cx="1932494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dirty="0"/>
                <a:t>Backend API</a:t>
              </a:r>
            </a:p>
          </p:txBody>
        </p: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05AA5355-B2FC-3800-3A58-DB13BD14772F}"/>
                </a:ext>
              </a:extLst>
            </p:cNvPr>
            <p:cNvCxnSpPr>
              <a:cxnSpLocks/>
              <a:stCxn id="78" idx="2"/>
            </p:cNvCxnSpPr>
            <p:nvPr/>
          </p:nvCxnSpPr>
          <p:spPr>
            <a:xfrm flipH="1">
              <a:off x="2490247" y="118306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8FC5D73-4F65-9E63-C8CC-85AFAC1D3712}"/>
              </a:ext>
            </a:extLst>
          </p:cNvPr>
          <p:cNvGrpSpPr/>
          <p:nvPr/>
        </p:nvGrpSpPr>
        <p:grpSpPr>
          <a:xfrm>
            <a:off x="3308023" y="829559"/>
            <a:ext cx="1131216" cy="5957740"/>
            <a:chOff x="631596" y="829559"/>
            <a:chExt cx="1131216" cy="595774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9B8D95FE-9778-4DC9-A41E-2F8833F37EAF}"/>
                </a:ext>
              </a:extLst>
            </p:cNvPr>
            <p:cNvSpPr/>
            <p:nvPr/>
          </p:nvSpPr>
          <p:spPr>
            <a:xfrm>
              <a:off x="631596" y="829559"/>
              <a:ext cx="1131216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User Agent (Browser)</a:t>
              </a:r>
            </a:p>
          </p:txBody>
        </p: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5C7F0C7B-5FE1-59E6-9437-95E7768A0AF4}"/>
                </a:ext>
              </a:extLst>
            </p:cNvPr>
            <p:cNvCxnSpPr>
              <a:stCxn id="81" idx="2"/>
            </p:cNvCxnSpPr>
            <p:nvPr/>
          </p:nvCxnSpPr>
          <p:spPr>
            <a:xfrm flipH="1">
              <a:off x="1187777" y="11972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9FF1301C-6D9A-B52F-AAA7-1D388E405573}"/>
              </a:ext>
            </a:extLst>
          </p:cNvPr>
          <p:cNvGrpSpPr/>
          <p:nvPr/>
        </p:nvGrpSpPr>
        <p:grpSpPr>
          <a:xfrm>
            <a:off x="318155" y="829559"/>
            <a:ext cx="1131216" cy="5957740"/>
            <a:chOff x="-936396" y="677159"/>
            <a:chExt cx="1131216" cy="5957740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3F435409-AA47-A3CA-3970-F93366F6DDD2}"/>
                </a:ext>
              </a:extLst>
            </p:cNvPr>
            <p:cNvSpPr/>
            <p:nvPr/>
          </p:nvSpPr>
          <p:spPr>
            <a:xfrm>
              <a:off x="-936396" y="677159"/>
              <a:ext cx="1131216" cy="367645"/>
            </a:xfrm>
            <a:prstGeom prst="rect">
              <a:avLst/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Z" sz="1200" dirty="0"/>
                <a:t>Client</a:t>
              </a:r>
            </a:p>
          </p:txBody>
        </p: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2430E793-770A-BF57-612A-A2D6B872403D}"/>
                </a:ext>
              </a:extLst>
            </p:cNvPr>
            <p:cNvCxnSpPr>
              <a:stCxn id="84" idx="2"/>
            </p:cNvCxnSpPr>
            <p:nvPr/>
          </p:nvCxnSpPr>
          <p:spPr>
            <a:xfrm flipH="1">
              <a:off x="-380215" y="1044804"/>
              <a:ext cx="9427" cy="559009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80C1757-DE8A-B2CE-E84B-0A1D4A0AB0B0}"/>
              </a:ext>
            </a:extLst>
          </p:cNvPr>
          <p:cNvGrpSpPr/>
          <p:nvPr/>
        </p:nvGrpSpPr>
        <p:grpSpPr>
          <a:xfrm>
            <a:off x="6476214" y="1853460"/>
            <a:ext cx="4433739" cy="276999"/>
            <a:chOff x="3714161" y="1250144"/>
            <a:chExt cx="2708635" cy="276999"/>
          </a:xfrm>
        </p:grpSpPr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FAE4F050-9B88-43E6-2284-06B06DC8FC2D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A48C4649-2A01-C305-C21E-450DFA2ED52E}"/>
                </a:ext>
              </a:extLst>
            </p:cNvPr>
            <p:cNvSpPr txBox="1"/>
            <p:nvPr/>
          </p:nvSpPr>
          <p:spPr>
            <a:xfrm>
              <a:off x="4334089" y="1250144"/>
              <a:ext cx="154944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POST /oauth2/authorize + params</a:t>
              </a:r>
            </a:p>
          </p:txBody>
        </p:sp>
      </p:grp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3EA02AD9-EF8D-0657-FA84-5DFBF649CC2F}"/>
              </a:ext>
            </a:extLst>
          </p:cNvPr>
          <p:cNvSpPr/>
          <p:nvPr/>
        </p:nvSpPr>
        <p:spPr>
          <a:xfrm>
            <a:off x="6466787" y="1564849"/>
            <a:ext cx="1004725" cy="367644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Persist continuation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43DC896-CA1A-2486-ACC1-DB6DB80BC0AE}"/>
              </a:ext>
            </a:extLst>
          </p:cNvPr>
          <p:cNvGrpSpPr/>
          <p:nvPr/>
        </p:nvGrpSpPr>
        <p:grpSpPr>
          <a:xfrm>
            <a:off x="575729" y="1250144"/>
            <a:ext cx="3276859" cy="830997"/>
            <a:chOff x="3381631" y="1250144"/>
            <a:chExt cx="3442183" cy="83099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14BAFBBF-DE19-98B1-DF6A-C36437CBDA88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306491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DF210E9-60ED-8B86-B34C-E088AEC8442C}"/>
                </a:ext>
              </a:extLst>
            </p:cNvPr>
            <p:cNvSpPr txBox="1"/>
            <p:nvPr/>
          </p:nvSpPr>
          <p:spPr>
            <a:xfrm>
              <a:off x="3381631" y="1250144"/>
              <a:ext cx="344218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NZ" sz="1200" dirty="0"/>
                <a:t>GET /identity/oauth2/</a:t>
              </a:r>
              <a:r>
                <a:rPr lang="en-NZ" sz="1200" dirty="0" err="1"/>
                <a:t>authorize?client_id</a:t>
              </a:r>
              <a:r>
                <a:rPr lang="en-NZ" sz="1200" dirty="0"/>
                <a:t>=…</a:t>
              </a:r>
            </a:p>
            <a:p>
              <a:pPr algn="ctr"/>
              <a:r>
                <a:rPr lang="en-NZ" sz="1200" dirty="0"/>
                <a:t>&amp;</a:t>
              </a:r>
              <a:r>
                <a:rPr lang="en-NZ" sz="1200" dirty="0" err="1"/>
                <a:t>response_type</a:t>
              </a:r>
              <a:r>
                <a:rPr lang="en-NZ" sz="1200" dirty="0"/>
                <a:t>=code</a:t>
              </a:r>
            </a:p>
            <a:p>
              <a:pPr algn="ctr"/>
              <a:r>
                <a:rPr lang="en-NZ" sz="1200" dirty="0"/>
                <a:t>&amp;scope=email%20profile%20openid</a:t>
              </a:r>
            </a:p>
            <a:p>
              <a:pPr algn="ctr"/>
              <a:r>
                <a:rPr lang="en-NZ" sz="1200" dirty="0"/>
                <a:t>&amp;redirect_uri=http://server.com&amp;state=…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ED5F62D-8A28-5429-7B8A-4B63427A9685}"/>
              </a:ext>
            </a:extLst>
          </p:cNvPr>
          <p:cNvGrpSpPr/>
          <p:nvPr/>
        </p:nvGrpSpPr>
        <p:grpSpPr>
          <a:xfrm>
            <a:off x="3901913" y="1323029"/>
            <a:ext cx="2506660" cy="646331"/>
            <a:chOff x="3714161" y="1250144"/>
            <a:chExt cx="2727350" cy="646331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FD01FCAF-6CB1-F402-D8CC-EDDE0DBDA549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CB99BE-CC98-1177-B69E-6CE01CCB5CB9}"/>
                </a:ext>
              </a:extLst>
            </p:cNvPr>
            <p:cNvSpPr txBox="1"/>
            <p:nvPr/>
          </p:nvSpPr>
          <p:spPr>
            <a:xfrm>
              <a:off x="3776125" y="1250144"/>
              <a:ext cx="266538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POST /</a:t>
              </a:r>
              <a:r>
                <a:rPr lang="en-NZ" sz="1200" dirty="0" err="1"/>
                <a:t>api</a:t>
              </a:r>
              <a:r>
                <a:rPr lang="en-NZ" sz="1200" dirty="0"/>
                <a:t>/oauth2/authorize</a:t>
              </a:r>
            </a:p>
            <a:p>
              <a:pPr algn="ctr"/>
              <a:r>
                <a:rPr lang="en-NZ" sz="1200" dirty="0"/>
                <a:t>+ </a:t>
              </a:r>
              <a:r>
                <a:rPr lang="en-NZ" sz="1200" dirty="0" err="1"/>
                <a:t>client_id</a:t>
              </a:r>
              <a:r>
                <a:rPr lang="en-NZ" sz="1200" dirty="0"/>
                <a:t> + </a:t>
              </a:r>
              <a:r>
                <a:rPr lang="en-NZ" sz="1200" dirty="0" err="1"/>
                <a:t>response_type</a:t>
              </a:r>
              <a:r>
                <a:rPr lang="en-NZ" sz="1200" dirty="0"/>
                <a:t> +</a:t>
              </a:r>
            </a:p>
            <a:p>
              <a:pPr algn="ctr"/>
              <a:r>
                <a:rPr lang="en-NZ" sz="1200" dirty="0"/>
                <a:t>scope + </a:t>
              </a:r>
              <a:r>
                <a:rPr lang="en-NZ" sz="1200" dirty="0" err="1"/>
                <a:t>redirect_uri</a:t>
              </a:r>
              <a:r>
                <a:rPr lang="en-NZ" sz="1200" dirty="0"/>
                <a:t> + state + etc.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0CD7D88-A84B-93C9-1F27-A01214631E94}"/>
              </a:ext>
            </a:extLst>
          </p:cNvPr>
          <p:cNvGrpSpPr/>
          <p:nvPr/>
        </p:nvGrpSpPr>
        <p:grpSpPr>
          <a:xfrm>
            <a:off x="8301525" y="2360324"/>
            <a:ext cx="2608428" cy="276999"/>
            <a:chOff x="6422796" y="1480009"/>
            <a:chExt cx="3538194" cy="276999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A32DE63-D52B-55EF-C0ED-E63D4C4BEC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627350-25DF-9193-951D-F6B1E5522C12}"/>
                </a:ext>
              </a:extLst>
            </p:cNvPr>
            <p:cNvSpPr txBox="1"/>
            <p:nvPr/>
          </p:nvSpPr>
          <p:spPr>
            <a:xfrm>
              <a:off x="6921986" y="1480009"/>
              <a:ext cx="27292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(see unauthenticated flow)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CFF247C-F2BE-B8C4-5591-FB8C5FF2DD77}"/>
              </a:ext>
            </a:extLst>
          </p:cNvPr>
          <p:cNvGrpSpPr/>
          <p:nvPr/>
        </p:nvGrpSpPr>
        <p:grpSpPr>
          <a:xfrm>
            <a:off x="6438507" y="3020213"/>
            <a:ext cx="4462021" cy="461665"/>
            <a:chOff x="6422796" y="1480009"/>
            <a:chExt cx="3538194" cy="461665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C222B6C0-AA5E-B964-AA95-CF47D3E33D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3A9CA21-C8A5-B7E0-1333-14ECE753A1AC}"/>
                </a:ext>
              </a:extLst>
            </p:cNvPr>
            <p:cNvSpPr txBox="1"/>
            <p:nvPr/>
          </p:nvSpPr>
          <p:spPr>
            <a:xfrm>
              <a:off x="6936579" y="1480009"/>
              <a:ext cx="270009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302 – identity/oauth2/client/consent</a:t>
              </a:r>
            </a:p>
            <a:p>
              <a:pPr algn="ctr"/>
              <a:r>
                <a:rPr lang="en-NZ" sz="1200" dirty="0"/>
                <a:t>&amp;</a:t>
              </a:r>
              <a:r>
                <a:rPr lang="en-NZ" sz="1200" dirty="0" err="1"/>
                <a:t>client_id</a:t>
              </a:r>
              <a:r>
                <a:rPr lang="en-NZ" sz="1200" dirty="0"/>
                <a:t>=…&amp;scope=…&amp;</a:t>
              </a:r>
              <a:r>
                <a:rPr lang="en-NZ" sz="1200" dirty="0" err="1"/>
                <a:t>redirect_uri</a:t>
              </a:r>
              <a:r>
                <a:rPr lang="en-NZ" sz="1200" dirty="0"/>
                <a:t>=…&amp;state=…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E617758-DF71-48F4-DB00-7E2770F8089C}"/>
              </a:ext>
            </a:extLst>
          </p:cNvPr>
          <p:cNvGrpSpPr/>
          <p:nvPr/>
        </p:nvGrpSpPr>
        <p:grpSpPr>
          <a:xfrm>
            <a:off x="6438506" y="5910626"/>
            <a:ext cx="4462020" cy="461665"/>
            <a:chOff x="6422796" y="1480009"/>
            <a:chExt cx="3538194" cy="461665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288B90C-75DB-6C2C-2C5B-B2893294E2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25CAC40-24DF-62CC-E58E-D33D421C8CEB}"/>
                </a:ext>
              </a:extLst>
            </p:cNvPr>
            <p:cNvSpPr txBox="1"/>
            <p:nvPr/>
          </p:nvSpPr>
          <p:spPr>
            <a:xfrm>
              <a:off x="7563870" y="1480009"/>
              <a:ext cx="144551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302 – </a:t>
              </a:r>
              <a:r>
                <a:rPr lang="en-NZ" sz="1200" dirty="0">
                  <a:hlinkClick r:id="rId2"/>
                </a:rPr>
                <a:t>http://server.com</a:t>
              </a:r>
              <a:endParaRPr lang="en-NZ" sz="1200" dirty="0"/>
            </a:p>
            <a:p>
              <a:pPr algn="ctr"/>
              <a:r>
                <a:rPr lang="en-NZ" sz="1200" dirty="0"/>
                <a:t>&amp;code=...&amp;state=...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8699F54-9EF4-F035-0510-C3F12A574AB2}"/>
              </a:ext>
            </a:extLst>
          </p:cNvPr>
          <p:cNvGrpSpPr/>
          <p:nvPr/>
        </p:nvGrpSpPr>
        <p:grpSpPr>
          <a:xfrm>
            <a:off x="3849061" y="6020105"/>
            <a:ext cx="2669321" cy="461665"/>
            <a:chOff x="3656656" y="1250144"/>
            <a:chExt cx="2904331" cy="461665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470F6AD3-611B-C83D-2F90-1F8CEBF7F5C9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F4C6D53-D263-D082-C15B-A0FB3EF83E4C}"/>
                </a:ext>
              </a:extLst>
            </p:cNvPr>
            <p:cNvSpPr txBox="1"/>
            <p:nvPr/>
          </p:nvSpPr>
          <p:spPr>
            <a:xfrm>
              <a:off x="3656656" y="1250144"/>
              <a:ext cx="29043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</a:t>
              </a:r>
              <a:r>
                <a:rPr lang="en-NZ" sz="1200" dirty="0" err="1"/>
                <a:t>RedirectUrl</a:t>
              </a:r>
              <a:r>
                <a:rPr lang="en-NZ" sz="1200" dirty="0"/>
                <a:t> = </a:t>
              </a:r>
            </a:p>
            <a:p>
              <a:pPr algn="ctr"/>
              <a:r>
                <a:rPr lang="en-NZ" sz="1200" dirty="0">
                  <a:hlinkClick r:id="rId2"/>
                </a:rPr>
                <a:t>http://server.com</a:t>
              </a:r>
              <a:r>
                <a:rPr lang="en-NZ" sz="1200" dirty="0"/>
                <a:t>&amp;code=...&amp;state=...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FF80523-D5CD-722C-8CDC-2CEAC9B74E32}"/>
              </a:ext>
            </a:extLst>
          </p:cNvPr>
          <p:cNvGrpSpPr/>
          <p:nvPr/>
        </p:nvGrpSpPr>
        <p:grpSpPr>
          <a:xfrm>
            <a:off x="892288" y="6127419"/>
            <a:ext cx="2946877" cy="646331"/>
            <a:chOff x="3216471" y="1250144"/>
            <a:chExt cx="3206325" cy="646331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F70E1455-BA30-EC52-953A-FBF1BD1CACEA}"/>
                </a:ext>
              </a:extLst>
            </p:cNvPr>
            <p:cNvCxnSpPr>
              <a:cxnSpLocks/>
            </p:cNvCxnSpPr>
            <p:nvPr/>
          </p:nvCxnSpPr>
          <p:spPr>
            <a:xfrm>
              <a:off x="3216471" y="1480009"/>
              <a:ext cx="320632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89B8E00-6EE4-5A21-2E9B-101BF6E6B150}"/>
                </a:ext>
              </a:extLst>
            </p:cNvPr>
            <p:cNvSpPr txBox="1"/>
            <p:nvPr/>
          </p:nvSpPr>
          <p:spPr>
            <a:xfrm>
              <a:off x="4179895" y="1250144"/>
              <a:ext cx="18578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GET </a:t>
              </a:r>
              <a:r>
                <a:rPr lang="en-NZ" sz="1200" dirty="0">
                  <a:hlinkClick r:id="rId2"/>
                </a:rPr>
                <a:t>http://server.com</a:t>
              </a:r>
              <a:endParaRPr lang="en-NZ" sz="1200" dirty="0"/>
            </a:p>
            <a:p>
              <a:pPr algn="ctr"/>
              <a:r>
                <a:rPr lang="en-NZ" sz="1200" dirty="0"/>
                <a:t>&amp;code=...&amp;state=...</a:t>
              </a:r>
            </a:p>
            <a:p>
              <a:pPr algn="ctr"/>
              <a:r>
                <a:rPr lang="en-NZ" sz="1200" dirty="0"/>
                <a:t> </a:t>
              </a:r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E4B5306-C30E-F4F1-488D-12B0C4DAF2E7}"/>
              </a:ext>
            </a:extLst>
          </p:cNvPr>
          <p:cNvSpPr/>
          <p:nvPr/>
        </p:nvSpPr>
        <p:spPr>
          <a:xfrm>
            <a:off x="6466787" y="6204407"/>
            <a:ext cx="1004725" cy="367644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Continuation</a:t>
            </a:r>
          </a:p>
          <a:p>
            <a:pPr algn="ctr"/>
            <a:r>
              <a:rPr lang="en-NZ" sz="1050" dirty="0"/>
              <a:t>removed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A72D6F9C-0382-FA96-26DD-998B50AAB8F7}"/>
              </a:ext>
            </a:extLst>
          </p:cNvPr>
          <p:cNvGrpSpPr/>
          <p:nvPr/>
        </p:nvGrpSpPr>
        <p:grpSpPr>
          <a:xfrm>
            <a:off x="10912846" y="1972744"/>
            <a:ext cx="1101807" cy="716440"/>
            <a:chOff x="10903419" y="1972744"/>
            <a:chExt cx="1101807" cy="716440"/>
          </a:xfrm>
        </p:grpSpPr>
        <p:cxnSp>
          <p:nvCxnSpPr>
            <p:cNvPr id="31" name="Connector: Elbow 30">
              <a:extLst>
                <a:ext uri="{FF2B5EF4-FFF2-40B4-BE49-F238E27FC236}">
                  <a16:creationId xmlns:a16="http://schemas.microsoft.com/office/drawing/2014/main" id="{FD37841F-92A0-E7A3-73D8-B529F7D81F02}"/>
                </a:ext>
              </a:extLst>
            </p:cNvPr>
            <p:cNvCxnSpPr>
              <a:cxnSpLocks/>
              <a:stCxn id="32" idx="0"/>
              <a:endCxn id="32" idx="3"/>
            </p:cNvCxnSpPr>
            <p:nvPr/>
          </p:nvCxnSpPr>
          <p:spPr>
            <a:xfrm rot="16200000" flipH="1">
              <a:off x="10815848" y="2121341"/>
              <a:ext cx="358220" cy="61026"/>
            </a:xfrm>
            <a:prstGeom prst="bentConnector4">
              <a:avLst>
                <a:gd name="adj1" fmla="val -659"/>
                <a:gd name="adj2" fmla="val 1679476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6A2340D-5E13-4C93-981B-D7340113C50B}"/>
                </a:ext>
              </a:extLst>
            </p:cNvPr>
            <p:cNvSpPr/>
            <p:nvPr/>
          </p:nvSpPr>
          <p:spPr>
            <a:xfrm>
              <a:off x="10903419" y="1972744"/>
              <a:ext cx="122052" cy="71644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889DEE5C-1B09-41A2-F5D4-DA7843BBAE0A}"/>
                </a:ext>
              </a:extLst>
            </p:cNvPr>
            <p:cNvSpPr txBox="1"/>
            <p:nvPr/>
          </p:nvSpPr>
          <p:spPr>
            <a:xfrm>
              <a:off x="11025471" y="1991959"/>
              <a:ext cx="97975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Not</a:t>
              </a:r>
            </a:p>
            <a:p>
              <a:r>
                <a:rPr lang="en-NZ" sz="1000" dirty="0"/>
                <a:t>Authenticated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FFC3DA33-6DED-68C0-9071-400A51642326}"/>
              </a:ext>
            </a:extLst>
          </p:cNvPr>
          <p:cNvGrpSpPr/>
          <p:nvPr/>
        </p:nvGrpSpPr>
        <p:grpSpPr>
          <a:xfrm>
            <a:off x="10912846" y="2826748"/>
            <a:ext cx="937750" cy="720453"/>
            <a:chOff x="10903419" y="2839453"/>
            <a:chExt cx="937750" cy="717003"/>
          </a:xfrm>
        </p:grpSpPr>
        <p:cxnSp>
          <p:nvCxnSpPr>
            <p:cNvPr id="41" name="Connector: Elbow 40">
              <a:extLst>
                <a:ext uri="{FF2B5EF4-FFF2-40B4-BE49-F238E27FC236}">
                  <a16:creationId xmlns:a16="http://schemas.microsoft.com/office/drawing/2014/main" id="{0D340DEB-74CF-2BFF-535B-2AB590A7F196}"/>
                </a:ext>
              </a:extLst>
            </p:cNvPr>
            <p:cNvCxnSpPr>
              <a:cxnSpLocks/>
              <a:stCxn id="42" idx="0"/>
              <a:endCxn id="42" idx="3"/>
            </p:cNvCxnSpPr>
            <p:nvPr/>
          </p:nvCxnSpPr>
          <p:spPr>
            <a:xfrm rot="16200000" flipH="1">
              <a:off x="10815848" y="2988613"/>
              <a:ext cx="358220" cy="61026"/>
            </a:xfrm>
            <a:prstGeom prst="bentConnector4">
              <a:avLst>
                <a:gd name="adj1" fmla="val -659"/>
                <a:gd name="adj2" fmla="val 1679476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F8651BD-6B48-15EB-4B95-A9C6A4D5449C}"/>
                </a:ext>
              </a:extLst>
            </p:cNvPr>
            <p:cNvSpPr/>
            <p:nvPr/>
          </p:nvSpPr>
          <p:spPr>
            <a:xfrm>
              <a:off x="10903419" y="2840016"/>
              <a:ext cx="122052" cy="71644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C110480-8333-E81A-24D5-7B12834CDD7A}"/>
                </a:ext>
              </a:extLst>
            </p:cNvPr>
            <p:cNvSpPr txBox="1"/>
            <p:nvPr/>
          </p:nvSpPr>
          <p:spPr>
            <a:xfrm>
              <a:off x="11044156" y="2839453"/>
              <a:ext cx="79701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Not</a:t>
              </a:r>
            </a:p>
            <a:p>
              <a:r>
                <a:rPr lang="en-NZ" sz="1000" dirty="0"/>
                <a:t>Consented</a:t>
              </a:r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F8F21A9-10FE-9E19-5C28-0A48C4847B3B}"/>
              </a:ext>
            </a:extLst>
          </p:cNvPr>
          <p:cNvGrpSpPr/>
          <p:nvPr/>
        </p:nvGrpSpPr>
        <p:grpSpPr>
          <a:xfrm>
            <a:off x="3903483" y="3108793"/>
            <a:ext cx="2489460" cy="461665"/>
            <a:chOff x="3714161" y="1250144"/>
            <a:chExt cx="2708635" cy="461665"/>
          </a:xfrm>
        </p:grpSpPr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83F3D978-512B-3847-0A3E-88A1AE7E8D40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E0A619BB-40A7-7A44-97DA-71A15F31BC3A}"/>
                </a:ext>
              </a:extLst>
            </p:cNvPr>
            <p:cNvSpPr txBox="1"/>
            <p:nvPr/>
          </p:nvSpPr>
          <p:spPr>
            <a:xfrm>
              <a:off x="3837178" y="1250144"/>
              <a:ext cx="254329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</a:t>
              </a:r>
              <a:r>
                <a:rPr lang="en-NZ" sz="1200" dirty="0" err="1"/>
                <a:t>RedirectUrl</a:t>
              </a:r>
              <a:r>
                <a:rPr lang="en-NZ" sz="1200" dirty="0"/>
                <a:t> = </a:t>
              </a:r>
            </a:p>
            <a:p>
              <a:pPr algn="ctr"/>
              <a:r>
                <a:rPr lang="en-NZ" sz="1200" dirty="0"/>
                <a:t>/identity/oauth2/client/consent</a:t>
              </a:r>
            </a:p>
          </p:txBody>
        </p: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ED709049-C297-419C-F361-4D1BF1165CFB}"/>
              </a:ext>
            </a:extLst>
          </p:cNvPr>
          <p:cNvGrpSpPr/>
          <p:nvPr/>
        </p:nvGrpSpPr>
        <p:grpSpPr>
          <a:xfrm>
            <a:off x="3060240" y="3154862"/>
            <a:ext cx="860359" cy="1817662"/>
            <a:chOff x="3061499" y="2614852"/>
            <a:chExt cx="860359" cy="896479"/>
          </a:xfrm>
        </p:grpSpPr>
        <p:cxnSp>
          <p:nvCxnSpPr>
            <p:cNvPr id="141" name="Connector: Elbow 140">
              <a:extLst>
                <a:ext uri="{FF2B5EF4-FFF2-40B4-BE49-F238E27FC236}">
                  <a16:creationId xmlns:a16="http://schemas.microsoft.com/office/drawing/2014/main" id="{A416718A-6093-7847-A101-13BBFDF527EA}"/>
                </a:ext>
              </a:extLst>
            </p:cNvPr>
            <p:cNvCxnSpPr>
              <a:cxnSpLocks/>
              <a:stCxn id="145" idx="0"/>
              <a:endCxn id="145" idx="1"/>
            </p:cNvCxnSpPr>
            <p:nvPr/>
          </p:nvCxnSpPr>
          <p:spPr>
            <a:xfrm rot="16200000" flipH="1" flipV="1">
              <a:off x="3597371" y="2805516"/>
              <a:ext cx="448240" cy="66912"/>
            </a:xfrm>
            <a:prstGeom prst="bentConnector4">
              <a:avLst>
                <a:gd name="adj1" fmla="val -525"/>
                <a:gd name="adj2" fmla="val 1202415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2FC23450-88EC-512A-3778-1AFA8F1F5964}"/>
                </a:ext>
              </a:extLst>
            </p:cNvPr>
            <p:cNvSpPr/>
            <p:nvPr/>
          </p:nvSpPr>
          <p:spPr>
            <a:xfrm>
              <a:off x="3788035" y="2614852"/>
              <a:ext cx="133823" cy="89647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F197B67D-23A1-A1F5-7588-79C0D856D592}"/>
                </a:ext>
              </a:extLst>
            </p:cNvPr>
            <p:cNvSpPr txBox="1"/>
            <p:nvPr/>
          </p:nvSpPr>
          <p:spPr>
            <a:xfrm>
              <a:off x="3061499" y="2623720"/>
              <a:ext cx="8226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Displays</a:t>
              </a:r>
            </a:p>
            <a:p>
              <a:r>
                <a:rPr lang="en-NZ" sz="1000" dirty="0"/>
                <a:t>Consent UI</a:t>
              </a:r>
            </a:p>
          </p:txBody>
        </p:sp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343434C8-C8B5-07CA-9316-1EBEEC947F38}"/>
              </a:ext>
            </a:extLst>
          </p:cNvPr>
          <p:cNvGrpSpPr/>
          <p:nvPr/>
        </p:nvGrpSpPr>
        <p:grpSpPr>
          <a:xfrm>
            <a:off x="3828991" y="3607431"/>
            <a:ext cx="2775119" cy="438582"/>
            <a:chOff x="3599099" y="1250144"/>
            <a:chExt cx="3019446" cy="438582"/>
          </a:xfrm>
        </p:grpSpPr>
        <p:cxnSp>
          <p:nvCxnSpPr>
            <p:cNvPr id="169" name="Straight Arrow Connector 168">
              <a:extLst>
                <a:ext uri="{FF2B5EF4-FFF2-40B4-BE49-F238E27FC236}">
                  <a16:creationId xmlns:a16="http://schemas.microsoft.com/office/drawing/2014/main" id="{0ED9B532-E77C-EA4D-1660-4311168A60CF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DA2A0951-52AF-BB1E-CF36-6A658E76418D}"/>
                </a:ext>
              </a:extLst>
            </p:cNvPr>
            <p:cNvSpPr txBox="1"/>
            <p:nvPr/>
          </p:nvSpPr>
          <p:spPr>
            <a:xfrm>
              <a:off x="3599099" y="1250144"/>
              <a:ext cx="3019446" cy="4385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POST /</a:t>
              </a:r>
              <a:r>
                <a:rPr lang="en-NZ" sz="1200" dirty="0" err="1"/>
                <a:t>api</a:t>
              </a:r>
              <a:r>
                <a:rPr lang="en-NZ" sz="1200" dirty="0"/>
                <a:t>/oauth2/clients/:id/consent</a:t>
              </a:r>
            </a:p>
            <a:p>
              <a:pPr algn="ctr"/>
              <a:r>
                <a:rPr lang="en-NZ" sz="1050" dirty="0"/>
                <a:t>+ </a:t>
              </a:r>
              <a:r>
                <a:rPr lang="en-NZ" sz="1050" dirty="0" err="1"/>
                <a:t>client_id</a:t>
              </a:r>
              <a:r>
                <a:rPr lang="en-NZ" sz="1050" dirty="0"/>
                <a:t> + </a:t>
              </a:r>
              <a:r>
                <a:rPr lang="en-NZ" sz="1050" dirty="0" err="1"/>
                <a:t>redirect_uri</a:t>
              </a:r>
              <a:r>
                <a:rPr lang="en-NZ" sz="1050" dirty="0"/>
                <a:t>  + scope + state</a:t>
              </a:r>
            </a:p>
          </p:txBody>
        </p:sp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A08F03F9-4DFC-90A6-41D3-720ED71A93EE}"/>
              </a:ext>
            </a:extLst>
          </p:cNvPr>
          <p:cNvGrpSpPr/>
          <p:nvPr/>
        </p:nvGrpSpPr>
        <p:grpSpPr>
          <a:xfrm>
            <a:off x="6461587" y="3676916"/>
            <a:ext cx="4433739" cy="276999"/>
            <a:chOff x="3714161" y="1250144"/>
            <a:chExt cx="2708635" cy="276999"/>
          </a:xfrm>
        </p:grpSpPr>
        <p:cxnSp>
          <p:nvCxnSpPr>
            <p:cNvPr id="172" name="Straight Arrow Connector 171">
              <a:extLst>
                <a:ext uri="{FF2B5EF4-FFF2-40B4-BE49-F238E27FC236}">
                  <a16:creationId xmlns:a16="http://schemas.microsoft.com/office/drawing/2014/main" id="{46BBC9E7-8129-7A7F-D11A-AEEE58E6BF79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46B00BD7-38F2-CCED-495F-89C2A7A0CF79}"/>
                </a:ext>
              </a:extLst>
            </p:cNvPr>
            <p:cNvSpPr txBox="1"/>
            <p:nvPr/>
          </p:nvSpPr>
          <p:spPr>
            <a:xfrm>
              <a:off x="4135293" y="1250144"/>
              <a:ext cx="194704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POST /oauth2/clients/:id/consent + params</a:t>
              </a:r>
            </a:p>
          </p:txBody>
        </p:sp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BFB24CBA-0136-1957-31EB-47607D0C80C9}"/>
              </a:ext>
            </a:extLst>
          </p:cNvPr>
          <p:cNvGrpSpPr/>
          <p:nvPr/>
        </p:nvGrpSpPr>
        <p:grpSpPr>
          <a:xfrm>
            <a:off x="6440073" y="4049982"/>
            <a:ext cx="4462021" cy="276999"/>
            <a:chOff x="6422796" y="1480009"/>
            <a:chExt cx="3538194" cy="276999"/>
          </a:xfrm>
        </p:grpSpPr>
        <p:cxnSp>
          <p:nvCxnSpPr>
            <p:cNvPr id="195" name="Straight Arrow Connector 194">
              <a:extLst>
                <a:ext uri="{FF2B5EF4-FFF2-40B4-BE49-F238E27FC236}">
                  <a16:creationId xmlns:a16="http://schemas.microsoft.com/office/drawing/2014/main" id="{457FD004-7973-9E0D-E349-74B6D3422E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22796" y="1715681"/>
              <a:ext cx="353819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8" name="TextBox 207">
              <a:extLst>
                <a:ext uri="{FF2B5EF4-FFF2-40B4-BE49-F238E27FC236}">
                  <a16:creationId xmlns:a16="http://schemas.microsoft.com/office/drawing/2014/main" id="{A29D382A-E0A1-4143-D5F5-CD31F1867BC7}"/>
                </a:ext>
              </a:extLst>
            </p:cNvPr>
            <p:cNvSpPr txBox="1"/>
            <p:nvPr/>
          </p:nvSpPr>
          <p:spPr>
            <a:xfrm>
              <a:off x="7959825" y="1480009"/>
              <a:ext cx="65360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200 – OK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6BB92273-91FC-43B6-2D86-A0CA56BE7283}"/>
              </a:ext>
            </a:extLst>
          </p:cNvPr>
          <p:cNvGrpSpPr/>
          <p:nvPr/>
        </p:nvGrpSpPr>
        <p:grpSpPr>
          <a:xfrm>
            <a:off x="10904753" y="3784273"/>
            <a:ext cx="937750" cy="717003"/>
            <a:chOff x="10903419" y="2839453"/>
            <a:chExt cx="937750" cy="717003"/>
          </a:xfrm>
        </p:grpSpPr>
        <p:cxnSp>
          <p:nvCxnSpPr>
            <p:cNvPr id="10" name="Connector: Elbow 9">
              <a:extLst>
                <a:ext uri="{FF2B5EF4-FFF2-40B4-BE49-F238E27FC236}">
                  <a16:creationId xmlns:a16="http://schemas.microsoft.com/office/drawing/2014/main" id="{276B1E3C-F60B-8AEA-C55A-1B79597C5C8E}"/>
                </a:ext>
              </a:extLst>
            </p:cNvPr>
            <p:cNvCxnSpPr>
              <a:cxnSpLocks/>
              <a:stCxn id="11" idx="0"/>
              <a:endCxn id="11" idx="3"/>
            </p:cNvCxnSpPr>
            <p:nvPr/>
          </p:nvCxnSpPr>
          <p:spPr>
            <a:xfrm rot="16200000" flipH="1">
              <a:off x="10815848" y="2988613"/>
              <a:ext cx="358220" cy="61026"/>
            </a:xfrm>
            <a:prstGeom prst="bentConnector4">
              <a:avLst>
                <a:gd name="adj1" fmla="val -659"/>
                <a:gd name="adj2" fmla="val 1679476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17B27CF-373A-210C-AEC2-9BF5E98EC60F}"/>
                </a:ext>
              </a:extLst>
            </p:cNvPr>
            <p:cNvSpPr/>
            <p:nvPr/>
          </p:nvSpPr>
          <p:spPr>
            <a:xfrm>
              <a:off x="10903419" y="2840016"/>
              <a:ext cx="122052" cy="71644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AE133EE-55D7-1722-71E2-8A9E20D3E6C0}"/>
                </a:ext>
              </a:extLst>
            </p:cNvPr>
            <p:cNvSpPr txBox="1"/>
            <p:nvPr/>
          </p:nvSpPr>
          <p:spPr>
            <a:xfrm>
              <a:off x="11044156" y="2839453"/>
              <a:ext cx="79701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Consented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2636005-2AE8-C60C-BBDC-CE9ABEBF0B23}"/>
              </a:ext>
            </a:extLst>
          </p:cNvPr>
          <p:cNvGrpSpPr/>
          <p:nvPr/>
        </p:nvGrpSpPr>
        <p:grpSpPr>
          <a:xfrm>
            <a:off x="3901912" y="4138019"/>
            <a:ext cx="2489459" cy="276999"/>
            <a:chOff x="3714161" y="1250144"/>
            <a:chExt cx="2708635" cy="276999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EEDCCE4-3F93-5E22-C59E-89F50D8AFE26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FF66202-553A-617C-2084-8521499BF8C2}"/>
                </a:ext>
              </a:extLst>
            </p:cNvPr>
            <p:cNvSpPr txBox="1"/>
            <p:nvPr/>
          </p:nvSpPr>
          <p:spPr>
            <a:xfrm>
              <a:off x="4867092" y="1250144"/>
              <a:ext cx="48347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201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CDCBC77-D8A6-48BB-12BF-F84A650C5D3C}"/>
              </a:ext>
            </a:extLst>
          </p:cNvPr>
          <p:cNvGrpSpPr/>
          <p:nvPr/>
        </p:nvGrpSpPr>
        <p:grpSpPr>
          <a:xfrm>
            <a:off x="3931760" y="4510860"/>
            <a:ext cx="2489458" cy="461665"/>
            <a:chOff x="3714161" y="1250144"/>
            <a:chExt cx="2708635" cy="461665"/>
          </a:xfrm>
        </p:grpSpPr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504967C-1B1F-0441-D581-98C6EA14ECF9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96F73-4B0C-F1DA-DF95-0B5C33617DB3}"/>
                </a:ext>
              </a:extLst>
            </p:cNvPr>
            <p:cNvSpPr txBox="1"/>
            <p:nvPr/>
          </p:nvSpPr>
          <p:spPr>
            <a:xfrm>
              <a:off x="3953158" y="1250144"/>
              <a:ext cx="23113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POST /</a:t>
              </a:r>
              <a:r>
                <a:rPr lang="en-NZ" sz="1200" dirty="0" err="1"/>
                <a:t>api</a:t>
              </a:r>
              <a:r>
                <a:rPr lang="en-NZ" sz="1200" dirty="0"/>
                <a:t>/oauth2/authorize</a:t>
              </a:r>
            </a:p>
            <a:p>
              <a:pPr algn="ctr"/>
              <a:r>
                <a:rPr lang="en-NZ" sz="1200" dirty="0"/>
                <a:t>(no params)</a:t>
              </a:r>
            </a:p>
          </p:txBody>
        </p:sp>
      </p:grp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4F2D57B-A1F4-FEC5-7297-4C6FEA1040FD}"/>
              </a:ext>
            </a:extLst>
          </p:cNvPr>
          <p:cNvSpPr/>
          <p:nvPr/>
        </p:nvSpPr>
        <p:spPr>
          <a:xfrm>
            <a:off x="6457359" y="4752552"/>
            <a:ext cx="1004725" cy="367644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sz="1050" dirty="0"/>
              <a:t>Continuation used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56FFEFA0-631B-501B-2BA9-7EAE6181DB72}"/>
              </a:ext>
            </a:extLst>
          </p:cNvPr>
          <p:cNvGrpSpPr/>
          <p:nvPr/>
        </p:nvGrpSpPr>
        <p:grpSpPr>
          <a:xfrm>
            <a:off x="6468355" y="4956446"/>
            <a:ext cx="4433739" cy="276999"/>
            <a:chOff x="3714161" y="1250144"/>
            <a:chExt cx="2708635" cy="276999"/>
          </a:xfrm>
        </p:grpSpPr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7DC01E3-AFF9-38C0-C824-BD8FE7891556}"/>
                </a:ext>
              </a:extLst>
            </p:cNvPr>
            <p:cNvCxnSpPr>
              <a:cxnSpLocks/>
            </p:cNvCxnSpPr>
            <p:nvPr/>
          </p:nvCxnSpPr>
          <p:spPr>
            <a:xfrm>
              <a:off x="3714161" y="1480009"/>
              <a:ext cx="270863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1F98688D-5FD5-910D-799C-598BDA1D3CFB}"/>
                </a:ext>
              </a:extLst>
            </p:cNvPr>
            <p:cNvSpPr txBox="1"/>
            <p:nvPr/>
          </p:nvSpPr>
          <p:spPr>
            <a:xfrm>
              <a:off x="4334089" y="1250144"/>
              <a:ext cx="154944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NZ" sz="1200" dirty="0"/>
                <a:t>POST /oauth2/authorize + params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204E2A7-4963-C81B-EEBA-7591578E7387}"/>
              </a:ext>
            </a:extLst>
          </p:cNvPr>
          <p:cNvGrpSpPr/>
          <p:nvPr/>
        </p:nvGrpSpPr>
        <p:grpSpPr>
          <a:xfrm>
            <a:off x="10902519" y="5121784"/>
            <a:ext cx="1238063" cy="1143855"/>
            <a:chOff x="10903419" y="1972744"/>
            <a:chExt cx="1238063" cy="716440"/>
          </a:xfrm>
        </p:grpSpPr>
        <p:cxnSp>
          <p:nvCxnSpPr>
            <p:cNvPr id="58" name="Connector: Elbow 57">
              <a:extLst>
                <a:ext uri="{FF2B5EF4-FFF2-40B4-BE49-F238E27FC236}">
                  <a16:creationId xmlns:a16="http://schemas.microsoft.com/office/drawing/2014/main" id="{EB00B22A-EAD9-A043-3DFF-9BFC6B0916AF}"/>
                </a:ext>
              </a:extLst>
            </p:cNvPr>
            <p:cNvCxnSpPr>
              <a:cxnSpLocks/>
              <a:stCxn id="59" idx="0"/>
              <a:endCxn id="59" idx="3"/>
            </p:cNvCxnSpPr>
            <p:nvPr/>
          </p:nvCxnSpPr>
          <p:spPr>
            <a:xfrm rot="16200000" flipH="1">
              <a:off x="10815848" y="2121341"/>
              <a:ext cx="358220" cy="61026"/>
            </a:xfrm>
            <a:prstGeom prst="bentConnector4">
              <a:avLst>
                <a:gd name="adj1" fmla="val -659"/>
                <a:gd name="adj2" fmla="val 1679476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A0AA2C7-7CB7-BEB5-886D-ADCD8574C3C0}"/>
                </a:ext>
              </a:extLst>
            </p:cNvPr>
            <p:cNvSpPr/>
            <p:nvPr/>
          </p:nvSpPr>
          <p:spPr>
            <a:xfrm>
              <a:off x="10903419" y="1972744"/>
              <a:ext cx="122052" cy="71644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DD4E35E6-14BD-89D8-B99D-C6BD5609C151}"/>
                </a:ext>
              </a:extLst>
            </p:cNvPr>
            <p:cNvSpPr txBox="1"/>
            <p:nvPr/>
          </p:nvSpPr>
          <p:spPr>
            <a:xfrm>
              <a:off x="11025471" y="1991959"/>
              <a:ext cx="1116011" cy="3469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Z" sz="1000" dirty="0"/>
                <a:t>Authenticated + </a:t>
              </a:r>
            </a:p>
            <a:p>
              <a:r>
                <a:rPr lang="en-NZ" sz="1000" dirty="0"/>
                <a:t>Consented + </a:t>
              </a:r>
            </a:p>
            <a:p>
              <a:r>
                <a:rPr lang="en-NZ" sz="1000" dirty="0"/>
                <a:t>Granted</a:t>
              </a:r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14EAF211-787E-9EB0-E83F-3023BE222769}"/>
              </a:ext>
            </a:extLst>
          </p:cNvPr>
          <p:cNvSpPr txBox="1"/>
          <p:nvPr/>
        </p:nvSpPr>
        <p:spPr>
          <a:xfrm>
            <a:off x="3108832" y="4431047"/>
            <a:ext cx="6607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1200" dirty="0"/>
              <a:t>Retries</a:t>
            </a:r>
          </a:p>
        </p:txBody>
      </p:sp>
    </p:spTree>
    <p:extLst>
      <p:ext uri="{BB962C8B-B14F-4D97-AF65-F5344CB8AC3E}">
        <p14:creationId xmlns:p14="http://schemas.microsoft.com/office/powerpoint/2010/main" val="35216599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aaStack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6612</TotalTime>
  <Words>4221</Words>
  <Application>Microsoft Office PowerPoint</Application>
  <PresentationFormat>Widescreen</PresentationFormat>
  <Paragraphs>1612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50" baseType="lpstr">
      <vt:lpstr>Aptos</vt:lpstr>
      <vt:lpstr>Arial</vt:lpstr>
      <vt:lpstr>Calibri</vt:lpstr>
      <vt:lpstr>Courier New</vt:lpstr>
      <vt:lpstr>Microsoft Sans Serif</vt:lpstr>
      <vt:lpstr>Roboto</vt:lpstr>
      <vt:lpstr>Simplified Arabic Fixed</vt:lpstr>
      <vt:lpstr>Office Theme</vt:lpstr>
      <vt:lpstr>Clean/Onion/Hexagonal Architecture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EndUser Lifecycle</vt:lpstr>
      <vt:lpstr>PowerPoint Presentation</vt:lpstr>
      <vt:lpstr>PowerPoint Presentation</vt:lpstr>
      <vt:lpstr>PowerPoint Presentation</vt:lpstr>
      <vt:lpstr>A JavaScript “Action”</vt:lpstr>
      <vt:lpstr>Anatomy of a Use Case / Command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Jezz Santos</dc:creator>
  <cp:lastModifiedBy>Jezz Santos</cp:lastModifiedBy>
  <cp:revision>444</cp:revision>
  <dcterms:created xsi:type="dcterms:W3CDTF">2023-09-25T21:30:49Z</dcterms:created>
  <dcterms:modified xsi:type="dcterms:W3CDTF">2026-01-09T02:27:37Z</dcterms:modified>
</cp:coreProperties>
</file>